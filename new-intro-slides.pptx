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 Neue"/>
              </a:rPr>
              <a:t>Veliki context window ≠ veliko razumijevanje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25880"/>
            <a:ext cx="54864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5D6"/>
                </a:solidFill>
                <a:latin typeface="Helvetica Neue"/>
              </a:rPr>
              <a:t>RULER benchmark · frontier modeli @ 256K tokena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48640"/>
            <a:ext cx="1828800" cy="411480"/>
          </a:xfrm>
          <a:prstGeom prst="roundRect">
            <a:avLst/>
          </a:prstGeom>
          <a:noFill/>
          <a:ln w="1524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D4FF"/>
                </a:solidFill>
                <a:latin typeface="Helvetica Neue"/>
              </a:rPr>
              <a:t>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8C5D6"/>
                </a:solidFill>
                <a:latin typeface="Helvetica Neue"/>
              </a:rPr>
              <a:t>Svi frontier modeli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deklariraju 1M token</a:t>
            </a:r>
            <a:r>
              <a:rPr sz="1800" b="0" i="0">
                <a:solidFill>
                  <a:srgbClr val="B8C5D6"/>
                </a:solidFill>
                <a:latin typeface="Helvetica Neue"/>
              </a:rPr>
              <a:t> context window.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8C5D6"/>
                </a:solidFill>
                <a:latin typeface="Helvetica Neue"/>
              </a:rPr>
              <a:t>Na složenijim zadacima već pri </a:t>
            </a:r>
            <a:r>
              <a:rPr sz="1800" b="1" i="0">
                <a:solidFill>
                  <a:srgbClr val="00D4FF"/>
                </a:solidFill>
                <a:latin typeface="Helvetica Neue"/>
              </a:rPr>
              <a:t>256K</a:t>
            </a:r>
            <a:r>
              <a:rPr sz="1800" b="0" i="0">
                <a:solidFill>
                  <a:srgbClr val="B8C5D6"/>
                </a:solidFill>
                <a:latin typeface="Helvetica Neue"/>
              </a:rPr>
              <a:t> (¼ deklariranog) — performans pada: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291840"/>
            <a:ext cx="10972800" cy="640080"/>
          </a:xfrm>
          <a:prstGeom prst="rect">
            <a:avLst/>
          </a:prstGeom>
          <a:solidFill>
            <a:srgbClr val="131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2918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B8C5D6"/>
                </a:solidFill>
                <a:latin typeface="Helvetica Neue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2918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B8C5D6"/>
                </a:solidFill>
                <a:latin typeface="Helvetica Neue"/>
              </a:rPr>
              <a:t>RULER @ 256K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32918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B8C5D6"/>
                </a:solidFill>
                <a:latin typeface="Helvetica Neue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931920"/>
            <a:ext cx="10972800" cy="64008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931920"/>
            <a:ext cx="10972800" cy="13716"/>
          </a:xfrm>
          <a:prstGeom prst="rect">
            <a:avLst/>
          </a:prstGeom>
          <a:solidFill>
            <a:srgbClr val="131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Gemini 3 Deep Think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9319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2ED573"/>
                </a:solidFill>
                <a:latin typeface="Menlo"/>
              </a:rPr>
              <a:t>84%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9319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ED573"/>
                </a:solidFill>
                <a:latin typeface="Helvetica Neue"/>
              </a:rPr>
              <a:t>drži &gt;80%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572000"/>
            <a:ext cx="10972800" cy="64008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572000"/>
            <a:ext cx="10972800" cy="13716"/>
          </a:xfrm>
          <a:prstGeom prst="rect">
            <a:avLst/>
          </a:prstGeom>
          <a:solidFill>
            <a:srgbClr val="131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GPT-5.5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5720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C44D"/>
                </a:solidFill>
                <a:latin typeface="Menlo"/>
              </a:rPr>
              <a:t>72%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45720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FC44D"/>
                </a:solidFill>
                <a:latin typeface="Helvetica Neue"/>
              </a:rPr>
              <a:t>ispod praga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212080"/>
            <a:ext cx="10972800" cy="640080"/>
          </a:xfrm>
          <a:prstGeom prst="rect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5212080"/>
            <a:ext cx="10972800" cy="13716"/>
          </a:xfrm>
          <a:prstGeom prst="rect">
            <a:avLst/>
          </a:prstGeom>
          <a:solidFill>
            <a:srgbClr val="131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21208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Claude Opus 4.7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2120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4D6D"/>
                </a:solidFill>
                <a:latin typeface="Menlo"/>
              </a:rPr>
              <a:t>61%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52120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F4D6D"/>
                </a:solidFill>
                <a:latin typeface="Helvetica Neue"/>
              </a:rPr>
              <a:t>značajan pad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126480"/>
            <a:ext cx="10972800" cy="502920"/>
          </a:xfrm>
          <a:prstGeom prst="rect">
            <a:avLst/>
          </a:prstGeom>
          <a:solidFill>
            <a:srgbClr val="0F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6126480"/>
            <a:ext cx="73152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12648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Helvetica Neue"/>
              </a:rPr>
              <a:t>Deklarirano: 1M.  Realno korisno: znatno manje.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5D6"/>
                </a:solidFill>
                <a:latin typeface="Menlo"/>
              </a:rPr>
              <a:t>RULER · github.com/NVIDIA/RULER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 Neue"/>
              </a:rPr>
              <a:t>Lost in the Middle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25880"/>
            <a:ext cx="54864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5D6"/>
                </a:solidFill>
                <a:latin typeface="Helvetica Neue"/>
              </a:rPr>
              <a:t>Stanford / UC Berkeley · 2023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48640"/>
            <a:ext cx="1828800" cy="411480"/>
          </a:xfrm>
          <a:prstGeom prst="roundRect">
            <a:avLst/>
          </a:prstGeom>
          <a:noFill/>
          <a:ln w="1524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D4FF"/>
                </a:solidFill>
                <a:latin typeface="Helvetica Neue"/>
              </a:rPr>
              <a:t>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94560"/>
            <a:ext cx="10972800" cy="1280160"/>
          </a:xfrm>
          <a:prstGeom prst="rect">
            <a:avLst/>
          </a:prstGeom>
          <a:solidFill>
            <a:srgbClr val="0F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194560"/>
            <a:ext cx="73152" cy="12801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Helvetica Neue"/>
              </a:rPr>
              <a:t>LLM ne čita kontekst ravnomjerno. Najbolje koristi informacije na početku i kraju, a najlošije u sredini.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319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Helvetica Neue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8C5D6"/>
                </a:solidFill>
                <a:latin typeface="Helvetica Neue"/>
              </a:rPr>
              <a:t>Pozicija u kontekstu =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težina u pažnji</a:t>
            </a:r>
            <a:r>
              <a:rPr sz="1800" b="0" i="0">
                <a:solidFill>
                  <a:srgbClr val="B8C5D6"/>
                </a:solidFill>
                <a:latin typeface="Helvetica Neue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26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Helvetica Neue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8C5D6"/>
                </a:solidFill>
                <a:latin typeface="Helvetica Neue"/>
              </a:rPr>
              <a:t>Najbolja točnost na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rubovima</a:t>
            </a:r>
            <a:r>
              <a:rPr sz="1800" b="0" i="0">
                <a:solidFill>
                  <a:srgbClr val="B8C5D6"/>
                </a:solidFill>
                <a:latin typeface="Helvetica Neue"/>
              </a:rPr>
              <a:t>, najlošija u sredini — U-krivulja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206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Helvetica Neue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8C5D6"/>
                </a:solidFill>
                <a:latin typeface="Helvetica Neue"/>
              </a:rPr>
              <a:t>Što je kontekst duži, to je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'mrtva zona'</a:t>
            </a:r>
            <a:r>
              <a:rPr sz="1800" b="0" i="0">
                <a:solidFill>
                  <a:srgbClr val="B8C5D6"/>
                </a:solidFill>
                <a:latin typeface="Helvetica Neue"/>
              </a:rPr>
              <a:t> u sredini veća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7150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Helvetica Neue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8C5D6"/>
                </a:solidFill>
                <a:latin typeface="Helvetica Neue"/>
              </a:rPr>
              <a:t>Vrijedi za sve frontier modele — </a:t>
            </a:r>
            <a:r>
              <a:rPr sz="1800" b="1" i="0">
                <a:solidFill>
                  <a:srgbClr val="FFFFFF"/>
                </a:solidFill>
                <a:latin typeface="Helvetica Neue"/>
              </a:rPr>
              <a:t>Claude, GPT, Gemini</a:t>
            </a:r>
            <a:r>
              <a:rPr sz="1800" b="0" i="0">
                <a:solidFill>
                  <a:srgbClr val="B8C5D6"/>
                </a:solidFill>
                <a:latin typeface="Helvetica Neue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5D6"/>
                </a:solidFill>
                <a:latin typeface="Menlo"/>
              </a:rPr>
              <a:t>arxiv.org/abs/2307.03172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