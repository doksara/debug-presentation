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793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1pPr>
    <a:lvl2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2pPr>
    <a:lvl3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3pPr>
    <a:lvl4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4pPr>
    <a:lvl5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5pPr>
    <a:lvl6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6pPr>
    <a:lvl7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7pPr>
    <a:lvl8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8pPr>
    <a:lvl9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FD7E7"/>
          </a:solidFill>
        </a:fill>
      </a:tcStyle>
    </a:wholeTbl>
    <a:band2H>
      <a:tcTxStyle b="def" i="def"/>
      <a:tcStyle>
        <a:tcBdr/>
        <a:fill>
          <a:solidFill>
            <a:srgbClr val="E8ECF4"/>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EE7D0"/>
          </a:solidFill>
        </a:fill>
      </a:tcStyle>
    </a:wholeTbl>
    <a:band2H>
      <a:tcTxStyle b="def" i="def"/>
      <a:tcStyle>
        <a:tcBdr/>
        <a:fill>
          <a:solidFill>
            <a:srgbClr val="EFF3E9"/>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CDCCE"/>
          </a:solidFill>
        </a:fill>
      </a:tcStyle>
    </a:wholeTbl>
    <a:band2H>
      <a:tcTxStyle b="def" i="def"/>
      <a:tcStyle>
        <a:tcBdr/>
        <a:fill>
          <a:solidFill>
            <a:srgbClr val="FDEEE8"/>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aj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b="def" i="def"/>
      <a:tcStyle>
        <a:tcBdr/>
        <a:fill>
          <a:solidFill>
            <a:srgbClr val="FFFFFF"/>
          </a:solidFill>
        </a:fill>
      </a:tcStyle>
    </a:band2H>
    <a:firstCol>
      <a:tcTxStyle b="on" i="off">
        <a:fontRef idx="maj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aj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aj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b="def" i="def"/>
      <a:tcStyle>
        <a:tcBdr/>
        <a:fill>
          <a:solidFill>
            <a:srgbClr val="E6E6E6"/>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b="def" i="def"/>
      <a:tcStyle>
        <a:tcBdr/>
        <a:fill>
          <a:solidFill>
            <a:srgbClr val="FFFFFF"/>
          </a:solidFill>
        </a:fill>
      </a:tcStyle>
    </a:band2H>
    <a:firstCol>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91" name="Shape 91"/>
          <p:cNvSpPr/>
          <p:nvPr>
            <p:ph type="sldImg"/>
          </p:nvPr>
        </p:nvSpPr>
        <p:spPr>
          <a:xfrm>
            <a:off x="1143000" y="685800"/>
            <a:ext cx="4572000" cy="3429000"/>
          </a:xfrm>
          <a:prstGeom prst="rect">
            <a:avLst/>
          </a:prstGeom>
        </p:spPr>
        <p:txBody>
          <a:bodyPr/>
          <a:lstStyle/>
          <a:p>
            <a:pPr/>
          </a:p>
        </p:txBody>
      </p:sp>
      <p:sp>
        <p:nvSpPr>
          <p:cNvPr id="92" name="Shape 92"/>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defTabSz="457200" latinLnBrk="0">
      <a:defRPr sz="1200">
        <a:latin typeface="+mj-lt"/>
        <a:ea typeface="+mj-ea"/>
        <a:cs typeface="+mj-cs"/>
        <a:sym typeface="Calibri"/>
      </a:defRPr>
    </a:lvl1pPr>
    <a:lvl2pPr indent="228600" defTabSz="457200" latinLnBrk="0">
      <a:defRPr sz="1200">
        <a:latin typeface="+mj-lt"/>
        <a:ea typeface="+mj-ea"/>
        <a:cs typeface="+mj-cs"/>
        <a:sym typeface="Calibri"/>
      </a:defRPr>
    </a:lvl2pPr>
    <a:lvl3pPr indent="457200" defTabSz="457200" latinLnBrk="0">
      <a:defRPr sz="1200">
        <a:latin typeface="+mj-lt"/>
        <a:ea typeface="+mj-ea"/>
        <a:cs typeface="+mj-cs"/>
        <a:sym typeface="Calibri"/>
      </a:defRPr>
    </a:lvl3pPr>
    <a:lvl4pPr indent="685800" defTabSz="457200" latinLnBrk="0">
      <a:defRPr sz="1200">
        <a:latin typeface="+mj-lt"/>
        <a:ea typeface="+mj-ea"/>
        <a:cs typeface="+mj-cs"/>
        <a:sym typeface="Calibri"/>
      </a:defRPr>
    </a:lvl4pPr>
    <a:lvl5pPr indent="914400" defTabSz="457200" latinLnBrk="0">
      <a:defRPr sz="1200">
        <a:latin typeface="+mj-lt"/>
        <a:ea typeface="+mj-ea"/>
        <a:cs typeface="+mj-cs"/>
        <a:sym typeface="Calibri"/>
      </a:defRPr>
    </a:lvl5pPr>
    <a:lvl6pPr indent="1143000" defTabSz="457200" latinLnBrk="0">
      <a:defRPr sz="1200">
        <a:latin typeface="+mj-lt"/>
        <a:ea typeface="+mj-ea"/>
        <a:cs typeface="+mj-cs"/>
        <a:sym typeface="Calibri"/>
      </a:defRPr>
    </a:lvl6pPr>
    <a:lvl7pPr indent="1371600" defTabSz="457200" latinLnBrk="0">
      <a:defRPr sz="1200">
        <a:latin typeface="+mj-lt"/>
        <a:ea typeface="+mj-ea"/>
        <a:cs typeface="+mj-cs"/>
        <a:sym typeface="Calibri"/>
      </a:defRPr>
    </a:lvl7pPr>
    <a:lvl8pPr indent="1600200" defTabSz="457200" latinLnBrk="0">
      <a:defRPr sz="1200">
        <a:latin typeface="+mj-lt"/>
        <a:ea typeface="+mj-ea"/>
        <a:cs typeface="+mj-cs"/>
        <a:sym typeface="Calibri"/>
      </a:defRPr>
    </a:lvl8pPr>
    <a:lvl9pPr indent="1828800" defTabSz="457200" latinLnBrk="0">
      <a:defRPr sz="1200">
        <a:latin typeface="+mj-lt"/>
        <a:ea typeface="+mj-ea"/>
        <a:cs typeface="+mj-cs"/>
        <a:sym typeface="Calibri"/>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
<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3.xml.rels><?xml version="1.0" encoding="UTF-8"?>
<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6" name="Shape 96"/>
          <p:cNvSpPr/>
          <p:nvPr>
            <p:ph type="sldImg"/>
          </p:nvPr>
        </p:nvSpPr>
        <p:spPr>
          <a:prstGeom prst="rect">
            <a:avLst/>
          </a:prstGeom>
        </p:spPr>
        <p:txBody>
          <a:bodyPr/>
          <a:lstStyle/>
          <a:p>
            <a:pPr/>
          </a:p>
        </p:txBody>
      </p:sp>
      <p:sp>
        <p:nvSpPr>
          <p:cNvPr id="97" name="Shape 97"/>
          <p:cNvSpPr/>
          <p:nvPr>
            <p:ph type="body" sz="quarter" idx="1"/>
          </p:nvPr>
        </p:nvSpPr>
        <p:spPr>
          <a:prstGeom prst="rect">
            <a:avLst/>
          </a:prstGeom>
        </p:spPr>
        <p:txBody>
          <a:bodyPr/>
          <a:lstStyle/>
          <a:p>
            <a:pPr/>
            <a:r>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1" name="Shape 101"/>
          <p:cNvSpPr/>
          <p:nvPr>
            <p:ph type="sldImg"/>
          </p:nvPr>
        </p:nvSpPr>
        <p:spPr>
          <a:prstGeom prst="rect">
            <a:avLst/>
          </a:prstGeom>
        </p:spPr>
        <p:txBody>
          <a:bodyPr/>
          <a:lstStyle/>
          <a:p>
            <a:pPr/>
          </a:p>
        </p:txBody>
      </p:sp>
      <p:sp>
        <p:nvSpPr>
          <p:cNvPr id="102" name="Shape 102"/>
          <p:cNvSpPr/>
          <p:nvPr>
            <p:ph type="body" sz="quarter" idx="1"/>
          </p:nvPr>
        </p:nvSpPr>
        <p:spPr>
          <a:prstGeom prst="rect">
            <a:avLst/>
          </a:prstGeom>
        </p:spPr>
        <p:txBody>
          <a:bodyPr/>
          <a:lstStyle>
            <a:lvl1pPr>
              <a:defRPr sz="1600"/>
            </a:lvl1pPr>
          </a:lstStyle>
          <a:p>
            <a:pPr/>
            <a:r>
              <a:t>Koliko puta ste čuli ovu rečenicu? Na twitteru, redditu ili pak svojem radnom mjestu. Jedan programer je raspisao detaljni plan implementacije za neki feature. Claude krene sa izvršavanjem plana, prvih par koraka implementira super, ali nakon toga počne halucinirati - importat funkcije koje ne postoje, duplicirati ih, radit promjene koje uzrokuju kršenje na drugim mjestima.</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5" name="Shape 105"/>
          <p:cNvSpPr/>
          <p:nvPr>
            <p:ph type="sldImg"/>
          </p:nvPr>
        </p:nvSpPr>
        <p:spPr>
          <a:prstGeom prst="rect">
            <a:avLst/>
          </a:prstGeom>
        </p:spPr>
        <p:txBody>
          <a:bodyPr/>
          <a:lstStyle/>
          <a:p>
            <a:pPr/>
          </a:p>
        </p:txBody>
      </p:sp>
      <p:sp>
        <p:nvSpPr>
          <p:cNvPr id="106" name="Shape 106"/>
          <p:cNvSpPr/>
          <p:nvPr>
            <p:ph type="body" sz="quarter" idx="1"/>
          </p:nvPr>
        </p:nvSpPr>
        <p:spPr>
          <a:prstGeom prst="rect">
            <a:avLst/>
          </a:prstGeom>
        </p:spPr>
        <p:txBody>
          <a:bodyPr/>
          <a:lstStyle/>
          <a:p>
            <a:pPr/>
            <a:r>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9" name="Shape 109"/>
          <p:cNvSpPr/>
          <p:nvPr>
            <p:ph type="sldImg"/>
          </p:nvPr>
        </p:nvSpPr>
        <p:spPr>
          <a:prstGeom prst="rect">
            <a:avLst/>
          </a:prstGeom>
        </p:spPr>
        <p:txBody>
          <a:bodyPr/>
          <a:lstStyle/>
          <a:p>
            <a:pPr/>
          </a:p>
        </p:txBody>
      </p:sp>
      <p:sp>
        <p:nvSpPr>
          <p:cNvPr id="110" name="Shape 110"/>
          <p:cNvSpPr/>
          <p:nvPr>
            <p:ph type="body" sz="quarter" idx="1"/>
          </p:nvPr>
        </p:nvSpPr>
        <p:spPr>
          <a:prstGeom prst="rect">
            <a:avLst/>
          </a:prstGeom>
        </p:spPr>
        <p:txBody>
          <a:bodyPr/>
          <a:lstStyle>
            <a:lvl1pPr>
              <a:defRPr sz="1600"/>
            </a:lvl1pPr>
          </a:lstStyle>
          <a:p>
            <a:pPr/>
            <a:r>
              <a:t>A razlog zašto se to događa je očit - context ili context window.</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5" name="Shape 115"/>
          <p:cNvSpPr/>
          <p:nvPr>
            <p:ph type="sldImg"/>
          </p:nvPr>
        </p:nvSpPr>
        <p:spPr>
          <a:prstGeom prst="rect">
            <a:avLst/>
          </a:prstGeom>
        </p:spPr>
        <p:txBody>
          <a:bodyPr/>
          <a:lstStyle/>
          <a:p>
            <a:pPr/>
          </a:p>
        </p:txBody>
      </p:sp>
      <p:sp>
        <p:nvSpPr>
          <p:cNvPr id="116" name="Shape 116"/>
          <p:cNvSpPr/>
          <p:nvPr>
            <p:ph type="body" sz="quarter" idx="1"/>
          </p:nvPr>
        </p:nvSpPr>
        <p:spPr>
          <a:prstGeom prst="rect">
            <a:avLst/>
          </a:prstGeom>
        </p:spPr>
        <p:txBody>
          <a:bodyPr/>
          <a:lstStyle>
            <a:lvl1pPr>
              <a:defRPr sz="1600"/>
            </a:lvl1pPr>
          </a:lstStyle>
          <a:p>
            <a:pPr/>
            <a:r>
              <a:t>Kontekst se zapravo odnosi na skup tokena koji su uključeni u proces generiranja (samplinga) iz LLM-a.</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1" name="Shape 121"/>
          <p:cNvSpPr/>
          <p:nvPr>
            <p:ph type="sldImg"/>
          </p:nvPr>
        </p:nvSpPr>
        <p:spPr>
          <a:prstGeom prst="rect">
            <a:avLst/>
          </a:prstGeom>
        </p:spPr>
        <p:txBody>
          <a:bodyPr/>
          <a:lstStyle/>
          <a:p>
            <a:pPr/>
          </a:p>
        </p:txBody>
      </p:sp>
      <p:sp>
        <p:nvSpPr>
          <p:cNvPr id="122" name="Shape 122"/>
          <p:cNvSpPr/>
          <p:nvPr>
            <p:ph type="body" sz="quarter" idx="1"/>
          </p:nvPr>
        </p:nvSpPr>
        <p:spPr>
          <a:prstGeom prst="rect">
            <a:avLst/>
          </a:prstGeom>
        </p:spPr>
        <p:txBody>
          <a:bodyPr/>
          <a:lstStyle>
            <a:lvl1pPr>
              <a:defRPr sz="1600"/>
            </a:lvl1pPr>
          </a:lstStyle>
          <a:p>
            <a:pPr/>
            <a:r>
              <a:t>Drugim riječima, sve što model može vidjeti kada generira odgovor; tvoj prompt, otvorene datoteke, struktura projekta itd. Do prije par mjeseci nije bilo tako jer je većina AI asistenata uzimala u obzir samo vaš prompt, ništa drugo. Tada je bilo popularno na društvenim mrežama pisati o magičnim promptovima koji su mogli natjerati AI da napravi čuda. No, kako su modeli postajali veći i sofisticiraniji, počeli su uzimati u obzir i druge izvore informacija, poput otvorenih datoteka, strukture projekta i slično. </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48" name="Shape 148"/>
          <p:cNvSpPr/>
          <p:nvPr>
            <p:ph type="sldImg"/>
          </p:nvPr>
        </p:nvSpPr>
        <p:spPr>
          <a:prstGeom prst="rect">
            <a:avLst/>
          </a:prstGeom>
        </p:spPr>
        <p:txBody>
          <a:bodyPr/>
          <a:lstStyle/>
          <a:p>
            <a:pPr/>
          </a:p>
        </p:txBody>
      </p:sp>
      <p:sp>
        <p:nvSpPr>
          <p:cNvPr id="149" name="Shape 149"/>
          <p:cNvSpPr/>
          <p:nvPr>
            <p:ph type="body" sz="quarter" idx="1"/>
          </p:nvPr>
        </p:nvSpPr>
        <p:spPr>
          <a:prstGeom prst="rect">
            <a:avLst/>
          </a:prstGeom>
        </p:spPr>
        <p:txBody>
          <a:bodyPr/>
          <a:lstStyle>
            <a:lvl1pPr>
              <a:defRPr sz="1600"/>
            </a:lvl1pPr>
          </a:lstStyle>
          <a:p>
            <a:pPr/>
            <a:r>
              <a:t>Usudio bi se reći da je jedna od najbitnijih metrika kod složenijih taskova zapravo reasoning over long-context, a ona se mjeri RULER benchmarkom. I taj benchmark pokriva 13 task kategorija kao što su npr variable-tracking, multi-hop reasoning, frequent words, dakle “production-realistic” kategorije. Poznato je da se svi frontier modeli oglašavaju kao “1M token context window” modeli, međutim tu se ta brojka zapravo govori koliko tokena arhitekturalno može “podnijeti”. Ne kaže: ovaj model performa odlično na 1m tokena kao i na 200k tokena. I zbog toga na složenijim zadacima već pri 256K (ovdje je korišten RULER 256K benchmark test), performanse padaju. Vidimo na tablici da Gemini 3 Deep Think i dalje sasvim dobro performa, dok Claude Opus 4.7 već osjeti značajan pad.</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4" name="Shape 164"/>
          <p:cNvSpPr/>
          <p:nvPr>
            <p:ph type="sldImg"/>
          </p:nvPr>
        </p:nvSpPr>
        <p:spPr>
          <a:prstGeom prst="rect">
            <a:avLst/>
          </a:prstGeom>
        </p:spPr>
        <p:txBody>
          <a:bodyPr/>
          <a:lstStyle/>
          <a:p>
            <a:pPr/>
          </a:p>
        </p:txBody>
      </p:sp>
      <p:sp>
        <p:nvSpPr>
          <p:cNvPr id="165" name="Shape 165"/>
          <p:cNvSpPr/>
          <p:nvPr>
            <p:ph type="body" sz="quarter" idx="1"/>
          </p:nvPr>
        </p:nvSpPr>
        <p:spPr>
          <a:prstGeom prst="rect">
            <a:avLst/>
          </a:prstGeom>
        </p:spPr>
        <p:txBody>
          <a:bodyPr/>
          <a:lstStyle>
            <a:lvl1pPr>
              <a:defRPr sz="1600"/>
            </a:lvl1pPr>
          </a:lstStyle>
          <a:p>
            <a:pPr/>
            <a:r>
              <a:t>Također, činjenica je da svi frontier modeli pate od problema koji se zove “lost in the middle”, a prikazuje da LLM ne konzumira kontekst ravnomjerno. Uvijek će najveći utjecaj imati informacije sa početka i kraja razgovora (context windowa), a najmanji sve ono u sredini - odnosno u ‘mrtvoj zoni’. Zanimljivo je da to zapravo odražava i ljudsko ponašanje, jer će na pojedinca uvijek najviše utjecati ono sa početka razgovora (primacy bias) i na kraju razgovora (recency bias).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2" name="Shape 172"/>
          <p:cNvSpPr/>
          <p:nvPr>
            <p:ph type="sldImg"/>
          </p:nvPr>
        </p:nvSpPr>
        <p:spPr>
          <a:prstGeom prst="rect">
            <a:avLst/>
          </a:prstGeom>
        </p:spPr>
        <p:txBody>
          <a:bodyPr/>
          <a:lstStyle/>
          <a:p>
            <a:pPr/>
          </a:p>
        </p:txBody>
      </p:sp>
      <p:sp>
        <p:nvSpPr>
          <p:cNvPr id="173" name="Shape 173"/>
          <p:cNvSpPr/>
          <p:nvPr>
            <p:ph type="body" sz="quarter" idx="1"/>
          </p:nvPr>
        </p:nvSpPr>
        <p:spPr>
          <a:prstGeom prst="rect">
            <a:avLst/>
          </a:prstGeom>
        </p:spPr>
        <p:txBody>
          <a:bodyPr/>
          <a:lstStyle>
            <a:lvl1pPr>
              <a:defRPr sz="1600"/>
            </a:lvl1pPr>
          </a:lstStyle>
          <a:p>
            <a:pPr/>
            <a:r>
              <a:t>I ta krivulja onda zapravo izgleda ovako, sve ovo sto se nalazi na sredini grafa je ‘mrtva zona’ i ima najmanji prioritet.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80" name="Shape 180"/>
          <p:cNvSpPr/>
          <p:nvPr>
            <p:ph type="sldImg"/>
          </p:nvPr>
        </p:nvSpPr>
        <p:spPr>
          <a:prstGeom prst="rect">
            <a:avLst/>
          </a:prstGeom>
        </p:spPr>
        <p:txBody>
          <a:bodyPr/>
          <a:lstStyle/>
          <a:p>
            <a:pPr/>
          </a:p>
        </p:txBody>
      </p:sp>
      <p:sp>
        <p:nvSpPr>
          <p:cNvPr id="181" name="Shape 181"/>
          <p:cNvSpPr/>
          <p:nvPr>
            <p:ph type="body" sz="quarter" idx="1"/>
          </p:nvPr>
        </p:nvSpPr>
        <p:spPr>
          <a:prstGeom prst="rect">
            <a:avLst/>
          </a:prstGeom>
        </p:spPr>
        <p:txBody>
          <a:bodyPr/>
          <a:lstStyle>
            <a:lvl1pPr>
              <a:defRPr sz="1600"/>
            </a:lvl1pPr>
          </a:lstStyle>
          <a:p>
            <a:pPr/>
            <a:r>
              <a:t>Kao što smo već spomenuli, context engineering je još prošle godine zamijenio termin prompt engineering, a u najjednostavnijem smislu odnosi se na oblikovanje onoga što model vidi s ciljem dobivanja boljeg outputa.</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89" name="Shape 189"/>
          <p:cNvSpPr/>
          <p:nvPr>
            <p:ph type="sldImg"/>
          </p:nvPr>
        </p:nvSpPr>
        <p:spPr>
          <a:prstGeom prst="rect">
            <a:avLst/>
          </a:prstGeom>
        </p:spPr>
        <p:txBody>
          <a:bodyPr/>
          <a:lstStyle/>
          <a:p>
            <a:pPr/>
          </a:p>
        </p:txBody>
      </p:sp>
      <p:sp>
        <p:nvSpPr>
          <p:cNvPr id="190" name="Shape 190"/>
          <p:cNvSpPr/>
          <p:nvPr>
            <p:ph type="body" sz="quarter" idx="1"/>
          </p:nvPr>
        </p:nvSpPr>
        <p:spPr>
          <a:prstGeom prst="rect">
            <a:avLst/>
          </a:prstGeom>
        </p:spPr>
        <p:txBody>
          <a:bodyPr/>
          <a:lstStyle>
            <a:lvl1pPr>
              <a:defRPr sz="1600"/>
            </a:lvl1pPr>
          </a:lstStyle>
          <a:p>
            <a:pPr/>
            <a:r>
              <a:t>Kod dobivanja outputa od AI alata, više nije dovoljno samo napisati dobar prompt, već je potrebno obratiti pozornost i na druge stvari poput programskog koda, strukture direktorija, vanjskih paketa, konvencija i slično.</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8" name="Shape 198"/>
          <p:cNvSpPr/>
          <p:nvPr>
            <p:ph type="sldImg"/>
          </p:nvPr>
        </p:nvSpPr>
        <p:spPr>
          <a:prstGeom prst="rect">
            <a:avLst/>
          </a:prstGeom>
        </p:spPr>
        <p:txBody>
          <a:bodyPr/>
          <a:lstStyle/>
          <a:p>
            <a:pPr/>
          </a:p>
        </p:txBody>
      </p:sp>
      <p:sp>
        <p:nvSpPr>
          <p:cNvPr id="199" name="Shape 199"/>
          <p:cNvSpPr/>
          <p:nvPr>
            <p:ph type="body" sz="quarter" idx="1"/>
          </p:nvPr>
        </p:nvSpPr>
        <p:spPr>
          <a:prstGeom prst="rect">
            <a:avLst/>
          </a:prstGeom>
        </p:spPr>
        <p:txBody>
          <a:bodyPr/>
          <a:lstStyle>
            <a:lvl1pPr>
              <a:defRPr sz="1600"/>
            </a:lvl1pPr>
          </a:lstStyle>
          <a:p>
            <a:pPr/>
            <a:r>
              <a:t>Sada je moguće kontekst proširiti na više načina, a najpoznatiji je sa kreiranjem CLAUDE.md (ili AGENTS.md), dodavanjem MCP servera, skillova, rulesa itd.</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2" name="Shape 202"/>
          <p:cNvSpPr/>
          <p:nvPr>
            <p:ph type="sldImg"/>
          </p:nvPr>
        </p:nvSpPr>
        <p:spPr>
          <a:prstGeom prst="rect">
            <a:avLst/>
          </a:prstGeom>
        </p:spPr>
        <p:txBody>
          <a:bodyPr/>
          <a:lstStyle/>
          <a:p>
            <a:pPr/>
          </a:p>
        </p:txBody>
      </p:sp>
      <p:sp>
        <p:nvSpPr>
          <p:cNvPr id="203" name="Shape 203"/>
          <p:cNvSpPr/>
          <p:nvPr>
            <p:ph type="body" sz="quarter" idx="1"/>
          </p:nvPr>
        </p:nvSpPr>
        <p:spPr>
          <a:prstGeom prst="rect">
            <a:avLst/>
          </a:prstGeom>
        </p:spPr>
        <p:txBody>
          <a:bodyPr/>
          <a:lstStyle>
            <a:lvl1pPr>
              <a:defRPr sz="1600"/>
            </a:lvl1pPr>
          </a:lstStyle>
          <a:p>
            <a:pPr/>
            <a:r>
              <a:t>Kako bi uopće mogli pristupiti rješavanju ovih spomenutih problema, potrebno je razumijeti kako zapravo LLM čita naš codebase.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5" name="Shape 225"/>
          <p:cNvSpPr/>
          <p:nvPr>
            <p:ph type="sldImg"/>
          </p:nvPr>
        </p:nvSpPr>
        <p:spPr>
          <a:prstGeom prst="rect">
            <a:avLst/>
          </a:prstGeom>
        </p:spPr>
        <p:txBody>
          <a:bodyPr/>
          <a:lstStyle/>
          <a:p>
            <a:pPr/>
          </a:p>
        </p:txBody>
      </p:sp>
      <p:sp>
        <p:nvSpPr>
          <p:cNvPr id="226" name="Shape 226"/>
          <p:cNvSpPr/>
          <p:nvPr>
            <p:ph type="body" sz="quarter" idx="1"/>
          </p:nvPr>
        </p:nvSpPr>
        <p:spPr>
          <a:prstGeom prst="rect">
            <a:avLst/>
          </a:prstGeom>
        </p:spPr>
        <p:txBody>
          <a:bodyPr/>
          <a:lstStyle>
            <a:lvl1pPr>
              <a:defRPr sz="1600"/>
            </a:lvl1pPr>
          </a:lstStyle>
          <a:p>
            <a:pPr/>
            <a:r>
              <a:t>Kad Cursor otvori projekt, prvo se radi indeksiranje codebasea. Podijeli programski kod u chunkove -&gt; to su funkcije, klase, blokovi. Zatim se generiraju vector (vector) embeddingsi -&gt; to su numeričke reprezentacije podataka koje se odnose na semantičko značenje. Svi ti vektori se, naravno, spremaju u vektorsku bazu podataka (turbopuffer). </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57" name="Shape 257"/>
          <p:cNvSpPr/>
          <p:nvPr>
            <p:ph type="sldImg"/>
          </p:nvPr>
        </p:nvSpPr>
        <p:spPr>
          <a:prstGeom prst="rect">
            <a:avLst/>
          </a:prstGeom>
        </p:spPr>
        <p:txBody>
          <a:bodyPr/>
          <a:lstStyle/>
          <a:p>
            <a:pPr/>
          </a:p>
        </p:txBody>
      </p:sp>
      <p:sp>
        <p:nvSpPr>
          <p:cNvPr id="258" name="Shape 258"/>
          <p:cNvSpPr/>
          <p:nvPr>
            <p:ph type="body" sz="quarter" idx="1"/>
          </p:nvPr>
        </p:nvSpPr>
        <p:spPr>
          <a:prstGeom prst="rect">
            <a:avLst/>
          </a:prstGeom>
        </p:spPr>
        <p:txBody>
          <a:bodyPr/>
          <a:lstStyle>
            <a:lvl1pPr>
              <a:defRPr sz="1600"/>
            </a:lvl1pPr>
          </a:lstStyle>
          <a:p>
            <a:pPr/>
            <a:r>
              <a:t>Nakon toga, svaki puta kada pošaljemo prompt, radi se semantičko pretraživanje -&gt; LLM (koji može vektorizirati stvari) pronalazi slične chunkove. Kada LLM pronađe rezultat, slijedi umetanje u kontekst (feeding the LLM).</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92" name="Shape 292"/>
          <p:cNvSpPr/>
          <p:nvPr>
            <p:ph type="sldImg"/>
          </p:nvPr>
        </p:nvSpPr>
        <p:spPr>
          <a:prstGeom prst="rect">
            <a:avLst/>
          </a:prstGeom>
        </p:spPr>
        <p:txBody>
          <a:bodyPr/>
          <a:lstStyle/>
          <a:p>
            <a:pPr/>
          </a:p>
        </p:txBody>
      </p:sp>
      <p:sp>
        <p:nvSpPr>
          <p:cNvPr id="293" name="Shape 293"/>
          <p:cNvSpPr/>
          <p:nvPr>
            <p:ph type="body" sz="quarter" idx="1"/>
          </p:nvPr>
        </p:nvSpPr>
        <p:spPr>
          <a:prstGeom prst="rect">
            <a:avLst/>
          </a:prstGeom>
        </p:spPr>
        <p:txBody>
          <a:bodyPr/>
          <a:lstStyle>
            <a:lvl1pPr>
              <a:defRPr sz="1600"/>
            </a:lvl1pPr>
          </a:lstStyle>
          <a:p>
            <a:pPr/>
            <a:r>
              <a:t>Indeksiranje codebasea i kreiranje embeddingsa radi boljeg pretraživanja je vrlo moćan koncept, ali moramo biti svjesni da će kvaliteta rezultata pretraživanja odgovarat semantičkoj strukturi našeg codebasea, organizaciji komponenti, i slično. Drugim riječima, loša struktura rezultira lošim rezultatima.</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3" name="Shape 303"/>
          <p:cNvSpPr/>
          <p:nvPr>
            <p:ph type="sldImg"/>
          </p:nvPr>
        </p:nvSpPr>
        <p:spPr>
          <a:prstGeom prst="rect">
            <a:avLst/>
          </a:prstGeom>
        </p:spPr>
        <p:txBody>
          <a:bodyPr/>
          <a:lstStyle/>
          <a:p>
            <a:pPr/>
          </a:p>
        </p:txBody>
      </p:sp>
      <p:sp>
        <p:nvSpPr>
          <p:cNvPr id="304" name="Shape 304"/>
          <p:cNvSpPr/>
          <p:nvPr>
            <p:ph type="body" sz="quarter" idx="1"/>
          </p:nvPr>
        </p:nvSpPr>
        <p:spPr>
          <a:prstGeom prst="rect">
            <a:avLst/>
          </a:prstGeom>
        </p:spPr>
        <p:txBody>
          <a:bodyPr/>
          <a:lstStyle>
            <a:lvl1pPr>
              <a:defRPr sz="1600"/>
            </a:lvl1pPr>
          </a:lstStyle>
          <a:p>
            <a:pPr/>
            <a:r>
              <a:t>S druge strane, Claude Code koristi malo drugačiji pristup, a to je agentic search. Tu nema indeksiranja codebasea već se sve pretražuje po potrebi, kao što to developer radi. Claude Code ima svoj “agentic loop”, dakle petlju koja se stalno izvodi i izgleda nekako ovako. Ovdje su najbitniji koraci 4. i 5. gdje LLM zapravo u kompleksnijim zadacima mora nekoliko puta ići u dubinu ne bi li došao do onog dijela koji mu je bitan. Bitno je napomenuti da može i spawnat sub-agente koji će onda paralelno istraživati.</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17" name="Shape 317"/>
          <p:cNvSpPr/>
          <p:nvPr>
            <p:ph type="sldImg"/>
          </p:nvPr>
        </p:nvSpPr>
        <p:spPr>
          <a:prstGeom prst="rect">
            <a:avLst/>
          </a:prstGeom>
        </p:spPr>
        <p:txBody>
          <a:bodyPr/>
          <a:lstStyle/>
          <a:p>
            <a:pPr/>
          </a:p>
        </p:txBody>
      </p:sp>
      <p:sp>
        <p:nvSpPr>
          <p:cNvPr id="318" name="Shape 318"/>
          <p:cNvSpPr/>
          <p:nvPr>
            <p:ph type="body" sz="quarter" idx="1"/>
          </p:nvPr>
        </p:nvSpPr>
        <p:spPr>
          <a:prstGeom prst="rect">
            <a:avLst/>
          </a:prstGeom>
        </p:spPr>
        <p:txBody>
          <a:bodyPr/>
          <a:lstStyle>
            <a:lvl1pPr>
              <a:defRPr sz="1600"/>
            </a:lvl1pPr>
          </a:lstStyle>
          <a:p>
            <a:pPr/>
            <a:r>
              <a:t>Možemo zaključiti da niska kohezija u ovom slučaju zapravo rezultira bržim punjenjem konteksta, a samim time i većom potrošnjom tokena.</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23" name="Shape 323"/>
          <p:cNvSpPr/>
          <p:nvPr>
            <p:ph type="sldImg"/>
          </p:nvPr>
        </p:nvSpPr>
        <p:spPr>
          <a:prstGeom prst="rect">
            <a:avLst/>
          </a:prstGeom>
        </p:spPr>
        <p:txBody>
          <a:bodyPr/>
          <a:lstStyle/>
          <a:p>
            <a:pPr/>
          </a:p>
        </p:txBody>
      </p:sp>
      <p:sp>
        <p:nvSpPr>
          <p:cNvPr id="324" name="Shape 324"/>
          <p:cNvSpPr/>
          <p:nvPr>
            <p:ph type="body" sz="quarter" idx="1"/>
          </p:nvPr>
        </p:nvSpPr>
        <p:spPr>
          <a:prstGeom prst="rect">
            <a:avLst/>
          </a:prstGeom>
        </p:spPr>
        <p:txBody>
          <a:bodyPr/>
          <a:lstStyle>
            <a:lvl1pPr>
              <a:defRPr sz="1600"/>
            </a:lvl1pPr>
          </a:lstStyle>
          <a:p>
            <a:pPr/>
            <a:r>
              <a:t>Neovisno koji alat i koji pristup koristili, 3 stvari su sigurne: AI mora odabrati što će uključiti u kontekst. Već smo zaključili da je kontekst ograničen i samim time nije moguće apsolutno sve staviti unutra. Također, imenovanje je vrlo bitno zbog generiranja boljih embeddingsa (Embedding / Indexing pristup) u Cursoru, ili zbog boljeg pattern matchinga u Claude Codeu (Agentic pristup). Konačno, definiranje jasnih granica rezultira s manjim šumom, manje potrošenih tokena i boljim outputom.</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33" name="Shape 333"/>
          <p:cNvSpPr/>
          <p:nvPr>
            <p:ph type="sldImg"/>
          </p:nvPr>
        </p:nvSpPr>
        <p:spPr>
          <a:prstGeom prst="rect">
            <a:avLst/>
          </a:prstGeom>
        </p:spPr>
        <p:txBody>
          <a:bodyPr/>
          <a:lstStyle/>
          <a:p>
            <a:pPr/>
          </a:p>
        </p:txBody>
      </p:sp>
      <p:sp>
        <p:nvSpPr>
          <p:cNvPr id="334" name="Shape 334"/>
          <p:cNvSpPr/>
          <p:nvPr>
            <p:ph type="body" sz="quarter" idx="1"/>
          </p:nvPr>
        </p:nvSpPr>
        <p:spPr>
          <a:prstGeom prst="rect">
            <a:avLst/>
          </a:prstGeom>
        </p:spPr>
        <p:txBody>
          <a:bodyPr/>
          <a:lstStyle/>
          <a:p>
            <a:pPr>
              <a:defRPr sz="1600"/>
            </a:pPr>
            <a:r>
              <a:t>Najveći dio problema možemo prikazati na jednostavnom primjeru gdje LLM-u dajemo prompt u kojem tražimo da promjeni minimalni iznos za besplatnu dostavu sa 50€ na 30€, i to u“modularnoj” strukturi. Kako bi se ovdje ponašali AI asistenti? Cursor bi ovdje bio wildcard, jer bi inicijalno generirao vrlo slabe embeddingse zbog nepostojećeg semantičkog grupiranja pa bi output bio “random”. Claude Code bi nam potencijalno dao do znanja da ne zna odakle krenuti i tražio upute za nastavak, nakon kojeg bi nastavio samostalno istraživati dublje i dublje dok ne završi task i sprži hrpu tokena. </a:t>
            </a:r>
            <a:br/>
            <a:br/>
            <a:r>
              <a:t>Dakle, prvi problem je što nema semantičkog grupiranja.</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43" name="Shape 343"/>
          <p:cNvSpPr/>
          <p:nvPr>
            <p:ph type="sldImg"/>
          </p:nvPr>
        </p:nvSpPr>
        <p:spPr>
          <a:prstGeom prst="rect">
            <a:avLst/>
          </a:prstGeom>
        </p:spPr>
        <p:txBody>
          <a:bodyPr/>
          <a:lstStyle/>
          <a:p>
            <a:pPr/>
          </a:p>
        </p:txBody>
      </p:sp>
      <p:sp>
        <p:nvSpPr>
          <p:cNvPr id="344" name="Shape 344"/>
          <p:cNvSpPr/>
          <p:nvPr>
            <p:ph type="body" sz="quarter" idx="1"/>
          </p:nvPr>
        </p:nvSpPr>
        <p:spPr>
          <a:prstGeom prst="rect">
            <a:avLst/>
          </a:prstGeom>
        </p:spPr>
        <p:txBody>
          <a:bodyPr/>
          <a:lstStyle>
            <a:lvl1pPr>
              <a:defRPr sz="1600"/>
            </a:lvl1pPr>
          </a:lstStyle>
          <a:p>
            <a:pPr/>
            <a:r>
              <a:t>Drugi problem su generički nazivi datoteka koji nikako ne pomažu pri pretraživanju.</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53" name="Shape 353"/>
          <p:cNvSpPr/>
          <p:nvPr>
            <p:ph type="sldImg"/>
          </p:nvPr>
        </p:nvSpPr>
        <p:spPr>
          <a:prstGeom prst="rect">
            <a:avLst/>
          </a:prstGeom>
        </p:spPr>
        <p:txBody>
          <a:bodyPr/>
          <a:lstStyle/>
          <a:p>
            <a:pPr/>
          </a:p>
        </p:txBody>
      </p:sp>
      <p:sp>
        <p:nvSpPr>
          <p:cNvPr id="354" name="Shape 354"/>
          <p:cNvSpPr/>
          <p:nvPr>
            <p:ph type="body" sz="quarter" idx="1"/>
          </p:nvPr>
        </p:nvSpPr>
        <p:spPr>
          <a:prstGeom prst="rect">
            <a:avLst/>
          </a:prstGeom>
        </p:spPr>
        <p:txBody>
          <a:bodyPr/>
          <a:lstStyle>
            <a:lvl1pPr>
              <a:defRPr sz="1600"/>
            </a:lvl1pPr>
          </a:lstStyle>
          <a:p>
            <a:pPr/>
            <a:r>
              <a:t>Posljednji problem je nešto što svi volimo radit, a to su monolitne datoteke poput interface.ts gdje natrpamo doslovno sve tipove koje koristimo u modulu.</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61" name="Shape 361"/>
          <p:cNvSpPr/>
          <p:nvPr>
            <p:ph type="sldImg"/>
          </p:nvPr>
        </p:nvSpPr>
        <p:spPr>
          <a:prstGeom prst="rect">
            <a:avLst/>
          </a:prstGeom>
        </p:spPr>
        <p:txBody>
          <a:bodyPr/>
          <a:lstStyle/>
          <a:p>
            <a:pPr/>
          </a:p>
        </p:txBody>
      </p:sp>
      <p:sp>
        <p:nvSpPr>
          <p:cNvPr id="362" name="Shape 362"/>
          <p:cNvSpPr/>
          <p:nvPr>
            <p:ph type="body" sz="quarter" idx="1"/>
          </p:nvPr>
        </p:nvSpPr>
        <p:spPr>
          <a:prstGeom prst="rect">
            <a:avLst/>
          </a:prstGeom>
        </p:spPr>
        <p:txBody>
          <a:bodyPr/>
          <a:lstStyle>
            <a:lvl1pPr>
              <a:defRPr sz="1600"/>
            </a:lvl1pPr>
          </a:lstStyle>
          <a:p>
            <a:pPr/>
            <a:r>
              <a:t>Dakle, možemo zaključiti da dobra arhitektura smanjuje količinu konteksta potrebnog AI alatu da ispravno obavi svoj posao.</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70" name="Shape 370"/>
          <p:cNvSpPr/>
          <p:nvPr>
            <p:ph type="sldImg"/>
          </p:nvPr>
        </p:nvSpPr>
        <p:spPr>
          <a:prstGeom prst="rect">
            <a:avLst/>
          </a:prstGeom>
        </p:spPr>
        <p:txBody>
          <a:bodyPr/>
          <a:lstStyle/>
          <a:p>
            <a:pPr/>
          </a:p>
        </p:txBody>
      </p:sp>
      <p:sp>
        <p:nvSpPr>
          <p:cNvPr id="371" name="Shape 371"/>
          <p:cNvSpPr/>
          <p:nvPr>
            <p:ph type="body" sz="quarter" idx="1"/>
          </p:nvPr>
        </p:nvSpPr>
        <p:spPr>
          <a:prstGeom prst="rect">
            <a:avLst/>
          </a:prstGeom>
        </p:spPr>
        <p:txBody>
          <a:bodyPr/>
          <a:lstStyle>
            <a:lvl1pPr>
              <a:defRPr sz="1600"/>
            </a:lvl1pPr>
          </a:lstStyle>
          <a:p>
            <a:pPr/>
            <a:r>
              <a:t>I konačno dolazimo do pitanja, kako zapravo možemo izgraditi dobru arhitekturu?</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79" name="Shape 379"/>
          <p:cNvSpPr/>
          <p:nvPr>
            <p:ph type="sldImg"/>
          </p:nvPr>
        </p:nvSpPr>
        <p:spPr>
          <a:prstGeom prst="rect">
            <a:avLst/>
          </a:prstGeom>
        </p:spPr>
        <p:txBody>
          <a:bodyPr/>
          <a:lstStyle/>
          <a:p>
            <a:pPr/>
          </a:p>
        </p:txBody>
      </p:sp>
      <p:sp>
        <p:nvSpPr>
          <p:cNvPr id="380" name="Shape 380"/>
          <p:cNvSpPr/>
          <p:nvPr>
            <p:ph type="body" sz="quarter" idx="1"/>
          </p:nvPr>
        </p:nvSpPr>
        <p:spPr>
          <a:prstGeom prst="rect">
            <a:avLst/>
          </a:prstGeom>
        </p:spPr>
        <p:txBody>
          <a:bodyPr/>
          <a:lstStyle>
            <a:lvl1pPr>
              <a:defRPr sz="1600"/>
            </a:lvl1pPr>
          </a:lstStyle>
          <a:p>
            <a:pPr/>
            <a:r>
              <a:t>Odgovor je: primjenom prave metodologije, a ta metodologija se naziva Feature-Sliced Design.</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83" name="Shape 383"/>
          <p:cNvSpPr/>
          <p:nvPr>
            <p:ph type="sldImg"/>
          </p:nvPr>
        </p:nvSpPr>
        <p:spPr>
          <a:prstGeom prst="rect">
            <a:avLst/>
          </a:prstGeom>
        </p:spPr>
        <p:txBody>
          <a:bodyPr/>
          <a:lstStyle/>
          <a:p>
            <a:pPr/>
          </a:p>
        </p:txBody>
      </p:sp>
      <p:sp>
        <p:nvSpPr>
          <p:cNvPr id="384" name="Shape 384"/>
          <p:cNvSpPr/>
          <p:nvPr>
            <p:ph type="body" sz="quarter" idx="1"/>
          </p:nvPr>
        </p:nvSpPr>
        <p:spPr>
          <a:prstGeom prst="rect">
            <a:avLst/>
          </a:prstGeom>
        </p:spPr>
        <p:txBody>
          <a:bodyPr/>
          <a:lstStyle/>
          <a:p>
            <a:pPr/>
            <a:r>
              <a: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90" name="Shape 390"/>
          <p:cNvSpPr/>
          <p:nvPr>
            <p:ph type="sldImg"/>
          </p:nvPr>
        </p:nvSpPr>
        <p:spPr>
          <a:prstGeom prst="rect">
            <a:avLst/>
          </a:prstGeom>
        </p:spPr>
        <p:txBody>
          <a:bodyPr/>
          <a:lstStyle/>
          <a:p>
            <a:pPr/>
          </a:p>
        </p:txBody>
      </p:sp>
      <p:sp>
        <p:nvSpPr>
          <p:cNvPr id="391" name="Shape 391"/>
          <p:cNvSpPr/>
          <p:nvPr>
            <p:ph type="body" sz="quarter" idx="1"/>
          </p:nvPr>
        </p:nvSpPr>
        <p:spPr>
          <a:prstGeom prst="rect">
            <a:avLst/>
          </a:prstGeom>
        </p:spPr>
        <p:txBody>
          <a:bodyPr/>
          <a:lstStyle>
            <a:lvl1pPr>
              <a:defRPr sz="1600"/>
            </a:lvl1pPr>
          </a:lstStyle>
          <a:p>
            <a:pPr/>
            <a:r>
              <a:t>Feature-Sliced Design je arhitekturna metodologija za strukturiranje frontend aplikacija. U jednostavnom smislu - to je skup pravila i konvencija za organiziranje koda.</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98" name="Shape 398"/>
          <p:cNvSpPr/>
          <p:nvPr>
            <p:ph type="sldImg"/>
          </p:nvPr>
        </p:nvSpPr>
        <p:spPr>
          <a:prstGeom prst="rect">
            <a:avLst/>
          </a:prstGeom>
        </p:spPr>
        <p:txBody>
          <a:bodyPr/>
          <a:lstStyle/>
          <a:p>
            <a:pPr/>
          </a:p>
        </p:txBody>
      </p:sp>
      <p:sp>
        <p:nvSpPr>
          <p:cNvPr id="399" name="Shape 399"/>
          <p:cNvSpPr/>
          <p:nvPr>
            <p:ph type="body" sz="quarter" idx="1"/>
          </p:nvPr>
        </p:nvSpPr>
        <p:spPr>
          <a:prstGeom prst="rect">
            <a:avLst/>
          </a:prstGeom>
        </p:spPr>
        <p:txBody>
          <a:bodyPr/>
          <a:lstStyle>
            <a:lvl1pPr>
              <a:defRPr sz="1600"/>
            </a:lvl1pPr>
          </a:lstStyle>
          <a:p>
            <a:pPr/>
            <a:r>
              <a:t>Cilj je da projekt bude razumljiv iz same strukture, bez da se čita svaka linija koda.</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09" name="Shape 409"/>
          <p:cNvSpPr/>
          <p:nvPr>
            <p:ph type="sldImg"/>
          </p:nvPr>
        </p:nvSpPr>
        <p:spPr>
          <a:prstGeom prst="rect">
            <a:avLst/>
          </a:prstGeom>
        </p:spPr>
        <p:txBody>
          <a:bodyPr/>
          <a:lstStyle/>
          <a:p>
            <a:pPr/>
          </a:p>
        </p:txBody>
      </p:sp>
      <p:sp>
        <p:nvSpPr>
          <p:cNvPr id="410" name="Shape 410"/>
          <p:cNvSpPr/>
          <p:nvPr>
            <p:ph type="body" sz="quarter" idx="1"/>
          </p:nvPr>
        </p:nvSpPr>
        <p:spPr>
          <a:prstGeom prst="rect">
            <a:avLst/>
          </a:prstGeom>
        </p:spPr>
        <p:txBody>
          <a:bodyPr/>
          <a:lstStyle>
            <a:lvl1pPr>
              <a:defRPr sz="1600"/>
            </a:lvl1pPr>
          </a:lstStyle>
          <a:p>
            <a:pPr/>
            <a:r>
              <a:t>To je upravo isti problem koji ima AI agent - počinje svaku sesiju s nula konteksta i mora brzo izgraditi mentalni model projekta. Bitno je napomenuti da je ova metodologija namijenjena za “front-facing” aplikacije, a ne za librarye, backend i slično jer takve ne mogu puno benefita dobiti sa primjenom pravila, a u sljedećim slideovima vidjeti ćete i zašto.</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13" name="Shape 413"/>
          <p:cNvSpPr/>
          <p:nvPr>
            <p:ph type="sldImg"/>
          </p:nvPr>
        </p:nvSpPr>
        <p:spPr>
          <a:prstGeom prst="rect">
            <a:avLst/>
          </a:prstGeom>
        </p:spPr>
        <p:txBody>
          <a:bodyPr/>
          <a:lstStyle/>
          <a:p>
            <a:pPr/>
          </a:p>
        </p:txBody>
      </p:sp>
      <p:sp>
        <p:nvSpPr>
          <p:cNvPr id="414" name="Shape 414"/>
          <p:cNvSpPr/>
          <p:nvPr>
            <p:ph type="body" sz="quarter" idx="1"/>
          </p:nvPr>
        </p:nvSpPr>
        <p:spPr>
          <a:prstGeom prst="rect">
            <a:avLst/>
          </a:prstGeom>
        </p:spPr>
        <p:txBody>
          <a:bodyPr/>
          <a:lstStyle/>
          <a:p>
            <a:pPr>
              <a:defRPr sz="1600"/>
            </a:pPr>
            <a:r>
              <a:t>Prvi koncept i prva razina organizacije FSD-a su layeri koje dijele aplikaciju na grupe različite odgovornosti i razine abstrakcije. Layeri su standardizirani, znači uvijek se koriste sljedeći: app (sadrži routing, globalne stilove, providere itd. -&gt; ako npr. imamo file-based routing onda će ovdje ići rute), pages (tu se nalaze pagevi koji se importaju u rute iznad), widgeti (large self-contained chunks of functionality), features (poslovna logika -&gt; sve što donosi vrijednost korisniku), entities (poslovni entiteti specifični za aplikaciju) te shared - reusable funkcionalnosti (ili komponente) najčešće odvojeni od specifičnosti poslovne domene (ali ne nužno).</a:t>
            </a:r>
            <a:br/>
            <a:br/>
            <a:r>
              <a:t>Temeljno pravilo FSD-a je da moduli iz jednog layera smiju znati, odnosno smiju importati samo module isključivo iz layera ispod. Na primjer, modul iz pagesa smije importati samo iz widgetsa i featuresa, ali ne smije iz app-a. </a:t>
            </a:r>
            <a:br/>
            <a:b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17" name="Shape 417"/>
          <p:cNvSpPr/>
          <p:nvPr>
            <p:ph type="sldImg"/>
          </p:nvPr>
        </p:nvSpPr>
        <p:spPr>
          <a:prstGeom prst="rect">
            <a:avLst/>
          </a:prstGeom>
        </p:spPr>
        <p:txBody>
          <a:bodyPr/>
          <a:lstStyle/>
          <a:p>
            <a:pPr/>
          </a:p>
        </p:txBody>
      </p:sp>
      <p:sp>
        <p:nvSpPr>
          <p:cNvPr id="418" name="Shape 418"/>
          <p:cNvSpPr/>
          <p:nvPr>
            <p:ph type="body" sz="quarter" idx="1"/>
          </p:nvPr>
        </p:nvSpPr>
        <p:spPr>
          <a:prstGeom prst="rect">
            <a:avLst/>
          </a:prstGeom>
        </p:spPr>
        <p:txBody>
          <a:bodyPr/>
          <a:lstStyle/>
          <a:p>
            <a:pPr>
              <a:defRPr sz="1600"/>
            </a:pPr>
            <a:r>
              <a:t>Sljedeći koncept su slice-ovi, a oni razdvajaju kod prema poslovnoj domeni. Samim time su specifični aplikaciji i nisu standardizirani, pa ih mozemo nazivati po volji. Ovdje smo za primjer uzeli nekakav blog, pa bi sliceovi entiteta bili user, post i comment dok bi sliceovi featura u tom kontekstu bili npr. CreatePost, EditComment itd. Jedan od primarnih ciljeva FSD-a je ostvariti visoku koheziju i nizak “coupling”, što nas dovodi do drugog pravila, a to je da slicevi ne smiju importati druge sliceve na istom layeru. To pravilo zapravo proizlazi iz prvog -&gt; slicevi moraju uvijek importati iz layera ispod, pa samim time ne mogu importati na istom layeru. Ima i smisla, jer zašto bi trebali znati jedno za drugo ako su različitih domena? Također, svaki slice mora imati eksplicitno definirano ono što exporta, odnosno public API, a do toga ću doći kroz par trenutaka.</a:t>
            </a:r>
            <a:br/>
            <a:br/>
            <a:r>
              <a:t>Znamo da ovaj “slicing” ili “vertical slicing” zapravo nije nov pojam u svijetu softverskog inženjerstva, te da pojam “vertical slice architecture” postoji već dugo vremena, FSD je samo uzeo taj koncept i učinio ga dijelom metodologije. </a:t>
            </a:r>
            <a:br/>
            <a:br/>
            <a:r>
              <a:t>Bitno je naglasiti da layeri app i shared nemaju poslovnu domenu, pa samim time ni nemaju sliceove, nego su direktno podijeljeni u segmente. A što su segmenti? </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21" name="Shape 421"/>
          <p:cNvSpPr/>
          <p:nvPr>
            <p:ph type="sldImg"/>
          </p:nvPr>
        </p:nvSpPr>
        <p:spPr>
          <a:prstGeom prst="rect">
            <a:avLst/>
          </a:prstGeom>
        </p:spPr>
        <p:txBody>
          <a:bodyPr/>
          <a:lstStyle/>
          <a:p>
            <a:pPr/>
          </a:p>
        </p:txBody>
      </p:sp>
      <p:sp>
        <p:nvSpPr>
          <p:cNvPr id="422" name="Shape 422"/>
          <p:cNvSpPr/>
          <p:nvPr>
            <p:ph type="body" sz="quarter" idx="1"/>
          </p:nvPr>
        </p:nvSpPr>
        <p:spPr>
          <a:prstGeom prst="rect">
            <a:avLst/>
          </a:prstGeom>
        </p:spPr>
        <p:txBody>
          <a:bodyPr/>
          <a:lstStyle>
            <a:lvl1pPr>
              <a:defRPr sz="1600"/>
            </a:lvl1pPr>
          </a:lstStyle>
          <a:p>
            <a:pPr/>
            <a:r>
              <a:t>Segmenti su treća razina organizacije koda i oni dijele kod prema svrsi. Znaći: u ui segment stavljamo sve vezano za prikaz korisničkog sučelja (UI komponente, stilove), u model stavljamo interface/typese, scheme, data-access objekte, poslovnu logiku. Česta zabluda oko ovog segmenta je da on treba sadržavati samo “modele” kako mu i ime govori, a zapravo se ovdje nalazi sve vezano uz podatkovni model, uz domenu koju modeliramo. Zatim imamo api segment u kojem se nalaze sve interakcije sa bekendom, repository, rute, DTO mapperi itd. Ostali predloženi segmenti koji nisu ovdje prikazani su lib i config, a kažem predloženi jer također nisu standardizirani -&gt; možemo definirati svoje segmente sve dok njihov naziv određuje zadaću, a ne sadržaj. Jedna greška što sam ja radio na početku je npr kreirao “hooks” segment u kojem bi držao sve React hookove u tom sliceu, što nije ispravno. Ispravno bi bilo staviti te hookove u model/lib, ovisno što točno radi hook.</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45" name="Shape 445"/>
          <p:cNvSpPr/>
          <p:nvPr>
            <p:ph type="sldImg"/>
          </p:nvPr>
        </p:nvSpPr>
        <p:spPr>
          <a:prstGeom prst="rect">
            <a:avLst/>
          </a:prstGeom>
        </p:spPr>
        <p:txBody>
          <a:bodyPr/>
          <a:lstStyle/>
          <a:p>
            <a:pPr/>
          </a:p>
        </p:txBody>
      </p:sp>
      <p:sp>
        <p:nvSpPr>
          <p:cNvPr id="446" name="Shape 446"/>
          <p:cNvSpPr/>
          <p:nvPr>
            <p:ph type="body" sz="quarter" idx="1"/>
          </p:nvPr>
        </p:nvSpPr>
        <p:spPr>
          <a:prstGeom prst="rect">
            <a:avLst/>
          </a:prstGeom>
        </p:spPr>
        <p:txBody>
          <a:bodyPr/>
          <a:lstStyle>
            <a:lvl1pPr>
              <a:defRPr sz="1600"/>
            </a:lvl1pPr>
          </a:lstStyle>
          <a:p>
            <a:pPr/>
            <a:r>
              <a:t>Slojevi su prvo i najvažnije pravilo FSD-a. Šest slojeva, uvijek u istom redoslijedu: app, pages, widgets, features, entities, shared. Pravilo importa je jednosmjerno - viši sloj smije importati iz nižeg, ali nikad obrnuto.</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71" name="Shape 471"/>
          <p:cNvSpPr/>
          <p:nvPr>
            <p:ph type="sldImg"/>
          </p:nvPr>
        </p:nvSpPr>
        <p:spPr>
          <a:prstGeom prst="rect">
            <a:avLst/>
          </a:prstGeom>
        </p:spPr>
        <p:txBody>
          <a:bodyPr/>
          <a:lstStyle/>
          <a:p>
            <a:pPr/>
          </a:p>
        </p:txBody>
      </p:sp>
      <p:sp>
        <p:nvSpPr>
          <p:cNvPr id="472" name="Shape 472"/>
          <p:cNvSpPr/>
          <p:nvPr>
            <p:ph type="body" sz="quarter" idx="1"/>
          </p:nvPr>
        </p:nvSpPr>
        <p:spPr>
          <a:prstGeom prst="rect">
            <a:avLst/>
          </a:prstGeom>
        </p:spPr>
        <p:txBody>
          <a:bodyPr/>
          <a:lstStyle>
            <a:lvl1pPr>
              <a:defRPr sz="1600"/>
            </a:lvl1pPr>
          </a:lstStyle>
          <a:p>
            <a:pPr/>
            <a:r>
              <a:t>Jednosmjerni tok importa znači da AI ne ulazi u beskonačne lance ovisnosti.</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99" name="Shape 499"/>
          <p:cNvSpPr/>
          <p:nvPr>
            <p:ph type="sldImg"/>
          </p:nvPr>
        </p:nvSpPr>
        <p:spPr>
          <a:prstGeom prst="rect">
            <a:avLst/>
          </a:prstGeom>
        </p:spPr>
        <p:txBody>
          <a:bodyPr/>
          <a:lstStyle/>
          <a:p>
            <a:pPr/>
          </a:p>
        </p:txBody>
      </p:sp>
      <p:sp>
        <p:nvSpPr>
          <p:cNvPr id="500" name="Shape 500"/>
          <p:cNvSpPr/>
          <p:nvPr>
            <p:ph type="body" sz="quarter" idx="1"/>
          </p:nvPr>
        </p:nvSpPr>
        <p:spPr>
          <a:prstGeom prst="rect">
            <a:avLst/>
          </a:prstGeom>
        </p:spPr>
        <p:txBody>
          <a:bodyPr/>
          <a:lstStyle>
            <a:lvl1pPr>
              <a:defRPr sz="1600"/>
            </a:lvl1pPr>
          </a:lstStyle>
          <a:p>
            <a:pPr/>
            <a:r>
              <a:t>Drugi benefit je taj da file tree postaje mapa odgovornosti, AI odmah zna gdje se nalazi poslovna logika, gdje primitivne komponente, a gdje infrastruktura.</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09" name="Shape 509"/>
          <p:cNvSpPr/>
          <p:nvPr>
            <p:ph type="sldImg"/>
          </p:nvPr>
        </p:nvSpPr>
        <p:spPr>
          <a:prstGeom prst="rect">
            <a:avLst/>
          </a:prstGeom>
        </p:spPr>
        <p:txBody>
          <a:bodyPr/>
          <a:lstStyle/>
          <a:p>
            <a:pPr/>
          </a:p>
        </p:txBody>
      </p:sp>
      <p:sp>
        <p:nvSpPr>
          <p:cNvPr id="510" name="Shape 510"/>
          <p:cNvSpPr/>
          <p:nvPr>
            <p:ph type="body" sz="quarter" idx="1"/>
          </p:nvPr>
        </p:nvSpPr>
        <p:spPr>
          <a:prstGeom prst="rect">
            <a:avLst/>
          </a:prstGeom>
        </p:spPr>
        <p:txBody>
          <a:bodyPr/>
          <a:lstStyle>
            <a:lvl1pPr>
              <a:defRPr sz="1600"/>
            </a:lvl1pPr>
          </a:lstStyle>
          <a:p>
            <a:pPr/>
            <a:r>
              <a:t>Već smo rekli da slice predstavlja jednu poslovnu domenu - auth, profile-edit, like-post.</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23" name="Shape 523"/>
          <p:cNvSpPr/>
          <p:nvPr>
            <p:ph type="sldImg"/>
          </p:nvPr>
        </p:nvSpPr>
        <p:spPr>
          <a:prstGeom prst="rect">
            <a:avLst/>
          </a:prstGeom>
        </p:spPr>
        <p:txBody>
          <a:bodyPr/>
          <a:lstStyle/>
          <a:p>
            <a:pPr/>
          </a:p>
        </p:txBody>
      </p:sp>
      <p:sp>
        <p:nvSpPr>
          <p:cNvPr id="524" name="Shape 524"/>
          <p:cNvSpPr/>
          <p:nvPr>
            <p:ph type="body" sz="quarter" idx="1"/>
          </p:nvPr>
        </p:nvSpPr>
        <p:spPr>
          <a:prstGeom prst="rect">
            <a:avLst/>
          </a:prstGeom>
        </p:spPr>
        <p:txBody>
          <a:bodyPr/>
          <a:lstStyle>
            <a:lvl1pPr>
              <a:defRPr sz="1600"/>
            </a:lvl1pPr>
          </a:lstStyle>
          <a:p>
            <a:pPr/>
            <a:r>
              <a:t>Unutar slica imamo segmente koji grupiraju kod po tehničkoj svrsi - ui, model, api, lib. Kako ovo pomaže AI-u? Prvo, granice slica znače da AI ostaje unutar jedne domene dok radi, ne vuče u kontekst kod iz drugih featurea. Drugo, segmenti su isti u svakom slice-u - AI nauči obrazac jednom i može ga primijeniti svugdje. Domain-based naming, user.ts a ne types.ts, daje AI-u jak semantički signal i kod tekstualne pretrage i kod embeddinga.</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40" name="Shape 540"/>
          <p:cNvSpPr/>
          <p:nvPr>
            <p:ph type="sldImg"/>
          </p:nvPr>
        </p:nvSpPr>
        <p:spPr>
          <a:prstGeom prst="rect">
            <a:avLst/>
          </a:prstGeom>
        </p:spPr>
        <p:txBody>
          <a:bodyPr/>
          <a:lstStyle/>
          <a:p>
            <a:pPr/>
          </a:p>
        </p:txBody>
      </p:sp>
      <p:sp>
        <p:nvSpPr>
          <p:cNvPr id="541" name="Shape 541"/>
          <p:cNvSpPr/>
          <p:nvPr>
            <p:ph type="body" sz="quarter" idx="1"/>
          </p:nvPr>
        </p:nvSpPr>
        <p:spPr>
          <a:prstGeom prst="rect">
            <a:avLst/>
          </a:prstGeom>
        </p:spPr>
        <p:txBody>
          <a:bodyPr/>
          <a:lstStyle>
            <a:lvl1pPr>
              <a:defRPr sz="1600"/>
            </a:lvl1pPr>
          </a:lstStyle>
          <a:p>
            <a:pPr/>
            <a:r>
              <a:t>S obzirom da je svaki slice odgovoran za jednu domenu, postoje jasne granice i samim time je smanjen context pollution. Isto tako, segmenti omogućuju pattern matching kroz cijeli projekt. Na primjer, ukoliko LLM traži fetch usera, zna da ga može naći na api segmentu unutar user slice-a.</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44" name="Shape 544"/>
          <p:cNvSpPr/>
          <p:nvPr>
            <p:ph type="sldImg"/>
          </p:nvPr>
        </p:nvSpPr>
        <p:spPr>
          <a:prstGeom prst="rect">
            <a:avLst/>
          </a:prstGeom>
        </p:spPr>
        <p:txBody>
          <a:bodyPr/>
          <a:lstStyle/>
          <a:p>
            <a:pPr/>
          </a:p>
        </p:txBody>
      </p:sp>
      <p:sp>
        <p:nvSpPr>
          <p:cNvPr id="545" name="Shape 545"/>
          <p:cNvSpPr/>
          <p:nvPr>
            <p:ph type="body" sz="quarter" idx="1"/>
          </p:nvPr>
        </p:nvSpPr>
        <p:spPr>
          <a:prstGeom prst="rect">
            <a:avLst/>
          </a:prstGeom>
        </p:spPr>
        <p:txBody>
          <a:bodyPr/>
          <a:lstStyle>
            <a:lvl1pPr>
              <a:defRPr sz="1600"/>
            </a:lvl1pPr>
          </a:lstStyle>
          <a:p>
            <a:pPr/>
            <a:r>
              <a:t>Kraljni cilj je ostvariti visok cohesion i nizak coupling -&gt; kao što je prikazano tu. Idealan slice neovisan je o drugim slicevima (low coupling) i sadrži kod vezan uz njegov primarni cilj (high cohesion).</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54" name="Shape 554"/>
          <p:cNvSpPr/>
          <p:nvPr>
            <p:ph type="sldImg"/>
          </p:nvPr>
        </p:nvSpPr>
        <p:spPr>
          <a:prstGeom prst="rect">
            <a:avLst/>
          </a:prstGeom>
        </p:spPr>
        <p:txBody>
          <a:bodyPr/>
          <a:lstStyle/>
          <a:p>
            <a:pPr/>
          </a:p>
        </p:txBody>
      </p:sp>
      <p:sp>
        <p:nvSpPr>
          <p:cNvPr id="555" name="Shape 555"/>
          <p:cNvSpPr/>
          <p:nvPr>
            <p:ph type="body" sz="quarter" idx="1"/>
          </p:nvPr>
        </p:nvSpPr>
        <p:spPr>
          <a:prstGeom prst="rect">
            <a:avLst/>
          </a:prstGeom>
        </p:spPr>
        <p:txBody>
          <a:bodyPr/>
          <a:lstStyle>
            <a:lvl1pPr>
              <a:defRPr sz="1600"/>
            </a:lvl1pPr>
          </a:lstStyle>
          <a:p>
            <a:pPr/>
            <a:r>
              <a:t>Treće ali ne i najmanje bitno pravilo je Public API, a govori da svaki slice mora definirati svoj javni API kroz index (ili barrel file). To zapravo predstavlja jasan contract između tog slicea i ostatka aplikacije. Ovo pravilo osigurava da je ostatak aplikacije zaštićen od strukturalnih promjena u tom sliceu, jer će contract stabilan i uvijek će ostati isti. Također osigurava da slice exporta samo ono što je bitno.</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67" name="Shape 567"/>
          <p:cNvSpPr/>
          <p:nvPr>
            <p:ph type="sldImg"/>
          </p:nvPr>
        </p:nvSpPr>
        <p:spPr>
          <a:prstGeom prst="rect">
            <a:avLst/>
          </a:prstGeom>
        </p:spPr>
        <p:txBody>
          <a:bodyPr/>
          <a:lstStyle/>
          <a:p>
            <a:pPr/>
          </a:p>
        </p:txBody>
      </p:sp>
      <p:sp>
        <p:nvSpPr>
          <p:cNvPr id="568" name="Shape 568"/>
          <p:cNvSpPr/>
          <p:nvPr>
            <p:ph type="body" sz="quarter" idx="1"/>
          </p:nvPr>
        </p:nvSpPr>
        <p:spPr>
          <a:prstGeom prst="rect">
            <a:avLst/>
          </a:prstGeom>
        </p:spPr>
        <p:txBody>
          <a:bodyPr/>
          <a:lstStyle>
            <a:lvl1pPr>
              <a:defRPr sz="1600"/>
            </a:lvl1pPr>
          </a:lstStyle>
          <a:p>
            <a:pPr/>
            <a:r>
              <a:t>Pa samim time čim AI pročita index.ts, zna kompletno sučelje modula. Ako su to dva file-a, on zna da su ta dva file-a jedino bitna za taj feature (za ostatak aplikacije) i zna da ne mora čitati ostale file-ove i hrpu linija interne implementacije nego da samo iskoristi ovo što API nudi. To u konačnici znaći manje potrošenih tokena i bolji reasoning.</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73" name="Shape 573"/>
          <p:cNvSpPr/>
          <p:nvPr>
            <p:ph type="sldImg"/>
          </p:nvPr>
        </p:nvSpPr>
        <p:spPr>
          <a:prstGeom prst="rect">
            <a:avLst/>
          </a:prstGeom>
        </p:spPr>
        <p:txBody>
          <a:bodyPr/>
          <a:lstStyle/>
          <a:p>
            <a:pPr/>
          </a:p>
        </p:txBody>
      </p:sp>
      <p:sp>
        <p:nvSpPr>
          <p:cNvPr id="574" name="Shape 574"/>
          <p:cNvSpPr/>
          <p:nvPr>
            <p:ph type="body" sz="quarter" idx="1"/>
          </p:nvPr>
        </p:nvSpPr>
        <p:spPr>
          <a:prstGeom prst="rect">
            <a:avLst/>
          </a:prstGeom>
        </p:spPr>
        <p:txBody>
          <a:bodyPr/>
          <a:lstStyle>
            <a:lvl1pPr>
              <a:defRPr sz="1600"/>
            </a:lvl1pPr>
          </a:lstStyle>
          <a:p>
            <a:pPr/>
            <a:r>
              <a:t>Vratimo se sada na onaj primjer od maloprije gdje tražimo AI da izmjeni iznos minimalne narudžbe sa 50 eura na 30 eura. U FSD arhitekturi to bi izgedalo ovako: LLM iz strukture zna mapu odgovornosti, zna da može preskočiti pageve i widgete jer oni ne sadrže poslovnu logiku nego bi izmjene tražio u features layeru. U api segmentu se nalaze BE interakcije i DTO mapiranja pa to također nema veliku težinu, a zatim dolazi do config segmenta gdje se zapravo treba nalaziti ovakva logika i samim time je najbolji kandidat. Sljedeće mjesto za pretragu je ShippingForm, a u ui i model segmentu je naglašena podjela po domeni, a tu se još mogu nalaziti i npr PaymentForm, paymentFormSchema itd.</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88" name="Shape 588"/>
          <p:cNvSpPr/>
          <p:nvPr>
            <p:ph type="sldImg"/>
          </p:nvPr>
        </p:nvSpPr>
        <p:spPr>
          <a:prstGeom prst="rect">
            <a:avLst/>
          </a:prstGeom>
        </p:spPr>
        <p:txBody>
          <a:bodyPr/>
          <a:lstStyle/>
          <a:p>
            <a:pPr/>
          </a:p>
        </p:txBody>
      </p:sp>
      <p:sp>
        <p:nvSpPr>
          <p:cNvPr id="589" name="Shape 589"/>
          <p:cNvSpPr/>
          <p:nvPr>
            <p:ph type="body" sz="quarter" idx="1"/>
          </p:nvPr>
        </p:nvSpPr>
        <p:spPr>
          <a:prstGeom prst="rect">
            <a:avLst/>
          </a:prstGeom>
        </p:spPr>
        <p:txBody>
          <a:bodyPr/>
          <a:lstStyle/>
          <a:p>
            <a:pPr/>
            <a:r>
              <a:t>Zadnji dio priče: kako konkretno dati AI-u FSD znanje. Dva alata. Prvi je LLMs.txt — cijela FSD specifikacija u jednom plain-text fileu, formatirana baš za AI agente. Doda se u CLAUDE.md, AGENTS.md ili kao referenca u promptu, i AI dobiva sva pravila prije nego napiše ijednu liniju. Drugi je službeni feature-sliced-design Skill u Claude Codeu — aktivira se automatski kad task uključuje FSD odluke. Sadrži decision tree, anti-patterne i conditional reference fileove, što znači da zna kada koje znanje učitati u kontekst, ne dump-a sve odjednom. Kombinacija: dobra arhitektura + dokumentacija u kontekstu = AI prestaje halucinirati i počinje pisati kod po pravilima projekta.</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1" showMasterPhAnim="1">
  <p:cSld name="Title Slide">
    <p:spTree>
      <p:nvGrpSpPr>
        <p:cNvPr id="1" name=""/>
        <p:cNvGrpSpPr/>
        <p:nvPr/>
      </p:nvGrpSpPr>
      <p:grpSpPr>
        <a:xfrm>
          <a:off x="0" y="0"/>
          <a:ext cx="0" cy="0"/>
          <a:chOff x="0" y="0"/>
          <a:chExt cx="0" cy="0"/>
        </a:xfrm>
      </p:grpSpPr>
      <p:sp>
        <p:nvSpPr>
          <p:cNvPr id="11" name="Title Text"/>
          <p:cNvSpPr txBox="1"/>
          <p:nvPr>
            <p:ph type="title"/>
          </p:nvPr>
        </p:nvSpPr>
        <p:spPr>
          <a:xfrm>
            <a:off x="685800" y="2130425"/>
            <a:ext cx="7772400" cy="1470025"/>
          </a:xfrm>
          <a:prstGeom prst="rect">
            <a:avLst/>
          </a:prstGeom>
        </p:spPr>
        <p:txBody>
          <a:bodyPr/>
          <a:lstStyle/>
          <a:p>
            <a:pPr/>
            <a:r>
              <a:t>Title Text</a:t>
            </a:r>
          </a:p>
        </p:txBody>
      </p:sp>
      <p:sp>
        <p:nvSpPr>
          <p:cNvPr id="12" name="Body Level One…"/>
          <p:cNvSpPr txBox="1"/>
          <p:nvPr>
            <p:ph type="body" sz="quarter" idx="1"/>
          </p:nvPr>
        </p:nvSpPr>
        <p:spPr>
          <a:xfrm>
            <a:off x="1371600" y="3886200"/>
            <a:ext cx="6400800" cy="1752600"/>
          </a:xfrm>
          <a:prstGeom prst="rect">
            <a:avLst/>
          </a:prstGeom>
        </p:spPr>
        <p:txBody>
          <a:bodyPr/>
          <a:lstStyle>
            <a:lvl1pPr marL="0" indent="0" algn="ctr">
              <a:buSzTx/>
              <a:buFontTx/>
              <a:buNone/>
              <a:defRPr>
                <a:solidFill>
                  <a:srgbClr val="888888"/>
                </a:solidFill>
              </a:defRPr>
            </a:lvl1pPr>
            <a:lvl2pPr marL="0" indent="0" algn="ctr">
              <a:buSzTx/>
              <a:buFontTx/>
              <a:buNone/>
              <a:defRPr>
                <a:solidFill>
                  <a:srgbClr val="888888"/>
                </a:solidFill>
              </a:defRPr>
            </a:lvl2pPr>
            <a:lvl3pPr marL="0" indent="0" algn="ctr">
              <a:buSzTx/>
              <a:buFontTx/>
              <a:buNone/>
              <a:defRPr>
                <a:solidFill>
                  <a:srgbClr val="888888"/>
                </a:solidFill>
              </a:defRPr>
            </a:lvl3pPr>
            <a:lvl4pPr marL="0" indent="0" algn="ctr">
              <a:buSzTx/>
              <a:buFontTx/>
              <a:buNone/>
              <a:defRPr>
                <a:solidFill>
                  <a:srgbClr val="888888"/>
                </a:solidFill>
              </a:defRPr>
            </a:lvl4pPr>
            <a:lvl5pPr marL="0" indent="0" algn="ctr">
              <a:buSzTx/>
              <a:buFontTx/>
              <a:buNone/>
              <a:defRPr>
                <a:solidFill>
                  <a:srgbClr val="888888"/>
                </a:solidFill>
              </a:defRPr>
            </a:lvl5pPr>
          </a:lstStyle>
          <a:p>
            <a:pPr/>
            <a:r>
              <a:t>Body Level One</a:t>
            </a:r>
          </a:p>
          <a:p>
            <a:pPr lvl="1"/>
            <a:r>
              <a:t>Body Level Two</a:t>
            </a:r>
          </a:p>
          <a:p>
            <a:pPr lvl="2"/>
            <a:r>
              <a:t>Body Level Three</a:t>
            </a:r>
          </a:p>
          <a:p>
            <a:pPr lvl="3"/>
            <a:r>
              <a:t>Body Level Four</a:t>
            </a:r>
          </a:p>
          <a:p>
            <a:pPr lvl="4"/>
            <a:r>
              <a:t>Body Level Five</a:t>
            </a:r>
          </a:p>
        </p:txBody>
      </p:sp>
      <p:sp>
        <p:nvSpPr>
          <p:cNvPr id="1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nd Content">
    <p:spTree>
      <p:nvGrpSpPr>
        <p:cNvPr id="1" name=""/>
        <p:cNvGrpSpPr/>
        <p:nvPr/>
      </p:nvGrpSpPr>
      <p:grpSpPr>
        <a:xfrm>
          <a:off x="0" y="0"/>
          <a:ext cx="0" cy="0"/>
          <a:chOff x="0" y="0"/>
          <a:chExt cx="0" cy="0"/>
        </a:xfrm>
      </p:grpSpPr>
      <p:sp>
        <p:nvSpPr>
          <p:cNvPr id="20" name="Title Text"/>
          <p:cNvSpPr txBox="1"/>
          <p:nvPr>
            <p:ph type="title"/>
          </p:nvPr>
        </p:nvSpPr>
        <p:spPr>
          <a:xfrm>
            <a:off x="457200" y="274638"/>
            <a:ext cx="8229600" cy="1143001"/>
          </a:xfrm>
          <a:prstGeom prst="rect">
            <a:avLst/>
          </a:prstGeom>
        </p:spPr>
        <p:txBody>
          <a:bodyPr/>
          <a:lstStyle/>
          <a:p>
            <a:pPr/>
            <a:r>
              <a:t>Title Text</a:t>
            </a:r>
          </a:p>
        </p:txBody>
      </p:sp>
      <p:sp>
        <p:nvSpPr>
          <p:cNvPr id="21" name="Body Level One…"/>
          <p:cNvSpPr txBox="1"/>
          <p:nvPr>
            <p:ph type="body" idx="1"/>
          </p:nvPr>
        </p:nvSpPr>
        <p:spPr>
          <a:xfrm>
            <a:off x="457200" y="1600200"/>
            <a:ext cx="8229600" cy="4525963"/>
          </a:xfrm>
          <a:prstGeom prst="rect">
            <a:avLst/>
          </a:prstGeom>
        </p:spPr>
        <p:txBody>
          <a:bodyPr/>
          <a:lstStyle/>
          <a:p>
            <a:pPr/>
            <a:r>
              <a:t>Body Level One</a:t>
            </a:r>
          </a:p>
          <a:p>
            <a:pPr lvl="1"/>
            <a:r>
              <a:t>Body Level Two</a:t>
            </a:r>
          </a:p>
          <a:p>
            <a:pPr lvl="2"/>
            <a:r>
              <a:t>Body Level Three</a:t>
            </a:r>
          </a:p>
          <a:p>
            <a:pPr lvl="3"/>
            <a:r>
              <a:t>Body Level Four</a:t>
            </a:r>
          </a:p>
          <a:p>
            <a:pPr lvl="4"/>
            <a:r>
              <a:t>Body Level Five</a:t>
            </a:r>
          </a:p>
        </p:txBody>
      </p:sp>
      <p:sp>
        <p:nvSpPr>
          <p:cNvPr id="22"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 Header">
    <p:spTree>
      <p:nvGrpSpPr>
        <p:cNvPr id="1" name=""/>
        <p:cNvGrpSpPr/>
        <p:nvPr/>
      </p:nvGrpSpPr>
      <p:grpSpPr>
        <a:xfrm>
          <a:off x="0" y="0"/>
          <a:ext cx="0" cy="0"/>
          <a:chOff x="0" y="0"/>
          <a:chExt cx="0" cy="0"/>
        </a:xfrm>
      </p:grpSpPr>
      <p:sp>
        <p:nvSpPr>
          <p:cNvPr id="29" name="Title Text"/>
          <p:cNvSpPr txBox="1"/>
          <p:nvPr>
            <p:ph type="title"/>
          </p:nvPr>
        </p:nvSpPr>
        <p:spPr>
          <a:xfrm>
            <a:off x="722312" y="4406900"/>
            <a:ext cx="7772401" cy="1362075"/>
          </a:xfrm>
          <a:prstGeom prst="rect">
            <a:avLst/>
          </a:prstGeom>
        </p:spPr>
        <p:txBody>
          <a:bodyPr anchor="t"/>
          <a:lstStyle>
            <a:lvl1pPr algn="l">
              <a:defRPr b="1" cap="all" sz="4000"/>
            </a:lvl1pPr>
          </a:lstStyle>
          <a:p>
            <a:pPr/>
            <a:r>
              <a:t>Title Text</a:t>
            </a:r>
          </a:p>
        </p:txBody>
      </p:sp>
      <p:sp>
        <p:nvSpPr>
          <p:cNvPr id="30" name="Body Level One…"/>
          <p:cNvSpPr txBox="1"/>
          <p:nvPr>
            <p:ph type="body" sz="quarter" idx="1"/>
          </p:nvPr>
        </p:nvSpPr>
        <p:spPr>
          <a:xfrm>
            <a:off x="722312" y="2906713"/>
            <a:ext cx="7772401" cy="1500189"/>
          </a:xfrm>
          <a:prstGeom prst="rect">
            <a:avLst/>
          </a:prstGeom>
        </p:spPr>
        <p:txBody>
          <a:bodyPr anchor="b"/>
          <a:lstStyle>
            <a:lvl1pPr marL="0" indent="0">
              <a:spcBef>
                <a:spcPts val="400"/>
              </a:spcBef>
              <a:buSzTx/>
              <a:buFontTx/>
              <a:buNone/>
              <a:defRPr sz="2000">
                <a:solidFill>
                  <a:srgbClr val="888888"/>
                </a:solidFill>
              </a:defRPr>
            </a:lvl1pPr>
            <a:lvl2pPr marL="0" indent="0">
              <a:spcBef>
                <a:spcPts val="400"/>
              </a:spcBef>
              <a:buSzTx/>
              <a:buFontTx/>
              <a:buNone/>
              <a:defRPr sz="2000">
                <a:solidFill>
                  <a:srgbClr val="888888"/>
                </a:solidFill>
              </a:defRPr>
            </a:lvl2pPr>
            <a:lvl3pPr marL="0" indent="0">
              <a:spcBef>
                <a:spcPts val="400"/>
              </a:spcBef>
              <a:buSzTx/>
              <a:buFontTx/>
              <a:buNone/>
              <a:defRPr sz="2000">
                <a:solidFill>
                  <a:srgbClr val="888888"/>
                </a:solidFill>
              </a:defRPr>
            </a:lvl3pPr>
            <a:lvl4pPr marL="0" indent="0">
              <a:spcBef>
                <a:spcPts val="400"/>
              </a:spcBef>
              <a:buSzTx/>
              <a:buFontTx/>
              <a:buNone/>
              <a:defRPr sz="2000">
                <a:solidFill>
                  <a:srgbClr val="888888"/>
                </a:solidFill>
              </a:defRPr>
            </a:lvl4pPr>
            <a:lvl5pPr marL="0" indent="0">
              <a:spcBef>
                <a:spcPts val="400"/>
              </a:spcBef>
              <a:buSzTx/>
              <a:buFontTx/>
              <a:buNone/>
              <a:defRPr sz="2000">
                <a:solidFill>
                  <a:srgbClr val="888888"/>
                </a:solidFill>
              </a:defRPr>
            </a:lvl5pPr>
          </a:lstStyle>
          <a:p>
            <a:pPr/>
            <a:r>
              <a:t>Body Level One</a:t>
            </a:r>
          </a:p>
          <a:p>
            <a:pPr lvl="1"/>
            <a:r>
              <a:t>Body Level Two</a:t>
            </a:r>
          </a:p>
          <a:p>
            <a:pPr lvl="2"/>
            <a:r>
              <a:t>Body Level Three</a:t>
            </a:r>
          </a:p>
          <a:p>
            <a:pPr lvl="3"/>
            <a:r>
              <a:t>Body Level Four</a:t>
            </a:r>
          </a:p>
          <a:p>
            <a:pPr lvl="4"/>
            <a:r>
              <a:t>Body Level Five</a:t>
            </a:r>
          </a:p>
        </p:txBody>
      </p:sp>
      <p:sp>
        <p:nvSpPr>
          <p:cNvPr id="3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wo Content">
    <p:spTree>
      <p:nvGrpSpPr>
        <p:cNvPr id="1" name=""/>
        <p:cNvGrpSpPr/>
        <p:nvPr/>
      </p:nvGrpSpPr>
      <p:grpSpPr>
        <a:xfrm>
          <a:off x="0" y="0"/>
          <a:ext cx="0" cy="0"/>
          <a:chOff x="0" y="0"/>
          <a:chExt cx="0" cy="0"/>
        </a:xfrm>
      </p:grpSpPr>
      <p:sp>
        <p:nvSpPr>
          <p:cNvPr id="38" name="Title Text"/>
          <p:cNvSpPr txBox="1"/>
          <p:nvPr>
            <p:ph type="title"/>
          </p:nvPr>
        </p:nvSpPr>
        <p:spPr>
          <a:xfrm>
            <a:off x="457200" y="274638"/>
            <a:ext cx="8229600" cy="1143001"/>
          </a:xfrm>
          <a:prstGeom prst="rect">
            <a:avLst/>
          </a:prstGeom>
        </p:spPr>
        <p:txBody>
          <a:bodyPr/>
          <a:lstStyle/>
          <a:p>
            <a:pPr/>
            <a:r>
              <a:t>Title Text</a:t>
            </a:r>
          </a:p>
        </p:txBody>
      </p:sp>
      <p:sp>
        <p:nvSpPr>
          <p:cNvPr id="39" name="Body Level One…"/>
          <p:cNvSpPr txBox="1"/>
          <p:nvPr>
            <p:ph type="body" sz="half" idx="1"/>
          </p:nvPr>
        </p:nvSpPr>
        <p:spPr>
          <a:xfrm>
            <a:off x="457200" y="1600200"/>
            <a:ext cx="4038600" cy="4525963"/>
          </a:xfrm>
          <a:prstGeom prst="rect">
            <a:avLst/>
          </a:prstGeom>
        </p:spPr>
        <p:txBody>
          <a:bodyPr/>
          <a:lstStyle>
            <a:lvl1pPr>
              <a:spcBef>
                <a:spcPts val="600"/>
              </a:spcBef>
              <a:defRPr sz="2800"/>
            </a:lvl1pPr>
            <a:lvl2pPr marL="790575" indent="-333375">
              <a:spcBef>
                <a:spcPts val="600"/>
              </a:spcBef>
              <a:defRPr sz="2800"/>
            </a:lvl2pPr>
            <a:lvl3pPr marL="1234438" indent="-320038">
              <a:spcBef>
                <a:spcPts val="600"/>
              </a:spcBef>
              <a:defRPr sz="2800"/>
            </a:lvl3pPr>
            <a:lvl4pPr marL="1727200" indent="-355600">
              <a:spcBef>
                <a:spcPts val="600"/>
              </a:spcBef>
              <a:defRPr sz="2800"/>
            </a:lvl4pPr>
            <a:lvl5pPr marL="2184400" indent="-355600">
              <a:spcBef>
                <a:spcPts val="600"/>
              </a:spcBef>
              <a:defRPr sz="2800"/>
            </a:lvl5pPr>
          </a:lstStyle>
          <a:p>
            <a:pPr/>
            <a:r>
              <a:t>Body Level One</a:t>
            </a:r>
          </a:p>
          <a:p>
            <a:pPr lvl="1"/>
            <a:r>
              <a:t>Body Level Two</a:t>
            </a:r>
          </a:p>
          <a:p>
            <a:pPr lvl="2"/>
            <a:r>
              <a:t>Body Level Three</a:t>
            </a:r>
          </a:p>
          <a:p>
            <a:pPr lvl="3"/>
            <a:r>
              <a:t>Body Level Four</a:t>
            </a:r>
          </a:p>
          <a:p>
            <a:pPr lvl="4"/>
            <a:r>
              <a:t>Body Level Five</a:t>
            </a:r>
          </a:p>
        </p:txBody>
      </p:sp>
      <p:sp>
        <p:nvSpPr>
          <p:cNvPr id="40"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omparison">
    <p:spTree>
      <p:nvGrpSpPr>
        <p:cNvPr id="1" name=""/>
        <p:cNvGrpSpPr/>
        <p:nvPr/>
      </p:nvGrpSpPr>
      <p:grpSpPr>
        <a:xfrm>
          <a:off x="0" y="0"/>
          <a:ext cx="0" cy="0"/>
          <a:chOff x="0" y="0"/>
          <a:chExt cx="0" cy="0"/>
        </a:xfrm>
      </p:grpSpPr>
      <p:sp>
        <p:nvSpPr>
          <p:cNvPr id="47" name="Title Text"/>
          <p:cNvSpPr txBox="1"/>
          <p:nvPr>
            <p:ph type="title"/>
          </p:nvPr>
        </p:nvSpPr>
        <p:spPr>
          <a:xfrm>
            <a:off x="457200" y="274638"/>
            <a:ext cx="8229600" cy="1143001"/>
          </a:xfrm>
          <a:prstGeom prst="rect">
            <a:avLst/>
          </a:prstGeom>
        </p:spPr>
        <p:txBody>
          <a:bodyPr/>
          <a:lstStyle/>
          <a:p>
            <a:pPr/>
            <a:r>
              <a:t>Title Text</a:t>
            </a:r>
          </a:p>
        </p:txBody>
      </p:sp>
      <p:sp>
        <p:nvSpPr>
          <p:cNvPr id="48" name="Body Level One…"/>
          <p:cNvSpPr txBox="1"/>
          <p:nvPr>
            <p:ph type="body" sz="quarter" idx="1"/>
          </p:nvPr>
        </p:nvSpPr>
        <p:spPr>
          <a:xfrm>
            <a:off x="457200" y="1535112"/>
            <a:ext cx="4040188" cy="639763"/>
          </a:xfrm>
          <a:prstGeom prst="rect">
            <a:avLst/>
          </a:prstGeom>
        </p:spPr>
        <p:txBody>
          <a:bodyPr anchor="b"/>
          <a:lstStyle>
            <a:lvl1pPr marL="0" indent="0">
              <a:spcBef>
                <a:spcPts val="500"/>
              </a:spcBef>
              <a:buSzTx/>
              <a:buFontTx/>
              <a:buNone/>
              <a:defRPr b="1" sz="2400"/>
            </a:lvl1pPr>
            <a:lvl2pPr marL="0" indent="0">
              <a:spcBef>
                <a:spcPts val="500"/>
              </a:spcBef>
              <a:buSzTx/>
              <a:buFontTx/>
              <a:buNone/>
              <a:defRPr b="1" sz="2400"/>
            </a:lvl2pPr>
            <a:lvl3pPr marL="0" indent="0">
              <a:spcBef>
                <a:spcPts val="500"/>
              </a:spcBef>
              <a:buSzTx/>
              <a:buFontTx/>
              <a:buNone/>
              <a:defRPr b="1" sz="2400"/>
            </a:lvl3pPr>
            <a:lvl4pPr marL="0" indent="0">
              <a:spcBef>
                <a:spcPts val="500"/>
              </a:spcBef>
              <a:buSzTx/>
              <a:buFontTx/>
              <a:buNone/>
              <a:defRPr b="1" sz="2400"/>
            </a:lvl4pPr>
            <a:lvl5pPr marL="0" indent="0">
              <a:spcBef>
                <a:spcPts val="500"/>
              </a:spcBef>
              <a:buSzTx/>
              <a:buFontTx/>
              <a:buNone/>
              <a:defRPr b="1" sz="2400"/>
            </a:lvl5pPr>
          </a:lstStyle>
          <a:p>
            <a:pPr/>
            <a:r>
              <a:t>Body Level One</a:t>
            </a:r>
          </a:p>
          <a:p>
            <a:pPr lvl="1"/>
            <a:r>
              <a:t>Body Level Two</a:t>
            </a:r>
          </a:p>
          <a:p>
            <a:pPr lvl="2"/>
            <a:r>
              <a:t>Body Level Three</a:t>
            </a:r>
          </a:p>
          <a:p>
            <a:pPr lvl="3"/>
            <a:r>
              <a:t>Body Level Four</a:t>
            </a:r>
          </a:p>
          <a:p>
            <a:pPr lvl="4"/>
            <a:r>
              <a:t>Body Level Five</a:t>
            </a:r>
          </a:p>
        </p:txBody>
      </p:sp>
      <p:sp>
        <p:nvSpPr>
          <p:cNvPr id="49" name="Text Placeholder 4"/>
          <p:cNvSpPr/>
          <p:nvPr>
            <p:ph type="body" sz="quarter" idx="21"/>
          </p:nvPr>
        </p:nvSpPr>
        <p:spPr>
          <a:xfrm>
            <a:off x="4645025" y="1535112"/>
            <a:ext cx="4041775" cy="639764"/>
          </a:xfrm>
          <a:prstGeom prst="rect">
            <a:avLst/>
          </a:prstGeom>
        </p:spPr>
        <p:txBody>
          <a:bodyPr anchor="b"/>
          <a:lstStyle/>
          <a:p>
            <a:pPr/>
          </a:p>
        </p:txBody>
      </p:sp>
      <p:sp>
        <p:nvSpPr>
          <p:cNvPr id="50"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Only">
    <p:spTree>
      <p:nvGrpSpPr>
        <p:cNvPr id="1" name=""/>
        <p:cNvGrpSpPr/>
        <p:nvPr/>
      </p:nvGrpSpPr>
      <p:grpSpPr>
        <a:xfrm>
          <a:off x="0" y="0"/>
          <a:ext cx="0" cy="0"/>
          <a:chOff x="0" y="0"/>
          <a:chExt cx="0" cy="0"/>
        </a:xfrm>
      </p:grpSpPr>
      <p:sp>
        <p:nvSpPr>
          <p:cNvPr id="57" name="Title Text"/>
          <p:cNvSpPr txBox="1"/>
          <p:nvPr>
            <p:ph type="title"/>
          </p:nvPr>
        </p:nvSpPr>
        <p:spPr>
          <a:xfrm>
            <a:off x="457200" y="274638"/>
            <a:ext cx="8229600" cy="1143001"/>
          </a:xfrm>
          <a:prstGeom prst="rect">
            <a:avLst/>
          </a:prstGeom>
        </p:spPr>
        <p:txBody>
          <a:bodyPr/>
          <a:lstStyle/>
          <a:p>
            <a:pPr/>
            <a:r>
              <a:t>Title Text</a:t>
            </a:r>
          </a:p>
        </p:txBody>
      </p:sp>
      <p:sp>
        <p:nvSpPr>
          <p:cNvPr id="58"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lank">
    <p:spTree>
      <p:nvGrpSpPr>
        <p:cNvPr id="1" name=""/>
        <p:cNvGrpSpPr/>
        <p:nvPr/>
      </p:nvGrpSpPr>
      <p:grpSpPr>
        <a:xfrm>
          <a:off x="0" y="0"/>
          <a:ext cx="0" cy="0"/>
          <a:chOff x="0" y="0"/>
          <a:chExt cx="0" cy="0"/>
        </a:xfrm>
      </p:grpSpPr>
      <p:sp>
        <p:nvSpPr>
          <p:cNvPr id="6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ontent with Caption">
    <p:spTree>
      <p:nvGrpSpPr>
        <p:cNvPr id="1" name=""/>
        <p:cNvGrpSpPr/>
        <p:nvPr/>
      </p:nvGrpSpPr>
      <p:grpSpPr>
        <a:xfrm>
          <a:off x="0" y="0"/>
          <a:ext cx="0" cy="0"/>
          <a:chOff x="0" y="0"/>
          <a:chExt cx="0" cy="0"/>
        </a:xfrm>
      </p:grpSpPr>
      <p:sp>
        <p:nvSpPr>
          <p:cNvPr id="72" name="Title Text"/>
          <p:cNvSpPr txBox="1"/>
          <p:nvPr>
            <p:ph type="title"/>
          </p:nvPr>
        </p:nvSpPr>
        <p:spPr>
          <a:xfrm>
            <a:off x="457200" y="273050"/>
            <a:ext cx="3008315" cy="1162050"/>
          </a:xfrm>
          <a:prstGeom prst="rect">
            <a:avLst/>
          </a:prstGeom>
        </p:spPr>
        <p:txBody>
          <a:bodyPr anchor="b"/>
          <a:lstStyle>
            <a:lvl1pPr algn="l">
              <a:defRPr b="1" sz="2000"/>
            </a:lvl1pPr>
          </a:lstStyle>
          <a:p>
            <a:pPr/>
            <a:r>
              <a:t>Title Text</a:t>
            </a:r>
          </a:p>
        </p:txBody>
      </p:sp>
      <p:sp>
        <p:nvSpPr>
          <p:cNvPr id="73" name="Body Level One…"/>
          <p:cNvSpPr txBox="1"/>
          <p:nvPr>
            <p:ph type="body" sz="half" idx="1"/>
          </p:nvPr>
        </p:nvSpPr>
        <p:spPr>
          <a:xfrm>
            <a:off x="3575050" y="273050"/>
            <a:ext cx="5111750" cy="5853113"/>
          </a:xfrm>
          <a:prstGeom prst="rect">
            <a:avLst/>
          </a:prstGeom>
        </p:spPr>
        <p:txBody>
          <a:bodyPr/>
          <a:lstStyle/>
          <a:p>
            <a:pPr/>
            <a:r>
              <a:t>Body Level One</a:t>
            </a:r>
          </a:p>
          <a:p>
            <a:pPr lvl="1"/>
            <a:r>
              <a:t>Body Level Two</a:t>
            </a:r>
          </a:p>
          <a:p>
            <a:pPr lvl="2"/>
            <a:r>
              <a:t>Body Level Three</a:t>
            </a:r>
          </a:p>
          <a:p>
            <a:pPr lvl="3"/>
            <a:r>
              <a:t>Body Level Four</a:t>
            </a:r>
          </a:p>
          <a:p>
            <a:pPr lvl="4"/>
            <a:r>
              <a:t>Body Level Five</a:t>
            </a:r>
          </a:p>
        </p:txBody>
      </p:sp>
      <p:sp>
        <p:nvSpPr>
          <p:cNvPr id="74" name="Text Placeholder 3"/>
          <p:cNvSpPr/>
          <p:nvPr>
            <p:ph type="body" sz="quarter" idx="21"/>
          </p:nvPr>
        </p:nvSpPr>
        <p:spPr>
          <a:xfrm>
            <a:off x="457198" y="1435100"/>
            <a:ext cx="3008317" cy="4691063"/>
          </a:xfrm>
          <a:prstGeom prst="rect">
            <a:avLst/>
          </a:prstGeom>
        </p:spPr>
        <p:txBody>
          <a:bodyPr/>
          <a:lstStyle/>
          <a:p>
            <a:pPr/>
          </a:p>
        </p:txBody>
      </p:sp>
      <p:sp>
        <p:nvSpPr>
          <p:cNvPr id="7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icture with Caption">
    <p:spTree>
      <p:nvGrpSpPr>
        <p:cNvPr id="1" name=""/>
        <p:cNvGrpSpPr/>
        <p:nvPr/>
      </p:nvGrpSpPr>
      <p:grpSpPr>
        <a:xfrm>
          <a:off x="0" y="0"/>
          <a:ext cx="0" cy="0"/>
          <a:chOff x="0" y="0"/>
          <a:chExt cx="0" cy="0"/>
        </a:xfrm>
      </p:grpSpPr>
      <p:sp>
        <p:nvSpPr>
          <p:cNvPr id="82" name="Title Text"/>
          <p:cNvSpPr txBox="1"/>
          <p:nvPr>
            <p:ph type="title"/>
          </p:nvPr>
        </p:nvSpPr>
        <p:spPr>
          <a:xfrm>
            <a:off x="1792288" y="4800600"/>
            <a:ext cx="5486402" cy="566738"/>
          </a:xfrm>
          <a:prstGeom prst="rect">
            <a:avLst/>
          </a:prstGeom>
        </p:spPr>
        <p:txBody>
          <a:bodyPr anchor="b"/>
          <a:lstStyle>
            <a:lvl1pPr algn="l">
              <a:defRPr b="1" sz="2000"/>
            </a:lvl1pPr>
          </a:lstStyle>
          <a:p>
            <a:pPr/>
            <a:r>
              <a:t>Title Text</a:t>
            </a:r>
          </a:p>
        </p:txBody>
      </p:sp>
      <p:sp>
        <p:nvSpPr>
          <p:cNvPr id="83" name="Picture Placeholder 2"/>
          <p:cNvSpPr/>
          <p:nvPr>
            <p:ph type="pic" sz="half" idx="21"/>
          </p:nvPr>
        </p:nvSpPr>
        <p:spPr>
          <a:xfrm>
            <a:off x="1792288" y="612775"/>
            <a:ext cx="5486402" cy="4114800"/>
          </a:xfrm>
          <a:prstGeom prst="rect">
            <a:avLst/>
          </a:prstGeom>
        </p:spPr>
        <p:txBody>
          <a:bodyPr lIns="91439" tIns="45719" rIns="91439" bIns="45719">
            <a:noAutofit/>
          </a:bodyPr>
          <a:lstStyle/>
          <a:p>
            <a:pPr/>
          </a:p>
        </p:txBody>
      </p:sp>
      <p:sp>
        <p:nvSpPr>
          <p:cNvPr id="84" name="Body Level One…"/>
          <p:cNvSpPr txBox="1"/>
          <p:nvPr>
            <p:ph type="body" sz="quarter" idx="1"/>
          </p:nvPr>
        </p:nvSpPr>
        <p:spPr>
          <a:xfrm>
            <a:off x="1792288" y="5367337"/>
            <a:ext cx="5486402" cy="804864"/>
          </a:xfrm>
          <a:prstGeom prst="rect">
            <a:avLst/>
          </a:prstGeom>
        </p:spPr>
        <p:txBody>
          <a:bodyPr/>
          <a:lstStyle>
            <a:lvl1pPr marL="0" indent="0">
              <a:spcBef>
                <a:spcPts val="300"/>
              </a:spcBef>
              <a:buSzTx/>
              <a:buFontTx/>
              <a:buNone/>
              <a:defRPr sz="1400"/>
            </a:lvl1pPr>
            <a:lvl2pPr marL="0" indent="0">
              <a:spcBef>
                <a:spcPts val="300"/>
              </a:spcBef>
              <a:buSzTx/>
              <a:buFontTx/>
              <a:buNone/>
              <a:defRPr sz="1400"/>
            </a:lvl2pPr>
            <a:lvl3pPr marL="0" indent="0">
              <a:spcBef>
                <a:spcPts val="300"/>
              </a:spcBef>
              <a:buSzTx/>
              <a:buFontTx/>
              <a:buNone/>
              <a:defRPr sz="1400"/>
            </a:lvl3pPr>
            <a:lvl4pPr marL="0" indent="0">
              <a:spcBef>
                <a:spcPts val="300"/>
              </a:spcBef>
              <a:buSzTx/>
              <a:buFontTx/>
              <a:buNone/>
              <a:defRPr sz="1400"/>
            </a:lvl4pPr>
            <a:lvl5pPr marL="0" indent="0">
              <a:spcBef>
                <a:spcPts val="300"/>
              </a:spcBef>
              <a:buSzTx/>
              <a:buFontTx/>
              <a:buNone/>
              <a:defRPr sz="1400"/>
            </a:lvl5pPr>
          </a:lstStyle>
          <a:p>
            <a:pPr/>
            <a:r>
              <a:t>Body Level One</a:t>
            </a:r>
          </a:p>
          <a:p>
            <a:pPr lvl="1"/>
            <a:r>
              <a:t>Body Level Two</a:t>
            </a:r>
          </a:p>
          <a:p>
            <a:pPr lvl="2"/>
            <a:r>
              <a:t>Body Level Three</a:t>
            </a:r>
          </a:p>
          <a:p>
            <a:pPr lvl="3"/>
            <a:r>
              <a:t>Body Level Four</a:t>
            </a:r>
          </a:p>
          <a:p>
            <a:pPr lvl="4"/>
            <a:r>
              <a:t>Body Level Five</a:t>
            </a:r>
          </a:p>
        </p:txBody>
      </p:sp>
      <p:sp>
        <p:nvSpPr>
          <p:cNvPr id="8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0F172A"/>
        </a:solidFill>
      </p:bgPr>
    </p:bg>
    <p:spTree>
      <p:nvGrpSpPr>
        <p:cNvPr id="1" name=""/>
        <p:cNvGrpSpPr/>
        <p:nvPr/>
      </p:nvGrpSpPr>
      <p:grpSpPr>
        <a:xfrm>
          <a:off x="0" y="0"/>
          <a:ext cx="0" cy="0"/>
          <a:chOff x="0" y="0"/>
          <a:chExt cx="0" cy="0"/>
        </a:xfrm>
      </p:grpSpPr>
      <p:sp>
        <p:nvSpPr>
          <p:cNvPr id="2" name="Title Text"/>
          <p:cNvSpPr txBox="1"/>
          <p:nvPr>
            <p:ph type="title"/>
          </p:nvPr>
        </p:nvSpPr>
        <p:spPr>
          <a:xfrm>
            <a:off x="1824780" y="769937"/>
            <a:ext cx="9743441" cy="166846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normAutofit fontScale="100000" lnSpcReduction="0"/>
          </a:bodyPr>
          <a:lstStyle/>
          <a:p>
            <a:pPr/>
            <a:r>
              <a:t>Title Text</a:t>
            </a:r>
          </a:p>
        </p:txBody>
      </p:sp>
      <p:sp>
        <p:nvSpPr>
          <p:cNvPr id="3" name="Body Level One…"/>
          <p:cNvSpPr txBox="1"/>
          <p:nvPr>
            <p:ph type="body" idx="1"/>
          </p:nvPr>
        </p:nvSpPr>
        <p:spPr>
          <a:xfrm>
            <a:off x="6797994" y="2438400"/>
            <a:ext cx="4770227" cy="441960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ormAutofit fontScale="100000" lnSpcReduction="0"/>
          </a:bodyPr>
          <a:lstStyle/>
          <a:p>
            <a:pPr/>
            <a:r>
              <a:t>Body Level One</a:t>
            </a:r>
          </a:p>
          <a:p>
            <a:pPr lvl="1"/>
            <a:r>
              <a:t>Body Level Two</a:t>
            </a:r>
          </a:p>
          <a:p>
            <a:pPr lvl="2"/>
            <a:r>
              <a:t>Body Level Three</a:t>
            </a:r>
          </a:p>
          <a:p>
            <a:pPr lvl="3"/>
            <a:r>
              <a:t>Body Level Four</a:t>
            </a:r>
          </a:p>
          <a:p>
            <a:pPr lvl="4"/>
            <a:r>
              <a:t>Body Level Five</a:t>
            </a:r>
          </a:p>
        </p:txBody>
      </p:sp>
      <p:sp>
        <p:nvSpPr>
          <p:cNvPr id="4" name="Slide Number"/>
          <p:cNvSpPr txBox="1"/>
          <p:nvPr>
            <p:ph type="sldNum" sz="quarter" idx="2"/>
          </p:nvPr>
        </p:nvSpPr>
        <p:spPr>
          <a:xfrm>
            <a:off x="8428178" y="6414761"/>
            <a:ext cx="258623" cy="248303"/>
          </a:xfrm>
          <a:prstGeom prst="rect">
            <a:avLst/>
          </a:prstGeom>
          <a:ln w="12700">
            <a:miter lim="400000"/>
          </a:ln>
        </p:spPr>
        <p:txBody>
          <a:bodyPr wrap="none" lIns="45718" tIns="45718" rIns="45718" bIns="45718" anchor="ctr">
            <a:spAutoFit/>
          </a:bodyPr>
          <a:lstStyle>
            <a:lvl1pPr algn="r">
              <a:defRPr sz="1200">
                <a:solidFill>
                  <a:srgbClr val="888888"/>
                </a:solidFill>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Lst>
  <p:transition xmlns:p14="http://schemas.microsoft.com/office/powerpoint/2010/main" spd="med" advClick="1"/>
  <p:txStyles>
    <p:titleStyle>
      <a:lvl1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1pPr>
      <a:lvl2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2pPr>
      <a:lvl3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3pPr>
      <a:lvl4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4pPr>
      <a:lvl5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5pPr>
      <a:lvl6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6pPr>
      <a:lvl7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7pPr>
      <a:lvl8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8pPr>
      <a:lvl9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9pPr>
    </p:titleStyle>
    <p:bodyStyle>
      <a:lvl1pPr marL="342900" marR="0" indent="-34290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1pPr>
      <a:lvl2pPr marL="783771" marR="0" indent="-326571"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2pPr>
      <a:lvl3pPr marL="1219200" marR="0" indent="-30480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3pPr>
      <a:lvl4pPr marL="1737360" marR="0" indent="-36576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4pPr>
      <a:lvl5pPr marL="2194560" marR="0" indent="-36576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5pPr>
      <a:lvl6pPr marL="2651760" marR="0" indent="-36576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6pPr>
      <a:lvl7pPr marL="3108960" marR="0" indent="-36576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7pPr>
      <a:lvl8pPr marL="3566159" marR="0" indent="-365759"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8pPr>
      <a:lvl9pPr marL="4023359" marR="0" indent="-365759"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9pPr>
    </p:bodyStyle>
    <p:otherStyle>
      <a:lvl1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1pPr>
      <a:lvl2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2pPr>
      <a:lvl3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3pPr>
      <a:lvl4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4pPr>
      <a:lvl5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5pPr>
      <a:lvl6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6pPr>
      <a:lvl7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7pPr>
      <a:lvl8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8pPr>
      <a:lvl9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png"/></Relationships>

</file>

<file path=ppt/slides/_rels/slide31.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4.png"/></Relationships>

</file>

<file path=ppt/slides/_rels/slide32.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5.png"/></Relationships>

</file>

<file path=ppt/slides/_rels/slide33.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6.png"/></Relationships>

</file>

<file path=ppt/slides/_rels/slide34.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6.png"/></Relationships>

</file>

<file path=ppt/slides/_rels/slide35.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6.png"/></Relationships>

</file>

<file path=ppt/slides/_rels/slide36.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7.png"/></Relationships>

</file>

<file path=ppt/slides/_rels/slide40.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4" name="Rectangle 1"/>
          <p:cNvSpPr/>
          <p:nvPr/>
        </p:nvSpPr>
        <p:spPr>
          <a:xfrm>
            <a:off x="640080" y="640080"/>
            <a:ext cx="548641" cy="45722"/>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95" name="TextBox 3"/>
          <p:cNvSpPr txBox="1"/>
          <p:nvPr/>
        </p:nvSpPr>
        <p:spPr>
          <a:xfrm>
            <a:off x="640080" y="2377438"/>
            <a:ext cx="10972801" cy="200468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sz="6400">
                <a:solidFill>
                  <a:srgbClr val="F2F2F2"/>
                </a:solidFill>
                <a:latin typeface="Inter Bold"/>
                <a:ea typeface="Inter Bold"/>
                <a:cs typeface="Inter Bold"/>
                <a:sym typeface="Inter Bold"/>
              </a:defRPr>
            </a:pPr>
            <a:r>
              <a:t>Frontend arhitektura</a:t>
            </a:r>
          </a:p>
          <a:p>
            <a:pPr>
              <a:lnSpc>
                <a:spcPct val="104999"/>
              </a:lnSpc>
              <a:defRPr sz="6400">
                <a:solidFill>
                  <a:srgbClr val="F2F2F2"/>
                </a:solidFill>
                <a:latin typeface="Inter Bold"/>
                <a:ea typeface="Inter Bold"/>
                <a:cs typeface="Inter Bold"/>
                <a:sym typeface="Inter Bold"/>
              </a:defRPr>
            </a:pPr>
            <a:r>
              <a:t>kakvu </a:t>
            </a:r>
            <a:r>
              <a:rPr>
                <a:solidFill>
                  <a:srgbClr val="00D4FF"/>
                </a:solidFill>
              </a:rPr>
              <a:t>AI</a:t>
            </a:r>
            <a:r>
              <a:t> razumije</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9" name="TextBox 1"/>
          <p:cNvSpPr txBox="1"/>
          <p:nvPr/>
        </p:nvSpPr>
        <p:spPr>
          <a:xfrm>
            <a:off x="914398" y="1828800"/>
            <a:ext cx="10360156" cy="2159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400">
                <a:solidFill>
                  <a:srgbClr val="888888"/>
                </a:solidFill>
                <a:latin typeface="Inter Regular"/>
                <a:ea typeface="Inter Regular"/>
                <a:cs typeface="Inter Regular"/>
                <a:sym typeface="Inter Regular"/>
              </a:defRPr>
            </a:lvl1pPr>
          </a:lstStyle>
          <a:p>
            <a:pPr/>
            <a:r>
              <a:t>Koliko puta ste čuli ovu rečenicu?</a:t>
            </a:r>
          </a:p>
        </p:txBody>
      </p:sp>
      <p:sp>
        <p:nvSpPr>
          <p:cNvPr id="100" name="TextBox 2"/>
          <p:cNvSpPr txBox="1"/>
          <p:nvPr/>
        </p:nvSpPr>
        <p:spPr>
          <a:xfrm>
            <a:off x="1097279" y="2468878"/>
            <a:ext cx="9994394" cy="187452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gn="ctr">
              <a:lnSpc>
                <a:spcPct val="130000"/>
              </a:lnSpc>
              <a:defRPr sz="3400">
                <a:solidFill>
                  <a:srgbClr val="F2F2F2"/>
                </a:solidFill>
                <a:latin typeface="Inter Bold"/>
                <a:ea typeface="Inter Bold"/>
                <a:cs typeface="Inter Bold"/>
                <a:sym typeface="Inter Bold"/>
              </a:defRPr>
            </a:pPr>
            <a:r>
              <a:t>“Napisao sam detaljni plan implementacije za Claude-a. Prvih par koraka - sve divno i krasno. Nakon toga, </a:t>
            </a:r>
            <a:r>
              <a:rPr>
                <a:solidFill>
                  <a:srgbClr val="FF4757"/>
                </a:solidFill>
              </a:rPr>
              <a:t>počeo se gubiti.</a:t>
            </a:r>
            <a:r>
              <a:t>”</a:t>
            </a:r>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104" name="top.png" descr="top.png"/>
          <p:cNvPicPr>
            <a:picLocks noChangeAspect="1"/>
          </p:cNvPicPr>
          <p:nvPr/>
        </p:nvPicPr>
        <p:blipFill>
          <a:blip r:embed="rId3">
            <a:extLst/>
          </a:blip>
          <a:stretch>
            <a:fillRect/>
          </a:stretch>
        </p:blipFill>
        <p:spPr>
          <a:xfrm>
            <a:off x="2866010" y="0"/>
            <a:ext cx="6447280" cy="6858001"/>
          </a:xfrm>
          <a:prstGeom prst="rect">
            <a:avLst/>
          </a:prstGeom>
          <a:ln w="12700">
            <a:miter lim="400000"/>
          </a:ln>
        </p:spPr>
      </p:pic>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8" name="TextBox 2"/>
          <p:cNvSpPr txBox="1"/>
          <p:nvPr/>
        </p:nvSpPr>
        <p:spPr>
          <a:xfrm>
            <a:off x="1092453" y="3168650"/>
            <a:ext cx="9994394" cy="5207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gn="ctr">
              <a:lnSpc>
                <a:spcPct val="130000"/>
              </a:lnSpc>
              <a:defRPr sz="3400">
                <a:solidFill>
                  <a:srgbClr val="F2F2F2"/>
                </a:solidFill>
                <a:latin typeface="Inter Bold"/>
                <a:ea typeface="Inter Bold"/>
                <a:cs typeface="Inter Bold"/>
                <a:sym typeface="Inter Bold"/>
              </a:defRPr>
            </a:pPr>
            <a:r>
              <a:t>Razlog: </a:t>
            </a:r>
            <a:r>
              <a:rPr>
                <a:solidFill>
                  <a:srgbClr val="00D4FF"/>
                </a:solidFill>
              </a:rPr>
              <a:t>context</a:t>
            </a:r>
            <a:r>
              <a:t>.</a:t>
            </a:r>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2"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sz="3600">
                <a:solidFill>
                  <a:srgbClr val="F2F2F2"/>
                </a:solidFill>
                <a:latin typeface="Inter Bold"/>
                <a:ea typeface="Inter Bold"/>
                <a:cs typeface="Inter Bold"/>
                <a:sym typeface="Inter Bold"/>
              </a:defRPr>
            </a:pPr>
            <a:r>
              <a:t>Što je </a:t>
            </a:r>
            <a:r>
              <a:rPr>
                <a:solidFill>
                  <a:srgbClr val="00D4FF"/>
                </a:solidFill>
              </a:rPr>
              <a:t>“context”</a:t>
            </a:r>
            <a:r>
              <a:t> u LLM smislu?</a:t>
            </a:r>
          </a:p>
        </p:txBody>
      </p:sp>
      <p:sp>
        <p:nvSpPr>
          <p:cNvPr id="113"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114" name="TextBox 3"/>
          <p:cNvSpPr txBox="1"/>
          <p:nvPr/>
        </p:nvSpPr>
        <p:spPr>
          <a:xfrm>
            <a:off x="640079" y="2103120"/>
            <a:ext cx="9701615" cy="762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50000"/>
              </a:lnSpc>
              <a:defRPr sz="2000">
                <a:solidFill>
                  <a:srgbClr val="00D4FF"/>
                </a:solidFill>
                <a:latin typeface="Inter Bold"/>
                <a:ea typeface="Inter Bold"/>
                <a:cs typeface="Inter Bold"/>
                <a:sym typeface="Inter Bold"/>
              </a:defRPr>
            </a:pPr>
            <a:r>
              <a:t>Context</a:t>
            </a:r>
            <a:r>
              <a:rPr>
                <a:solidFill>
                  <a:srgbClr val="F2F2F2"/>
                </a:solidFill>
                <a:latin typeface="Inter Regular"/>
                <a:ea typeface="Inter Regular"/>
                <a:cs typeface="Inter Regular"/>
                <a:sym typeface="Inter Regular"/>
              </a:rPr>
              <a:t> se odnosi na skup tokena koji su uključeni u proces generiranja (samplinga) iz LLM-a.</a:t>
            </a:r>
          </a:p>
        </p:txBody>
      </p:sp>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8"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sz="3600">
                <a:solidFill>
                  <a:srgbClr val="F2F2F2"/>
                </a:solidFill>
                <a:latin typeface="Inter Bold"/>
                <a:ea typeface="Inter Bold"/>
                <a:cs typeface="Inter Bold"/>
                <a:sym typeface="Inter Bold"/>
              </a:defRPr>
            </a:pPr>
            <a:r>
              <a:t>Što je </a:t>
            </a:r>
            <a:r>
              <a:rPr>
                <a:solidFill>
                  <a:srgbClr val="00D4FF"/>
                </a:solidFill>
              </a:rPr>
              <a:t>“context”</a:t>
            </a:r>
            <a:r>
              <a:t> u LLM smislu?</a:t>
            </a:r>
          </a:p>
        </p:txBody>
      </p:sp>
      <p:sp>
        <p:nvSpPr>
          <p:cNvPr id="119"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120" name="TextBox 3"/>
          <p:cNvSpPr txBox="1"/>
          <p:nvPr/>
        </p:nvSpPr>
        <p:spPr>
          <a:xfrm>
            <a:off x="640079" y="2103120"/>
            <a:ext cx="9701615" cy="1854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50000"/>
              </a:lnSpc>
              <a:defRPr sz="2000">
                <a:solidFill>
                  <a:srgbClr val="00D4FF"/>
                </a:solidFill>
                <a:latin typeface="Inter Bold"/>
                <a:ea typeface="Inter Bold"/>
                <a:cs typeface="Inter Bold"/>
                <a:sym typeface="Inter Bold"/>
              </a:defRPr>
            </a:pPr>
            <a:r>
              <a:t>Context</a:t>
            </a:r>
            <a:r>
              <a:rPr>
                <a:solidFill>
                  <a:srgbClr val="F2F2F2"/>
                </a:solidFill>
                <a:latin typeface="Inter Regular"/>
                <a:ea typeface="Inter Regular"/>
                <a:cs typeface="Inter Regular"/>
                <a:sym typeface="Inter Regular"/>
              </a:rPr>
              <a:t> se odnosi na skup tokena koji su uključeni u proces generiranja (samplinga) iz LLM-a.</a:t>
            </a:r>
            <a:endParaRPr>
              <a:solidFill>
                <a:srgbClr val="F2F2F2"/>
              </a:solidFill>
            </a:endParaRPr>
          </a:p>
          <a:p>
            <a:pPr>
              <a:lnSpc>
                <a:spcPct val="150000"/>
              </a:lnSpc>
              <a:spcBef>
                <a:spcPts val="1400"/>
              </a:spcBef>
              <a:defRPr sz="2000">
                <a:solidFill>
                  <a:srgbClr val="F2F2F2"/>
                </a:solidFill>
                <a:latin typeface="Inter Regular"/>
                <a:ea typeface="Inter Regular"/>
                <a:cs typeface="Inter Regular"/>
                <a:sym typeface="Inter Regular"/>
              </a:defRPr>
            </a:pPr>
            <a:r>
              <a:t>Drugim riječima, sve što model može vidjeti kada generira odgovor - tvoj prompt, otvorene datoteke, struktura projekta itd.</a:t>
            </a:r>
          </a:p>
        </p:txBody>
      </p:sp>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4"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Glavni problemi</a:t>
            </a:r>
          </a:p>
        </p:txBody>
      </p:sp>
      <p:sp>
        <p:nvSpPr>
          <p:cNvPr id="125"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126" name="TextBox 2"/>
          <p:cNvSpPr txBox="1"/>
          <p:nvPr/>
        </p:nvSpPr>
        <p:spPr>
          <a:xfrm>
            <a:off x="640079" y="1371600"/>
            <a:ext cx="10908794" cy="2159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888888"/>
                </a:solidFill>
                <a:latin typeface="Inter Regular"/>
                <a:ea typeface="Inter Regular"/>
                <a:cs typeface="Inter Regular"/>
                <a:sym typeface="Inter Regular"/>
              </a:defRPr>
            </a:lvl1pPr>
          </a:lstStyle>
          <a:p>
            <a:pPr/>
            <a:r>
              <a:t>Reasoning over long-context (RULER benchmark)</a:t>
            </a:r>
          </a:p>
        </p:txBody>
      </p:sp>
      <p:sp>
        <p:nvSpPr>
          <p:cNvPr id="127" name="TextBox 5"/>
          <p:cNvSpPr txBox="1"/>
          <p:nvPr/>
        </p:nvSpPr>
        <p:spPr>
          <a:xfrm>
            <a:off x="603249" y="1947777"/>
            <a:ext cx="10972801" cy="66321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30000"/>
              </a:lnSpc>
              <a:defRPr>
                <a:solidFill>
                  <a:srgbClr val="B8C5D6"/>
                </a:solidFill>
                <a:latin typeface="Helvetica Neue"/>
                <a:ea typeface="Helvetica Neue"/>
                <a:cs typeface="Helvetica Neue"/>
                <a:sym typeface="Helvetica Neue"/>
              </a:defRPr>
            </a:pPr>
            <a:r>
              <a:t>Svi frontier modeli </a:t>
            </a:r>
            <a:r>
              <a:rPr b="1">
                <a:solidFill>
                  <a:srgbClr val="FFFFFF"/>
                </a:solidFill>
              </a:rPr>
              <a:t>deklariraju 1M token</a:t>
            </a:r>
            <a:r>
              <a:t> context window.</a:t>
            </a:r>
          </a:p>
          <a:p>
            <a:pPr>
              <a:lnSpc>
                <a:spcPct val="130000"/>
              </a:lnSpc>
              <a:defRPr>
                <a:solidFill>
                  <a:srgbClr val="B8C5D6"/>
                </a:solidFill>
                <a:latin typeface="Helvetica Neue"/>
                <a:ea typeface="Helvetica Neue"/>
                <a:cs typeface="Helvetica Neue"/>
                <a:sym typeface="Helvetica Neue"/>
              </a:defRPr>
            </a:pPr>
            <a:r>
              <a:t>Na složenijim zadacima već pri </a:t>
            </a:r>
            <a:r>
              <a:rPr b="1">
                <a:solidFill>
                  <a:srgbClr val="00D4FF"/>
                </a:solidFill>
              </a:rPr>
              <a:t>256K</a:t>
            </a:r>
            <a:r>
              <a:t> (¼ deklariranog) — performans pada:</a:t>
            </a:r>
          </a:p>
        </p:txBody>
      </p:sp>
      <p:sp>
        <p:nvSpPr>
          <p:cNvPr id="128" name="Rectangle 6"/>
          <p:cNvSpPr/>
          <p:nvPr/>
        </p:nvSpPr>
        <p:spPr>
          <a:xfrm>
            <a:off x="603249" y="2958697"/>
            <a:ext cx="10972801" cy="640081"/>
          </a:xfrm>
          <a:prstGeom prst="rect">
            <a:avLst/>
          </a:prstGeom>
          <a:solidFill>
            <a:srgbClr val="131E35"/>
          </a:solidFill>
          <a:ln w="12700">
            <a:miter lim="400000"/>
          </a:ln>
        </p:spPr>
        <p:txBody>
          <a:bodyPr lIns="45719" rIns="45719" anchor="ctr"/>
          <a:lstStyle/>
          <a:p>
            <a:pPr algn="ctr">
              <a:defRPr>
                <a:solidFill>
                  <a:srgbClr val="FFFFFF"/>
                </a:solidFill>
              </a:defRPr>
            </a:pPr>
          </a:p>
        </p:txBody>
      </p:sp>
      <p:sp>
        <p:nvSpPr>
          <p:cNvPr id="129" name="TextBox 7"/>
          <p:cNvSpPr txBox="1"/>
          <p:nvPr/>
        </p:nvSpPr>
        <p:spPr>
          <a:xfrm>
            <a:off x="1060450" y="3173366"/>
            <a:ext cx="4572001" cy="21074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400">
                <a:solidFill>
                  <a:srgbClr val="B8C5D6"/>
                </a:solidFill>
                <a:latin typeface="Helvetica Neue"/>
                <a:ea typeface="Helvetica Neue"/>
                <a:cs typeface="Helvetica Neue"/>
                <a:sym typeface="Helvetica Neue"/>
              </a:defRPr>
            </a:lvl1pPr>
          </a:lstStyle>
          <a:p>
            <a:pPr/>
            <a:r>
              <a:t>Model</a:t>
            </a:r>
          </a:p>
        </p:txBody>
      </p:sp>
      <p:sp>
        <p:nvSpPr>
          <p:cNvPr id="130" name="TextBox 8"/>
          <p:cNvSpPr txBox="1"/>
          <p:nvPr/>
        </p:nvSpPr>
        <p:spPr>
          <a:xfrm>
            <a:off x="6546849" y="3173366"/>
            <a:ext cx="2286001" cy="21074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400">
                <a:solidFill>
                  <a:srgbClr val="B8C5D6"/>
                </a:solidFill>
                <a:latin typeface="Helvetica Neue"/>
                <a:ea typeface="Helvetica Neue"/>
                <a:cs typeface="Helvetica Neue"/>
                <a:sym typeface="Helvetica Neue"/>
              </a:defRPr>
            </a:lvl1pPr>
          </a:lstStyle>
          <a:p>
            <a:pPr/>
            <a:r>
              <a:t>RULER @ 256K</a:t>
            </a:r>
          </a:p>
        </p:txBody>
      </p:sp>
      <p:sp>
        <p:nvSpPr>
          <p:cNvPr id="131" name="TextBox 9"/>
          <p:cNvSpPr txBox="1"/>
          <p:nvPr/>
        </p:nvSpPr>
        <p:spPr>
          <a:xfrm>
            <a:off x="9290049" y="3173366"/>
            <a:ext cx="1828801" cy="21074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400">
                <a:solidFill>
                  <a:srgbClr val="B8C5D6"/>
                </a:solidFill>
                <a:latin typeface="Helvetica Neue"/>
                <a:ea typeface="Helvetica Neue"/>
                <a:cs typeface="Helvetica Neue"/>
                <a:sym typeface="Helvetica Neue"/>
              </a:defRPr>
            </a:lvl1pPr>
          </a:lstStyle>
          <a:p>
            <a:pPr/>
            <a:r>
              <a:t>Zaključak</a:t>
            </a:r>
          </a:p>
        </p:txBody>
      </p:sp>
      <p:sp>
        <p:nvSpPr>
          <p:cNvPr id="132" name="Rectangle 10"/>
          <p:cNvSpPr/>
          <p:nvPr/>
        </p:nvSpPr>
        <p:spPr>
          <a:xfrm>
            <a:off x="603249" y="3598777"/>
            <a:ext cx="10972801" cy="640081"/>
          </a:xfrm>
          <a:prstGeom prst="rect">
            <a:avLst/>
          </a:prstGeom>
          <a:solidFill>
            <a:srgbClr val="0B1426"/>
          </a:solidFill>
          <a:ln w="12700">
            <a:miter lim="400000"/>
          </a:ln>
        </p:spPr>
        <p:txBody>
          <a:bodyPr lIns="45719" rIns="45719" anchor="ctr"/>
          <a:lstStyle/>
          <a:p>
            <a:pPr algn="ctr">
              <a:defRPr>
                <a:solidFill>
                  <a:srgbClr val="FFFFFF"/>
                </a:solidFill>
              </a:defRPr>
            </a:pPr>
          </a:p>
        </p:txBody>
      </p:sp>
      <p:sp>
        <p:nvSpPr>
          <p:cNvPr id="133" name="Rectangle 11"/>
          <p:cNvSpPr/>
          <p:nvPr/>
        </p:nvSpPr>
        <p:spPr>
          <a:xfrm>
            <a:off x="603249" y="3598777"/>
            <a:ext cx="10972801" cy="13717"/>
          </a:xfrm>
          <a:prstGeom prst="rect">
            <a:avLst/>
          </a:prstGeom>
          <a:solidFill>
            <a:srgbClr val="131E35"/>
          </a:solidFill>
          <a:ln w="12700">
            <a:miter lim="400000"/>
          </a:ln>
        </p:spPr>
        <p:txBody>
          <a:bodyPr lIns="45719" rIns="45719" anchor="ctr"/>
          <a:lstStyle/>
          <a:p>
            <a:pPr algn="ctr">
              <a:defRPr>
                <a:solidFill>
                  <a:srgbClr val="FFFFFF"/>
                </a:solidFill>
              </a:defRPr>
            </a:pPr>
          </a:p>
        </p:txBody>
      </p:sp>
      <p:sp>
        <p:nvSpPr>
          <p:cNvPr id="134" name="TextBox 12"/>
          <p:cNvSpPr txBox="1"/>
          <p:nvPr/>
        </p:nvSpPr>
        <p:spPr>
          <a:xfrm>
            <a:off x="1060450" y="3782318"/>
            <a:ext cx="4572001" cy="2730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rgbClr val="FFFFFF"/>
                </a:solidFill>
                <a:latin typeface="Helvetica Neue"/>
                <a:ea typeface="Helvetica Neue"/>
                <a:cs typeface="Helvetica Neue"/>
                <a:sym typeface="Helvetica Neue"/>
              </a:defRPr>
            </a:lvl1pPr>
          </a:lstStyle>
          <a:p>
            <a:pPr/>
            <a:r>
              <a:t>Gemini 3 Deep Think</a:t>
            </a:r>
          </a:p>
        </p:txBody>
      </p:sp>
      <p:sp>
        <p:nvSpPr>
          <p:cNvPr id="135" name="TextBox 13"/>
          <p:cNvSpPr txBox="1"/>
          <p:nvPr/>
        </p:nvSpPr>
        <p:spPr>
          <a:xfrm>
            <a:off x="6546849" y="3760067"/>
            <a:ext cx="2286001" cy="3175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2200">
                <a:solidFill>
                  <a:srgbClr val="2ED573"/>
                </a:solidFill>
                <a:latin typeface="Menlo Regular"/>
                <a:ea typeface="Menlo Regular"/>
                <a:cs typeface="Menlo Regular"/>
                <a:sym typeface="Menlo Regular"/>
              </a:defRPr>
            </a:lvl1pPr>
          </a:lstStyle>
          <a:p>
            <a:pPr/>
            <a:r>
              <a:t>84%</a:t>
            </a:r>
          </a:p>
        </p:txBody>
      </p:sp>
      <p:sp>
        <p:nvSpPr>
          <p:cNvPr id="136" name="TextBox 14"/>
          <p:cNvSpPr txBox="1"/>
          <p:nvPr/>
        </p:nvSpPr>
        <p:spPr>
          <a:xfrm>
            <a:off x="9290049" y="3819706"/>
            <a:ext cx="1828801" cy="19822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400">
                <a:solidFill>
                  <a:srgbClr val="2ED573"/>
                </a:solidFill>
                <a:latin typeface="Helvetica Neue"/>
                <a:ea typeface="Helvetica Neue"/>
                <a:cs typeface="Helvetica Neue"/>
                <a:sym typeface="Helvetica Neue"/>
              </a:defRPr>
            </a:lvl1pPr>
          </a:lstStyle>
          <a:p>
            <a:pPr/>
            <a:r>
              <a:t>drži &gt;80%</a:t>
            </a:r>
          </a:p>
        </p:txBody>
      </p:sp>
      <p:sp>
        <p:nvSpPr>
          <p:cNvPr id="137" name="Rectangle 15"/>
          <p:cNvSpPr/>
          <p:nvPr/>
        </p:nvSpPr>
        <p:spPr>
          <a:xfrm>
            <a:off x="603249" y="4238857"/>
            <a:ext cx="10972801" cy="640081"/>
          </a:xfrm>
          <a:prstGeom prst="rect">
            <a:avLst/>
          </a:prstGeom>
          <a:solidFill>
            <a:srgbClr val="0B1426"/>
          </a:solidFill>
          <a:ln w="12700">
            <a:miter lim="400000"/>
          </a:ln>
        </p:spPr>
        <p:txBody>
          <a:bodyPr lIns="45719" rIns="45719" anchor="ctr"/>
          <a:lstStyle/>
          <a:p>
            <a:pPr algn="ctr">
              <a:defRPr>
                <a:solidFill>
                  <a:srgbClr val="FFFFFF"/>
                </a:solidFill>
              </a:defRPr>
            </a:pPr>
          </a:p>
        </p:txBody>
      </p:sp>
      <p:sp>
        <p:nvSpPr>
          <p:cNvPr id="138" name="Rectangle 16"/>
          <p:cNvSpPr/>
          <p:nvPr/>
        </p:nvSpPr>
        <p:spPr>
          <a:xfrm>
            <a:off x="603249" y="4238857"/>
            <a:ext cx="10972801" cy="13717"/>
          </a:xfrm>
          <a:prstGeom prst="rect">
            <a:avLst/>
          </a:prstGeom>
          <a:solidFill>
            <a:srgbClr val="131E35"/>
          </a:solidFill>
          <a:ln w="12700">
            <a:miter lim="400000"/>
          </a:ln>
        </p:spPr>
        <p:txBody>
          <a:bodyPr lIns="45719" rIns="45719" anchor="ctr"/>
          <a:lstStyle/>
          <a:p>
            <a:pPr algn="ctr">
              <a:defRPr>
                <a:solidFill>
                  <a:srgbClr val="FFFFFF"/>
                </a:solidFill>
              </a:defRPr>
            </a:pPr>
          </a:p>
        </p:txBody>
      </p:sp>
      <p:sp>
        <p:nvSpPr>
          <p:cNvPr id="139" name="TextBox 17"/>
          <p:cNvSpPr txBox="1"/>
          <p:nvPr/>
        </p:nvSpPr>
        <p:spPr>
          <a:xfrm>
            <a:off x="1060450" y="4422397"/>
            <a:ext cx="4572001" cy="273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rgbClr val="FFFFFF"/>
                </a:solidFill>
                <a:latin typeface="Helvetica Neue"/>
                <a:ea typeface="Helvetica Neue"/>
                <a:cs typeface="Helvetica Neue"/>
                <a:sym typeface="Helvetica Neue"/>
              </a:defRPr>
            </a:lvl1pPr>
          </a:lstStyle>
          <a:p>
            <a:pPr/>
            <a:r>
              <a:t>GPT-5.5</a:t>
            </a:r>
          </a:p>
        </p:txBody>
      </p:sp>
      <p:sp>
        <p:nvSpPr>
          <p:cNvPr id="140" name="TextBox 18"/>
          <p:cNvSpPr txBox="1"/>
          <p:nvPr/>
        </p:nvSpPr>
        <p:spPr>
          <a:xfrm>
            <a:off x="6546849" y="4400147"/>
            <a:ext cx="2286001" cy="3175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2200">
                <a:solidFill>
                  <a:srgbClr val="FFC44D"/>
                </a:solidFill>
                <a:latin typeface="Menlo Regular"/>
                <a:ea typeface="Menlo Regular"/>
                <a:cs typeface="Menlo Regular"/>
                <a:sym typeface="Menlo Regular"/>
              </a:defRPr>
            </a:lvl1pPr>
          </a:lstStyle>
          <a:p>
            <a:pPr/>
            <a:r>
              <a:t>72%</a:t>
            </a:r>
          </a:p>
        </p:txBody>
      </p:sp>
      <p:sp>
        <p:nvSpPr>
          <p:cNvPr id="141" name="TextBox 19"/>
          <p:cNvSpPr txBox="1"/>
          <p:nvPr/>
        </p:nvSpPr>
        <p:spPr>
          <a:xfrm>
            <a:off x="9290049" y="4459786"/>
            <a:ext cx="1828801" cy="19822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400">
                <a:solidFill>
                  <a:srgbClr val="FFC44D"/>
                </a:solidFill>
                <a:latin typeface="Helvetica Neue"/>
                <a:ea typeface="Helvetica Neue"/>
                <a:cs typeface="Helvetica Neue"/>
                <a:sym typeface="Helvetica Neue"/>
              </a:defRPr>
            </a:lvl1pPr>
          </a:lstStyle>
          <a:p>
            <a:pPr/>
            <a:r>
              <a:t>ispod praga</a:t>
            </a:r>
          </a:p>
        </p:txBody>
      </p:sp>
      <p:sp>
        <p:nvSpPr>
          <p:cNvPr id="142" name="Rectangle 20"/>
          <p:cNvSpPr/>
          <p:nvPr/>
        </p:nvSpPr>
        <p:spPr>
          <a:xfrm>
            <a:off x="603249" y="4878937"/>
            <a:ext cx="10972801" cy="640081"/>
          </a:xfrm>
          <a:prstGeom prst="rect">
            <a:avLst/>
          </a:prstGeom>
          <a:solidFill>
            <a:srgbClr val="0B1426"/>
          </a:solidFill>
          <a:ln w="12700">
            <a:miter lim="400000"/>
          </a:ln>
        </p:spPr>
        <p:txBody>
          <a:bodyPr lIns="45719" rIns="45719" anchor="ctr"/>
          <a:lstStyle/>
          <a:p>
            <a:pPr algn="ctr">
              <a:defRPr>
                <a:solidFill>
                  <a:srgbClr val="FFFFFF"/>
                </a:solidFill>
              </a:defRPr>
            </a:pPr>
          </a:p>
        </p:txBody>
      </p:sp>
      <p:sp>
        <p:nvSpPr>
          <p:cNvPr id="143" name="Rectangle 21"/>
          <p:cNvSpPr/>
          <p:nvPr/>
        </p:nvSpPr>
        <p:spPr>
          <a:xfrm>
            <a:off x="603249" y="4878937"/>
            <a:ext cx="10972801" cy="13717"/>
          </a:xfrm>
          <a:prstGeom prst="rect">
            <a:avLst/>
          </a:prstGeom>
          <a:solidFill>
            <a:srgbClr val="131E35"/>
          </a:solidFill>
          <a:ln w="12700">
            <a:miter lim="400000"/>
          </a:ln>
        </p:spPr>
        <p:txBody>
          <a:bodyPr lIns="45719" rIns="45719" anchor="ctr"/>
          <a:lstStyle/>
          <a:p>
            <a:pPr algn="ctr">
              <a:defRPr>
                <a:solidFill>
                  <a:srgbClr val="FFFFFF"/>
                </a:solidFill>
              </a:defRPr>
            </a:pPr>
          </a:p>
        </p:txBody>
      </p:sp>
      <p:sp>
        <p:nvSpPr>
          <p:cNvPr id="144" name="TextBox 22"/>
          <p:cNvSpPr txBox="1"/>
          <p:nvPr/>
        </p:nvSpPr>
        <p:spPr>
          <a:xfrm>
            <a:off x="1060450" y="5062477"/>
            <a:ext cx="4572001" cy="273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rgbClr val="FFFFFF"/>
                </a:solidFill>
                <a:latin typeface="Helvetica Neue"/>
                <a:ea typeface="Helvetica Neue"/>
                <a:cs typeface="Helvetica Neue"/>
                <a:sym typeface="Helvetica Neue"/>
              </a:defRPr>
            </a:lvl1pPr>
          </a:lstStyle>
          <a:p>
            <a:pPr/>
            <a:r>
              <a:t>Claude Opus 4.7</a:t>
            </a:r>
          </a:p>
        </p:txBody>
      </p:sp>
      <p:sp>
        <p:nvSpPr>
          <p:cNvPr id="145" name="TextBox 23"/>
          <p:cNvSpPr txBox="1"/>
          <p:nvPr/>
        </p:nvSpPr>
        <p:spPr>
          <a:xfrm>
            <a:off x="6546849" y="5040227"/>
            <a:ext cx="2286001" cy="3175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2200">
                <a:solidFill>
                  <a:srgbClr val="FF4D6D"/>
                </a:solidFill>
                <a:latin typeface="Menlo Regular"/>
                <a:ea typeface="Menlo Regular"/>
                <a:cs typeface="Menlo Regular"/>
                <a:sym typeface="Menlo Regular"/>
              </a:defRPr>
            </a:lvl1pPr>
          </a:lstStyle>
          <a:p>
            <a:pPr/>
            <a:r>
              <a:t>61%</a:t>
            </a:r>
          </a:p>
        </p:txBody>
      </p:sp>
      <p:sp>
        <p:nvSpPr>
          <p:cNvPr id="146" name="TextBox 24"/>
          <p:cNvSpPr txBox="1"/>
          <p:nvPr/>
        </p:nvSpPr>
        <p:spPr>
          <a:xfrm>
            <a:off x="9290049" y="5099866"/>
            <a:ext cx="1828801" cy="19822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400">
                <a:solidFill>
                  <a:srgbClr val="FF4D6D"/>
                </a:solidFill>
                <a:latin typeface="Helvetica Neue"/>
                <a:ea typeface="Helvetica Neue"/>
                <a:cs typeface="Helvetica Neue"/>
                <a:sym typeface="Helvetica Neue"/>
              </a:defRPr>
            </a:lvl1pPr>
          </a:lstStyle>
          <a:p>
            <a:pPr/>
            <a:r>
              <a:t>značajan pad</a:t>
            </a:r>
          </a:p>
        </p:txBody>
      </p:sp>
      <p:sp>
        <p:nvSpPr>
          <p:cNvPr id="147" name="TextBox 28"/>
          <p:cNvSpPr txBox="1"/>
          <p:nvPr/>
        </p:nvSpPr>
        <p:spPr>
          <a:xfrm>
            <a:off x="603249" y="6359757"/>
            <a:ext cx="10972801" cy="165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B8C5D6"/>
                </a:solidFill>
                <a:latin typeface="Menlo Regular"/>
                <a:ea typeface="Menlo Regular"/>
                <a:cs typeface="Menlo Regular"/>
                <a:sym typeface="Menlo Regular"/>
              </a:defRPr>
            </a:lvl1pPr>
          </a:lstStyle>
          <a:p>
            <a:pPr/>
            <a:r>
              <a:t>RULER · github.com/NVIDIA/RULER</a:t>
            </a:r>
          </a:p>
        </p:txBody>
      </p:sp>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1"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Glavni problemi</a:t>
            </a:r>
          </a:p>
        </p:txBody>
      </p:sp>
      <p:sp>
        <p:nvSpPr>
          <p:cNvPr id="152"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153" name="TextBox 2"/>
          <p:cNvSpPr txBox="1"/>
          <p:nvPr/>
        </p:nvSpPr>
        <p:spPr>
          <a:xfrm>
            <a:off x="640079" y="1371600"/>
            <a:ext cx="10908794" cy="2159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888888"/>
                </a:solidFill>
                <a:latin typeface="Inter Regular"/>
                <a:ea typeface="Inter Regular"/>
                <a:cs typeface="Inter Regular"/>
                <a:sym typeface="Inter Regular"/>
              </a:defRPr>
            </a:lvl1pPr>
          </a:lstStyle>
          <a:p>
            <a:pPr/>
            <a:r>
              <a:t>Lost in the middle</a:t>
            </a:r>
          </a:p>
        </p:txBody>
      </p:sp>
      <p:sp>
        <p:nvSpPr>
          <p:cNvPr id="154" name="Rectangle 5"/>
          <p:cNvSpPr/>
          <p:nvPr/>
        </p:nvSpPr>
        <p:spPr>
          <a:xfrm>
            <a:off x="603249" y="2106334"/>
            <a:ext cx="10972801" cy="1280161"/>
          </a:xfrm>
          <a:prstGeom prst="rect">
            <a:avLst/>
          </a:prstGeom>
          <a:solidFill>
            <a:srgbClr val="0F2A3F"/>
          </a:solidFill>
          <a:ln w="12700">
            <a:miter lim="400000"/>
          </a:ln>
        </p:spPr>
        <p:txBody>
          <a:bodyPr lIns="45719" rIns="45719" anchor="ctr"/>
          <a:lstStyle/>
          <a:p>
            <a:pPr algn="ctr">
              <a:defRPr>
                <a:solidFill>
                  <a:srgbClr val="FFFFFF"/>
                </a:solidFill>
              </a:defRPr>
            </a:pPr>
          </a:p>
        </p:txBody>
      </p:sp>
      <p:sp>
        <p:nvSpPr>
          <p:cNvPr id="155" name="Rectangle 6"/>
          <p:cNvSpPr/>
          <p:nvPr/>
        </p:nvSpPr>
        <p:spPr>
          <a:xfrm>
            <a:off x="603249" y="2106334"/>
            <a:ext cx="73154" cy="1280161"/>
          </a:xfrm>
          <a:prstGeom prst="rect">
            <a:avLst/>
          </a:prstGeom>
          <a:solidFill>
            <a:srgbClr val="00D4FF"/>
          </a:solidFill>
          <a:ln w="12700">
            <a:miter lim="400000"/>
          </a:ln>
        </p:spPr>
        <p:txBody>
          <a:bodyPr lIns="45719" rIns="45719" anchor="ctr"/>
          <a:lstStyle/>
          <a:p>
            <a:pPr algn="ctr">
              <a:defRPr>
                <a:solidFill>
                  <a:srgbClr val="FFFFFF"/>
                </a:solidFill>
              </a:defRPr>
            </a:pPr>
          </a:p>
        </p:txBody>
      </p:sp>
      <p:sp>
        <p:nvSpPr>
          <p:cNvPr id="156" name="TextBox 7"/>
          <p:cNvSpPr txBox="1"/>
          <p:nvPr/>
        </p:nvSpPr>
        <p:spPr>
          <a:xfrm>
            <a:off x="969009" y="2399450"/>
            <a:ext cx="10424161" cy="693929"/>
          </a:xfrm>
          <a:prstGeom prst="rect">
            <a:avLst/>
          </a:prstGeom>
          <a:ln w="12700">
            <a:miter lim="400000"/>
          </a:ln>
          <a:extLst>
            <a:ext uri="{C572A759-6A51-4108-AA02-DFA0A04FC94B}">
              <ma14:wrappingTextBoxFlag xmlns:ma14="http://schemas.microsoft.com/office/mac/drawingml/2011/main" val="1"/>
            </a:ext>
          </a:extLst>
        </p:spPr>
        <p:txBody>
          <a:bodyPr lIns="45719" rIns="45719" anchor="ctr">
            <a:spAutoFit/>
          </a:bodyPr>
          <a:lstStyle>
            <a:lvl1pPr>
              <a:defRPr sz="2000">
                <a:solidFill>
                  <a:srgbClr val="FFFFFF"/>
                </a:solidFill>
                <a:latin typeface="Helvetica Neue"/>
                <a:ea typeface="Helvetica Neue"/>
                <a:cs typeface="Helvetica Neue"/>
                <a:sym typeface="Helvetica Neue"/>
              </a:defRPr>
            </a:lvl1pPr>
          </a:lstStyle>
          <a:p>
            <a:pPr/>
            <a:r>
              <a:t>LLM ne konzumira kontekst ravnomjerno. Najbolje koristi informacije na početku i kraju, a najlošije u sredini.</a:t>
            </a:r>
          </a:p>
        </p:txBody>
      </p:sp>
      <p:sp>
        <p:nvSpPr>
          <p:cNvPr id="157" name="TextBox 8"/>
          <p:cNvSpPr txBox="1"/>
          <p:nvPr/>
        </p:nvSpPr>
        <p:spPr>
          <a:xfrm>
            <a:off x="594359" y="3931920"/>
            <a:ext cx="274321" cy="31013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000">
                <a:solidFill>
                  <a:srgbClr val="00D4FF"/>
                </a:solidFill>
                <a:latin typeface="Helvetica Neue"/>
                <a:ea typeface="Helvetica Neue"/>
                <a:cs typeface="Helvetica Neue"/>
                <a:sym typeface="Helvetica Neue"/>
              </a:defRPr>
            </a:lvl1pPr>
          </a:lstStyle>
          <a:p>
            <a:pPr/>
            <a:r>
              <a:t>•</a:t>
            </a:r>
          </a:p>
        </p:txBody>
      </p:sp>
      <p:sp>
        <p:nvSpPr>
          <p:cNvPr id="158" name="TextBox 9"/>
          <p:cNvSpPr txBox="1"/>
          <p:nvPr/>
        </p:nvSpPr>
        <p:spPr>
          <a:xfrm>
            <a:off x="914400" y="3931920"/>
            <a:ext cx="10515600" cy="28547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30000"/>
              </a:lnSpc>
              <a:defRPr>
                <a:solidFill>
                  <a:srgbClr val="B8C5D6"/>
                </a:solidFill>
                <a:latin typeface="Helvetica Neue"/>
                <a:ea typeface="Helvetica Neue"/>
                <a:cs typeface="Helvetica Neue"/>
                <a:sym typeface="Helvetica Neue"/>
              </a:defRPr>
            </a:pPr>
            <a:r>
              <a:t>Pozicija u kontekstu = </a:t>
            </a:r>
            <a:r>
              <a:rPr b="1">
                <a:solidFill>
                  <a:srgbClr val="FFFFFF"/>
                </a:solidFill>
              </a:rPr>
              <a:t>težina u pažnji</a:t>
            </a:r>
          </a:p>
        </p:txBody>
      </p:sp>
      <p:sp>
        <p:nvSpPr>
          <p:cNvPr id="159" name="TextBox 10"/>
          <p:cNvSpPr txBox="1"/>
          <p:nvPr/>
        </p:nvSpPr>
        <p:spPr>
          <a:xfrm>
            <a:off x="594359" y="4526279"/>
            <a:ext cx="274321" cy="31013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000">
                <a:solidFill>
                  <a:srgbClr val="00D4FF"/>
                </a:solidFill>
                <a:latin typeface="Helvetica Neue"/>
                <a:ea typeface="Helvetica Neue"/>
                <a:cs typeface="Helvetica Neue"/>
                <a:sym typeface="Helvetica Neue"/>
              </a:defRPr>
            </a:lvl1pPr>
          </a:lstStyle>
          <a:p>
            <a:pPr/>
            <a:r>
              <a:t>•</a:t>
            </a:r>
          </a:p>
        </p:txBody>
      </p:sp>
      <p:sp>
        <p:nvSpPr>
          <p:cNvPr id="160" name="TextBox 11"/>
          <p:cNvSpPr txBox="1"/>
          <p:nvPr/>
        </p:nvSpPr>
        <p:spPr>
          <a:xfrm>
            <a:off x="914400" y="4526279"/>
            <a:ext cx="10515600" cy="28547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30000"/>
              </a:lnSpc>
              <a:defRPr>
                <a:solidFill>
                  <a:srgbClr val="B8C5D6"/>
                </a:solidFill>
                <a:latin typeface="Helvetica Neue"/>
                <a:ea typeface="Helvetica Neue"/>
                <a:cs typeface="Helvetica Neue"/>
                <a:sym typeface="Helvetica Neue"/>
              </a:defRPr>
            </a:pPr>
            <a:r>
              <a:t>Najbolja točnost na </a:t>
            </a:r>
            <a:r>
              <a:rPr b="1">
                <a:solidFill>
                  <a:srgbClr val="FFFFFF"/>
                </a:solidFill>
              </a:rPr>
              <a:t>rubovima</a:t>
            </a:r>
            <a:r>
              <a:t>, najlošija u sredini -&gt; U-krivulja</a:t>
            </a:r>
          </a:p>
        </p:txBody>
      </p:sp>
      <p:sp>
        <p:nvSpPr>
          <p:cNvPr id="161" name="TextBox 12"/>
          <p:cNvSpPr txBox="1"/>
          <p:nvPr/>
        </p:nvSpPr>
        <p:spPr>
          <a:xfrm>
            <a:off x="594359" y="5120640"/>
            <a:ext cx="274321" cy="31013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000">
                <a:solidFill>
                  <a:srgbClr val="00D4FF"/>
                </a:solidFill>
                <a:latin typeface="Helvetica Neue"/>
                <a:ea typeface="Helvetica Neue"/>
                <a:cs typeface="Helvetica Neue"/>
                <a:sym typeface="Helvetica Neue"/>
              </a:defRPr>
            </a:lvl1pPr>
          </a:lstStyle>
          <a:p>
            <a:pPr/>
            <a:r>
              <a:t>•</a:t>
            </a:r>
          </a:p>
        </p:txBody>
      </p:sp>
      <p:sp>
        <p:nvSpPr>
          <p:cNvPr id="162" name="TextBox 13"/>
          <p:cNvSpPr txBox="1"/>
          <p:nvPr/>
        </p:nvSpPr>
        <p:spPr>
          <a:xfrm>
            <a:off x="914400" y="5120640"/>
            <a:ext cx="10515600" cy="28547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30000"/>
              </a:lnSpc>
              <a:defRPr>
                <a:solidFill>
                  <a:srgbClr val="B8C5D6"/>
                </a:solidFill>
                <a:latin typeface="Helvetica Neue"/>
                <a:ea typeface="Helvetica Neue"/>
                <a:cs typeface="Helvetica Neue"/>
                <a:sym typeface="Helvetica Neue"/>
              </a:defRPr>
            </a:pPr>
            <a:r>
              <a:t>Što je kontekst duži, to je </a:t>
            </a:r>
            <a:r>
              <a:rPr b="1">
                <a:solidFill>
                  <a:srgbClr val="FFFFFF"/>
                </a:solidFill>
              </a:rPr>
              <a:t>'mrtva zona'</a:t>
            </a:r>
            <a:r>
              <a:t> u sredini veća</a:t>
            </a:r>
          </a:p>
        </p:txBody>
      </p:sp>
      <p:sp>
        <p:nvSpPr>
          <p:cNvPr id="163" name="TextBox 16"/>
          <p:cNvSpPr txBox="1"/>
          <p:nvPr/>
        </p:nvSpPr>
        <p:spPr>
          <a:xfrm>
            <a:off x="594359" y="6400800"/>
            <a:ext cx="10972801" cy="1651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B8C5D6"/>
                </a:solidFill>
                <a:latin typeface="Menlo Regular"/>
                <a:ea typeface="Menlo Regular"/>
                <a:cs typeface="Menlo Regular"/>
                <a:sym typeface="Menlo Regular"/>
              </a:defRPr>
            </a:lvl1pPr>
          </a:lstStyle>
          <a:p>
            <a:pPr/>
            <a:r>
              <a:t>arxiv.org/abs/2307.03172</a:t>
            </a:r>
          </a:p>
        </p:txBody>
      </p:sp>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7"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Glavni problemi</a:t>
            </a:r>
          </a:p>
        </p:txBody>
      </p:sp>
      <p:sp>
        <p:nvSpPr>
          <p:cNvPr id="168"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169" name="TextBox 2"/>
          <p:cNvSpPr txBox="1"/>
          <p:nvPr/>
        </p:nvSpPr>
        <p:spPr>
          <a:xfrm>
            <a:off x="640079" y="1371600"/>
            <a:ext cx="10908794" cy="2159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888888"/>
                </a:solidFill>
                <a:latin typeface="Inter Regular"/>
                <a:ea typeface="Inter Regular"/>
                <a:cs typeface="Inter Regular"/>
                <a:sym typeface="Inter Regular"/>
              </a:defRPr>
            </a:lvl1pPr>
          </a:lstStyle>
          <a:p>
            <a:pPr/>
            <a:r>
              <a:t>Lost in the middle</a:t>
            </a:r>
          </a:p>
        </p:txBody>
      </p:sp>
      <p:sp>
        <p:nvSpPr>
          <p:cNvPr id="170" name="TextBox 16"/>
          <p:cNvSpPr txBox="1"/>
          <p:nvPr/>
        </p:nvSpPr>
        <p:spPr>
          <a:xfrm>
            <a:off x="594359" y="6400800"/>
            <a:ext cx="10972801" cy="1651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B8C5D6"/>
                </a:solidFill>
                <a:latin typeface="Menlo Regular"/>
                <a:ea typeface="Menlo Regular"/>
                <a:cs typeface="Menlo Regular"/>
                <a:sym typeface="Menlo Regular"/>
              </a:defRPr>
            </a:lvl1pPr>
          </a:lstStyle>
          <a:p>
            <a:pPr/>
            <a:r>
              <a:t>arxiv.org/abs/2307.03172</a:t>
            </a:r>
          </a:p>
        </p:txBody>
      </p:sp>
      <p:pic>
        <p:nvPicPr>
          <p:cNvPr id="171" name="context-curve-hr (3).png" descr="context-curve-hr (3).png"/>
          <p:cNvPicPr>
            <a:picLocks noChangeAspect="1"/>
          </p:cNvPicPr>
          <p:nvPr/>
        </p:nvPicPr>
        <p:blipFill>
          <a:blip r:embed="rId3">
            <a:extLst/>
          </a:blip>
          <a:stretch>
            <a:fillRect/>
          </a:stretch>
        </p:blipFill>
        <p:spPr>
          <a:xfrm>
            <a:off x="2047519" y="1848327"/>
            <a:ext cx="8084262" cy="4291646"/>
          </a:xfrm>
          <a:prstGeom prst="rect">
            <a:avLst/>
          </a:prstGeom>
          <a:ln w="12700">
            <a:miter lim="400000"/>
          </a:ln>
        </p:spPr>
      </p:pic>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5"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Context Engineering</a:t>
            </a:r>
          </a:p>
        </p:txBody>
      </p:sp>
      <p:sp>
        <p:nvSpPr>
          <p:cNvPr id="176"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177" name="Rounded Rectangle 3"/>
          <p:cNvSpPr/>
          <p:nvPr/>
        </p:nvSpPr>
        <p:spPr>
          <a:xfrm>
            <a:off x="640080" y="2011678"/>
            <a:ext cx="10972801" cy="1097282"/>
          </a:xfrm>
          <a:prstGeom prst="roundRect">
            <a:avLst>
              <a:gd name="adj" fmla="val 6000"/>
            </a:avLst>
          </a:prstGeom>
          <a:solidFill>
            <a:srgbClr val="0E3A47"/>
          </a:solidFill>
          <a:ln w="12700">
            <a:miter lim="400000"/>
          </a:ln>
        </p:spPr>
        <p:txBody>
          <a:bodyPr lIns="45718" tIns="45718" rIns="45718" bIns="45718" anchor="ctr"/>
          <a:lstStyle/>
          <a:p>
            <a:pPr algn="ctr">
              <a:defRPr>
                <a:solidFill>
                  <a:srgbClr val="FFFFFF"/>
                </a:solidFill>
              </a:defRPr>
            </a:pPr>
          </a:p>
        </p:txBody>
      </p:sp>
      <p:sp>
        <p:nvSpPr>
          <p:cNvPr id="178" name="Rectangle 4"/>
          <p:cNvSpPr/>
          <p:nvPr/>
        </p:nvSpPr>
        <p:spPr>
          <a:xfrm>
            <a:off x="640080" y="2011678"/>
            <a:ext cx="54866" cy="1097282"/>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179" name="TextBox 5"/>
          <p:cNvSpPr txBox="1"/>
          <p:nvPr/>
        </p:nvSpPr>
        <p:spPr>
          <a:xfrm>
            <a:off x="868678" y="2237231"/>
            <a:ext cx="10607044" cy="70104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30000"/>
              </a:lnSpc>
              <a:defRPr sz="2000">
                <a:solidFill>
                  <a:srgbClr val="F2F2F2"/>
                </a:solidFill>
                <a:latin typeface="Inter Bold"/>
                <a:ea typeface="Inter Bold"/>
                <a:cs typeface="Inter Bold"/>
                <a:sym typeface="Inter Bold"/>
              </a:defRPr>
            </a:pPr>
            <a:r>
              <a:t>Context engineering</a:t>
            </a:r>
            <a:r>
              <a:rPr>
                <a:latin typeface="Inter Regular"/>
                <a:ea typeface="Inter Regular"/>
                <a:cs typeface="Inter Regular"/>
                <a:sym typeface="Inter Regular"/>
              </a:rPr>
              <a:t> = oblikovanje onoga što model vidi s ciljem dobivanja boljeg outputa</a:t>
            </a:r>
          </a:p>
        </p:txBody>
      </p:sp>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83"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Context Engineering</a:t>
            </a:r>
          </a:p>
        </p:txBody>
      </p:sp>
      <p:sp>
        <p:nvSpPr>
          <p:cNvPr id="184"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185" name="Rounded Rectangle 3"/>
          <p:cNvSpPr/>
          <p:nvPr/>
        </p:nvSpPr>
        <p:spPr>
          <a:xfrm>
            <a:off x="640080" y="2011678"/>
            <a:ext cx="10972801" cy="1097282"/>
          </a:xfrm>
          <a:prstGeom prst="roundRect">
            <a:avLst>
              <a:gd name="adj" fmla="val 6000"/>
            </a:avLst>
          </a:prstGeom>
          <a:solidFill>
            <a:srgbClr val="0E3A47"/>
          </a:solidFill>
          <a:ln w="12700">
            <a:miter lim="400000"/>
          </a:ln>
        </p:spPr>
        <p:txBody>
          <a:bodyPr lIns="45718" tIns="45718" rIns="45718" bIns="45718" anchor="ctr"/>
          <a:lstStyle/>
          <a:p>
            <a:pPr algn="ctr">
              <a:defRPr>
                <a:solidFill>
                  <a:srgbClr val="FFFFFF"/>
                </a:solidFill>
              </a:defRPr>
            </a:pPr>
          </a:p>
        </p:txBody>
      </p:sp>
      <p:sp>
        <p:nvSpPr>
          <p:cNvPr id="186" name="Rectangle 4"/>
          <p:cNvSpPr/>
          <p:nvPr/>
        </p:nvSpPr>
        <p:spPr>
          <a:xfrm>
            <a:off x="640080" y="2011678"/>
            <a:ext cx="54866" cy="1097282"/>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187" name="TextBox 5"/>
          <p:cNvSpPr txBox="1"/>
          <p:nvPr/>
        </p:nvSpPr>
        <p:spPr>
          <a:xfrm>
            <a:off x="868678" y="2237231"/>
            <a:ext cx="10607044" cy="70104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30000"/>
              </a:lnSpc>
              <a:defRPr sz="2000">
                <a:solidFill>
                  <a:srgbClr val="F2F2F2"/>
                </a:solidFill>
                <a:latin typeface="Inter Bold"/>
                <a:ea typeface="Inter Bold"/>
                <a:cs typeface="Inter Bold"/>
                <a:sym typeface="Inter Bold"/>
              </a:defRPr>
            </a:pPr>
            <a:r>
              <a:t>Context engineering</a:t>
            </a:r>
            <a:r>
              <a:rPr>
                <a:latin typeface="Inter Regular"/>
                <a:ea typeface="Inter Regular"/>
                <a:cs typeface="Inter Regular"/>
                <a:sym typeface="Inter Regular"/>
              </a:rPr>
              <a:t> = oblikovanje onoga što model vidi s ciljem dobivanja boljeg outputa</a:t>
            </a:r>
          </a:p>
        </p:txBody>
      </p:sp>
      <p:sp>
        <p:nvSpPr>
          <p:cNvPr id="188" name="TextBox 6"/>
          <p:cNvSpPr txBox="1"/>
          <p:nvPr/>
        </p:nvSpPr>
        <p:spPr>
          <a:xfrm>
            <a:off x="640079" y="3383279"/>
            <a:ext cx="10908794" cy="762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50000"/>
              </a:lnSpc>
              <a:defRPr sz="2000">
                <a:solidFill>
                  <a:srgbClr val="F2F2F2"/>
                </a:solidFill>
                <a:latin typeface="Inter Regular"/>
                <a:ea typeface="Inter Regular"/>
                <a:cs typeface="Inter Regular"/>
                <a:sym typeface="Inter Regular"/>
              </a:defRPr>
            </a:pPr>
            <a:r>
              <a:t>Ne samo tvoj prompt - već i </a:t>
            </a:r>
            <a:r>
              <a:rPr>
                <a:solidFill>
                  <a:srgbClr val="00D4FF"/>
                </a:solidFill>
                <a:latin typeface="Inter Bold"/>
                <a:ea typeface="Inter Bold"/>
                <a:cs typeface="Inter Bold"/>
                <a:sym typeface="Inter Bold"/>
              </a:rPr>
              <a:t>programski kod</a:t>
            </a:r>
            <a:r>
              <a:t>, </a:t>
            </a:r>
            <a:r>
              <a:rPr>
                <a:solidFill>
                  <a:srgbClr val="00D4FF"/>
                </a:solidFill>
                <a:latin typeface="Inter Bold"/>
                <a:ea typeface="Inter Bold"/>
                <a:cs typeface="Inter Bold"/>
                <a:sym typeface="Inter Bold"/>
              </a:rPr>
              <a:t>struktura direktorija</a:t>
            </a:r>
            <a:r>
              <a:t>, </a:t>
            </a:r>
            <a:r>
              <a:rPr>
                <a:solidFill>
                  <a:srgbClr val="00D4FF"/>
                </a:solidFill>
                <a:latin typeface="Inter Bold"/>
                <a:ea typeface="Inter Bold"/>
                <a:cs typeface="Inter Bold"/>
                <a:sym typeface="Inter Bold"/>
              </a:rPr>
              <a:t>vanjski paketi</a:t>
            </a:r>
            <a:r>
              <a:t>, </a:t>
            </a:r>
            <a:r>
              <a:rPr>
                <a:solidFill>
                  <a:srgbClr val="00D4FF"/>
                </a:solidFill>
                <a:latin typeface="Inter Bold"/>
                <a:ea typeface="Inter Bold"/>
                <a:cs typeface="Inter Bold"/>
                <a:sym typeface="Inter Bold"/>
              </a:rPr>
              <a:t>konvencije</a:t>
            </a:r>
            <a:r>
              <a:t> itd.</a:t>
            </a:r>
          </a:p>
        </p:txBody>
      </p:sp>
    </p:spTree>
  </p:cSld>
  <p:clrMapOvr>
    <a:masterClrMapping/>
  </p:clrMapOvr>
  <p:transition xmlns:p14="http://schemas.microsoft.com/office/powerpoint/2010/main" spd="med" advClick="1"/>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2"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Context Engineering</a:t>
            </a:r>
          </a:p>
        </p:txBody>
      </p:sp>
      <p:sp>
        <p:nvSpPr>
          <p:cNvPr id="193"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194" name="Rounded Rectangle 3"/>
          <p:cNvSpPr/>
          <p:nvPr/>
        </p:nvSpPr>
        <p:spPr>
          <a:xfrm>
            <a:off x="640080" y="2011678"/>
            <a:ext cx="10972801" cy="1097282"/>
          </a:xfrm>
          <a:prstGeom prst="roundRect">
            <a:avLst>
              <a:gd name="adj" fmla="val 6000"/>
            </a:avLst>
          </a:prstGeom>
          <a:solidFill>
            <a:srgbClr val="0E3A47"/>
          </a:solidFill>
          <a:ln w="12700">
            <a:miter lim="400000"/>
          </a:ln>
        </p:spPr>
        <p:txBody>
          <a:bodyPr lIns="45718" tIns="45718" rIns="45718" bIns="45718" anchor="ctr"/>
          <a:lstStyle/>
          <a:p>
            <a:pPr algn="ctr">
              <a:defRPr>
                <a:solidFill>
                  <a:srgbClr val="FFFFFF"/>
                </a:solidFill>
              </a:defRPr>
            </a:pPr>
          </a:p>
        </p:txBody>
      </p:sp>
      <p:sp>
        <p:nvSpPr>
          <p:cNvPr id="195" name="Rectangle 4"/>
          <p:cNvSpPr/>
          <p:nvPr/>
        </p:nvSpPr>
        <p:spPr>
          <a:xfrm>
            <a:off x="640080" y="2011678"/>
            <a:ext cx="54866" cy="1097282"/>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196" name="TextBox 5"/>
          <p:cNvSpPr txBox="1"/>
          <p:nvPr/>
        </p:nvSpPr>
        <p:spPr>
          <a:xfrm>
            <a:off x="868678" y="2237231"/>
            <a:ext cx="10607044" cy="70104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30000"/>
              </a:lnSpc>
              <a:defRPr sz="2000">
                <a:solidFill>
                  <a:srgbClr val="F2F2F2"/>
                </a:solidFill>
                <a:latin typeface="Inter Bold"/>
                <a:ea typeface="Inter Bold"/>
                <a:cs typeface="Inter Bold"/>
                <a:sym typeface="Inter Bold"/>
              </a:defRPr>
            </a:pPr>
            <a:r>
              <a:t>Context engineering</a:t>
            </a:r>
            <a:r>
              <a:rPr>
                <a:latin typeface="Inter Regular"/>
                <a:ea typeface="Inter Regular"/>
                <a:cs typeface="Inter Regular"/>
                <a:sym typeface="Inter Regular"/>
              </a:rPr>
              <a:t> = oblikovanje onoga što model vidi s ciljem dobivanja boljeg outputa</a:t>
            </a:r>
          </a:p>
        </p:txBody>
      </p:sp>
      <p:sp>
        <p:nvSpPr>
          <p:cNvPr id="197" name="TextBox 6"/>
          <p:cNvSpPr txBox="1"/>
          <p:nvPr/>
        </p:nvSpPr>
        <p:spPr>
          <a:xfrm>
            <a:off x="640079" y="3383279"/>
            <a:ext cx="10908794" cy="144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50000"/>
              </a:lnSpc>
              <a:defRPr sz="2000">
                <a:solidFill>
                  <a:srgbClr val="F2F2F2"/>
                </a:solidFill>
                <a:latin typeface="Inter Regular"/>
                <a:ea typeface="Inter Regular"/>
                <a:cs typeface="Inter Regular"/>
                <a:sym typeface="Inter Regular"/>
              </a:defRPr>
            </a:pPr>
            <a:r>
              <a:t>Ne samo tvoj prompt - već i </a:t>
            </a:r>
            <a:r>
              <a:rPr>
                <a:solidFill>
                  <a:srgbClr val="00D4FF"/>
                </a:solidFill>
                <a:latin typeface="Inter Bold"/>
                <a:ea typeface="Inter Bold"/>
                <a:cs typeface="Inter Bold"/>
                <a:sym typeface="Inter Bold"/>
              </a:rPr>
              <a:t>programski kod</a:t>
            </a:r>
            <a:r>
              <a:t>, </a:t>
            </a:r>
            <a:r>
              <a:rPr>
                <a:solidFill>
                  <a:srgbClr val="00D4FF"/>
                </a:solidFill>
                <a:latin typeface="Inter Bold"/>
                <a:ea typeface="Inter Bold"/>
                <a:cs typeface="Inter Bold"/>
                <a:sym typeface="Inter Bold"/>
              </a:rPr>
              <a:t>struktura direktorija</a:t>
            </a:r>
            <a:r>
              <a:t>, </a:t>
            </a:r>
            <a:r>
              <a:rPr>
                <a:solidFill>
                  <a:srgbClr val="00D4FF"/>
                </a:solidFill>
                <a:latin typeface="Inter Bold"/>
                <a:ea typeface="Inter Bold"/>
                <a:cs typeface="Inter Bold"/>
                <a:sym typeface="Inter Bold"/>
              </a:rPr>
              <a:t>vanjski paketi</a:t>
            </a:r>
            <a:r>
              <a:t>, </a:t>
            </a:r>
            <a:r>
              <a:rPr>
                <a:solidFill>
                  <a:srgbClr val="00D4FF"/>
                </a:solidFill>
                <a:latin typeface="Inter Bold"/>
                <a:ea typeface="Inter Bold"/>
                <a:cs typeface="Inter Bold"/>
                <a:sym typeface="Inter Bold"/>
              </a:rPr>
              <a:t>konvencije</a:t>
            </a:r>
            <a:r>
              <a:t> itd.</a:t>
            </a:r>
          </a:p>
          <a:p>
            <a:pPr>
              <a:lnSpc>
                <a:spcPct val="150000"/>
              </a:lnSpc>
              <a:spcBef>
                <a:spcPts val="1800"/>
              </a:spcBef>
              <a:defRPr sz="2000">
                <a:solidFill>
                  <a:srgbClr val="F2F2F2"/>
                </a:solidFill>
                <a:latin typeface="Inter Regular"/>
                <a:ea typeface="Inter Regular"/>
                <a:cs typeface="Inter Regular"/>
                <a:sym typeface="Inter Regular"/>
              </a:defRPr>
            </a:pPr>
            <a:r>
              <a:t>Kvaliteta odgovora </a:t>
            </a:r>
            <a:r>
              <a:rPr>
                <a:solidFill>
                  <a:srgbClr val="00D4FF"/>
                </a:solidFill>
                <a:latin typeface="Inter Bold"/>
                <a:ea typeface="Inter Bold"/>
                <a:cs typeface="Inter Bold"/>
                <a:sym typeface="Inter Bold"/>
              </a:rPr>
              <a:t>ograničena je</a:t>
            </a:r>
            <a:r>
              <a:t> kvalitetom konteksta koji model prima.</a:t>
            </a:r>
          </a:p>
        </p:txBody>
      </p:sp>
    </p:spTree>
  </p:cSld>
  <p:clrMapOvr>
    <a:masterClrMapping/>
  </p:clrMapOvr>
  <p:transition xmlns:p14="http://schemas.microsoft.com/office/powerpoint/2010/main" spd="med" advClick="1"/>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1" name="TextBox 2"/>
          <p:cNvSpPr txBox="1"/>
          <p:nvPr/>
        </p:nvSpPr>
        <p:spPr>
          <a:xfrm>
            <a:off x="1092453" y="3168650"/>
            <a:ext cx="9994394" cy="5207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lnSpc>
                <a:spcPct val="130000"/>
              </a:lnSpc>
              <a:defRPr sz="3400">
                <a:solidFill>
                  <a:srgbClr val="F2F2F2"/>
                </a:solidFill>
                <a:latin typeface="Inter Bold"/>
                <a:ea typeface="Inter Bold"/>
                <a:cs typeface="Inter Bold"/>
                <a:sym typeface="Inter Bold"/>
              </a:defRPr>
            </a:lvl1pPr>
          </a:lstStyle>
          <a:p>
            <a:pPr/>
            <a:r>
              <a:t>Kako točno AI “čita” naš kod? </a:t>
            </a:r>
          </a:p>
        </p:txBody>
      </p:sp>
    </p:spTree>
  </p:cSld>
  <p:clrMapOvr>
    <a:masterClrMapping/>
  </p:clrMapOvr>
  <p:transition xmlns:p14="http://schemas.microsoft.com/office/powerpoint/2010/main" spd="med" advClick="1"/>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5"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Pristup A: Embedding &amp; Indexing</a:t>
            </a:r>
          </a:p>
        </p:txBody>
      </p:sp>
      <p:sp>
        <p:nvSpPr>
          <p:cNvPr id="206"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grpSp>
        <p:nvGrpSpPr>
          <p:cNvPr id="209" name="Rounded Rectangle 4"/>
          <p:cNvGrpSpPr/>
          <p:nvPr/>
        </p:nvGrpSpPr>
        <p:grpSpPr>
          <a:xfrm>
            <a:off x="8616074" y="686815"/>
            <a:ext cx="987555" cy="292611"/>
            <a:chOff x="0" y="0"/>
            <a:chExt cx="987554" cy="292609"/>
          </a:xfrm>
        </p:grpSpPr>
        <p:sp>
          <p:nvSpPr>
            <p:cNvPr id="207" name="Rounded Rectangle"/>
            <p:cNvSpPr/>
            <p:nvPr/>
          </p:nvSpPr>
          <p:spPr>
            <a:xfrm>
              <a:off x="-1" y="0"/>
              <a:ext cx="987556" cy="292611"/>
            </a:xfrm>
            <a:prstGeom prst="roundRect">
              <a:avLst>
                <a:gd name="adj" fmla="val 50000"/>
              </a:avLst>
            </a:prstGeom>
            <a:noFill/>
            <a:ln w="952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208" name="Cursor"/>
            <p:cNvSpPr txBox="1"/>
            <p:nvPr/>
          </p:nvSpPr>
          <p:spPr>
            <a:xfrm>
              <a:off x="93333" y="70104"/>
              <a:ext cx="800887"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000">
                  <a:solidFill>
                    <a:srgbClr val="00D4FF"/>
                  </a:solidFill>
                  <a:latin typeface="Inter Bold"/>
                  <a:ea typeface="Inter Bold"/>
                  <a:cs typeface="Inter Bold"/>
                  <a:sym typeface="Inter Bold"/>
                </a:defRPr>
              </a:lvl1pPr>
            </a:lstStyle>
            <a:p>
              <a:pPr/>
              <a:r>
                <a:t>Cursor</a:t>
              </a:r>
            </a:p>
          </p:txBody>
        </p:sp>
      </p:grpSp>
      <p:grpSp>
        <p:nvGrpSpPr>
          <p:cNvPr id="212" name="Rounded Rectangle 5"/>
          <p:cNvGrpSpPr/>
          <p:nvPr/>
        </p:nvGrpSpPr>
        <p:grpSpPr>
          <a:xfrm>
            <a:off x="9676779" y="686815"/>
            <a:ext cx="1106427" cy="292611"/>
            <a:chOff x="0" y="0"/>
            <a:chExt cx="1106426" cy="292609"/>
          </a:xfrm>
        </p:grpSpPr>
        <p:sp>
          <p:nvSpPr>
            <p:cNvPr id="210" name="Rounded Rectangle"/>
            <p:cNvSpPr/>
            <p:nvPr/>
          </p:nvSpPr>
          <p:spPr>
            <a:xfrm>
              <a:off x="-1" y="0"/>
              <a:ext cx="1106428" cy="292611"/>
            </a:xfrm>
            <a:prstGeom prst="roundRect">
              <a:avLst>
                <a:gd name="adj" fmla="val 50000"/>
              </a:avLst>
            </a:prstGeom>
            <a:noFill/>
            <a:ln w="952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211" name="Copilot"/>
            <p:cNvSpPr txBox="1"/>
            <p:nvPr/>
          </p:nvSpPr>
          <p:spPr>
            <a:xfrm>
              <a:off x="93333" y="70104"/>
              <a:ext cx="919759"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000">
                  <a:solidFill>
                    <a:srgbClr val="00D4FF"/>
                  </a:solidFill>
                  <a:latin typeface="Inter Bold"/>
                  <a:ea typeface="Inter Bold"/>
                  <a:cs typeface="Inter Bold"/>
                  <a:sym typeface="Inter Bold"/>
                </a:defRPr>
              </a:lvl1pPr>
            </a:lstStyle>
            <a:p>
              <a:pPr/>
              <a:r>
                <a:t>Copilot</a:t>
              </a:r>
            </a:p>
          </p:txBody>
        </p:sp>
      </p:grpSp>
      <p:grpSp>
        <p:nvGrpSpPr>
          <p:cNvPr id="215" name="Rounded Rectangle 6"/>
          <p:cNvGrpSpPr/>
          <p:nvPr/>
        </p:nvGrpSpPr>
        <p:grpSpPr>
          <a:xfrm>
            <a:off x="10856355" y="686815"/>
            <a:ext cx="749811" cy="292611"/>
            <a:chOff x="0" y="0"/>
            <a:chExt cx="749809" cy="292609"/>
          </a:xfrm>
        </p:grpSpPr>
        <p:sp>
          <p:nvSpPr>
            <p:cNvPr id="213" name="Rounded Rectangle"/>
            <p:cNvSpPr/>
            <p:nvPr/>
          </p:nvSpPr>
          <p:spPr>
            <a:xfrm>
              <a:off x="-1" y="0"/>
              <a:ext cx="749811" cy="292611"/>
            </a:xfrm>
            <a:prstGeom prst="roundRect">
              <a:avLst>
                <a:gd name="adj" fmla="val 50000"/>
              </a:avLst>
            </a:prstGeom>
            <a:noFill/>
            <a:ln w="952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214" name="Cody"/>
            <p:cNvSpPr txBox="1"/>
            <p:nvPr/>
          </p:nvSpPr>
          <p:spPr>
            <a:xfrm>
              <a:off x="93333" y="70104"/>
              <a:ext cx="563143"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000">
                  <a:solidFill>
                    <a:srgbClr val="00D4FF"/>
                  </a:solidFill>
                  <a:latin typeface="Inter Bold"/>
                  <a:ea typeface="Inter Bold"/>
                  <a:cs typeface="Inter Bold"/>
                  <a:sym typeface="Inter Bold"/>
                </a:defRPr>
              </a:lvl1pPr>
            </a:lstStyle>
            <a:p>
              <a:pPr/>
              <a:r>
                <a:t>Cody</a:t>
              </a:r>
            </a:p>
          </p:txBody>
        </p:sp>
      </p:grpSp>
      <p:sp>
        <p:nvSpPr>
          <p:cNvPr id="216" name="TextBox 7"/>
          <p:cNvSpPr txBox="1"/>
          <p:nvPr/>
        </p:nvSpPr>
        <p:spPr>
          <a:xfrm>
            <a:off x="631030" y="1691530"/>
            <a:ext cx="10908795"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500">
                <a:solidFill>
                  <a:srgbClr val="F2F2F2"/>
                </a:solidFill>
                <a:latin typeface="Inter Bold"/>
                <a:ea typeface="Inter Bold"/>
                <a:cs typeface="Inter Bold"/>
                <a:sym typeface="Inter Bold"/>
              </a:defRPr>
            </a:pPr>
            <a:r>
              <a:t>Korak 1.</a:t>
            </a:r>
            <a:r>
              <a:rPr>
                <a:latin typeface="Inter Regular"/>
                <a:ea typeface="Inter Regular"/>
                <a:cs typeface="Inter Regular"/>
                <a:sym typeface="Inter Regular"/>
              </a:rPr>
              <a:t> Kod otvaranja projekta, AI alat </a:t>
            </a:r>
            <a:r>
              <a:rPr>
                <a:solidFill>
                  <a:srgbClr val="00D4FF"/>
                </a:solidFill>
              </a:rPr>
              <a:t>indeksira tvoj codebase</a:t>
            </a:r>
            <a:r>
              <a:rPr>
                <a:latin typeface="Inter Regular"/>
                <a:ea typeface="Inter Regular"/>
                <a:cs typeface="Inter Regular"/>
                <a:sym typeface="Inter Regular"/>
              </a:rPr>
              <a:t>:</a:t>
            </a:r>
          </a:p>
        </p:txBody>
      </p:sp>
      <p:sp>
        <p:nvSpPr>
          <p:cNvPr id="217" name="Rounded Rectangle 8"/>
          <p:cNvSpPr/>
          <p:nvPr/>
        </p:nvSpPr>
        <p:spPr>
          <a:xfrm>
            <a:off x="631031" y="2194449"/>
            <a:ext cx="3154682" cy="868682"/>
          </a:xfrm>
          <a:prstGeom prst="roundRect">
            <a:avLst>
              <a:gd name="adj" fmla="val 12000"/>
            </a:avLst>
          </a:prstGeom>
          <a:solidFill>
            <a:srgbClr val="1A1A2E"/>
          </a:solidFill>
          <a:ln>
            <a:solidFill>
              <a:srgbClr val="00D4FF"/>
            </a:solidFill>
          </a:ln>
        </p:spPr>
        <p:txBody>
          <a:bodyPr lIns="45718" tIns="45718" rIns="45718" bIns="45718" anchor="ctr"/>
          <a:lstStyle/>
          <a:p>
            <a:pPr algn="ctr">
              <a:defRPr>
                <a:solidFill>
                  <a:srgbClr val="FFFFFF"/>
                </a:solidFill>
              </a:defRPr>
            </a:pPr>
          </a:p>
        </p:txBody>
      </p:sp>
      <p:sp>
        <p:nvSpPr>
          <p:cNvPr id="218" name="TextBox 9"/>
          <p:cNvSpPr txBox="1"/>
          <p:nvPr/>
        </p:nvSpPr>
        <p:spPr>
          <a:xfrm>
            <a:off x="768190" y="2539890"/>
            <a:ext cx="2880363"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Podijeli programski kod u chunkove</a:t>
            </a:r>
          </a:p>
        </p:txBody>
      </p:sp>
      <p:sp>
        <p:nvSpPr>
          <p:cNvPr id="219" name="TextBox 10"/>
          <p:cNvSpPr txBox="1"/>
          <p:nvPr/>
        </p:nvSpPr>
        <p:spPr>
          <a:xfrm>
            <a:off x="3785711" y="2495440"/>
            <a:ext cx="320042"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00D4FF"/>
                </a:solidFill>
                <a:latin typeface="Inter Bold"/>
                <a:ea typeface="Inter Bold"/>
                <a:cs typeface="Inter Bold"/>
                <a:sym typeface="Inter Bold"/>
              </a:defRPr>
            </a:lvl1pPr>
          </a:lstStyle>
          <a:p>
            <a:pPr/>
            <a:r>
              <a:t>→</a:t>
            </a:r>
          </a:p>
        </p:txBody>
      </p:sp>
      <p:sp>
        <p:nvSpPr>
          <p:cNvPr id="220" name="Rounded Rectangle 11"/>
          <p:cNvSpPr/>
          <p:nvPr/>
        </p:nvSpPr>
        <p:spPr>
          <a:xfrm>
            <a:off x="4105750" y="2194449"/>
            <a:ext cx="3154683" cy="868682"/>
          </a:xfrm>
          <a:prstGeom prst="roundRect">
            <a:avLst>
              <a:gd name="adj" fmla="val 12000"/>
            </a:avLst>
          </a:prstGeom>
          <a:solidFill>
            <a:srgbClr val="1A1A2E"/>
          </a:solidFill>
          <a:ln>
            <a:solidFill>
              <a:srgbClr val="00D4FF"/>
            </a:solidFill>
          </a:ln>
        </p:spPr>
        <p:txBody>
          <a:bodyPr lIns="45718" tIns="45718" rIns="45718" bIns="45718" anchor="ctr"/>
          <a:lstStyle/>
          <a:p>
            <a:pPr algn="ctr">
              <a:defRPr>
                <a:solidFill>
                  <a:srgbClr val="FFFFFF"/>
                </a:solidFill>
              </a:defRPr>
            </a:pPr>
          </a:p>
        </p:txBody>
      </p:sp>
      <p:sp>
        <p:nvSpPr>
          <p:cNvPr id="221" name="TextBox 12"/>
          <p:cNvSpPr txBox="1"/>
          <p:nvPr/>
        </p:nvSpPr>
        <p:spPr>
          <a:xfrm>
            <a:off x="4242911" y="2539890"/>
            <a:ext cx="2880362"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Generiraj embeddingse</a:t>
            </a:r>
          </a:p>
        </p:txBody>
      </p:sp>
      <p:sp>
        <p:nvSpPr>
          <p:cNvPr id="222" name="TextBox 13"/>
          <p:cNvSpPr txBox="1"/>
          <p:nvPr/>
        </p:nvSpPr>
        <p:spPr>
          <a:xfrm>
            <a:off x="7260431" y="2495440"/>
            <a:ext cx="320042"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00D4FF"/>
                </a:solidFill>
                <a:latin typeface="Inter Bold"/>
                <a:ea typeface="Inter Bold"/>
                <a:cs typeface="Inter Bold"/>
                <a:sym typeface="Inter Bold"/>
              </a:defRPr>
            </a:lvl1pPr>
          </a:lstStyle>
          <a:p>
            <a:pPr/>
            <a:r>
              <a:t>→</a:t>
            </a:r>
          </a:p>
        </p:txBody>
      </p:sp>
      <p:sp>
        <p:nvSpPr>
          <p:cNvPr id="223" name="Rounded Rectangle 14"/>
          <p:cNvSpPr/>
          <p:nvPr/>
        </p:nvSpPr>
        <p:spPr>
          <a:xfrm>
            <a:off x="7580469" y="2194449"/>
            <a:ext cx="3154682" cy="868682"/>
          </a:xfrm>
          <a:prstGeom prst="roundRect">
            <a:avLst>
              <a:gd name="adj" fmla="val 12000"/>
            </a:avLst>
          </a:prstGeom>
          <a:solidFill>
            <a:srgbClr val="1A1A2E"/>
          </a:solidFill>
          <a:ln>
            <a:solidFill>
              <a:srgbClr val="00D4FF"/>
            </a:solidFill>
          </a:ln>
        </p:spPr>
        <p:txBody>
          <a:bodyPr lIns="45718" tIns="45718" rIns="45718" bIns="45718" anchor="ctr"/>
          <a:lstStyle/>
          <a:p>
            <a:pPr algn="ctr">
              <a:defRPr>
                <a:solidFill>
                  <a:srgbClr val="FFFFFF"/>
                </a:solidFill>
              </a:defRPr>
            </a:pPr>
          </a:p>
        </p:txBody>
      </p:sp>
      <p:sp>
        <p:nvSpPr>
          <p:cNvPr id="224" name="TextBox 15"/>
          <p:cNvSpPr txBox="1"/>
          <p:nvPr/>
        </p:nvSpPr>
        <p:spPr>
          <a:xfrm>
            <a:off x="7717631" y="2539890"/>
            <a:ext cx="2880362"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Spremi u vektorsku bazu podataka</a:t>
            </a:r>
          </a:p>
        </p:txBody>
      </p:sp>
    </p:spTree>
  </p:cSld>
  <p:clrMapOvr>
    <a:masterClrMapping/>
  </p:clrMapOvr>
  <p:transition xmlns:p14="http://schemas.microsoft.com/office/powerpoint/2010/main" spd="med" advClick="1"/>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8"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Pristup A: Embedding &amp; Indexing</a:t>
            </a:r>
          </a:p>
        </p:txBody>
      </p:sp>
      <p:sp>
        <p:nvSpPr>
          <p:cNvPr id="229"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grpSp>
        <p:nvGrpSpPr>
          <p:cNvPr id="232" name="Rounded Rectangle 4"/>
          <p:cNvGrpSpPr/>
          <p:nvPr/>
        </p:nvGrpSpPr>
        <p:grpSpPr>
          <a:xfrm>
            <a:off x="8616074" y="686815"/>
            <a:ext cx="987555" cy="292611"/>
            <a:chOff x="0" y="0"/>
            <a:chExt cx="987554" cy="292609"/>
          </a:xfrm>
        </p:grpSpPr>
        <p:sp>
          <p:nvSpPr>
            <p:cNvPr id="230" name="Rounded Rectangle"/>
            <p:cNvSpPr/>
            <p:nvPr/>
          </p:nvSpPr>
          <p:spPr>
            <a:xfrm>
              <a:off x="-1" y="0"/>
              <a:ext cx="987556" cy="292611"/>
            </a:xfrm>
            <a:prstGeom prst="roundRect">
              <a:avLst>
                <a:gd name="adj" fmla="val 50000"/>
              </a:avLst>
            </a:prstGeom>
            <a:noFill/>
            <a:ln w="952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231" name="Cursor"/>
            <p:cNvSpPr txBox="1"/>
            <p:nvPr/>
          </p:nvSpPr>
          <p:spPr>
            <a:xfrm>
              <a:off x="93333" y="70104"/>
              <a:ext cx="800887"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000">
                  <a:solidFill>
                    <a:srgbClr val="00D4FF"/>
                  </a:solidFill>
                  <a:latin typeface="Inter Bold"/>
                  <a:ea typeface="Inter Bold"/>
                  <a:cs typeface="Inter Bold"/>
                  <a:sym typeface="Inter Bold"/>
                </a:defRPr>
              </a:lvl1pPr>
            </a:lstStyle>
            <a:p>
              <a:pPr/>
              <a:r>
                <a:t>Cursor</a:t>
              </a:r>
            </a:p>
          </p:txBody>
        </p:sp>
      </p:grpSp>
      <p:grpSp>
        <p:nvGrpSpPr>
          <p:cNvPr id="235" name="Rounded Rectangle 5"/>
          <p:cNvGrpSpPr/>
          <p:nvPr/>
        </p:nvGrpSpPr>
        <p:grpSpPr>
          <a:xfrm>
            <a:off x="9676779" y="686815"/>
            <a:ext cx="1106427" cy="292611"/>
            <a:chOff x="0" y="0"/>
            <a:chExt cx="1106426" cy="292609"/>
          </a:xfrm>
        </p:grpSpPr>
        <p:sp>
          <p:nvSpPr>
            <p:cNvPr id="233" name="Rounded Rectangle"/>
            <p:cNvSpPr/>
            <p:nvPr/>
          </p:nvSpPr>
          <p:spPr>
            <a:xfrm>
              <a:off x="-1" y="0"/>
              <a:ext cx="1106428" cy="292611"/>
            </a:xfrm>
            <a:prstGeom prst="roundRect">
              <a:avLst>
                <a:gd name="adj" fmla="val 50000"/>
              </a:avLst>
            </a:prstGeom>
            <a:noFill/>
            <a:ln w="952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234" name="Copilot"/>
            <p:cNvSpPr txBox="1"/>
            <p:nvPr/>
          </p:nvSpPr>
          <p:spPr>
            <a:xfrm>
              <a:off x="93333" y="70104"/>
              <a:ext cx="919759"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000">
                  <a:solidFill>
                    <a:srgbClr val="00D4FF"/>
                  </a:solidFill>
                  <a:latin typeface="Inter Bold"/>
                  <a:ea typeface="Inter Bold"/>
                  <a:cs typeface="Inter Bold"/>
                  <a:sym typeface="Inter Bold"/>
                </a:defRPr>
              </a:lvl1pPr>
            </a:lstStyle>
            <a:p>
              <a:pPr/>
              <a:r>
                <a:t>Copilot</a:t>
              </a:r>
            </a:p>
          </p:txBody>
        </p:sp>
      </p:grpSp>
      <p:grpSp>
        <p:nvGrpSpPr>
          <p:cNvPr id="238" name="Rounded Rectangle 6"/>
          <p:cNvGrpSpPr/>
          <p:nvPr/>
        </p:nvGrpSpPr>
        <p:grpSpPr>
          <a:xfrm>
            <a:off x="10856355" y="686815"/>
            <a:ext cx="749811" cy="292611"/>
            <a:chOff x="0" y="0"/>
            <a:chExt cx="749809" cy="292609"/>
          </a:xfrm>
        </p:grpSpPr>
        <p:sp>
          <p:nvSpPr>
            <p:cNvPr id="236" name="Rounded Rectangle"/>
            <p:cNvSpPr/>
            <p:nvPr/>
          </p:nvSpPr>
          <p:spPr>
            <a:xfrm>
              <a:off x="-1" y="0"/>
              <a:ext cx="749811" cy="292611"/>
            </a:xfrm>
            <a:prstGeom prst="roundRect">
              <a:avLst>
                <a:gd name="adj" fmla="val 50000"/>
              </a:avLst>
            </a:prstGeom>
            <a:noFill/>
            <a:ln w="952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237" name="Cody"/>
            <p:cNvSpPr txBox="1"/>
            <p:nvPr/>
          </p:nvSpPr>
          <p:spPr>
            <a:xfrm>
              <a:off x="93333" y="70104"/>
              <a:ext cx="563143"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000">
                  <a:solidFill>
                    <a:srgbClr val="00D4FF"/>
                  </a:solidFill>
                  <a:latin typeface="Inter Bold"/>
                  <a:ea typeface="Inter Bold"/>
                  <a:cs typeface="Inter Bold"/>
                  <a:sym typeface="Inter Bold"/>
                </a:defRPr>
              </a:lvl1pPr>
            </a:lstStyle>
            <a:p>
              <a:pPr/>
              <a:r>
                <a:t>Cody</a:t>
              </a:r>
            </a:p>
          </p:txBody>
        </p:sp>
      </p:grpSp>
      <p:sp>
        <p:nvSpPr>
          <p:cNvPr id="239" name="TextBox 7"/>
          <p:cNvSpPr txBox="1"/>
          <p:nvPr/>
        </p:nvSpPr>
        <p:spPr>
          <a:xfrm>
            <a:off x="631030" y="1691530"/>
            <a:ext cx="10908795"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500">
                <a:solidFill>
                  <a:srgbClr val="F2F2F2"/>
                </a:solidFill>
                <a:latin typeface="Inter Bold"/>
                <a:ea typeface="Inter Bold"/>
                <a:cs typeface="Inter Bold"/>
                <a:sym typeface="Inter Bold"/>
              </a:defRPr>
            </a:pPr>
            <a:r>
              <a:t>Korak 1.</a:t>
            </a:r>
            <a:r>
              <a:rPr>
                <a:latin typeface="Inter Regular"/>
                <a:ea typeface="Inter Regular"/>
                <a:cs typeface="Inter Regular"/>
                <a:sym typeface="Inter Regular"/>
              </a:rPr>
              <a:t> Kod otvaranja projekta, AI alat </a:t>
            </a:r>
            <a:r>
              <a:rPr>
                <a:solidFill>
                  <a:srgbClr val="00D4FF"/>
                </a:solidFill>
              </a:rPr>
              <a:t>indeksira tvoj codebase</a:t>
            </a:r>
            <a:r>
              <a:rPr>
                <a:latin typeface="Inter Regular"/>
                <a:ea typeface="Inter Regular"/>
                <a:cs typeface="Inter Regular"/>
                <a:sym typeface="Inter Regular"/>
              </a:rPr>
              <a:t>:</a:t>
            </a:r>
          </a:p>
        </p:txBody>
      </p:sp>
      <p:sp>
        <p:nvSpPr>
          <p:cNvPr id="240" name="Rounded Rectangle 8"/>
          <p:cNvSpPr/>
          <p:nvPr/>
        </p:nvSpPr>
        <p:spPr>
          <a:xfrm>
            <a:off x="631031" y="2194449"/>
            <a:ext cx="3154682" cy="868682"/>
          </a:xfrm>
          <a:prstGeom prst="roundRect">
            <a:avLst>
              <a:gd name="adj" fmla="val 12000"/>
            </a:avLst>
          </a:prstGeom>
          <a:solidFill>
            <a:srgbClr val="1A1A2E"/>
          </a:solidFill>
          <a:ln>
            <a:solidFill>
              <a:srgbClr val="00D4FF"/>
            </a:solidFill>
          </a:ln>
        </p:spPr>
        <p:txBody>
          <a:bodyPr lIns="45718" tIns="45718" rIns="45718" bIns="45718" anchor="ctr"/>
          <a:lstStyle/>
          <a:p>
            <a:pPr algn="ctr">
              <a:defRPr>
                <a:solidFill>
                  <a:srgbClr val="FFFFFF"/>
                </a:solidFill>
              </a:defRPr>
            </a:pPr>
          </a:p>
        </p:txBody>
      </p:sp>
      <p:sp>
        <p:nvSpPr>
          <p:cNvPr id="241" name="TextBox 9"/>
          <p:cNvSpPr txBox="1"/>
          <p:nvPr/>
        </p:nvSpPr>
        <p:spPr>
          <a:xfrm>
            <a:off x="768190" y="2539890"/>
            <a:ext cx="2880363"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Podijeli programski kod u chunkove</a:t>
            </a:r>
          </a:p>
        </p:txBody>
      </p:sp>
      <p:sp>
        <p:nvSpPr>
          <p:cNvPr id="242" name="TextBox 10"/>
          <p:cNvSpPr txBox="1"/>
          <p:nvPr/>
        </p:nvSpPr>
        <p:spPr>
          <a:xfrm>
            <a:off x="3785711" y="2495440"/>
            <a:ext cx="320042"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00D4FF"/>
                </a:solidFill>
                <a:latin typeface="Inter Bold"/>
                <a:ea typeface="Inter Bold"/>
                <a:cs typeface="Inter Bold"/>
                <a:sym typeface="Inter Bold"/>
              </a:defRPr>
            </a:lvl1pPr>
          </a:lstStyle>
          <a:p>
            <a:pPr/>
            <a:r>
              <a:t>→</a:t>
            </a:r>
          </a:p>
        </p:txBody>
      </p:sp>
      <p:sp>
        <p:nvSpPr>
          <p:cNvPr id="243" name="Rounded Rectangle 11"/>
          <p:cNvSpPr/>
          <p:nvPr/>
        </p:nvSpPr>
        <p:spPr>
          <a:xfrm>
            <a:off x="4105750" y="2194449"/>
            <a:ext cx="3154683" cy="868682"/>
          </a:xfrm>
          <a:prstGeom prst="roundRect">
            <a:avLst>
              <a:gd name="adj" fmla="val 12000"/>
            </a:avLst>
          </a:prstGeom>
          <a:solidFill>
            <a:srgbClr val="1A1A2E"/>
          </a:solidFill>
          <a:ln>
            <a:solidFill>
              <a:srgbClr val="00D4FF"/>
            </a:solidFill>
          </a:ln>
        </p:spPr>
        <p:txBody>
          <a:bodyPr lIns="45718" tIns="45718" rIns="45718" bIns="45718" anchor="ctr"/>
          <a:lstStyle/>
          <a:p>
            <a:pPr algn="ctr">
              <a:defRPr>
                <a:solidFill>
                  <a:srgbClr val="FFFFFF"/>
                </a:solidFill>
              </a:defRPr>
            </a:pPr>
          </a:p>
        </p:txBody>
      </p:sp>
      <p:sp>
        <p:nvSpPr>
          <p:cNvPr id="244" name="TextBox 12"/>
          <p:cNvSpPr txBox="1"/>
          <p:nvPr/>
        </p:nvSpPr>
        <p:spPr>
          <a:xfrm>
            <a:off x="4242911" y="2539890"/>
            <a:ext cx="2880362"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Generiraj embeddingse</a:t>
            </a:r>
          </a:p>
        </p:txBody>
      </p:sp>
      <p:sp>
        <p:nvSpPr>
          <p:cNvPr id="245" name="TextBox 13"/>
          <p:cNvSpPr txBox="1"/>
          <p:nvPr/>
        </p:nvSpPr>
        <p:spPr>
          <a:xfrm>
            <a:off x="7260431" y="2495440"/>
            <a:ext cx="320042"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00D4FF"/>
                </a:solidFill>
                <a:latin typeface="Inter Bold"/>
                <a:ea typeface="Inter Bold"/>
                <a:cs typeface="Inter Bold"/>
                <a:sym typeface="Inter Bold"/>
              </a:defRPr>
            </a:lvl1pPr>
          </a:lstStyle>
          <a:p>
            <a:pPr/>
            <a:r>
              <a:t>→</a:t>
            </a:r>
          </a:p>
        </p:txBody>
      </p:sp>
      <p:sp>
        <p:nvSpPr>
          <p:cNvPr id="246" name="Rounded Rectangle 14"/>
          <p:cNvSpPr/>
          <p:nvPr/>
        </p:nvSpPr>
        <p:spPr>
          <a:xfrm>
            <a:off x="7580469" y="2194449"/>
            <a:ext cx="3154682" cy="868682"/>
          </a:xfrm>
          <a:prstGeom prst="roundRect">
            <a:avLst>
              <a:gd name="adj" fmla="val 12000"/>
            </a:avLst>
          </a:prstGeom>
          <a:solidFill>
            <a:srgbClr val="1A1A2E"/>
          </a:solidFill>
          <a:ln>
            <a:solidFill>
              <a:srgbClr val="00D4FF"/>
            </a:solidFill>
          </a:ln>
        </p:spPr>
        <p:txBody>
          <a:bodyPr lIns="45718" tIns="45718" rIns="45718" bIns="45718" anchor="ctr"/>
          <a:lstStyle/>
          <a:p>
            <a:pPr algn="ctr">
              <a:defRPr>
                <a:solidFill>
                  <a:srgbClr val="FFFFFF"/>
                </a:solidFill>
              </a:defRPr>
            </a:pPr>
          </a:p>
        </p:txBody>
      </p:sp>
      <p:sp>
        <p:nvSpPr>
          <p:cNvPr id="247" name="TextBox 15"/>
          <p:cNvSpPr txBox="1"/>
          <p:nvPr/>
        </p:nvSpPr>
        <p:spPr>
          <a:xfrm>
            <a:off x="7717631" y="2539890"/>
            <a:ext cx="2880362"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Spremi u vektorsku bazu podataka</a:t>
            </a:r>
          </a:p>
        </p:txBody>
      </p:sp>
      <p:sp>
        <p:nvSpPr>
          <p:cNvPr id="248" name="TextBox 16"/>
          <p:cNvSpPr txBox="1"/>
          <p:nvPr/>
        </p:nvSpPr>
        <p:spPr>
          <a:xfrm>
            <a:off x="631030" y="3337448"/>
            <a:ext cx="10908795"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500">
                <a:solidFill>
                  <a:srgbClr val="F2F2F2"/>
                </a:solidFill>
                <a:latin typeface="Inter Bold"/>
                <a:ea typeface="Inter Bold"/>
                <a:cs typeface="Inter Bold"/>
                <a:sym typeface="Inter Bold"/>
              </a:defRPr>
            </a:pPr>
            <a:r>
              <a:t>Step 2.</a:t>
            </a:r>
            <a:r>
              <a:rPr>
                <a:latin typeface="Inter Regular"/>
                <a:ea typeface="Inter Regular"/>
                <a:cs typeface="Inter Regular"/>
                <a:sym typeface="Inter Regular"/>
              </a:rPr>
              <a:t> Kod promptanja, </a:t>
            </a:r>
            <a:r>
              <a:rPr>
                <a:solidFill>
                  <a:srgbClr val="00D4FF"/>
                </a:solidFill>
              </a:rPr>
              <a:t>pretražuje relevantan kod</a:t>
            </a:r>
            <a:r>
              <a:rPr>
                <a:latin typeface="Inter Regular"/>
                <a:ea typeface="Inter Regular"/>
                <a:cs typeface="Inter Regular"/>
                <a:sym typeface="Inter Regular"/>
              </a:rPr>
              <a:t>:</a:t>
            </a:r>
          </a:p>
        </p:txBody>
      </p:sp>
      <p:sp>
        <p:nvSpPr>
          <p:cNvPr id="249" name="Rounded Rectangle 17"/>
          <p:cNvSpPr/>
          <p:nvPr/>
        </p:nvSpPr>
        <p:spPr>
          <a:xfrm>
            <a:off x="631031" y="3840369"/>
            <a:ext cx="3154682" cy="868682"/>
          </a:xfrm>
          <a:prstGeom prst="roundRect">
            <a:avLst>
              <a:gd name="adj" fmla="val 12000"/>
            </a:avLst>
          </a:prstGeom>
          <a:solidFill>
            <a:srgbClr val="1A1A2E"/>
          </a:solidFill>
          <a:ln>
            <a:solidFill>
              <a:srgbClr val="00D4FF"/>
            </a:solidFill>
          </a:ln>
        </p:spPr>
        <p:txBody>
          <a:bodyPr lIns="45718" tIns="45718" rIns="45718" bIns="45718" anchor="ctr"/>
          <a:lstStyle/>
          <a:p>
            <a:pPr algn="ctr">
              <a:defRPr>
                <a:solidFill>
                  <a:srgbClr val="FFFFFF"/>
                </a:solidFill>
              </a:defRPr>
            </a:pPr>
          </a:p>
        </p:txBody>
      </p:sp>
      <p:sp>
        <p:nvSpPr>
          <p:cNvPr id="250" name="TextBox 18"/>
          <p:cNvSpPr txBox="1"/>
          <p:nvPr/>
        </p:nvSpPr>
        <p:spPr>
          <a:xfrm>
            <a:off x="768190" y="4185809"/>
            <a:ext cx="2880363"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Tvoj prompt</a:t>
            </a:r>
          </a:p>
        </p:txBody>
      </p:sp>
      <p:sp>
        <p:nvSpPr>
          <p:cNvPr id="251" name="TextBox 19"/>
          <p:cNvSpPr txBox="1"/>
          <p:nvPr/>
        </p:nvSpPr>
        <p:spPr>
          <a:xfrm>
            <a:off x="3785711" y="4141359"/>
            <a:ext cx="320042"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00D4FF"/>
                </a:solidFill>
                <a:latin typeface="Inter Bold"/>
                <a:ea typeface="Inter Bold"/>
                <a:cs typeface="Inter Bold"/>
                <a:sym typeface="Inter Bold"/>
              </a:defRPr>
            </a:lvl1pPr>
          </a:lstStyle>
          <a:p>
            <a:pPr/>
            <a:r>
              <a:t>→</a:t>
            </a:r>
          </a:p>
        </p:txBody>
      </p:sp>
      <p:sp>
        <p:nvSpPr>
          <p:cNvPr id="252" name="Rounded Rectangle 20"/>
          <p:cNvSpPr/>
          <p:nvPr/>
        </p:nvSpPr>
        <p:spPr>
          <a:xfrm>
            <a:off x="4105750" y="3840369"/>
            <a:ext cx="3154683" cy="868682"/>
          </a:xfrm>
          <a:prstGeom prst="roundRect">
            <a:avLst>
              <a:gd name="adj" fmla="val 12000"/>
            </a:avLst>
          </a:prstGeom>
          <a:solidFill>
            <a:srgbClr val="1A1A2E"/>
          </a:solidFill>
          <a:ln>
            <a:solidFill>
              <a:srgbClr val="00D4FF"/>
            </a:solidFill>
          </a:ln>
        </p:spPr>
        <p:txBody>
          <a:bodyPr lIns="45718" tIns="45718" rIns="45718" bIns="45718" anchor="ctr"/>
          <a:lstStyle/>
          <a:p>
            <a:pPr algn="ctr">
              <a:defRPr>
                <a:solidFill>
                  <a:srgbClr val="FFFFFF"/>
                </a:solidFill>
              </a:defRPr>
            </a:pPr>
          </a:p>
        </p:txBody>
      </p:sp>
      <p:sp>
        <p:nvSpPr>
          <p:cNvPr id="253" name="TextBox 21"/>
          <p:cNvSpPr txBox="1"/>
          <p:nvPr/>
        </p:nvSpPr>
        <p:spPr>
          <a:xfrm>
            <a:off x="4242911" y="4185809"/>
            <a:ext cx="2880362"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Semantičko pretraživanje</a:t>
            </a:r>
          </a:p>
        </p:txBody>
      </p:sp>
      <p:sp>
        <p:nvSpPr>
          <p:cNvPr id="254" name="TextBox 22"/>
          <p:cNvSpPr txBox="1"/>
          <p:nvPr/>
        </p:nvSpPr>
        <p:spPr>
          <a:xfrm>
            <a:off x="7260431" y="4141359"/>
            <a:ext cx="320042"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00D4FF"/>
                </a:solidFill>
                <a:latin typeface="Inter Bold"/>
                <a:ea typeface="Inter Bold"/>
                <a:cs typeface="Inter Bold"/>
                <a:sym typeface="Inter Bold"/>
              </a:defRPr>
            </a:lvl1pPr>
          </a:lstStyle>
          <a:p>
            <a:pPr/>
            <a:r>
              <a:t>→</a:t>
            </a:r>
          </a:p>
        </p:txBody>
      </p:sp>
      <p:sp>
        <p:nvSpPr>
          <p:cNvPr id="255" name="Rounded Rectangle 23"/>
          <p:cNvSpPr/>
          <p:nvPr/>
        </p:nvSpPr>
        <p:spPr>
          <a:xfrm>
            <a:off x="7580469" y="3840369"/>
            <a:ext cx="3154682" cy="868682"/>
          </a:xfrm>
          <a:prstGeom prst="roundRect">
            <a:avLst>
              <a:gd name="adj" fmla="val 12000"/>
            </a:avLst>
          </a:prstGeom>
          <a:solidFill>
            <a:srgbClr val="1A1A2E"/>
          </a:solidFill>
          <a:ln>
            <a:solidFill>
              <a:srgbClr val="00D4FF"/>
            </a:solidFill>
          </a:ln>
        </p:spPr>
        <p:txBody>
          <a:bodyPr lIns="45718" tIns="45718" rIns="45718" bIns="45718" anchor="ctr"/>
          <a:lstStyle/>
          <a:p>
            <a:pPr algn="ctr">
              <a:defRPr>
                <a:solidFill>
                  <a:srgbClr val="FFFFFF"/>
                </a:solidFill>
              </a:defRPr>
            </a:pPr>
          </a:p>
        </p:txBody>
      </p:sp>
      <p:sp>
        <p:nvSpPr>
          <p:cNvPr id="256" name="TextBox 24"/>
          <p:cNvSpPr txBox="1"/>
          <p:nvPr/>
        </p:nvSpPr>
        <p:spPr>
          <a:xfrm>
            <a:off x="7717631" y="4185809"/>
            <a:ext cx="2880362"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Umetanje u kontekst</a:t>
            </a:r>
          </a:p>
        </p:txBody>
      </p:sp>
    </p:spTree>
  </p:cSld>
  <p:clrMapOvr>
    <a:masterClrMapping/>
  </p:clrMapOvr>
  <p:transition xmlns:p14="http://schemas.microsoft.com/office/powerpoint/2010/main" spd="med" advClick="1"/>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60"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Pristup A: Embedding &amp; Indexing</a:t>
            </a:r>
          </a:p>
        </p:txBody>
      </p:sp>
      <p:sp>
        <p:nvSpPr>
          <p:cNvPr id="261"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grpSp>
        <p:nvGrpSpPr>
          <p:cNvPr id="264" name="Rounded Rectangle 4"/>
          <p:cNvGrpSpPr/>
          <p:nvPr/>
        </p:nvGrpSpPr>
        <p:grpSpPr>
          <a:xfrm>
            <a:off x="8616074" y="686815"/>
            <a:ext cx="987555" cy="292611"/>
            <a:chOff x="0" y="0"/>
            <a:chExt cx="987554" cy="292609"/>
          </a:xfrm>
        </p:grpSpPr>
        <p:sp>
          <p:nvSpPr>
            <p:cNvPr id="262" name="Rounded Rectangle"/>
            <p:cNvSpPr/>
            <p:nvPr/>
          </p:nvSpPr>
          <p:spPr>
            <a:xfrm>
              <a:off x="-1" y="0"/>
              <a:ext cx="987556" cy="292611"/>
            </a:xfrm>
            <a:prstGeom prst="roundRect">
              <a:avLst>
                <a:gd name="adj" fmla="val 50000"/>
              </a:avLst>
            </a:prstGeom>
            <a:noFill/>
            <a:ln w="952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263" name="Cursor"/>
            <p:cNvSpPr txBox="1"/>
            <p:nvPr/>
          </p:nvSpPr>
          <p:spPr>
            <a:xfrm>
              <a:off x="93333" y="70104"/>
              <a:ext cx="800887"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000">
                  <a:solidFill>
                    <a:srgbClr val="00D4FF"/>
                  </a:solidFill>
                  <a:latin typeface="Inter Bold"/>
                  <a:ea typeface="Inter Bold"/>
                  <a:cs typeface="Inter Bold"/>
                  <a:sym typeface="Inter Bold"/>
                </a:defRPr>
              </a:lvl1pPr>
            </a:lstStyle>
            <a:p>
              <a:pPr/>
              <a:r>
                <a:t>Cursor</a:t>
              </a:r>
            </a:p>
          </p:txBody>
        </p:sp>
      </p:grpSp>
      <p:grpSp>
        <p:nvGrpSpPr>
          <p:cNvPr id="267" name="Rounded Rectangle 5"/>
          <p:cNvGrpSpPr/>
          <p:nvPr/>
        </p:nvGrpSpPr>
        <p:grpSpPr>
          <a:xfrm>
            <a:off x="9676779" y="686815"/>
            <a:ext cx="1106427" cy="292611"/>
            <a:chOff x="0" y="0"/>
            <a:chExt cx="1106426" cy="292609"/>
          </a:xfrm>
        </p:grpSpPr>
        <p:sp>
          <p:nvSpPr>
            <p:cNvPr id="265" name="Rounded Rectangle"/>
            <p:cNvSpPr/>
            <p:nvPr/>
          </p:nvSpPr>
          <p:spPr>
            <a:xfrm>
              <a:off x="-1" y="0"/>
              <a:ext cx="1106428" cy="292611"/>
            </a:xfrm>
            <a:prstGeom prst="roundRect">
              <a:avLst>
                <a:gd name="adj" fmla="val 50000"/>
              </a:avLst>
            </a:prstGeom>
            <a:noFill/>
            <a:ln w="952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266" name="Copilot"/>
            <p:cNvSpPr txBox="1"/>
            <p:nvPr/>
          </p:nvSpPr>
          <p:spPr>
            <a:xfrm>
              <a:off x="93333" y="70104"/>
              <a:ext cx="919759"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000">
                  <a:solidFill>
                    <a:srgbClr val="00D4FF"/>
                  </a:solidFill>
                  <a:latin typeface="Inter Bold"/>
                  <a:ea typeface="Inter Bold"/>
                  <a:cs typeface="Inter Bold"/>
                  <a:sym typeface="Inter Bold"/>
                </a:defRPr>
              </a:lvl1pPr>
            </a:lstStyle>
            <a:p>
              <a:pPr/>
              <a:r>
                <a:t>Copilot</a:t>
              </a:r>
            </a:p>
          </p:txBody>
        </p:sp>
      </p:grpSp>
      <p:grpSp>
        <p:nvGrpSpPr>
          <p:cNvPr id="270" name="Rounded Rectangle 6"/>
          <p:cNvGrpSpPr/>
          <p:nvPr/>
        </p:nvGrpSpPr>
        <p:grpSpPr>
          <a:xfrm>
            <a:off x="10856355" y="686815"/>
            <a:ext cx="749811" cy="292611"/>
            <a:chOff x="0" y="0"/>
            <a:chExt cx="749809" cy="292609"/>
          </a:xfrm>
        </p:grpSpPr>
        <p:sp>
          <p:nvSpPr>
            <p:cNvPr id="268" name="Rounded Rectangle"/>
            <p:cNvSpPr/>
            <p:nvPr/>
          </p:nvSpPr>
          <p:spPr>
            <a:xfrm>
              <a:off x="-1" y="0"/>
              <a:ext cx="749811" cy="292611"/>
            </a:xfrm>
            <a:prstGeom prst="roundRect">
              <a:avLst>
                <a:gd name="adj" fmla="val 50000"/>
              </a:avLst>
            </a:prstGeom>
            <a:noFill/>
            <a:ln w="952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269" name="Cody"/>
            <p:cNvSpPr txBox="1"/>
            <p:nvPr/>
          </p:nvSpPr>
          <p:spPr>
            <a:xfrm>
              <a:off x="93333" y="70104"/>
              <a:ext cx="563143"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000">
                  <a:solidFill>
                    <a:srgbClr val="00D4FF"/>
                  </a:solidFill>
                  <a:latin typeface="Inter Bold"/>
                  <a:ea typeface="Inter Bold"/>
                  <a:cs typeface="Inter Bold"/>
                  <a:sym typeface="Inter Bold"/>
                </a:defRPr>
              </a:lvl1pPr>
            </a:lstStyle>
            <a:p>
              <a:pPr/>
              <a:r>
                <a:t>Cody</a:t>
              </a:r>
            </a:p>
          </p:txBody>
        </p:sp>
      </p:grpSp>
      <p:sp>
        <p:nvSpPr>
          <p:cNvPr id="271" name="TextBox 7"/>
          <p:cNvSpPr txBox="1"/>
          <p:nvPr/>
        </p:nvSpPr>
        <p:spPr>
          <a:xfrm>
            <a:off x="631030" y="1692855"/>
            <a:ext cx="10908795"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500">
                <a:solidFill>
                  <a:srgbClr val="F2F2F2"/>
                </a:solidFill>
                <a:latin typeface="Inter Bold"/>
                <a:ea typeface="Inter Bold"/>
                <a:cs typeface="Inter Bold"/>
                <a:sym typeface="Inter Bold"/>
              </a:defRPr>
            </a:pPr>
            <a:r>
              <a:t>Korak 1.</a:t>
            </a:r>
            <a:r>
              <a:rPr>
                <a:latin typeface="Inter Regular"/>
                <a:ea typeface="Inter Regular"/>
                <a:cs typeface="Inter Regular"/>
                <a:sym typeface="Inter Regular"/>
              </a:rPr>
              <a:t> Kod otvaranja projekta, AI alat </a:t>
            </a:r>
            <a:r>
              <a:rPr>
                <a:solidFill>
                  <a:srgbClr val="00D4FF"/>
                </a:solidFill>
              </a:rPr>
              <a:t>indeksira tvoj codebase</a:t>
            </a:r>
            <a:r>
              <a:rPr>
                <a:latin typeface="Inter Regular"/>
                <a:ea typeface="Inter Regular"/>
                <a:cs typeface="Inter Regular"/>
                <a:sym typeface="Inter Regular"/>
              </a:rPr>
              <a:t>:</a:t>
            </a:r>
          </a:p>
        </p:txBody>
      </p:sp>
      <p:sp>
        <p:nvSpPr>
          <p:cNvPr id="272" name="Rounded Rectangle 8"/>
          <p:cNvSpPr/>
          <p:nvPr/>
        </p:nvSpPr>
        <p:spPr>
          <a:xfrm>
            <a:off x="631031" y="2194449"/>
            <a:ext cx="3154682" cy="868682"/>
          </a:xfrm>
          <a:prstGeom prst="roundRect">
            <a:avLst>
              <a:gd name="adj" fmla="val 12000"/>
            </a:avLst>
          </a:prstGeom>
          <a:solidFill>
            <a:srgbClr val="1A1A2E"/>
          </a:solidFill>
          <a:ln>
            <a:solidFill>
              <a:srgbClr val="00D4FF"/>
            </a:solidFill>
          </a:ln>
        </p:spPr>
        <p:txBody>
          <a:bodyPr lIns="45718" tIns="45718" rIns="45718" bIns="45718" anchor="ctr"/>
          <a:lstStyle/>
          <a:p>
            <a:pPr algn="ctr">
              <a:defRPr>
                <a:solidFill>
                  <a:srgbClr val="FFFFFF"/>
                </a:solidFill>
              </a:defRPr>
            </a:pPr>
          </a:p>
        </p:txBody>
      </p:sp>
      <p:sp>
        <p:nvSpPr>
          <p:cNvPr id="273" name="TextBox 9"/>
          <p:cNvSpPr txBox="1"/>
          <p:nvPr/>
        </p:nvSpPr>
        <p:spPr>
          <a:xfrm>
            <a:off x="768190" y="2539890"/>
            <a:ext cx="2880363"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Podijeli programski kod u chunkove</a:t>
            </a:r>
          </a:p>
        </p:txBody>
      </p:sp>
      <p:sp>
        <p:nvSpPr>
          <p:cNvPr id="274" name="TextBox 10"/>
          <p:cNvSpPr txBox="1"/>
          <p:nvPr/>
        </p:nvSpPr>
        <p:spPr>
          <a:xfrm>
            <a:off x="3785711" y="2495440"/>
            <a:ext cx="320042"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00D4FF"/>
                </a:solidFill>
                <a:latin typeface="Inter Bold"/>
                <a:ea typeface="Inter Bold"/>
                <a:cs typeface="Inter Bold"/>
                <a:sym typeface="Inter Bold"/>
              </a:defRPr>
            </a:lvl1pPr>
          </a:lstStyle>
          <a:p>
            <a:pPr/>
            <a:r>
              <a:t>→</a:t>
            </a:r>
          </a:p>
        </p:txBody>
      </p:sp>
      <p:sp>
        <p:nvSpPr>
          <p:cNvPr id="275" name="Rounded Rectangle 11"/>
          <p:cNvSpPr/>
          <p:nvPr/>
        </p:nvSpPr>
        <p:spPr>
          <a:xfrm>
            <a:off x="4105750" y="2194449"/>
            <a:ext cx="3154683" cy="868682"/>
          </a:xfrm>
          <a:prstGeom prst="roundRect">
            <a:avLst>
              <a:gd name="adj" fmla="val 12000"/>
            </a:avLst>
          </a:prstGeom>
          <a:solidFill>
            <a:srgbClr val="1A1A2E"/>
          </a:solidFill>
          <a:ln>
            <a:solidFill>
              <a:srgbClr val="00D4FF"/>
            </a:solidFill>
          </a:ln>
        </p:spPr>
        <p:txBody>
          <a:bodyPr lIns="45718" tIns="45718" rIns="45718" bIns="45718" anchor="ctr"/>
          <a:lstStyle/>
          <a:p>
            <a:pPr algn="ctr">
              <a:defRPr>
                <a:solidFill>
                  <a:srgbClr val="FFFFFF"/>
                </a:solidFill>
              </a:defRPr>
            </a:pPr>
          </a:p>
        </p:txBody>
      </p:sp>
      <p:sp>
        <p:nvSpPr>
          <p:cNvPr id="276" name="TextBox 12"/>
          <p:cNvSpPr txBox="1"/>
          <p:nvPr/>
        </p:nvSpPr>
        <p:spPr>
          <a:xfrm>
            <a:off x="4242911" y="2539890"/>
            <a:ext cx="2880362"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Generiraj embeddingse</a:t>
            </a:r>
          </a:p>
        </p:txBody>
      </p:sp>
      <p:sp>
        <p:nvSpPr>
          <p:cNvPr id="277" name="TextBox 13"/>
          <p:cNvSpPr txBox="1"/>
          <p:nvPr/>
        </p:nvSpPr>
        <p:spPr>
          <a:xfrm>
            <a:off x="7260431" y="2495440"/>
            <a:ext cx="320042"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00D4FF"/>
                </a:solidFill>
                <a:latin typeface="Inter Bold"/>
                <a:ea typeface="Inter Bold"/>
                <a:cs typeface="Inter Bold"/>
                <a:sym typeface="Inter Bold"/>
              </a:defRPr>
            </a:lvl1pPr>
          </a:lstStyle>
          <a:p>
            <a:pPr/>
            <a:r>
              <a:t>→</a:t>
            </a:r>
          </a:p>
        </p:txBody>
      </p:sp>
      <p:sp>
        <p:nvSpPr>
          <p:cNvPr id="278" name="Rounded Rectangle 14"/>
          <p:cNvSpPr/>
          <p:nvPr/>
        </p:nvSpPr>
        <p:spPr>
          <a:xfrm>
            <a:off x="7580469" y="2194449"/>
            <a:ext cx="3154682" cy="868682"/>
          </a:xfrm>
          <a:prstGeom prst="roundRect">
            <a:avLst>
              <a:gd name="adj" fmla="val 12000"/>
            </a:avLst>
          </a:prstGeom>
          <a:solidFill>
            <a:srgbClr val="1A1A2E"/>
          </a:solidFill>
          <a:ln>
            <a:solidFill>
              <a:srgbClr val="00D4FF"/>
            </a:solidFill>
          </a:ln>
        </p:spPr>
        <p:txBody>
          <a:bodyPr lIns="45718" tIns="45718" rIns="45718" bIns="45718" anchor="ctr"/>
          <a:lstStyle/>
          <a:p>
            <a:pPr algn="ctr">
              <a:defRPr>
                <a:solidFill>
                  <a:srgbClr val="FFFFFF"/>
                </a:solidFill>
              </a:defRPr>
            </a:pPr>
          </a:p>
        </p:txBody>
      </p:sp>
      <p:sp>
        <p:nvSpPr>
          <p:cNvPr id="279" name="TextBox 15"/>
          <p:cNvSpPr txBox="1"/>
          <p:nvPr/>
        </p:nvSpPr>
        <p:spPr>
          <a:xfrm>
            <a:off x="7717631" y="2539890"/>
            <a:ext cx="2880362"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Spremi u vektorsku bazu podataka</a:t>
            </a:r>
          </a:p>
        </p:txBody>
      </p:sp>
      <p:sp>
        <p:nvSpPr>
          <p:cNvPr id="280" name="TextBox 16"/>
          <p:cNvSpPr txBox="1"/>
          <p:nvPr/>
        </p:nvSpPr>
        <p:spPr>
          <a:xfrm>
            <a:off x="631030" y="3337448"/>
            <a:ext cx="10908795"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500">
                <a:solidFill>
                  <a:srgbClr val="F2F2F2"/>
                </a:solidFill>
                <a:latin typeface="Inter Bold"/>
                <a:ea typeface="Inter Bold"/>
                <a:cs typeface="Inter Bold"/>
                <a:sym typeface="Inter Bold"/>
              </a:defRPr>
            </a:pPr>
            <a:r>
              <a:t>Step 2.</a:t>
            </a:r>
            <a:r>
              <a:rPr>
                <a:latin typeface="Inter Regular"/>
                <a:ea typeface="Inter Regular"/>
                <a:cs typeface="Inter Regular"/>
                <a:sym typeface="Inter Regular"/>
              </a:rPr>
              <a:t> Kod promptanja, </a:t>
            </a:r>
            <a:r>
              <a:rPr>
                <a:solidFill>
                  <a:srgbClr val="00D4FF"/>
                </a:solidFill>
              </a:rPr>
              <a:t>pretražuje relevantan kod</a:t>
            </a:r>
            <a:r>
              <a:rPr>
                <a:latin typeface="Inter Regular"/>
                <a:ea typeface="Inter Regular"/>
                <a:cs typeface="Inter Regular"/>
                <a:sym typeface="Inter Regular"/>
              </a:rPr>
              <a:t>:</a:t>
            </a:r>
          </a:p>
        </p:txBody>
      </p:sp>
      <p:sp>
        <p:nvSpPr>
          <p:cNvPr id="281" name="Rounded Rectangle 17"/>
          <p:cNvSpPr/>
          <p:nvPr/>
        </p:nvSpPr>
        <p:spPr>
          <a:xfrm>
            <a:off x="631031" y="3840369"/>
            <a:ext cx="3154682" cy="868682"/>
          </a:xfrm>
          <a:prstGeom prst="roundRect">
            <a:avLst>
              <a:gd name="adj" fmla="val 12000"/>
            </a:avLst>
          </a:prstGeom>
          <a:solidFill>
            <a:srgbClr val="1A1A2E"/>
          </a:solidFill>
          <a:ln>
            <a:solidFill>
              <a:srgbClr val="00D4FF"/>
            </a:solidFill>
          </a:ln>
        </p:spPr>
        <p:txBody>
          <a:bodyPr lIns="45718" tIns="45718" rIns="45718" bIns="45718" anchor="ctr"/>
          <a:lstStyle/>
          <a:p>
            <a:pPr algn="ctr">
              <a:defRPr>
                <a:solidFill>
                  <a:srgbClr val="FFFFFF"/>
                </a:solidFill>
              </a:defRPr>
            </a:pPr>
          </a:p>
        </p:txBody>
      </p:sp>
      <p:sp>
        <p:nvSpPr>
          <p:cNvPr id="282" name="TextBox 18"/>
          <p:cNvSpPr txBox="1"/>
          <p:nvPr/>
        </p:nvSpPr>
        <p:spPr>
          <a:xfrm>
            <a:off x="768190" y="4185809"/>
            <a:ext cx="2880363"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Tvoj prompt</a:t>
            </a:r>
          </a:p>
        </p:txBody>
      </p:sp>
      <p:sp>
        <p:nvSpPr>
          <p:cNvPr id="283" name="TextBox 19"/>
          <p:cNvSpPr txBox="1"/>
          <p:nvPr/>
        </p:nvSpPr>
        <p:spPr>
          <a:xfrm>
            <a:off x="3785711" y="4141359"/>
            <a:ext cx="320042"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00D4FF"/>
                </a:solidFill>
                <a:latin typeface="Inter Bold"/>
                <a:ea typeface="Inter Bold"/>
                <a:cs typeface="Inter Bold"/>
                <a:sym typeface="Inter Bold"/>
              </a:defRPr>
            </a:lvl1pPr>
          </a:lstStyle>
          <a:p>
            <a:pPr/>
            <a:r>
              <a:t>→</a:t>
            </a:r>
          </a:p>
        </p:txBody>
      </p:sp>
      <p:sp>
        <p:nvSpPr>
          <p:cNvPr id="284" name="Rounded Rectangle 20"/>
          <p:cNvSpPr/>
          <p:nvPr/>
        </p:nvSpPr>
        <p:spPr>
          <a:xfrm>
            <a:off x="4105750" y="3840369"/>
            <a:ext cx="3154683" cy="868682"/>
          </a:xfrm>
          <a:prstGeom prst="roundRect">
            <a:avLst>
              <a:gd name="adj" fmla="val 12000"/>
            </a:avLst>
          </a:prstGeom>
          <a:solidFill>
            <a:srgbClr val="1A1A2E"/>
          </a:solidFill>
          <a:ln>
            <a:solidFill>
              <a:srgbClr val="00D4FF"/>
            </a:solidFill>
          </a:ln>
        </p:spPr>
        <p:txBody>
          <a:bodyPr lIns="45718" tIns="45718" rIns="45718" bIns="45718" anchor="ctr"/>
          <a:lstStyle/>
          <a:p>
            <a:pPr algn="ctr">
              <a:defRPr>
                <a:solidFill>
                  <a:srgbClr val="FFFFFF"/>
                </a:solidFill>
              </a:defRPr>
            </a:pPr>
          </a:p>
        </p:txBody>
      </p:sp>
      <p:sp>
        <p:nvSpPr>
          <p:cNvPr id="285" name="TextBox 21"/>
          <p:cNvSpPr txBox="1"/>
          <p:nvPr/>
        </p:nvSpPr>
        <p:spPr>
          <a:xfrm>
            <a:off x="4242911" y="4185809"/>
            <a:ext cx="2880362"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Semantičko pretraživanje</a:t>
            </a:r>
          </a:p>
        </p:txBody>
      </p:sp>
      <p:sp>
        <p:nvSpPr>
          <p:cNvPr id="286" name="Rounded Rectangle 25"/>
          <p:cNvSpPr/>
          <p:nvPr/>
        </p:nvSpPr>
        <p:spPr>
          <a:xfrm>
            <a:off x="631031" y="5029089"/>
            <a:ext cx="10972801" cy="914402"/>
          </a:xfrm>
          <a:prstGeom prst="roundRect">
            <a:avLst>
              <a:gd name="adj" fmla="val 6000"/>
            </a:avLst>
          </a:prstGeom>
          <a:solidFill>
            <a:srgbClr val="0E3A47"/>
          </a:solidFill>
          <a:ln w="12700">
            <a:miter lim="400000"/>
          </a:ln>
        </p:spPr>
        <p:txBody>
          <a:bodyPr lIns="45718" tIns="45718" rIns="45718" bIns="45718" anchor="ctr"/>
          <a:lstStyle/>
          <a:p>
            <a:pPr algn="ctr">
              <a:defRPr>
                <a:solidFill>
                  <a:srgbClr val="FFFFFF"/>
                </a:solidFill>
              </a:defRPr>
            </a:pPr>
          </a:p>
        </p:txBody>
      </p:sp>
      <p:sp>
        <p:nvSpPr>
          <p:cNvPr id="287" name="Rectangle 26"/>
          <p:cNvSpPr/>
          <p:nvPr/>
        </p:nvSpPr>
        <p:spPr>
          <a:xfrm>
            <a:off x="631031" y="5029089"/>
            <a:ext cx="54866" cy="914402"/>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288" name="TextBox 27"/>
          <p:cNvSpPr txBox="1"/>
          <p:nvPr/>
        </p:nvSpPr>
        <p:spPr>
          <a:xfrm>
            <a:off x="888582" y="5365639"/>
            <a:ext cx="10607042"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30000"/>
              </a:lnSpc>
              <a:defRPr sz="1500">
                <a:solidFill>
                  <a:srgbClr val="F2F2F2"/>
                </a:solidFill>
                <a:latin typeface="Inter Regular"/>
                <a:ea typeface="Inter Regular"/>
                <a:cs typeface="Inter Regular"/>
                <a:sym typeface="Inter Regular"/>
              </a:defRPr>
            </a:lvl1pPr>
          </a:lstStyle>
          <a:p>
            <a:pPr/>
            <a:r>
              <a:t>Loša struktura -&gt; loši rezultati pretraživanja -&gt; loš output</a:t>
            </a:r>
          </a:p>
        </p:txBody>
      </p:sp>
      <p:sp>
        <p:nvSpPr>
          <p:cNvPr id="289" name="TextBox 22"/>
          <p:cNvSpPr txBox="1"/>
          <p:nvPr/>
        </p:nvSpPr>
        <p:spPr>
          <a:xfrm>
            <a:off x="7260431" y="4141359"/>
            <a:ext cx="320042"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00D4FF"/>
                </a:solidFill>
                <a:latin typeface="Inter Bold"/>
                <a:ea typeface="Inter Bold"/>
                <a:cs typeface="Inter Bold"/>
                <a:sym typeface="Inter Bold"/>
              </a:defRPr>
            </a:lvl1pPr>
          </a:lstStyle>
          <a:p>
            <a:pPr/>
            <a:r>
              <a:t>→</a:t>
            </a:r>
          </a:p>
        </p:txBody>
      </p:sp>
      <p:sp>
        <p:nvSpPr>
          <p:cNvPr id="290" name="Rounded Rectangle 23"/>
          <p:cNvSpPr/>
          <p:nvPr/>
        </p:nvSpPr>
        <p:spPr>
          <a:xfrm>
            <a:off x="7580469" y="3840369"/>
            <a:ext cx="3154682" cy="868682"/>
          </a:xfrm>
          <a:prstGeom prst="roundRect">
            <a:avLst>
              <a:gd name="adj" fmla="val 12000"/>
            </a:avLst>
          </a:prstGeom>
          <a:solidFill>
            <a:srgbClr val="1A1A2E"/>
          </a:solidFill>
          <a:ln>
            <a:solidFill>
              <a:srgbClr val="00D4FF"/>
            </a:solidFill>
          </a:ln>
        </p:spPr>
        <p:txBody>
          <a:bodyPr lIns="45718" tIns="45718" rIns="45718" bIns="45718" anchor="ctr"/>
          <a:lstStyle/>
          <a:p>
            <a:pPr algn="ctr">
              <a:defRPr>
                <a:solidFill>
                  <a:srgbClr val="FFFFFF"/>
                </a:solidFill>
              </a:defRPr>
            </a:pPr>
          </a:p>
        </p:txBody>
      </p:sp>
      <p:sp>
        <p:nvSpPr>
          <p:cNvPr id="291" name="TextBox 24"/>
          <p:cNvSpPr txBox="1"/>
          <p:nvPr/>
        </p:nvSpPr>
        <p:spPr>
          <a:xfrm>
            <a:off x="7717631" y="4185809"/>
            <a:ext cx="2880362"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Umetanje u kontekst</a:t>
            </a:r>
          </a:p>
        </p:txBody>
      </p:sp>
    </p:spTree>
  </p:cSld>
  <p:clrMapOvr>
    <a:masterClrMapping/>
  </p:clrMapOvr>
  <p:transition xmlns:p14="http://schemas.microsoft.com/office/powerpoint/2010/main" spd="med" advClick="1"/>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95"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Pristup B: Agentic Search</a:t>
            </a:r>
          </a:p>
        </p:txBody>
      </p:sp>
      <p:sp>
        <p:nvSpPr>
          <p:cNvPr id="296"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grpSp>
        <p:nvGrpSpPr>
          <p:cNvPr id="299" name="Rounded Rectangle 4"/>
          <p:cNvGrpSpPr/>
          <p:nvPr/>
        </p:nvGrpSpPr>
        <p:grpSpPr>
          <a:xfrm>
            <a:off x="8610600" y="686815"/>
            <a:ext cx="1581913" cy="292611"/>
            <a:chOff x="0" y="0"/>
            <a:chExt cx="1581912" cy="292609"/>
          </a:xfrm>
        </p:grpSpPr>
        <p:sp>
          <p:nvSpPr>
            <p:cNvPr id="297" name="Rounded Rectangle"/>
            <p:cNvSpPr/>
            <p:nvPr/>
          </p:nvSpPr>
          <p:spPr>
            <a:xfrm>
              <a:off x="0" y="0"/>
              <a:ext cx="1581913" cy="292611"/>
            </a:xfrm>
            <a:prstGeom prst="roundRect">
              <a:avLst>
                <a:gd name="adj" fmla="val 50000"/>
              </a:avLst>
            </a:prstGeom>
            <a:noFill/>
            <a:ln w="9525" cap="flat">
              <a:solidFill>
                <a:srgbClr val="2ED573"/>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298" name="Claude Code"/>
            <p:cNvSpPr txBox="1"/>
            <p:nvPr/>
          </p:nvSpPr>
          <p:spPr>
            <a:xfrm>
              <a:off x="93333" y="70104"/>
              <a:ext cx="1395247"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000">
                  <a:solidFill>
                    <a:srgbClr val="2ED573"/>
                  </a:solidFill>
                  <a:latin typeface="Inter Bold"/>
                  <a:ea typeface="Inter Bold"/>
                  <a:cs typeface="Inter Bold"/>
                  <a:sym typeface="Inter Bold"/>
                </a:defRPr>
              </a:lvl1pPr>
            </a:lstStyle>
            <a:p>
              <a:pPr/>
              <a:r>
                <a:t>Claude Code</a:t>
              </a:r>
            </a:p>
          </p:txBody>
        </p:sp>
      </p:grpSp>
      <p:sp>
        <p:nvSpPr>
          <p:cNvPr id="300" name="TextBox 5"/>
          <p:cNvSpPr txBox="1"/>
          <p:nvPr/>
        </p:nvSpPr>
        <p:spPr>
          <a:xfrm>
            <a:off x="640079" y="1691638"/>
            <a:ext cx="10908794"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500">
                <a:solidFill>
                  <a:srgbClr val="F2F2F2"/>
                </a:solidFill>
                <a:latin typeface="Inter Regular"/>
                <a:ea typeface="Inter Regular"/>
                <a:cs typeface="Inter Regular"/>
                <a:sym typeface="Inter Regular"/>
              </a:defRPr>
            </a:pPr>
            <a:r>
              <a:t>Nema indeksiranja. AI </a:t>
            </a:r>
            <a:r>
              <a:rPr>
                <a:solidFill>
                  <a:srgbClr val="00D4FF"/>
                </a:solidFill>
                <a:latin typeface="Inter Bold"/>
                <a:ea typeface="Inter Bold"/>
                <a:cs typeface="Inter Bold"/>
                <a:sym typeface="Inter Bold"/>
              </a:rPr>
              <a:t>istražuje po potrebi</a:t>
            </a:r>
            <a:r>
              <a:t>, poput developera:</a:t>
            </a:r>
          </a:p>
        </p:txBody>
      </p:sp>
      <p:sp>
        <p:nvSpPr>
          <p:cNvPr id="301" name="Rounded Rectangle 6"/>
          <p:cNvSpPr/>
          <p:nvPr/>
        </p:nvSpPr>
        <p:spPr>
          <a:xfrm>
            <a:off x="640080" y="2202178"/>
            <a:ext cx="10972801" cy="2468883"/>
          </a:xfrm>
          <a:prstGeom prst="roundRect">
            <a:avLst>
              <a:gd name="adj" fmla="val 4000"/>
            </a:avLst>
          </a:prstGeom>
          <a:solidFill>
            <a:srgbClr val="1A1A2E"/>
          </a:solidFill>
          <a:ln>
            <a:solidFill>
              <a:srgbClr val="333333"/>
            </a:solidFill>
          </a:ln>
        </p:spPr>
        <p:txBody>
          <a:bodyPr lIns="45718" tIns="45718" rIns="45718" bIns="45718" anchor="ctr"/>
          <a:lstStyle/>
          <a:p>
            <a:pPr algn="ctr">
              <a:defRPr>
                <a:solidFill>
                  <a:srgbClr val="FFFFFF"/>
                </a:solidFill>
              </a:defRPr>
            </a:pPr>
          </a:p>
        </p:txBody>
      </p:sp>
      <p:sp>
        <p:nvSpPr>
          <p:cNvPr id="302" name="TextBox 7"/>
          <p:cNvSpPr txBox="1"/>
          <p:nvPr/>
        </p:nvSpPr>
        <p:spPr>
          <a:xfrm>
            <a:off x="868680" y="2430778"/>
            <a:ext cx="10515601" cy="182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60000"/>
              </a:lnSpc>
              <a:defRPr sz="1200">
                <a:solidFill>
                  <a:srgbClr val="888888"/>
                </a:solidFill>
                <a:latin typeface="JetBrains Mono Regular"/>
                <a:ea typeface="JetBrains Mono Regular"/>
                <a:cs typeface="JetBrains Mono Regular"/>
                <a:sym typeface="JetBrains Mono Regular"/>
              </a:defRPr>
            </a:pPr>
            <a:r>
              <a:t>1.  </a:t>
            </a:r>
            <a:r>
              <a:rPr>
                <a:solidFill>
                  <a:srgbClr val="00D4FF"/>
                </a:solidFill>
                <a:latin typeface="JetBrains Mono Bold"/>
                <a:ea typeface="JetBrains Mono Bold"/>
                <a:cs typeface="JetBrains Mono Bold"/>
                <a:sym typeface="JetBrains Mono Bold"/>
              </a:rPr>
              <a:t>Read file tree</a:t>
            </a:r>
            <a:r>
              <a:rPr>
                <a:solidFill>
                  <a:srgbClr val="F2F2F2"/>
                </a:solidFill>
              </a:rPr>
              <a:t>       →  “Kako ovaj projekt izgleda?”</a:t>
            </a:r>
            <a:endParaRPr>
              <a:solidFill>
                <a:srgbClr val="F2F2F2"/>
              </a:solidFill>
            </a:endParaRPr>
          </a:p>
          <a:p>
            <a:pPr>
              <a:lnSpc>
                <a:spcPct val="160000"/>
              </a:lnSpc>
              <a:defRPr sz="1200">
                <a:solidFill>
                  <a:srgbClr val="888888"/>
                </a:solidFill>
                <a:latin typeface="JetBrains Mono Regular"/>
                <a:ea typeface="JetBrains Mono Regular"/>
                <a:cs typeface="JetBrains Mono Regular"/>
                <a:sym typeface="JetBrains Mono Regular"/>
              </a:defRPr>
            </a:pPr>
            <a:r>
              <a:t>2.  </a:t>
            </a:r>
            <a:r>
              <a:rPr>
                <a:solidFill>
                  <a:srgbClr val="00D4FF"/>
                </a:solidFill>
                <a:latin typeface="JetBrains Mono Bold"/>
                <a:ea typeface="JetBrains Mono Bold"/>
                <a:cs typeface="JetBrains Mono Bold"/>
                <a:sym typeface="JetBrains Mono Bold"/>
              </a:rPr>
              <a:t>Glob</a:t>
            </a:r>
            <a:r>
              <a:rPr>
                <a:solidFill>
                  <a:srgbClr val="F2F2F2"/>
                </a:solidFill>
              </a:rPr>
              <a:t> (find files)    →  “Koje su datoteke vezane uz moj zadatak?”</a:t>
            </a:r>
            <a:endParaRPr>
              <a:solidFill>
                <a:srgbClr val="F2F2F2"/>
              </a:solidFill>
            </a:endParaRPr>
          </a:p>
          <a:p>
            <a:pPr>
              <a:lnSpc>
                <a:spcPct val="160000"/>
              </a:lnSpc>
              <a:defRPr sz="1200">
                <a:solidFill>
                  <a:srgbClr val="888888"/>
                </a:solidFill>
                <a:latin typeface="JetBrains Mono Regular"/>
                <a:ea typeface="JetBrains Mono Regular"/>
                <a:cs typeface="JetBrains Mono Regular"/>
                <a:sym typeface="JetBrains Mono Regular"/>
              </a:defRPr>
            </a:pPr>
            <a:r>
              <a:t>3.  </a:t>
            </a:r>
            <a:r>
              <a:rPr>
                <a:solidFill>
                  <a:srgbClr val="00D4FF"/>
                </a:solidFill>
                <a:latin typeface="JetBrains Mono Bold"/>
                <a:ea typeface="JetBrains Mono Bold"/>
                <a:cs typeface="JetBrains Mono Bold"/>
                <a:sym typeface="JetBrains Mono Bold"/>
              </a:rPr>
              <a:t>Grep</a:t>
            </a:r>
            <a:r>
              <a:rPr>
                <a:solidFill>
                  <a:srgbClr val="F2F2F2"/>
                </a:solidFill>
              </a:rPr>
              <a:t> (search code)   →  “Koja od ovih komponenti sadrži ono što meni treba?”</a:t>
            </a:r>
            <a:endParaRPr>
              <a:solidFill>
                <a:srgbClr val="F2F2F2"/>
              </a:solidFill>
            </a:endParaRPr>
          </a:p>
          <a:p>
            <a:pPr>
              <a:lnSpc>
                <a:spcPct val="160000"/>
              </a:lnSpc>
              <a:defRPr sz="1200">
                <a:solidFill>
                  <a:srgbClr val="888888"/>
                </a:solidFill>
                <a:latin typeface="JetBrains Mono Regular"/>
                <a:ea typeface="JetBrains Mono Regular"/>
                <a:cs typeface="JetBrains Mono Regular"/>
                <a:sym typeface="JetBrains Mono Regular"/>
              </a:defRPr>
            </a:pPr>
            <a:r>
              <a:t>4.  </a:t>
            </a:r>
            <a:r>
              <a:rPr>
                <a:solidFill>
                  <a:srgbClr val="00D4FF"/>
                </a:solidFill>
                <a:latin typeface="JetBrains Mono Bold"/>
                <a:ea typeface="JetBrains Mono Bold"/>
                <a:cs typeface="JetBrains Mono Bold"/>
                <a:sym typeface="JetBrains Mono Bold"/>
              </a:rPr>
              <a:t>Read</a:t>
            </a:r>
            <a:r>
              <a:rPr>
                <a:solidFill>
                  <a:srgbClr val="F2F2F2"/>
                </a:solidFill>
              </a:rPr>
              <a:t> (load file)     →  “Pokušavam shvatit kako funkcionira ova komponenta.”</a:t>
            </a:r>
            <a:endParaRPr>
              <a:solidFill>
                <a:srgbClr val="F2F2F2"/>
              </a:solidFill>
            </a:endParaRPr>
          </a:p>
          <a:p>
            <a:pPr>
              <a:lnSpc>
                <a:spcPct val="160000"/>
              </a:lnSpc>
              <a:defRPr sz="1200">
                <a:solidFill>
                  <a:srgbClr val="888888"/>
                </a:solidFill>
                <a:latin typeface="JetBrains Mono Regular"/>
                <a:ea typeface="JetBrains Mono Regular"/>
                <a:cs typeface="JetBrains Mono Regular"/>
                <a:sym typeface="JetBrains Mono Regular"/>
              </a:defRPr>
            </a:pPr>
            <a:r>
              <a:t>5.  </a:t>
            </a:r>
            <a:r>
              <a:rPr>
                <a:solidFill>
                  <a:srgbClr val="00D4FF"/>
                </a:solidFill>
                <a:latin typeface="JetBrains Mono Bold"/>
                <a:ea typeface="JetBrains Mono Bold"/>
                <a:cs typeface="JetBrains Mono Bold"/>
                <a:sym typeface="JetBrains Mono Bold"/>
              </a:rPr>
              <a:t>Follow imports</a:t>
            </a:r>
            <a:r>
              <a:rPr>
                <a:solidFill>
                  <a:srgbClr val="F2F2F2"/>
                </a:solidFill>
              </a:rPr>
              <a:t>       →  “O čemu ovisi ova komponenta?”</a:t>
            </a:r>
            <a:endParaRPr>
              <a:solidFill>
                <a:srgbClr val="F2F2F2"/>
              </a:solidFill>
            </a:endParaRPr>
          </a:p>
          <a:p>
            <a:pPr>
              <a:lnSpc>
                <a:spcPct val="160000"/>
              </a:lnSpc>
              <a:defRPr sz="1200">
                <a:solidFill>
                  <a:srgbClr val="F2F2F2"/>
                </a:solidFill>
                <a:latin typeface="JetBrains Mono Regular"/>
                <a:ea typeface="JetBrains Mono Regular"/>
                <a:cs typeface="JetBrains Mono Regular"/>
                <a:sym typeface="JetBrains Mono Regular"/>
              </a:defRPr>
            </a:pPr>
            <a:r>
              <a:t>6.  Repeat 4–5           →  </a:t>
            </a:r>
            <a:r>
              <a:rPr>
                <a:solidFill>
                  <a:srgbClr val="FF4757"/>
                </a:solidFill>
                <a:latin typeface="JetBrains Mono Bold"/>
                <a:ea typeface="JetBrains Mono Bold"/>
                <a:cs typeface="JetBrains Mono Bold"/>
                <a:sym typeface="JetBrains Mono Bold"/>
              </a:rPr>
              <a:t>Svaki skok puni kontekst i troši tokene</a:t>
            </a:r>
          </a:p>
        </p:txBody>
      </p:sp>
    </p:spTree>
  </p:cSld>
  <p:clrMapOvr>
    <a:masterClrMapping/>
  </p:clrMapOvr>
  <p:transition xmlns:p14="http://schemas.microsoft.com/office/powerpoint/2010/main" spd="med" advClick="1"/>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111729"/>
        </a:solidFill>
      </p:bgPr>
    </p:bg>
    <p:spTree>
      <p:nvGrpSpPr>
        <p:cNvPr id="1" name=""/>
        <p:cNvGrpSpPr/>
        <p:nvPr/>
      </p:nvGrpSpPr>
      <p:grpSpPr>
        <a:xfrm>
          <a:off x="0" y="0"/>
          <a:ext cx="0" cy="0"/>
          <a:chOff x="0" y="0"/>
          <a:chExt cx="0" cy="0"/>
        </a:xfrm>
      </p:grpSpPr>
      <p:sp>
        <p:nvSpPr>
          <p:cNvPr id="306"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Pristup B: Agentic Search</a:t>
            </a:r>
          </a:p>
        </p:txBody>
      </p:sp>
      <p:sp>
        <p:nvSpPr>
          <p:cNvPr id="307"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grpSp>
        <p:nvGrpSpPr>
          <p:cNvPr id="310" name="Rounded Rectangle 4"/>
          <p:cNvGrpSpPr/>
          <p:nvPr/>
        </p:nvGrpSpPr>
        <p:grpSpPr>
          <a:xfrm>
            <a:off x="8610600" y="686815"/>
            <a:ext cx="1581913" cy="292611"/>
            <a:chOff x="0" y="0"/>
            <a:chExt cx="1581912" cy="292609"/>
          </a:xfrm>
        </p:grpSpPr>
        <p:sp>
          <p:nvSpPr>
            <p:cNvPr id="308" name="Rounded Rectangle"/>
            <p:cNvSpPr/>
            <p:nvPr/>
          </p:nvSpPr>
          <p:spPr>
            <a:xfrm>
              <a:off x="0" y="0"/>
              <a:ext cx="1581913" cy="292611"/>
            </a:xfrm>
            <a:prstGeom prst="roundRect">
              <a:avLst>
                <a:gd name="adj" fmla="val 50000"/>
              </a:avLst>
            </a:prstGeom>
            <a:noFill/>
            <a:ln w="9525" cap="flat">
              <a:solidFill>
                <a:srgbClr val="2ED573"/>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309" name="Claude Code"/>
            <p:cNvSpPr txBox="1"/>
            <p:nvPr/>
          </p:nvSpPr>
          <p:spPr>
            <a:xfrm>
              <a:off x="93333" y="70104"/>
              <a:ext cx="1395247"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000">
                  <a:solidFill>
                    <a:srgbClr val="2ED573"/>
                  </a:solidFill>
                  <a:latin typeface="Inter Bold"/>
                  <a:ea typeface="Inter Bold"/>
                  <a:cs typeface="Inter Bold"/>
                  <a:sym typeface="Inter Bold"/>
                </a:defRPr>
              </a:lvl1pPr>
            </a:lstStyle>
            <a:p>
              <a:pPr/>
              <a:r>
                <a:t>Claude Code</a:t>
              </a:r>
            </a:p>
          </p:txBody>
        </p:sp>
      </p:grpSp>
      <p:sp>
        <p:nvSpPr>
          <p:cNvPr id="311" name="TextBox 5"/>
          <p:cNvSpPr txBox="1"/>
          <p:nvPr/>
        </p:nvSpPr>
        <p:spPr>
          <a:xfrm>
            <a:off x="640079" y="1691638"/>
            <a:ext cx="10908794"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500">
                <a:solidFill>
                  <a:srgbClr val="F2F2F2"/>
                </a:solidFill>
                <a:latin typeface="Inter Regular"/>
                <a:ea typeface="Inter Regular"/>
                <a:cs typeface="Inter Regular"/>
                <a:sym typeface="Inter Regular"/>
              </a:defRPr>
            </a:pPr>
            <a:r>
              <a:t>Nema indeksiranja. AI </a:t>
            </a:r>
            <a:r>
              <a:rPr>
                <a:solidFill>
                  <a:srgbClr val="00D4FF"/>
                </a:solidFill>
                <a:latin typeface="Inter Bold"/>
                <a:ea typeface="Inter Bold"/>
                <a:cs typeface="Inter Bold"/>
                <a:sym typeface="Inter Bold"/>
              </a:rPr>
              <a:t>istražuje po potrebi</a:t>
            </a:r>
            <a:r>
              <a:t>, poput developera:</a:t>
            </a:r>
          </a:p>
        </p:txBody>
      </p:sp>
      <p:sp>
        <p:nvSpPr>
          <p:cNvPr id="312" name="Rounded Rectangle 6"/>
          <p:cNvSpPr/>
          <p:nvPr/>
        </p:nvSpPr>
        <p:spPr>
          <a:xfrm>
            <a:off x="640080" y="2202178"/>
            <a:ext cx="10972801" cy="2468883"/>
          </a:xfrm>
          <a:prstGeom prst="roundRect">
            <a:avLst>
              <a:gd name="adj" fmla="val 4000"/>
            </a:avLst>
          </a:prstGeom>
          <a:solidFill>
            <a:srgbClr val="1A1A2E"/>
          </a:solidFill>
          <a:ln>
            <a:solidFill>
              <a:srgbClr val="333333"/>
            </a:solidFill>
          </a:ln>
        </p:spPr>
        <p:txBody>
          <a:bodyPr lIns="45718" tIns="45718" rIns="45718" bIns="45718" anchor="ctr"/>
          <a:lstStyle/>
          <a:p>
            <a:pPr algn="ctr">
              <a:defRPr>
                <a:solidFill>
                  <a:srgbClr val="FFFFFF"/>
                </a:solidFill>
              </a:defRPr>
            </a:pPr>
          </a:p>
        </p:txBody>
      </p:sp>
      <p:sp>
        <p:nvSpPr>
          <p:cNvPr id="313" name="TextBox 7"/>
          <p:cNvSpPr txBox="1"/>
          <p:nvPr/>
        </p:nvSpPr>
        <p:spPr>
          <a:xfrm>
            <a:off x="868680" y="2430778"/>
            <a:ext cx="10515601" cy="182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60000"/>
              </a:lnSpc>
              <a:defRPr sz="1200">
                <a:solidFill>
                  <a:srgbClr val="888888"/>
                </a:solidFill>
                <a:latin typeface="JetBrains Mono Regular"/>
                <a:ea typeface="JetBrains Mono Regular"/>
                <a:cs typeface="JetBrains Mono Regular"/>
                <a:sym typeface="JetBrains Mono Regular"/>
              </a:defRPr>
            </a:pPr>
            <a:r>
              <a:t>1.  </a:t>
            </a:r>
            <a:r>
              <a:rPr>
                <a:solidFill>
                  <a:srgbClr val="00D4FF"/>
                </a:solidFill>
                <a:latin typeface="JetBrains Mono Bold"/>
                <a:ea typeface="JetBrains Mono Bold"/>
                <a:cs typeface="JetBrains Mono Bold"/>
                <a:sym typeface="JetBrains Mono Bold"/>
              </a:rPr>
              <a:t>Read file tree</a:t>
            </a:r>
            <a:r>
              <a:rPr>
                <a:solidFill>
                  <a:srgbClr val="F2F2F2"/>
                </a:solidFill>
              </a:rPr>
              <a:t>       →  “Kako ovaj projekt izgleda?”</a:t>
            </a:r>
            <a:endParaRPr>
              <a:solidFill>
                <a:srgbClr val="F2F2F2"/>
              </a:solidFill>
            </a:endParaRPr>
          </a:p>
          <a:p>
            <a:pPr>
              <a:lnSpc>
                <a:spcPct val="160000"/>
              </a:lnSpc>
              <a:defRPr sz="1200">
                <a:solidFill>
                  <a:srgbClr val="888888"/>
                </a:solidFill>
                <a:latin typeface="JetBrains Mono Regular"/>
                <a:ea typeface="JetBrains Mono Regular"/>
                <a:cs typeface="JetBrains Mono Regular"/>
                <a:sym typeface="JetBrains Mono Regular"/>
              </a:defRPr>
            </a:pPr>
            <a:r>
              <a:t>2.  </a:t>
            </a:r>
            <a:r>
              <a:rPr>
                <a:solidFill>
                  <a:srgbClr val="00D4FF"/>
                </a:solidFill>
                <a:latin typeface="JetBrains Mono Bold"/>
                <a:ea typeface="JetBrains Mono Bold"/>
                <a:cs typeface="JetBrains Mono Bold"/>
                <a:sym typeface="JetBrains Mono Bold"/>
              </a:rPr>
              <a:t>Glob</a:t>
            </a:r>
            <a:r>
              <a:rPr>
                <a:solidFill>
                  <a:srgbClr val="F2F2F2"/>
                </a:solidFill>
              </a:rPr>
              <a:t> (find files)    →  “Koje su datoteke vezane uz moj zadatak?”</a:t>
            </a:r>
            <a:endParaRPr>
              <a:solidFill>
                <a:srgbClr val="F2F2F2"/>
              </a:solidFill>
            </a:endParaRPr>
          </a:p>
          <a:p>
            <a:pPr>
              <a:lnSpc>
                <a:spcPct val="160000"/>
              </a:lnSpc>
              <a:defRPr sz="1200">
                <a:solidFill>
                  <a:srgbClr val="888888"/>
                </a:solidFill>
                <a:latin typeface="JetBrains Mono Regular"/>
                <a:ea typeface="JetBrains Mono Regular"/>
                <a:cs typeface="JetBrains Mono Regular"/>
                <a:sym typeface="JetBrains Mono Regular"/>
              </a:defRPr>
            </a:pPr>
            <a:r>
              <a:t>3.  </a:t>
            </a:r>
            <a:r>
              <a:rPr>
                <a:solidFill>
                  <a:srgbClr val="00D4FF"/>
                </a:solidFill>
                <a:latin typeface="JetBrains Mono Bold"/>
                <a:ea typeface="JetBrains Mono Bold"/>
                <a:cs typeface="JetBrains Mono Bold"/>
                <a:sym typeface="JetBrains Mono Bold"/>
              </a:rPr>
              <a:t>Grep</a:t>
            </a:r>
            <a:r>
              <a:rPr>
                <a:solidFill>
                  <a:srgbClr val="F2F2F2"/>
                </a:solidFill>
              </a:rPr>
              <a:t> (search code)   →  “Koja od ovih komponenti sadrži ono što meni treba?”</a:t>
            </a:r>
            <a:endParaRPr>
              <a:solidFill>
                <a:srgbClr val="F2F2F2"/>
              </a:solidFill>
            </a:endParaRPr>
          </a:p>
          <a:p>
            <a:pPr>
              <a:lnSpc>
                <a:spcPct val="160000"/>
              </a:lnSpc>
              <a:defRPr sz="1200">
                <a:solidFill>
                  <a:srgbClr val="888888"/>
                </a:solidFill>
                <a:latin typeface="JetBrains Mono Regular"/>
                <a:ea typeface="JetBrains Mono Regular"/>
                <a:cs typeface="JetBrains Mono Regular"/>
                <a:sym typeface="JetBrains Mono Regular"/>
              </a:defRPr>
            </a:pPr>
            <a:r>
              <a:t>4.  </a:t>
            </a:r>
            <a:r>
              <a:rPr>
                <a:solidFill>
                  <a:srgbClr val="00D4FF"/>
                </a:solidFill>
                <a:latin typeface="JetBrains Mono Bold"/>
                <a:ea typeface="JetBrains Mono Bold"/>
                <a:cs typeface="JetBrains Mono Bold"/>
                <a:sym typeface="JetBrains Mono Bold"/>
              </a:rPr>
              <a:t>Read</a:t>
            </a:r>
            <a:r>
              <a:rPr>
                <a:solidFill>
                  <a:srgbClr val="F2F2F2"/>
                </a:solidFill>
              </a:rPr>
              <a:t> (load file)     →  “Pokušavam shvatit kako funkcionira ova komponenta.”</a:t>
            </a:r>
            <a:endParaRPr>
              <a:solidFill>
                <a:srgbClr val="F2F2F2"/>
              </a:solidFill>
            </a:endParaRPr>
          </a:p>
          <a:p>
            <a:pPr>
              <a:lnSpc>
                <a:spcPct val="160000"/>
              </a:lnSpc>
              <a:defRPr sz="1200">
                <a:solidFill>
                  <a:srgbClr val="888888"/>
                </a:solidFill>
                <a:latin typeface="JetBrains Mono Regular"/>
                <a:ea typeface="JetBrains Mono Regular"/>
                <a:cs typeface="JetBrains Mono Regular"/>
                <a:sym typeface="JetBrains Mono Regular"/>
              </a:defRPr>
            </a:pPr>
            <a:r>
              <a:t>5.  </a:t>
            </a:r>
            <a:r>
              <a:rPr>
                <a:solidFill>
                  <a:srgbClr val="00D4FF"/>
                </a:solidFill>
                <a:latin typeface="JetBrains Mono Bold"/>
                <a:ea typeface="JetBrains Mono Bold"/>
                <a:cs typeface="JetBrains Mono Bold"/>
                <a:sym typeface="JetBrains Mono Bold"/>
              </a:rPr>
              <a:t>Follow imports</a:t>
            </a:r>
            <a:r>
              <a:rPr>
                <a:solidFill>
                  <a:srgbClr val="F2F2F2"/>
                </a:solidFill>
              </a:rPr>
              <a:t>       →  “O čemu ovisi ova komponenta?”</a:t>
            </a:r>
            <a:endParaRPr>
              <a:solidFill>
                <a:srgbClr val="F2F2F2"/>
              </a:solidFill>
            </a:endParaRPr>
          </a:p>
          <a:p>
            <a:pPr>
              <a:lnSpc>
                <a:spcPct val="160000"/>
              </a:lnSpc>
              <a:defRPr sz="1200">
                <a:solidFill>
                  <a:srgbClr val="F2F2F2"/>
                </a:solidFill>
                <a:latin typeface="JetBrains Mono Regular"/>
                <a:ea typeface="JetBrains Mono Regular"/>
                <a:cs typeface="JetBrains Mono Regular"/>
                <a:sym typeface="JetBrains Mono Regular"/>
              </a:defRPr>
            </a:pPr>
            <a:r>
              <a:t>6.  Repeat 4–5           →  </a:t>
            </a:r>
            <a:r>
              <a:rPr>
                <a:solidFill>
                  <a:srgbClr val="FF4757"/>
                </a:solidFill>
                <a:latin typeface="JetBrains Mono Bold"/>
                <a:ea typeface="JetBrains Mono Bold"/>
                <a:cs typeface="JetBrains Mono Bold"/>
                <a:sym typeface="JetBrains Mono Bold"/>
              </a:rPr>
              <a:t>Svaki skok puni kontekst i troši tokene</a:t>
            </a:r>
          </a:p>
        </p:txBody>
      </p:sp>
      <p:sp>
        <p:nvSpPr>
          <p:cNvPr id="314" name="Rounded Rectangle 9"/>
          <p:cNvSpPr/>
          <p:nvPr/>
        </p:nvSpPr>
        <p:spPr>
          <a:xfrm>
            <a:off x="640080" y="5031740"/>
            <a:ext cx="10972801" cy="919482"/>
          </a:xfrm>
          <a:prstGeom prst="roundRect">
            <a:avLst>
              <a:gd name="adj" fmla="val 5669"/>
            </a:avLst>
          </a:prstGeom>
          <a:solidFill>
            <a:srgbClr val="0E3A47"/>
          </a:solidFill>
          <a:ln w="12700">
            <a:miter lim="400000"/>
          </a:ln>
        </p:spPr>
        <p:txBody>
          <a:bodyPr lIns="45718" tIns="45718" rIns="45718" bIns="45718" anchor="ctr"/>
          <a:lstStyle/>
          <a:p>
            <a:pPr algn="ctr">
              <a:defRPr>
                <a:solidFill>
                  <a:srgbClr val="FFFFFF"/>
                </a:solidFill>
              </a:defRPr>
            </a:pPr>
          </a:p>
        </p:txBody>
      </p:sp>
      <p:sp>
        <p:nvSpPr>
          <p:cNvPr id="315" name="Rectangle 10"/>
          <p:cNvSpPr/>
          <p:nvPr/>
        </p:nvSpPr>
        <p:spPr>
          <a:xfrm>
            <a:off x="640080" y="5031740"/>
            <a:ext cx="54866" cy="919482"/>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316" name="TextBox 11"/>
          <p:cNvSpPr txBox="1"/>
          <p:nvPr/>
        </p:nvSpPr>
        <p:spPr>
          <a:xfrm>
            <a:off x="890011" y="5373623"/>
            <a:ext cx="10607042"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30000"/>
              </a:lnSpc>
              <a:defRPr sz="1500">
                <a:solidFill>
                  <a:srgbClr val="F2F2F2"/>
                </a:solidFill>
                <a:latin typeface="Inter Regular"/>
                <a:ea typeface="Inter Regular"/>
                <a:cs typeface="Inter Regular"/>
                <a:sym typeface="Inter Regular"/>
              </a:defRPr>
            </a:lvl1pPr>
          </a:lstStyle>
          <a:p>
            <a:pPr/>
            <a:r>
              <a:t>Niska kohezija -&gt; brže punjenje konteksta -&gt; veća potrošnja tokena</a:t>
            </a:r>
          </a:p>
        </p:txBody>
      </p:sp>
    </p:spTree>
  </p:cSld>
  <p:clrMapOvr>
    <a:masterClrMapping/>
  </p:clrMapOvr>
  <p:transition xmlns:p14="http://schemas.microsoft.com/office/powerpoint/2010/main" spd="med" advClick="1"/>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20"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Što je zajedničko?</a:t>
            </a:r>
          </a:p>
        </p:txBody>
      </p:sp>
      <p:sp>
        <p:nvSpPr>
          <p:cNvPr id="321"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322" name="TextBox 5"/>
          <p:cNvSpPr txBox="1"/>
          <p:nvPr/>
        </p:nvSpPr>
        <p:spPr>
          <a:xfrm>
            <a:off x="635000" y="1689100"/>
            <a:ext cx="7773728" cy="12966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45000"/>
              </a:lnSpc>
              <a:defRPr sz="1500">
                <a:solidFill>
                  <a:srgbClr val="F2F2F2"/>
                </a:solidFill>
                <a:latin typeface="Inter Regular"/>
                <a:ea typeface="Inter Regular"/>
                <a:cs typeface="Inter Regular"/>
                <a:sym typeface="Inter Regular"/>
              </a:defRPr>
            </a:pPr>
            <a:r>
              <a:t>•  AI mora </a:t>
            </a:r>
            <a:r>
              <a:rPr>
                <a:solidFill>
                  <a:srgbClr val="00D4FF"/>
                </a:solidFill>
                <a:latin typeface="Inter Bold"/>
                <a:ea typeface="Inter Bold"/>
                <a:cs typeface="Inter Bold"/>
                <a:sym typeface="Inter Bold"/>
              </a:rPr>
              <a:t>odabrati</a:t>
            </a:r>
            <a:r>
              <a:t> što će uključiti u kontekst</a:t>
            </a:r>
          </a:p>
          <a:p>
            <a:pPr>
              <a:lnSpc>
                <a:spcPct val="145000"/>
              </a:lnSpc>
              <a:spcBef>
                <a:spcPts val="1400"/>
              </a:spcBef>
              <a:defRPr sz="1500">
                <a:solidFill>
                  <a:srgbClr val="F2F2F2"/>
                </a:solidFill>
                <a:latin typeface="Inter Regular"/>
                <a:ea typeface="Inter Regular"/>
                <a:cs typeface="Inter Regular"/>
                <a:sym typeface="Inter Regular"/>
              </a:defRPr>
            </a:pPr>
            <a:r>
              <a:t>•  </a:t>
            </a:r>
            <a:r>
              <a:rPr>
                <a:solidFill>
                  <a:srgbClr val="00D4FF"/>
                </a:solidFill>
                <a:latin typeface="Inter Bold"/>
                <a:ea typeface="Inter Bold"/>
                <a:cs typeface="Inter Bold"/>
                <a:sym typeface="Inter Bold"/>
              </a:rPr>
              <a:t>Imenovanje je bitno </a:t>
            </a:r>
            <a:r>
              <a:t>- bolji embeddingsi, pattern matching</a:t>
            </a:r>
          </a:p>
          <a:p>
            <a:pPr>
              <a:lnSpc>
                <a:spcPct val="145000"/>
              </a:lnSpc>
              <a:spcBef>
                <a:spcPts val="1400"/>
              </a:spcBef>
              <a:defRPr sz="1500">
                <a:solidFill>
                  <a:srgbClr val="F2F2F2"/>
                </a:solidFill>
                <a:latin typeface="Inter Regular"/>
                <a:ea typeface="Inter Regular"/>
                <a:cs typeface="Inter Regular"/>
                <a:sym typeface="Inter Regular"/>
              </a:defRPr>
            </a:pPr>
            <a:r>
              <a:t>•  </a:t>
            </a:r>
            <a:r>
              <a:rPr>
                <a:solidFill>
                  <a:srgbClr val="00D4FF"/>
                </a:solidFill>
                <a:latin typeface="Inter Bold"/>
                <a:ea typeface="Inter Bold"/>
                <a:cs typeface="Inter Bold"/>
                <a:sym typeface="Inter Bold"/>
              </a:rPr>
              <a:t>Jasne granice </a:t>
            </a:r>
            <a:r>
              <a:t>= manje šuma, manje uzalud potrošenih tokena, bolji output</a:t>
            </a:r>
          </a:p>
        </p:txBody>
      </p:sp>
    </p:spTree>
  </p:cSld>
  <p:clrMapOvr>
    <a:masterClrMapping/>
  </p:clrMapOvr>
  <p:transition xmlns:p14="http://schemas.microsoft.com/office/powerpoint/2010/main" spd="med" advClick="1"/>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26"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Gdje nastaju problemi</a:t>
            </a:r>
          </a:p>
        </p:txBody>
      </p:sp>
      <p:sp>
        <p:nvSpPr>
          <p:cNvPr id="327" name="TextBox 2"/>
          <p:cNvSpPr txBox="1"/>
          <p:nvPr/>
        </p:nvSpPr>
        <p:spPr>
          <a:xfrm>
            <a:off x="640079" y="1371600"/>
            <a:ext cx="10908794" cy="2159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888888"/>
                </a:solidFill>
                <a:latin typeface="Inter Regular"/>
                <a:ea typeface="Inter Regular"/>
                <a:cs typeface="Inter Regular"/>
                <a:sym typeface="Inter Regular"/>
              </a:defRPr>
            </a:lvl1pPr>
          </a:lstStyle>
          <a:p>
            <a:pPr/>
            <a:r>
              <a:t>Prompt: “Promijeni minimalni iznos za besplatnu dostavu sa 50€ na 30€”</a:t>
            </a:r>
          </a:p>
        </p:txBody>
      </p:sp>
      <p:sp>
        <p:nvSpPr>
          <p:cNvPr id="328" name="Rectangle 3"/>
          <p:cNvSpPr/>
          <p:nvPr/>
        </p:nvSpPr>
        <p:spPr>
          <a:xfrm>
            <a:off x="640080" y="1691638"/>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329" name="TextBox 4"/>
          <p:cNvSpPr txBox="1"/>
          <p:nvPr/>
        </p:nvSpPr>
        <p:spPr>
          <a:xfrm>
            <a:off x="640079" y="2011678"/>
            <a:ext cx="10908794" cy="2159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F2F2F2"/>
                </a:solidFill>
                <a:latin typeface="Inter Regular"/>
                <a:ea typeface="Inter Regular"/>
                <a:cs typeface="Inter Regular"/>
                <a:sym typeface="Inter Regular"/>
              </a:defRPr>
            </a:lvl1pPr>
          </a:lstStyle>
          <a:p>
            <a:pPr/>
            <a:r>
              <a:t>AI čita file tree i vidi:</a:t>
            </a:r>
          </a:p>
        </p:txBody>
      </p:sp>
      <p:sp>
        <p:nvSpPr>
          <p:cNvPr id="330" name="Rounded Rectangle 5"/>
          <p:cNvSpPr/>
          <p:nvPr/>
        </p:nvSpPr>
        <p:spPr>
          <a:xfrm>
            <a:off x="640080" y="2468878"/>
            <a:ext cx="6322992" cy="3978966"/>
          </a:xfrm>
          <a:prstGeom prst="roundRect">
            <a:avLst>
              <a:gd name="adj" fmla="val 4045"/>
            </a:avLst>
          </a:prstGeom>
          <a:solidFill>
            <a:srgbClr val="1A1A2E"/>
          </a:solidFill>
          <a:ln>
            <a:solidFill>
              <a:srgbClr val="333333"/>
            </a:solidFill>
          </a:ln>
        </p:spPr>
        <p:txBody>
          <a:bodyPr lIns="45718" tIns="45718" rIns="45718" bIns="45718" anchor="ctr"/>
          <a:lstStyle/>
          <a:p>
            <a:pPr algn="ctr">
              <a:defRPr>
                <a:solidFill>
                  <a:srgbClr val="FFFFFF"/>
                </a:solidFill>
              </a:defRPr>
            </a:pPr>
          </a:p>
        </p:txBody>
      </p:sp>
      <p:sp>
        <p:nvSpPr>
          <p:cNvPr id="331" name="TextBox 6"/>
          <p:cNvSpPr txBox="1"/>
          <p:nvPr/>
        </p:nvSpPr>
        <p:spPr>
          <a:xfrm>
            <a:off x="868680" y="2659378"/>
            <a:ext cx="5865792" cy="375602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45000"/>
              </a:lnSpc>
              <a:defRPr sz="1000">
                <a:solidFill>
                  <a:srgbClr val="F2F2F2"/>
                </a:solidFill>
                <a:latin typeface="JetBrains Mono Regular"/>
                <a:ea typeface="JetBrains Mono Regular"/>
                <a:cs typeface="JetBrains Mono Regular"/>
                <a:sym typeface="JetBrains Mono Regular"/>
              </a:defRPr>
            </a:pPr>
            <a:r>
              <a:t>src/</a:t>
            </a:r>
          </a:p>
          <a:p>
            <a:pPr>
              <a:lnSpc>
                <a:spcPct val="145000"/>
              </a:lnSpc>
              <a:defRPr sz="1000">
                <a:solidFill>
                  <a:srgbClr val="F2F2F2"/>
                </a:solidFill>
                <a:latin typeface="JetBrains Mono Regular"/>
                <a:ea typeface="JetBrains Mono Regular"/>
                <a:cs typeface="JetBrains Mono Regular"/>
                <a:sym typeface="JetBrains Mono Regular"/>
              </a:defRPr>
            </a:pPr>
            <a:r>
              <a:t>  modules/</a:t>
            </a:r>
          </a:p>
          <a:p>
            <a:pPr>
              <a:lnSpc>
                <a:spcPct val="145000"/>
              </a:lnSpc>
              <a:defRPr sz="1000">
                <a:solidFill>
                  <a:srgbClr val="F2F2F2"/>
                </a:solidFill>
                <a:latin typeface="JetBrains Mono Regular"/>
                <a:ea typeface="JetBrains Mono Regular"/>
                <a:cs typeface="JetBrains Mono Regular"/>
                <a:sym typeface="JetBrains Mono Regular"/>
              </a:defRPr>
            </a:pPr>
            <a:r>
              <a:t>    checkout/</a:t>
            </a:r>
          </a:p>
          <a:p>
            <a:pPr>
              <a:lnSpc>
                <a:spcPct val="145000"/>
              </a:lnSpc>
              <a:defRPr sz="1000">
                <a:solidFill>
                  <a:srgbClr val="F2F2F2"/>
                </a:solidFill>
                <a:latin typeface="JetBrains Mono Regular"/>
                <a:ea typeface="JetBrains Mono Regular"/>
                <a:cs typeface="JetBrains Mono Regular"/>
                <a:sym typeface="JetBrains Mono Regular"/>
              </a:defRPr>
            </a:pPr>
            <a:r>
              <a:t>      components/</a:t>
            </a:r>
            <a:endParaRPr>
              <a:solidFill>
                <a:srgbClr val="888888"/>
              </a:solidFill>
            </a:endParaRPr>
          </a:p>
          <a:p>
            <a:pPr>
              <a:lnSpc>
                <a:spcPct val="145000"/>
              </a:lnSpc>
              <a:defRPr sz="1000">
                <a:solidFill>
                  <a:srgbClr val="FF4757"/>
                </a:solidFill>
                <a:latin typeface="JetBrains Mono Regular"/>
                <a:ea typeface="JetBrains Mono Regular"/>
                <a:cs typeface="JetBrains Mono Regular"/>
                <a:sym typeface="JetBrains Mono Regular"/>
              </a:defRPr>
            </a:pPr>
            <a:r>
              <a:t>        CheckoutForm.tsx</a:t>
            </a:r>
            <a:r>
              <a:rPr>
                <a:solidFill>
                  <a:srgbClr val="888888"/>
                </a:solidFill>
              </a:rPr>
              <a:t>    ← da li se logika nalazi ovdje?</a:t>
            </a:r>
          </a:p>
          <a:p>
            <a:pPr>
              <a:lnSpc>
                <a:spcPct val="145000"/>
              </a:lnSpc>
              <a:defRPr sz="1000">
                <a:solidFill>
                  <a:srgbClr val="FFFFFF"/>
                </a:solidFill>
                <a:latin typeface="JetBrains Mono Regular"/>
                <a:ea typeface="JetBrains Mono Regular"/>
                <a:cs typeface="JetBrains Mono Regular"/>
                <a:sym typeface="JetBrains Mono Regular"/>
              </a:defRPr>
            </a:pPr>
            <a:r>
              <a:t>      schemas/</a:t>
            </a:r>
            <a:endParaRPr>
              <a:solidFill>
                <a:srgbClr val="F2F2F2"/>
              </a:solidFill>
            </a:endParaRPr>
          </a:p>
          <a:p>
            <a:pPr>
              <a:lnSpc>
                <a:spcPct val="145000"/>
              </a:lnSpc>
              <a:defRPr sz="1000">
                <a:solidFill>
                  <a:srgbClr val="FF4757"/>
                </a:solidFill>
                <a:latin typeface="JetBrains Mono Regular"/>
                <a:ea typeface="JetBrains Mono Regular"/>
                <a:cs typeface="JetBrains Mono Regular"/>
                <a:sym typeface="JetBrains Mono Regular"/>
              </a:defRPr>
            </a:pPr>
            <a:r>
              <a:t>        formSchema.ts</a:t>
            </a:r>
            <a:r>
              <a:rPr>
                <a:solidFill>
                  <a:srgbClr val="888888"/>
                </a:solidFill>
              </a:rPr>
              <a:t>       ← ili mozda ovdje?</a:t>
            </a:r>
            <a:br/>
            <a:r>
              <a:rPr>
                <a:solidFill>
                  <a:srgbClr val="FFFFFF"/>
                </a:solidFill>
              </a:rPr>
              <a:t>      hooks/</a:t>
            </a:r>
            <a:endParaRPr>
              <a:solidFill>
                <a:srgbClr val="888888"/>
              </a:solidFill>
            </a:endParaRPr>
          </a:p>
          <a:p>
            <a:pPr lvl="1">
              <a:lnSpc>
                <a:spcPct val="145000"/>
              </a:lnSpc>
              <a:defRPr sz="1000">
                <a:solidFill>
                  <a:srgbClr val="FF4757"/>
                </a:solidFill>
                <a:latin typeface="JetBrains Mono Regular"/>
                <a:ea typeface="JetBrains Mono Regular"/>
                <a:cs typeface="JetBrains Mono Regular"/>
                <a:sym typeface="JetBrains Mono Regular"/>
              </a:defRPr>
            </a:pPr>
            <a:r>
              <a:rPr>
                <a:solidFill>
                  <a:srgbClr val="888888"/>
                </a:solidFill>
              </a:rPr>
              <a:t>        useForm.ts</a:t>
            </a:r>
            <a:r>
              <a:rPr>
                <a:solidFill>
                  <a:srgbClr val="FFFFFF"/>
                </a:solidFill>
              </a:rPr>
              <a:t>          </a:t>
            </a:r>
            <a:r>
              <a:rPr>
                <a:solidFill>
                  <a:srgbClr val="888888"/>
                </a:solidFill>
              </a:rPr>
              <a:t>← ili ovdje?</a:t>
            </a:r>
            <a:r>
              <a:rPr>
                <a:solidFill>
                  <a:srgbClr val="FFFFFF"/>
                </a:solidFill>
              </a:rPr>
              <a:t> </a:t>
            </a:r>
            <a:br>
              <a:rPr>
                <a:solidFill>
                  <a:srgbClr val="FFFFFF"/>
                </a:solidFill>
              </a:rPr>
            </a:br>
            <a:r>
              <a:rPr>
                <a:solidFill>
                  <a:srgbClr val="FFFFFF"/>
                </a:solidFill>
              </a:rPr>
              <a:t>      types/</a:t>
            </a:r>
          </a:p>
          <a:p>
            <a:pPr lvl="1">
              <a:lnSpc>
                <a:spcPct val="145000"/>
              </a:lnSpc>
              <a:defRPr sz="1000">
                <a:solidFill>
                  <a:srgbClr val="EB565D"/>
                </a:solidFill>
                <a:latin typeface="JetBrains Mono Regular"/>
                <a:ea typeface="JetBrains Mono Regular"/>
                <a:cs typeface="JetBrains Mono Regular"/>
                <a:sym typeface="JetBrains Mono Regular"/>
              </a:defRPr>
            </a:pPr>
            <a:r>
              <a:t>        interface.ts       </a:t>
            </a:r>
            <a:r>
              <a:rPr>
                <a:solidFill>
                  <a:srgbClr val="888888"/>
                </a:solidFill>
              </a:rPr>
              <a:t> ← svi tipovi na jednom mjestu</a:t>
            </a:r>
            <a:endParaRPr>
              <a:solidFill>
                <a:srgbClr val="888888"/>
              </a:solidFill>
            </a:endParaRPr>
          </a:p>
          <a:p>
            <a:pPr>
              <a:lnSpc>
                <a:spcPct val="145000"/>
              </a:lnSpc>
              <a:defRPr sz="1000">
                <a:solidFill>
                  <a:srgbClr val="F2F2F2"/>
                </a:solidFill>
                <a:latin typeface="JetBrains Mono Regular"/>
                <a:ea typeface="JetBrains Mono Regular"/>
                <a:cs typeface="JetBrains Mono Regular"/>
                <a:sym typeface="JetBrains Mono Regular"/>
              </a:defRPr>
            </a:pPr>
            <a:r>
              <a:t>      utils/</a:t>
            </a:r>
          </a:p>
          <a:p>
            <a:pPr>
              <a:lnSpc>
                <a:spcPct val="145000"/>
              </a:lnSpc>
              <a:defRPr sz="1000">
                <a:solidFill>
                  <a:srgbClr val="FF4757"/>
                </a:solidFill>
                <a:latin typeface="JetBrains Mono Regular"/>
                <a:ea typeface="JetBrains Mono Regular"/>
                <a:cs typeface="JetBrains Mono Regular"/>
                <a:sym typeface="JetBrains Mono Regular"/>
              </a:defRPr>
            </a:pPr>
            <a:r>
              <a:t>        helpers.ts</a:t>
            </a:r>
            <a:r>
              <a:rPr>
                <a:solidFill>
                  <a:srgbClr val="888888"/>
                </a:solidFill>
              </a:rPr>
              <a:t>          ← sve “utility” funkcije na jednom mjestu</a:t>
            </a:r>
            <a:endParaRPr>
              <a:solidFill>
                <a:srgbClr val="888888"/>
              </a:solidFill>
            </a:endParaRPr>
          </a:p>
          <a:p>
            <a:pPr>
              <a:lnSpc>
                <a:spcPct val="145000"/>
              </a:lnSpc>
              <a:defRPr sz="1000">
                <a:solidFill>
                  <a:srgbClr val="FF4757"/>
                </a:solidFill>
                <a:latin typeface="JetBrains Mono Regular"/>
                <a:ea typeface="JetBrains Mono Regular"/>
                <a:cs typeface="JetBrains Mono Regular"/>
                <a:sym typeface="JetBrains Mono Regular"/>
              </a:defRPr>
            </a:pPr>
            <a:r>
              <a:rPr>
                <a:solidFill>
                  <a:srgbClr val="FFFFFF"/>
                </a:solidFill>
              </a:rPr>
              <a:t>    cart/                   </a:t>
            </a:r>
            <a:r>
              <a:rPr>
                <a:solidFill>
                  <a:srgbClr val="888888"/>
                </a:solidFill>
              </a:rPr>
              <a:t>← 2. kandidat</a:t>
            </a:r>
            <a:br>
              <a:rPr>
                <a:solidFill>
                  <a:srgbClr val="888888"/>
                </a:solidFill>
              </a:rPr>
            </a:br>
            <a:r>
              <a:rPr>
                <a:solidFill>
                  <a:srgbClr val="FFFFFF"/>
                </a:solidFill>
              </a:rPr>
              <a:t>    products/               </a:t>
            </a:r>
            <a:r>
              <a:rPr>
                <a:solidFill>
                  <a:srgbClr val="888888"/>
                </a:solidFill>
              </a:rPr>
              <a:t>← 3. kandidat</a:t>
            </a:r>
            <a:br>
              <a:rPr>
                <a:solidFill>
                  <a:srgbClr val="888888"/>
                </a:solidFill>
              </a:rPr>
            </a:br>
          </a:p>
        </p:txBody>
      </p:sp>
      <p:sp>
        <p:nvSpPr>
          <p:cNvPr id="332" name="TextBox 7"/>
          <p:cNvSpPr txBox="1"/>
          <p:nvPr/>
        </p:nvSpPr>
        <p:spPr>
          <a:xfrm>
            <a:off x="7406640" y="2468878"/>
            <a:ext cx="4114802" cy="77216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40000"/>
              </a:lnSpc>
              <a:defRPr sz="1300">
                <a:solidFill>
                  <a:srgbClr val="FF4757"/>
                </a:solidFill>
                <a:latin typeface="Inter Bold"/>
                <a:ea typeface="Inter Bold"/>
                <a:cs typeface="Inter Bold"/>
                <a:sym typeface="Inter Bold"/>
              </a:defRPr>
            </a:pPr>
            <a:r>
              <a:t>Problem 1: </a:t>
            </a:r>
            <a:r>
              <a:rPr>
                <a:solidFill>
                  <a:srgbClr val="F2F2F2"/>
                </a:solidFill>
                <a:latin typeface="Inter Regular"/>
                <a:ea typeface="Inter Regular"/>
                <a:cs typeface="Inter Regular"/>
                <a:sym typeface="Inter Regular"/>
              </a:rPr>
              <a:t>Nema semantičkog grupiranja. AI mora otvarati više različitih datoteka samo kako bi pronašao gdje se logika nalazi.</a:t>
            </a:r>
          </a:p>
        </p:txBody>
      </p:sp>
    </p:spTree>
  </p:cSld>
  <p:clrMapOvr>
    <a:masterClrMapping/>
  </p:clrMapOvr>
  <p:transition xmlns:p14="http://schemas.microsoft.com/office/powerpoint/2010/main" spd="med" advClick="1"/>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36"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Gdje nastaju problemi</a:t>
            </a:r>
          </a:p>
        </p:txBody>
      </p:sp>
      <p:sp>
        <p:nvSpPr>
          <p:cNvPr id="337" name="TextBox 2"/>
          <p:cNvSpPr txBox="1"/>
          <p:nvPr/>
        </p:nvSpPr>
        <p:spPr>
          <a:xfrm>
            <a:off x="640079" y="1371600"/>
            <a:ext cx="10908794" cy="2159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888888"/>
                </a:solidFill>
                <a:latin typeface="Inter Regular"/>
                <a:ea typeface="Inter Regular"/>
                <a:cs typeface="Inter Regular"/>
                <a:sym typeface="Inter Regular"/>
              </a:defRPr>
            </a:lvl1pPr>
          </a:lstStyle>
          <a:p>
            <a:pPr/>
            <a:r>
              <a:t>Prompt: “Promijeni minimalni iznos za besplatnu dostavu sa 50€ na 30€”</a:t>
            </a:r>
          </a:p>
        </p:txBody>
      </p:sp>
      <p:sp>
        <p:nvSpPr>
          <p:cNvPr id="338" name="Rectangle 3"/>
          <p:cNvSpPr/>
          <p:nvPr/>
        </p:nvSpPr>
        <p:spPr>
          <a:xfrm>
            <a:off x="640080" y="1691638"/>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339" name="TextBox 4"/>
          <p:cNvSpPr txBox="1"/>
          <p:nvPr/>
        </p:nvSpPr>
        <p:spPr>
          <a:xfrm>
            <a:off x="640079" y="2011678"/>
            <a:ext cx="10908794" cy="2159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F2F2F2"/>
                </a:solidFill>
                <a:latin typeface="Inter Regular"/>
                <a:ea typeface="Inter Regular"/>
                <a:cs typeface="Inter Regular"/>
                <a:sym typeface="Inter Regular"/>
              </a:defRPr>
            </a:lvl1pPr>
          </a:lstStyle>
          <a:p>
            <a:pPr/>
            <a:r>
              <a:t>AI čita file tree i vidi:</a:t>
            </a:r>
          </a:p>
        </p:txBody>
      </p:sp>
      <p:sp>
        <p:nvSpPr>
          <p:cNvPr id="340" name="Rounded Rectangle 5"/>
          <p:cNvSpPr/>
          <p:nvPr/>
        </p:nvSpPr>
        <p:spPr>
          <a:xfrm>
            <a:off x="640080" y="2468878"/>
            <a:ext cx="6322992" cy="3978966"/>
          </a:xfrm>
          <a:prstGeom prst="roundRect">
            <a:avLst>
              <a:gd name="adj" fmla="val 4045"/>
            </a:avLst>
          </a:prstGeom>
          <a:solidFill>
            <a:srgbClr val="1A1A2E"/>
          </a:solidFill>
          <a:ln>
            <a:solidFill>
              <a:srgbClr val="333333"/>
            </a:solidFill>
          </a:ln>
        </p:spPr>
        <p:txBody>
          <a:bodyPr lIns="45718" tIns="45718" rIns="45718" bIns="45718" anchor="ctr"/>
          <a:lstStyle/>
          <a:p>
            <a:pPr algn="ctr">
              <a:defRPr>
                <a:solidFill>
                  <a:srgbClr val="FFFFFF"/>
                </a:solidFill>
              </a:defRPr>
            </a:pPr>
          </a:p>
        </p:txBody>
      </p:sp>
      <p:sp>
        <p:nvSpPr>
          <p:cNvPr id="341" name="TextBox 6"/>
          <p:cNvSpPr txBox="1"/>
          <p:nvPr/>
        </p:nvSpPr>
        <p:spPr>
          <a:xfrm>
            <a:off x="868680" y="2659378"/>
            <a:ext cx="5865792" cy="375602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45000"/>
              </a:lnSpc>
              <a:defRPr sz="1000">
                <a:solidFill>
                  <a:srgbClr val="F2F2F2"/>
                </a:solidFill>
                <a:latin typeface="JetBrains Mono Regular"/>
                <a:ea typeface="JetBrains Mono Regular"/>
                <a:cs typeface="JetBrains Mono Regular"/>
                <a:sym typeface="JetBrains Mono Regular"/>
              </a:defRPr>
            </a:pPr>
            <a:r>
              <a:t>src/</a:t>
            </a:r>
          </a:p>
          <a:p>
            <a:pPr>
              <a:lnSpc>
                <a:spcPct val="145000"/>
              </a:lnSpc>
              <a:defRPr sz="1000">
                <a:solidFill>
                  <a:srgbClr val="F2F2F2"/>
                </a:solidFill>
                <a:latin typeface="JetBrains Mono Regular"/>
                <a:ea typeface="JetBrains Mono Regular"/>
                <a:cs typeface="JetBrains Mono Regular"/>
                <a:sym typeface="JetBrains Mono Regular"/>
              </a:defRPr>
            </a:pPr>
            <a:r>
              <a:t>  modules/</a:t>
            </a:r>
          </a:p>
          <a:p>
            <a:pPr>
              <a:lnSpc>
                <a:spcPct val="145000"/>
              </a:lnSpc>
              <a:defRPr sz="1000">
                <a:solidFill>
                  <a:srgbClr val="F2F2F2"/>
                </a:solidFill>
                <a:latin typeface="JetBrains Mono Regular"/>
                <a:ea typeface="JetBrains Mono Regular"/>
                <a:cs typeface="JetBrains Mono Regular"/>
                <a:sym typeface="JetBrains Mono Regular"/>
              </a:defRPr>
            </a:pPr>
            <a:r>
              <a:t>    checkout/</a:t>
            </a:r>
          </a:p>
          <a:p>
            <a:pPr>
              <a:lnSpc>
                <a:spcPct val="145000"/>
              </a:lnSpc>
              <a:defRPr sz="1000">
                <a:solidFill>
                  <a:srgbClr val="F2F2F2"/>
                </a:solidFill>
                <a:latin typeface="JetBrains Mono Regular"/>
                <a:ea typeface="JetBrains Mono Regular"/>
                <a:cs typeface="JetBrains Mono Regular"/>
                <a:sym typeface="JetBrains Mono Regular"/>
              </a:defRPr>
            </a:pPr>
            <a:r>
              <a:t>      components/</a:t>
            </a:r>
            <a:endParaRPr>
              <a:solidFill>
                <a:srgbClr val="888888"/>
              </a:solidFill>
            </a:endParaRPr>
          </a:p>
          <a:p>
            <a:pPr>
              <a:lnSpc>
                <a:spcPct val="145000"/>
              </a:lnSpc>
              <a:defRPr sz="1000">
                <a:solidFill>
                  <a:srgbClr val="FF4757"/>
                </a:solidFill>
                <a:latin typeface="JetBrains Mono Regular"/>
                <a:ea typeface="JetBrains Mono Regular"/>
                <a:cs typeface="JetBrains Mono Regular"/>
                <a:sym typeface="JetBrains Mono Regular"/>
              </a:defRPr>
            </a:pPr>
            <a:r>
              <a:t>        CheckoutForm.tsx</a:t>
            </a:r>
            <a:r>
              <a:rPr>
                <a:solidFill>
                  <a:srgbClr val="888888"/>
                </a:solidFill>
              </a:rPr>
              <a:t>    ← da li se logika nalazi ovdje?</a:t>
            </a:r>
          </a:p>
          <a:p>
            <a:pPr>
              <a:lnSpc>
                <a:spcPct val="145000"/>
              </a:lnSpc>
              <a:defRPr sz="1000">
                <a:solidFill>
                  <a:srgbClr val="FFFFFF"/>
                </a:solidFill>
                <a:latin typeface="JetBrains Mono Regular"/>
                <a:ea typeface="JetBrains Mono Regular"/>
                <a:cs typeface="JetBrains Mono Regular"/>
                <a:sym typeface="JetBrains Mono Regular"/>
              </a:defRPr>
            </a:pPr>
            <a:r>
              <a:t>      schemas/</a:t>
            </a:r>
            <a:endParaRPr>
              <a:solidFill>
                <a:srgbClr val="F2F2F2"/>
              </a:solidFill>
            </a:endParaRPr>
          </a:p>
          <a:p>
            <a:pPr>
              <a:lnSpc>
                <a:spcPct val="145000"/>
              </a:lnSpc>
              <a:defRPr sz="1000">
                <a:solidFill>
                  <a:srgbClr val="FF4757"/>
                </a:solidFill>
                <a:latin typeface="JetBrains Mono Regular"/>
                <a:ea typeface="JetBrains Mono Regular"/>
                <a:cs typeface="JetBrains Mono Regular"/>
                <a:sym typeface="JetBrains Mono Regular"/>
              </a:defRPr>
            </a:pPr>
            <a:r>
              <a:t>        formSchema.ts</a:t>
            </a:r>
            <a:r>
              <a:rPr>
                <a:solidFill>
                  <a:srgbClr val="888888"/>
                </a:solidFill>
              </a:rPr>
              <a:t>       ← ili mozda ovdje?</a:t>
            </a:r>
            <a:br/>
            <a:r>
              <a:rPr>
                <a:solidFill>
                  <a:srgbClr val="FFFFFF"/>
                </a:solidFill>
              </a:rPr>
              <a:t>      hooks/</a:t>
            </a:r>
            <a:endParaRPr>
              <a:solidFill>
                <a:srgbClr val="888888"/>
              </a:solidFill>
            </a:endParaRPr>
          </a:p>
          <a:p>
            <a:pPr lvl="1">
              <a:lnSpc>
                <a:spcPct val="145000"/>
              </a:lnSpc>
              <a:defRPr sz="1000">
                <a:solidFill>
                  <a:srgbClr val="FF4757"/>
                </a:solidFill>
                <a:latin typeface="JetBrains Mono Regular"/>
                <a:ea typeface="JetBrains Mono Regular"/>
                <a:cs typeface="JetBrains Mono Regular"/>
                <a:sym typeface="JetBrains Mono Regular"/>
              </a:defRPr>
            </a:pPr>
            <a:r>
              <a:rPr>
                <a:solidFill>
                  <a:srgbClr val="888888"/>
                </a:solidFill>
              </a:rPr>
              <a:t>        useForm.ts</a:t>
            </a:r>
            <a:r>
              <a:rPr>
                <a:solidFill>
                  <a:srgbClr val="FFFFFF"/>
                </a:solidFill>
              </a:rPr>
              <a:t>          </a:t>
            </a:r>
            <a:r>
              <a:rPr>
                <a:solidFill>
                  <a:srgbClr val="888888"/>
                </a:solidFill>
              </a:rPr>
              <a:t>← ili ovdje?</a:t>
            </a:r>
            <a:r>
              <a:rPr>
                <a:solidFill>
                  <a:srgbClr val="FFFFFF"/>
                </a:solidFill>
              </a:rPr>
              <a:t> </a:t>
            </a:r>
            <a:br>
              <a:rPr>
                <a:solidFill>
                  <a:srgbClr val="FFFFFF"/>
                </a:solidFill>
              </a:rPr>
            </a:br>
            <a:r>
              <a:rPr>
                <a:solidFill>
                  <a:srgbClr val="FFFFFF"/>
                </a:solidFill>
              </a:rPr>
              <a:t>      types/</a:t>
            </a:r>
          </a:p>
          <a:p>
            <a:pPr lvl="1">
              <a:lnSpc>
                <a:spcPct val="145000"/>
              </a:lnSpc>
              <a:defRPr sz="1000">
                <a:solidFill>
                  <a:srgbClr val="EB565D"/>
                </a:solidFill>
                <a:latin typeface="JetBrains Mono Regular"/>
                <a:ea typeface="JetBrains Mono Regular"/>
                <a:cs typeface="JetBrains Mono Regular"/>
                <a:sym typeface="JetBrains Mono Regular"/>
              </a:defRPr>
            </a:pPr>
            <a:r>
              <a:t>        interface.ts       </a:t>
            </a:r>
            <a:r>
              <a:rPr>
                <a:solidFill>
                  <a:srgbClr val="888888"/>
                </a:solidFill>
              </a:rPr>
              <a:t> ← svi tipovi na jednom mjestu</a:t>
            </a:r>
            <a:endParaRPr>
              <a:solidFill>
                <a:srgbClr val="888888"/>
              </a:solidFill>
            </a:endParaRPr>
          </a:p>
          <a:p>
            <a:pPr>
              <a:lnSpc>
                <a:spcPct val="145000"/>
              </a:lnSpc>
              <a:defRPr sz="1000">
                <a:solidFill>
                  <a:srgbClr val="F2F2F2"/>
                </a:solidFill>
                <a:latin typeface="JetBrains Mono Regular"/>
                <a:ea typeface="JetBrains Mono Regular"/>
                <a:cs typeface="JetBrains Mono Regular"/>
                <a:sym typeface="JetBrains Mono Regular"/>
              </a:defRPr>
            </a:pPr>
            <a:r>
              <a:t>      utils/</a:t>
            </a:r>
          </a:p>
          <a:p>
            <a:pPr>
              <a:lnSpc>
                <a:spcPct val="145000"/>
              </a:lnSpc>
              <a:defRPr sz="1000">
                <a:solidFill>
                  <a:srgbClr val="FF4757"/>
                </a:solidFill>
                <a:latin typeface="JetBrains Mono Regular"/>
                <a:ea typeface="JetBrains Mono Regular"/>
                <a:cs typeface="JetBrains Mono Regular"/>
                <a:sym typeface="JetBrains Mono Regular"/>
              </a:defRPr>
            </a:pPr>
            <a:r>
              <a:t>        helpers.ts</a:t>
            </a:r>
            <a:r>
              <a:rPr>
                <a:solidFill>
                  <a:srgbClr val="888888"/>
                </a:solidFill>
              </a:rPr>
              <a:t>          ← sve “utility” funkcije na jednom mjestu</a:t>
            </a:r>
            <a:endParaRPr>
              <a:solidFill>
                <a:srgbClr val="888888"/>
              </a:solidFill>
            </a:endParaRPr>
          </a:p>
          <a:p>
            <a:pPr>
              <a:lnSpc>
                <a:spcPct val="145000"/>
              </a:lnSpc>
              <a:defRPr sz="1000">
                <a:solidFill>
                  <a:srgbClr val="FF4757"/>
                </a:solidFill>
                <a:latin typeface="JetBrains Mono Regular"/>
                <a:ea typeface="JetBrains Mono Regular"/>
                <a:cs typeface="JetBrains Mono Regular"/>
                <a:sym typeface="JetBrains Mono Regular"/>
              </a:defRPr>
            </a:pPr>
            <a:r>
              <a:rPr>
                <a:solidFill>
                  <a:srgbClr val="FFFFFF"/>
                </a:solidFill>
              </a:rPr>
              <a:t>    cart/                   </a:t>
            </a:r>
            <a:r>
              <a:rPr>
                <a:solidFill>
                  <a:srgbClr val="888888"/>
                </a:solidFill>
              </a:rPr>
              <a:t>← 2. kandidat</a:t>
            </a:r>
            <a:br>
              <a:rPr>
                <a:solidFill>
                  <a:srgbClr val="888888"/>
                </a:solidFill>
              </a:rPr>
            </a:br>
            <a:r>
              <a:rPr>
                <a:solidFill>
                  <a:srgbClr val="FFFFFF"/>
                </a:solidFill>
              </a:rPr>
              <a:t>    products/               </a:t>
            </a:r>
            <a:r>
              <a:rPr>
                <a:solidFill>
                  <a:srgbClr val="888888"/>
                </a:solidFill>
              </a:rPr>
              <a:t>← 3. kandidat</a:t>
            </a:r>
            <a:br>
              <a:rPr>
                <a:solidFill>
                  <a:srgbClr val="888888"/>
                </a:solidFill>
              </a:rPr>
            </a:br>
          </a:p>
        </p:txBody>
      </p:sp>
      <p:sp>
        <p:nvSpPr>
          <p:cNvPr id="342" name="TextBox 7"/>
          <p:cNvSpPr txBox="1"/>
          <p:nvPr/>
        </p:nvSpPr>
        <p:spPr>
          <a:xfrm>
            <a:off x="7406640" y="2468878"/>
            <a:ext cx="4114802" cy="1549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40000"/>
              </a:lnSpc>
              <a:defRPr sz="1300">
                <a:solidFill>
                  <a:srgbClr val="FF4757"/>
                </a:solidFill>
                <a:latin typeface="Inter Bold"/>
                <a:ea typeface="Inter Bold"/>
                <a:cs typeface="Inter Bold"/>
                <a:sym typeface="Inter Bold"/>
              </a:defRPr>
            </a:pPr>
            <a:r>
              <a:t>Problem 1: </a:t>
            </a:r>
            <a:r>
              <a:rPr>
                <a:solidFill>
                  <a:srgbClr val="F2F2F2"/>
                </a:solidFill>
                <a:latin typeface="Inter Regular"/>
                <a:ea typeface="Inter Regular"/>
                <a:cs typeface="Inter Regular"/>
                <a:sym typeface="Inter Regular"/>
              </a:rPr>
              <a:t>Nema semantičkog grupiranja. AI mora otvarati više različitih datoteka samo kako bi pronašao gdje se logika nalazi.</a:t>
            </a:r>
            <a:endParaRPr>
              <a:solidFill>
                <a:srgbClr val="F2F2F2"/>
              </a:solidFill>
            </a:endParaRPr>
          </a:p>
          <a:p>
            <a:pPr>
              <a:lnSpc>
                <a:spcPct val="140000"/>
              </a:lnSpc>
              <a:spcBef>
                <a:spcPts val="1400"/>
              </a:spcBef>
              <a:defRPr sz="1300">
                <a:solidFill>
                  <a:srgbClr val="FF4757"/>
                </a:solidFill>
                <a:latin typeface="Inter Bold"/>
                <a:ea typeface="Inter Bold"/>
                <a:cs typeface="Inter Bold"/>
                <a:sym typeface="Inter Bold"/>
              </a:defRPr>
            </a:pPr>
            <a:r>
              <a:t>Problem 2: </a:t>
            </a:r>
            <a:r>
              <a:rPr>
                <a:solidFill>
                  <a:srgbClr val="F2F2F2"/>
                </a:solidFill>
                <a:latin typeface="Inter Regular"/>
                <a:ea typeface="Inter Regular"/>
                <a:cs typeface="Inter Regular"/>
                <a:sym typeface="Inter Regular"/>
              </a:rPr>
              <a:t>Generički nazivi poput </a:t>
            </a:r>
            <a:r>
              <a:rPr>
                <a:solidFill>
                  <a:srgbClr val="F2F2F2"/>
                </a:solidFill>
                <a:latin typeface="JetBrains Mono Regular"/>
                <a:ea typeface="JetBrains Mono Regular"/>
                <a:cs typeface="JetBrains Mono Regular"/>
                <a:sym typeface="JetBrains Mono Regular"/>
              </a:rPr>
              <a:t>helpers.ts</a:t>
            </a:r>
            <a:r>
              <a:rPr>
                <a:solidFill>
                  <a:srgbClr val="F2F2F2"/>
                </a:solidFill>
                <a:latin typeface="Inter Regular"/>
                <a:ea typeface="Inter Regular"/>
                <a:cs typeface="Inter Regular"/>
                <a:sym typeface="Inter Regular"/>
              </a:rPr>
              <a:t> i </a:t>
            </a:r>
            <a:r>
              <a:rPr>
                <a:solidFill>
                  <a:srgbClr val="F2F2F2"/>
                </a:solidFill>
                <a:latin typeface="JetBrains Mono Regular"/>
                <a:ea typeface="JetBrains Mono Regular"/>
                <a:cs typeface="JetBrains Mono Regular"/>
                <a:sym typeface="JetBrains Mono Regular"/>
              </a:rPr>
              <a:t>useForm.ts</a:t>
            </a:r>
            <a:r>
              <a:rPr>
                <a:solidFill>
                  <a:srgbClr val="F2F2F2"/>
                </a:solidFill>
                <a:latin typeface="Inter Regular"/>
                <a:ea typeface="Inter Regular"/>
                <a:cs typeface="Inter Regular"/>
                <a:sym typeface="Inter Regular"/>
              </a:rPr>
              <a:t> ne pomažu pri pretraživanju</a:t>
            </a:r>
          </a:p>
        </p:txBody>
      </p:sp>
    </p:spTree>
  </p:cSld>
  <p:clrMapOvr>
    <a:masterClrMapping/>
  </p:clrMapOvr>
  <p:transition xmlns:p14="http://schemas.microsoft.com/office/powerpoint/2010/main" spd="med" advClick="1"/>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46"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Gdje nastaju problemi</a:t>
            </a:r>
          </a:p>
        </p:txBody>
      </p:sp>
      <p:sp>
        <p:nvSpPr>
          <p:cNvPr id="347" name="TextBox 2"/>
          <p:cNvSpPr txBox="1"/>
          <p:nvPr/>
        </p:nvSpPr>
        <p:spPr>
          <a:xfrm>
            <a:off x="640079" y="1371600"/>
            <a:ext cx="10908794" cy="2159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888888"/>
                </a:solidFill>
                <a:latin typeface="Inter Regular"/>
                <a:ea typeface="Inter Regular"/>
                <a:cs typeface="Inter Regular"/>
                <a:sym typeface="Inter Regular"/>
              </a:defRPr>
            </a:lvl1pPr>
          </a:lstStyle>
          <a:p>
            <a:pPr/>
            <a:r>
              <a:t>Prompt: “Promijeni minimalni iznos za besplatnu dostavu sa 50€ na 30€”</a:t>
            </a:r>
          </a:p>
        </p:txBody>
      </p:sp>
      <p:sp>
        <p:nvSpPr>
          <p:cNvPr id="348" name="Rectangle 3"/>
          <p:cNvSpPr/>
          <p:nvPr/>
        </p:nvSpPr>
        <p:spPr>
          <a:xfrm>
            <a:off x="640080" y="1691638"/>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349" name="TextBox 4"/>
          <p:cNvSpPr txBox="1"/>
          <p:nvPr/>
        </p:nvSpPr>
        <p:spPr>
          <a:xfrm>
            <a:off x="640079" y="2011678"/>
            <a:ext cx="10908794" cy="2159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F2F2F2"/>
                </a:solidFill>
                <a:latin typeface="Inter Regular"/>
                <a:ea typeface="Inter Regular"/>
                <a:cs typeface="Inter Regular"/>
                <a:sym typeface="Inter Regular"/>
              </a:defRPr>
            </a:lvl1pPr>
          </a:lstStyle>
          <a:p>
            <a:pPr/>
            <a:r>
              <a:t>AI čita file tree i vidi:</a:t>
            </a:r>
          </a:p>
        </p:txBody>
      </p:sp>
      <p:sp>
        <p:nvSpPr>
          <p:cNvPr id="350" name="Rounded Rectangle 5"/>
          <p:cNvSpPr/>
          <p:nvPr/>
        </p:nvSpPr>
        <p:spPr>
          <a:xfrm>
            <a:off x="640080" y="2468878"/>
            <a:ext cx="6322992" cy="3978966"/>
          </a:xfrm>
          <a:prstGeom prst="roundRect">
            <a:avLst>
              <a:gd name="adj" fmla="val 4045"/>
            </a:avLst>
          </a:prstGeom>
          <a:solidFill>
            <a:srgbClr val="1A1A2E"/>
          </a:solidFill>
          <a:ln>
            <a:solidFill>
              <a:srgbClr val="333333"/>
            </a:solidFill>
          </a:ln>
        </p:spPr>
        <p:txBody>
          <a:bodyPr lIns="45718" tIns="45718" rIns="45718" bIns="45718" anchor="ctr"/>
          <a:lstStyle/>
          <a:p>
            <a:pPr algn="ctr">
              <a:defRPr>
                <a:solidFill>
                  <a:srgbClr val="FFFFFF"/>
                </a:solidFill>
              </a:defRPr>
            </a:pPr>
          </a:p>
        </p:txBody>
      </p:sp>
      <p:sp>
        <p:nvSpPr>
          <p:cNvPr id="351" name="TextBox 6"/>
          <p:cNvSpPr txBox="1"/>
          <p:nvPr/>
        </p:nvSpPr>
        <p:spPr>
          <a:xfrm>
            <a:off x="868680" y="2659378"/>
            <a:ext cx="5865792" cy="375602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45000"/>
              </a:lnSpc>
              <a:defRPr sz="1000">
                <a:solidFill>
                  <a:srgbClr val="F2F2F2"/>
                </a:solidFill>
                <a:latin typeface="JetBrains Mono Regular"/>
                <a:ea typeface="JetBrains Mono Regular"/>
                <a:cs typeface="JetBrains Mono Regular"/>
                <a:sym typeface="JetBrains Mono Regular"/>
              </a:defRPr>
            </a:pPr>
            <a:r>
              <a:t>src/</a:t>
            </a:r>
          </a:p>
          <a:p>
            <a:pPr>
              <a:lnSpc>
                <a:spcPct val="145000"/>
              </a:lnSpc>
              <a:defRPr sz="1000">
                <a:solidFill>
                  <a:srgbClr val="F2F2F2"/>
                </a:solidFill>
                <a:latin typeface="JetBrains Mono Regular"/>
                <a:ea typeface="JetBrains Mono Regular"/>
                <a:cs typeface="JetBrains Mono Regular"/>
                <a:sym typeface="JetBrains Mono Regular"/>
              </a:defRPr>
            </a:pPr>
            <a:r>
              <a:t>  modules/</a:t>
            </a:r>
          </a:p>
          <a:p>
            <a:pPr>
              <a:lnSpc>
                <a:spcPct val="145000"/>
              </a:lnSpc>
              <a:defRPr sz="1000">
                <a:solidFill>
                  <a:srgbClr val="F2F2F2"/>
                </a:solidFill>
                <a:latin typeface="JetBrains Mono Regular"/>
                <a:ea typeface="JetBrains Mono Regular"/>
                <a:cs typeface="JetBrains Mono Regular"/>
                <a:sym typeface="JetBrains Mono Regular"/>
              </a:defRPr>
            </a:pPr>
            <a:r>
              <a:t>    checkout/</a:t>
            </a:r>
          </a:p>
          <a:p>
            <a:pPr>
              <a:lnSpc>
                <a:spcPct val="145000"/>
              </a:lnSpc>
              <a:defRPr sz="1000">
                <a:solidFill>
                  <a:srgbClr val="F2F2F2"/>
                </a:solidFill>
                <a:latin typeface="JetBrains Mono Regular"/>
                <a:ea typeface="JetBrains Mono Regular"/>
                <a:cs typeface="JetBrains Mono Regular"/>
                <a:sym typeface="JetBrains Mono Regular"/>
              </a:defRPr>
            </a:pPr>
            <a:r>
              <a:t>      components/</a:t>
            </a:r>
            <a:endParaRPr>
              <a:solidFill>
                <a:srgbClr val="888888"/>
              </a:solidFill>
            </a:endParaRPr>
          </a:p>
          <a:p>
            <a:pPr>
              <a:lnSpc>
                <a:spcPct val="145000"/>
              </a:lnSpc>
              <a:defRPr sz="1000">
                <a:solidFill>
                  <a:srgbClr val="FF4757"/>
                </a:solidFill>
                <a:latin typeface="JetBrains Mono Regular"/>
                <a:ea typeface="JetBrains Mono Regular"/>
                <a:cs typeface="JetBrains Mono Regular"/>
                <a:sym typeface="JetBrains Mono Regular"/>
              </a:defRPr>
            </a:pPr>
            <a:r>
              <a:t>        CheckoutForm.tsx</a:t>
            </a:r>
            <a:r>
              <a:rPr>
                <a:solidFill>
                  <a:srgbClr val="888888"/>
                </a:solidFill>
              </a:rPr>
              <a:t>    ← da li se logika nalazi ovdje?</a:t>
            </a:r>
          </a:p>
          <a:p>
            <a:pPr>
              <a:lnSpc>
                <a:spcPct val="145000"/>
              </a:lnSpc>
              <a:defRPr sz="1000">
                <a:solidFill>
                  <a:srgbClr val="FFFFFF"/>
                </a:solidFill>
                <a:latin typeface="JetBrains Mono Regular"/>
                <a:ea typeface="JetBrains Mono Regular"/>
                <a:cs typeface="JetBrains Mono Regular"/>
                <a:sym typeface="JetBrains Mono Regular"/>
              </a:defRPr>
            </a:pPr>
            <a:r>
              <a:t>      schemas/</a:t>
            </a:r>
            <a:endParaRPr>
              <a:solidFill>
                <a:srgbClr val="F2F2F2"/>
              </a:solidFill>
            </a:endParaRPr>
          </a:p>
          <a:p>
            <a:pPr>
              <a:lnSpc>
                <a:spcPct val="145000"/>
              </a:lnSpc>
              <a:defRPr sz="1000">
                <a:solidFill>
                  <a:srgbClr val="FF4757"/>
                </a:solidFill>
                <a:latin typeface="JetBrains Mono Regular"/>
                <a:ea typeface="JetBrains Mono Regular"/>
                <a:cs typeface="JetBrains Mono Regular"/>
                <a:sym typeface="JetBrains Mono Regular"/>
              </a:defRPr>
            </a:pPr>
            <a:r>
              <a:t>        formSchema.ts</a:t>
            </a:r>
            <a:r>
              <a:rPr>
                <a:solidFill>
                  <a:srgbClr val="888888"/>
                </a:solidFill>
              </a:rPr>
              <a:t>       ← ili mozda ovdje?</a:t>
            </a:r>
            <a:br/>
            <a:r>
              <a:rPr>
                <a:solidFill>
                  <a:srgbClr val="FFFFFF"/>
                </a:solidFill>
              </a:rPr>
              <a:t>      hooks/</a:t>
            </a:r>
            <a:endParaRPr>
              <a:solidFill>
                <a:srgbClr val="888888"/>
              </a:solidFill>
            </a:endParaRPr>
          </a:p>
          <a:p>
            <a:pPr lvl="1">
              <a:lnSpc>
                <a:spcPct val="145000"/>
              </a:lnSpc>
              <a:defRPr sz="1000">
                <a:solidFill>
                  <a:srgbClr val="FF4757"/>
                </a:solidFill>
                <a:latin typeface="JetBrains Mono Regular"/>
                <a:ea typeface="JetBrains Mono Regular"/>
                <a:cs typeface="JetBrains Mono Regular"/>
                <a:sym typeface="JetBrains Mono Regular"/>
              </a:defRPr>
            </a:pPr>
            <a:r>
              <a:rPr>
                <a:solidFill>
                  <a:srgbClr val="888888"/>
                </a:solidFill>
              </a:rPr>
              <a:t>        useForm.ts</a:t>
            </a:r>
            <a:r>
              <a:rPr>
                <a:solidFill>
                  <a:srgbClr val="FFFFFF"/>
                </a:solidFill>
              </a:rPr>
              <a:t>          </a:t>
            </a:r>
            <a:r>
              <a:rPr>
                <a:solidFill>
                  <a:srgbClr val="888888"/>
                </a:solidFill>
              </a:rPr>
              <a:t>← ili ovdje?</a:t>
            </a:r>
            <a:r>
              <a:rPr>
                <a:solidFill>
                  <a:srgbClr val="FFFFFF"/>
                </a:solidFill>
              </a:rPr>
              <a:t> </a:t>
            </a:r>
            <a:br>
              <a:rPr>
                <a:solidFill>
                  <a:srgbClr val="FFFFFF"/>
                </a:solidFill>
              </a:rPr>
            </a:br>
            <a:r>
              <a:rPr>
                <a:solidFill>
                  <a:srgbClr val="FFFFFF"/>
                </a:solidFill>
              </a:rPr>
              <a:t>      types/</a:t>
            </a:r>
          </a:p>
          <a:p>
            <a:pPr lvl="1">
              <a:lnSpc>
                <a:spcPct val="145000"/>
              </a:lnSpc>
              <a:defRPr sz="1000">
                <a:solidFill>
                  <a:srgbClr val="EB565D"/>
                </a:solidFill>
                <a:latin typeface="JetBrains Mono Regular"/>
                <a:ea typeface="JetBrains Mono Regular"/>
                <a:cs typeface="JetBrains Mono Regular"/>
                <a:sym typeface="JetBrains Mono Regular"/>
              </a:defRPr>
            </a:pPr>
            <a:r>
              <a:t>        interface.ts       </a:t>
            </a:r>
            <a:r>
              <a:rPr>
                <a:solidFill>
                  <a:srgbClr val="888888"/>
                </a:solidFill>
              </a:rPr>
              <a:t> ← svi tipovi na jednom mjestu</a:t>
            </a:r>
            <a:endParaRPr>
              <a:solidFill>
                <a:srgbClr val="888888"/>
              </a:solidFill>
            </a:endParaRPr>
          </a:p>
          <a:p>
            <a:pPr>
              <a:lnSpc>
                <a:spcPct val="145000"/>
              </a:lnSpc>
              <a:defRPr sz="1000">
                <a:solidFill>
                  <a:srgbClr val="F2F2F2"/>
                </a:solidFill>
                <a:latin typeface="JetBrains Mono Regular"/>
                <a:ea typeface="JetBrains Mono Regular"/>
                <a:cs typeface="JetBrains Mono Regular"/>
                <a:sym typeface="JetBrains Mono Regular"/>
              </a:defRPr>
            </a:pPr>
            <a:r>
              <a:t>      utils/</a:t>
            </a:r>
          </a:p>
          <a:p>
            <a:pPr>
              <a:lnSpc>
                <a:spcPct val="145000"/>
              </a:lnSpc>
              <a:defRPr sz="1000">
                <a:solidFill>
                  <a:srgbClr val="FF4757"/>
                </a:solidFill>
                <a:latin typeface="JetBrains Mono Regular"/>
                <a:ea typeface="JetBrains Mono Regular"/>
                <a:cs typeface="JetBrains Mono Regular"/>
                <a:sym typeface="JetBrains Mono Regular"/>
              </a:defRPr>
            </a:pPr>
            <a:r>
              <a:t>        helpers.ts</a:t>
            </a:r>
            <a:r>
              <a:rPr>
                <a:solidFill>
                  <a:srgbClr val="888888"/>
                </a:solidFill>
              </a:rPr>
              <a:t>          ← sve “utility” funkcije na jednom mjestu</a:t>
            </a:r>
            <a:endParaRPr>
              <a:solidFill>
                <a:srgbClr val="888888"/>
              </a:solidFill>
            </a:endParaRPr>
          </a:p>
          <a:p>
            <a:pPr>
              <a:lnSpc>
                <a:spcPct val="145000"/>
              </a:lnSpc>
              <a:defRPr sz="1000">
                <a:solidFill>
                  <a:srgbClr val="FF4757"/>
                </a:solidFill>
                <a:latin typeface="JetBrains Mono Regular"/>
                <a:ea typeface="JetBrains Mono Regular"/>
                <a:cs typeface="JetBrains Mono Regular"/>
                <a:sym typeface="JetBrains Mono Regular"/>
              </a:defRPr>
            </a:pPr>
            <a:r>
              <a:rPr>
                <a:solidFill>
                  <a:srgbClr val="FFFFFF"/>
                </a:solidFill>
              </a:rPr>
              <a:t>    cart/                   </a:t>
            </a:r>
            <a:r>
              <a:rPr>
                <a:solidFill>
                  <a:srgbClr val="888888"/>
                </a:solidFill>
              </a:rPr>
              <a:t>← 2. kandidat</a:t>
            </a:r>
            <a:br>
              <a:rPr>
                <a:solidFill>
                  <a:srgbClr val="888888"/>
                </a:solidFill>
              </a:rPr>
            </a:br>
            <a:r>
              <a:rPr>
                <a:solidFill>
                  <a:srgbClr val="FFFFFF"/>
                </a:solidFill>
              </a:rPr>
              <a:t>    products/               </a:t>
            </a:r>
            <a:r>
              <a:rPr>
                <a:solidFill>
                  <a:srgbClr val="888888"/>
                </a:solidFill>
              </a:rPr>
              <a:t>← 3. kandidat</a:t>
            </a:r>
            <a:br>
              <a:rPr>
                <a:solidFill>
                  <a:srgbClr val="888888"/>
                </a:solidFill>
              </a:rPr>
            </a:br>
          </a:p>
        </p:txBody>
      </p:sp>
      <p:sp>
        <p:nvSpPr>
          <p:cNvPr id="352" name="TextBox 7"/>
          <p:cNvSpPr txBox="1"/>
          <p:nvPr/>
        </p:nvSpPr>
        <p:spPr>
          <a:xfrm>
            <a:off x="7406640" y="2468878"/>
            <a:ext cx="4114802" cy="2603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40000"/>
              </a:lnSpc>
              <a:defRPr sz="1300">
                <a:solidFill>
                  <a:srgbClr val="FF4757"/>
                </a:solidFill>
                <a:latin typeface="Inter Bold"/>
                <a:ea typeface="Inter Bold"/>
                <a:cs typeface="Inter Bold"/>
                <a:sym typeface="Inter Bold"/>
              </a:defRPr>
            </a:pPr>
            <a:r>
              <a:t>Problem 1: </a:t>
            </a:r>
            <a:r>
              <a:rPr>
                <a:solidFill>
                  <a:srgbClr val="F2F2F2"/>
                </a:solidFill>
                <a:latin typeface="Inter Regular"/>
                <a:ea typeface="Inter Regular"/>
                <a:cs typeface="Inter Regular"/>
                <a:sym typeface="Inter Regular"/>
              </a:rPr>
              <a:t>Nema semantičkog grupiranja. AI mora otvarati više različitih datoteka samo kako bi pronašao gdje se logika nalazi.</a:t>
            </a:r>
            <a:endParaRPr>
              <a:solidFill>
                <a:srgbClr val="F2F2F2"/>
              </a:solidFill>
            </a:endParaRPr>
          </a:p>
          <a:p>
            <a:pPr>
              <a:lnSpc>
                <a:spcPct val="140000"/>
              </a:lnSpc>
              <a:spcBef>
                <a:spcPts val="1400"/>
              </a:spcBef>
              <a:defRPr sz="1300">
                <a:solidFill>
                  <a:srgbClr val="FF4757"/>
                </a:solidFill>
                <a:latin typeface="Inter Bold"/>
                <a:ea typeface="Inter Bold"/>
                <a:cs typeface="Inter Bold"/>
                <a:sym typeface="Inter Bold"/>
              </a:defRPr>
            </a:pPr>
            <a:r>
              <a:t>Problem 2: </a:t>
            </a:r>
            <a:r>
              <a:rPr>
                <a:solidFill>
                  <a:srgbClr val="F2F2F2"/>
                </a:solidFill>
                <a:latin typeface="Inter Regular"/>
                <a:ea typeface="Inter Regular"/>
                <a:cs typeface="Inter Regular"/>
                <a:sym typeface="Inter Regular"/>
              </a:rPr>
              <a:t>Generički nazivi poput </a:t>
            </a:r>
            <a:r>
              <a:rPr>
                <a:solidFill>
                  <a:srgbClr val="F2F2F2"/>
                </a:solidFill>
                <a:latin typeface="JetBrains Mono Regular"/>
                <a:ea typeface="JetBrains Mono Regular"/>
                <a:cs typeface="JetBrains Mono Regular"/>
                <a:sym typeface="JetBrains Mono Regular"/>
              </a:rPr>
              <a:t>helpers.ts</a:t>
            </a:r>
            <a:r>
              <a:rPr>
                <a:solidFill>
                  <a:srgbClr val="F2F2F2"/>
                </a:solidFill>
                <a:latin typeface="Inter Regular"/>
                <a:ea typeface="Inter Regular"/>
                <a:cs typeface="Inter Regular"/>
                <a:sym typeface="Inter Regular"/>
              </a:rPr>
              <a:t> i </a:t>
            </a:r>
            <a:r>
              <a:rPr>
                <a:solidFill>
                  <a:srgbClr val="F2F2F2"/>
                </a:solidFill>
                <a:latin typeface="JetBrains Mono Regular"/>
                <a:ea typeface="JetBrains Mono Regular"/>
                <a:cs typeface="JetBrains Mono Regular"/>
                <a:sym typeface="JetBrains Mono Regular"/>
              </a:rPr>
              <a:t>useForm.ts</a:t>
            </a:r>
            <a:r>
              <a:rPr>
                <a:solidFill>
                  <a:srgbClr val="F2F2F2"/>
                </a:solidFill>
                <a:latin typeface="Inter Regular"/>
                <a:ea typeface="Inter Regular"/>
                <a:cs typeface="Inter Regular"/>
                <a:sym typeface="Inter Regular"/>
              </a:rPr>
              <a:t> ne pomažu pri pretraživanju</a:t>
            </a:r>
            <a:endParaRPr>
              <a:solidFill>
                <a:srgbClr val="F2F2F2"/>
              </a:solidFill>
            </a:endParaRPr>
          </a:p>
          <a:p>
            <a:pPr>
              <a:lnSpc>
                <a:spcPct val="140000"/>
              </a:lnSpc>
              <a:spcBef>
                <a:spcPts val="1400"/>
              </a:spcBef>
              <a:defRPr sz="1300">
                <a:solidFill>
                  <a:srgbClr val="FF4757"/>
                </a:solidFill>
                <a:latin typeface="Inter Bold"/>
                <a:ea typeface="Inter Bold"/>
                <a:cs typeface="Inter Bold"/>
                <a:sym typeface="Inter Bold"/>
              </a:defRPr>
            </a:pPr>
            <a:r>
              <a:t>Problem 3: </a:t>
            </a:r>
            <a:r>
              <a:rPr>
                <a:solidFill>
                  <a:srgbClr val="F2F2F2"/>
                </a:solidFill>
                <a:latin typeface="Inter Regular"/>
                <a:ea typeface="Inter Regular"/>
                <a:cs typeface="Inter Regular"/>
                <a:sym typeface="Inter Regular"/>
              </a:rPr>
              <a:t>Monolitne datoteke (interface</a:t>
            </a:r>
            <a:r>
              <a:rPr>
                <a:solidFill>
                  <a:srgbClr val="F2F2F2"/>
                </a:solidFill>
                <a:latin typeface="JetBrains Mono Regular"/>
                <a:ea typeface="JetBrains Mono Regular"/>
                <a:cs typeface="JetBrains Mono Regular"/>
                <a:sym typeface="JetBrains Mono Regular"/>
              </a:rPr>
              <a:t>.ts</a:t>
            </a:r>
            <a:r>
              <a:rPr>
                <a:solidFill>
                  <a:srgbClr val="F2F2F2"/>
                </a:solidFill>
                <a:latin typeface="Inter Regular"/>
                <a:ea typeface="Inter Regular"/>
                <a:cs typeface="Inter Regular"/>
                <a:sym typeface="Inter Regular"/>
              </a:rPr>
              <a:t>) prisiljavaju AI da učitava stotine nepotrebnih linija koda u kontekst</a:t>
            </a:r>
          </a:p>
        </p:txBody>
      </p:sp>
    </p:spTree>
  </p:cSld>
  <p:clrMapOvr>
    <a:masterClrMapping/>
  </p:clrMapOvr>
  <p:transition xmlns:p14="http://schemas.microsoft.com/office/powerpoint/2010/main" spd="med" advClick="1"/>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56"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sz="3600">
                <a:solidFill>
                  <a:srgbClr val="F2F2F2"/>
                </a:solidFill>
                <a:latin typeface="Inter Bold"/>
                <a:ea typeface="Inter Bold"/>
                <a:cs typeface="Inter Bold"/>
                <a:sym typeface="Inter Bold"/>
              </a:defRPr>
            </a:pPr>
            <a:r>
              <a:t>Architecture </a:t>
            </a:r>
            <a:r>
              <a:rPr>
                <a:solidFill>
                  <a:srgbClr val="00D4FF"/>
                </a:solidFill>
              </a:rPr>
              <a:t>=</a:t>
            </a:r>
            <a:r>
              <a:t> Context Engineering</a:t>
            </a:r>
          </a:p>
        </p:txBody>
      </p:sp>
      <p:sp>
        <p:nvSpPr>
          <p:cNvPr id="357"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358" name="Rounded Rectangle 3"/>
          <p:cNvSpPr/>
          <p:nvPr/>
        </p:nvSpPr>
        <p:spPr>
          <a:xfrm>
            <a:off x="640080" y="2194560"/>
            <a:ext cx="10972801" cy="1097282"/>
          </a:xfrm>
          <a:prstGeom prst="roundRect">
            <a:avLst>
              <a:gd name="adj" fmla="val 6000"/>
            </a:avLst>
          </a:prstGeom>
          <a:solidFill>
            <a:srgbClr val="0E3A47"/>
          </a:solidFill>
          <a:ln w="12700">
            <a:miter lim="400000"/>
          </a:ln>
        </p:spPr>
        <p:txBody>
          <a:bodyPr lIns="45718" tIns="45718" rIns="45718" bIns="45718" anchor="ctr"/>
          <a:lstStyle/>
          <a:p>
            <a:pPr algn="ctr">
              <a:defRPr>
                <a:solidFill>
                  <a:srgbClr val="FFFFFF"/>
                </a:solidFill>
              </a:defRPr>
            </a:pPr>
          </a:p>
        </p:txBody>
      </p:sp>
      <p:sp>
        <p:nvSpPr>
          <p:cNvPr id="359" name="Rectangle 4"/>
          <p:cNvSpPr/>
          <p:nvPr/>
        </p:nvSpPr>
        <p:spPr>
          <a:xfrm>
            <a:off x="640080" y="2194560"/>
            <a:ext cx="54866" cy="1097282"/>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360" name="TextBox 5"/>
          <p:cNvSpPr txBox="1"/>
          <p:nvPr/>
        </p:nvSpPr>
        <p:spPr>
          <a:xfrm>
            <a:off x="868678" y="2420111"/>
            <a:ext cx="10607044" cy="70104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30000"/>
              </a:lnSpc>
              <a:defRPr sz="2000">
                <a:solidFill>
                  <a:srgbClr val="F2F2F2"/>
                </a:solidFill>
                <a:latin typeface="Inter Regular"/>
                <a:ea typeface="Inter Regular"/>
                <a:cs typeface="Inter Regular"/>
                <a:sym typeface="Inter Regular"/>
              </a:defRPr>
            </a:pPr>
            <a:r>
              <a:rPr>
                <a:solidFill>
                  <a:srgbClr val="60D1FA"/>
                </a:solidFill>
                <a:latin typeface="Inter Bold"/>
                <a:ea typeface="Inter Bold"/>
                <a:cs typeface="Inter Bold"/>
                <a:sym typeface="Inter Bold"/>
              </a:rPr>
              <a:t>Dobra arhitektura</a:t>
            </a:r>
            <a:r>
              <a:t> smanjuje količinu konteksta potrebnog AI-u da ispravno obavi svoj posao.</a:t>
            </a:r>
          </a:p>
        </p:txBody>
      </p:sp>
    </p:spTree>
  </p:cSld>
  <p:clrMapOvr>
    <a:masterClrMapping/>
  </p:clrMapOvr>
  <p:transition xmlns:p14="http://schemas.microsoft.com/office/powerpoint/2010/main" spd="med" advClick="1"/>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64"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sz="3600">
                <a:solidFill>
                  <a:srgbClr val="F2F2F2"/>
                </a:solidFill>
                <a:latin typeface="Inter Bold"/>
                <a:ea typeface="Inter Bold"/>
                <a:cs typeface="Inter Bold"/>
                <a:sym typeface="Inter Bold"/>
              </a:defRPr>
            </a:pPr>
            <a:r>
              <a:t>Architecture </a:t>
            </a:r>
            <a:r>
              <a:rPr>
                <a:solidFill>
                  <a:srgbClr val="00D4FF"/>
                </a:solidFill>
              </a:rPr>
              <a:t>=</a:t>
            </a:r>
            <a:r>
              <a:t> Context Engineering</a:t>
            </a:r>
          </a:p>
        </p:txBody>
      </p:sp>
      <p:sp>
        <p:nvSpPr>
          <p:cNvPr id="365"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366" name="Rounded Rectangle 3"/>
          <p:cNvSpPr/>
          <p:nvPr/>
        </p:nvSpPr>
        <p:spPr>
          <a:xfrm>
            <a:off x="640080" y="2194560"/>
            <a:ext cx="10972801" cy="1097282"/>
          </a:xfrm>
          <a:prstGeom prst="roundRect">
            <a:avLst>
              <a:gd name="adj" fmla="val 6000"/>
            </a:avLst>
          </a:prstGeom>
          <a:solidFill>
            <a:srgbClr val="0E3A47"/>
          </a:solidFill>
          <a:ln w="12700">
            <a:miter lim="400000"/>
          </a:ln>
        </p:spPr>
        <p:txBody>
          <a:bodyPr lIns="45718" tIns="45718" rIns="45718" bIns="45718" anchor="ctr"/>
          <a:lstStyle/>
          <a:p>
            <a:pPr algn="ctr">
              <a:defRPr>
                <a:solidFill>
                  <a:srgbClr val="FFFFFF"/>
                </a:solidFill>
              </a:defRPr>
            </a:pPr>
          </a:p>
        </p:txBody>
      </p:sp>
      <p:sp>
        <p:nvSpPr>
          <p:cNvPr id="367" name="Rectangle 4"/>
          <p:cNvSpPr/>
          <p:nvPr/>
        </p:nvSpPr>
        <p:spPr>
          <a:xfrm>
            <a:off x="640080" y="2194560"/>
            <a:ext cx="54866" cy="1097282"/>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368" name="TextBox 5"/>
          <p:cNvSpPr txBox="1"/>
          <p:nvPr/>
        </p:nvSpPr>
        <p:spPr>
          <a:xfrm>
            <a:off x="868678" y="2420111"/>
            <a:ext cx="10607044" cy="70104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30000"/>
              </a:lnSpc>
              <a:defRPr sz="2000">
                <a:solidFill>
                  <a:srgbClr val="F2F2F2"/>
                </a:solidFill>
                <a:latin typeface="Inter Regular"/>
                <a:ea typeface="Inter Regular"/>
                <a:cs typeface="Inter Regular"/>
                <a:sym typeface="Inter Regular"/>
              </a:defRPr>
            </a:pPr>
            <a:r>
              <a:rPr>
                <a:solidFill>
                  <a:srgbClr val="60D1FA"/>
                </a:solidFill>
                <a:latin typeface="Inter Bold"/>
                <a:ea typeface="Inter Bold"/>
                <a:cs typeface="Inter Bold"/>
                <a:sym typeface="Inter Bold"/>
              </a:rPr>
              <a:t>Dobra arhitektura</a:t>
            </a:r>
            <a:r>
              <a:t> smanjuje količinu konteksta potrebnog AI-u da ispravno obavi svoj posao.</a:t>
            </a:r>
          </a:p>
        </p:txBody>
      </p:sp>
      <p:sp>
        <p:nvSpPr>
          <p:cNvPr id="369" name="TextBox 6"/>
          <p:cNvSpPr txBox="1"/>
          <p:nvPr/>
        </p:nvSpPr>
        <p:spPr>
          <a:xfrm>
            <a:off x="640079" y="3657600"/>
            <a:ext cx="10908794" cy="3048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50000"/>
              </a:lnSpc>
              <a:defRPr sz="2000">
                <a:solidFill>
                  <a:srgbClr val="F2F2F2"/>
                </a:solidFill>
                <a:latin typeface="Inter Regular"/>
                <a:ea typeface="Inter Regular"/>
                <a:cs typeface="Inter Regular"/>
                <a:sym typeface="Inter Regular"/>
              </a:defRPr>
            </a:lvl1pPr>
          </a:lstStyle>
          <a:p>
            <a:pPr/>
            <a:r>
              <a:t>Kako možemo izgraditi dobru arhitekturu?</a:t>
            </a:r>
          </a:p>
        </p:txBody>
      </p:sp>
    </p:spTree>
  </p:cSld>
  <p:clrMapOvr>
    <a:masterClrMapping/>
  </p:clrMapOvr>
  <p:transition xmlns:p14="http://schemas.microsoft.com/office/powerpoint/2010/main" spd="med" advClick="1"/>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73"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sz="3600">
                <a:solidFill>
                  <a:srgbClr val="F2F2F2"/>
                </a:solidFill>
                <a:latin typeface="Inter Bold"/>
                <a:ea typeface="Inter Bold"/>
                <a:cs typeface="Inter Bold"/>
                <a:sym typeface="Inter Bold"/>
              </a:defRPr>
            </a:pPr>
            <a:r>
              <a:t>Architecture </a:t>
            </a:r>
            <a:r>
              <a:rPr>
                <a:solidFill>
                  <a:srgbClr val="00D4FF"/>
                </a:solidFill>
              </a:rPr>
              <a:t>=</a:t>
            </a:r>
            <a:r>
              <a:t> Context Engineering</a:t>
            </a:r>
          </a:p>
        </p:txBody>
      </p:sp>
      <p:sp>
        <p:nvSpPr>
          <p:cNvPr id="374"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375" name="Rounded Rectangle 3"/>
          <p:cNvSpPr/>
          <p:nvPr/>
        </p:nvSpPr>
        <p:spPr>
          <a:xfrm>
            <a:off x="640080" y="2194560"/>
            <a:ext cx="10972801" cy="1097282"/>
          </a:xfrm>
          <a:prstGeom prst="roundRect">
            <a:avLst>
              <a:gd name="adj" fmla="val 6000"/>
            </a:avLst>
          </a:prstGeom>
          <a:solidFill>
            <a:srgbClr val="0E3A47"/>
          </a:solidFill>
          <a:ln w="12700">
            <a:miter lim="400000"/>
          </a:ln>
        </p:spPr>
        <p:txBody>
          <a:bodyPr lIns="45718" tIns="45718" rIns="45718" bIns="45718" anchor="ctr"/>
          <a:lstStyle/>
          <a:p>
            <a:pPr algn="ctr">
              <a:defRPr>
                <a:solidFill>
                  <a:srgbClr val="FFFFFF"/>
                </a:solidFill>
              </a:defRPr>
            </a:pPr>
          </a:p>
        </p:txBody>
      </p:sp>
      <p:sp>
        <p:nvSpPr>
          <p:cNvPr id="376" name="Rectangle 4"/>
          <p:cNvSpPr/>
          <p:nvPr/>
        </p:nvSpPr>
        <p:spPr>
          <a:xfrm>
            <a:off x="640080" y="2194560"/>
            <a:ext cx="54866" cy="1097282"/>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377" name="TextBox 5"/>
          <p:cNvSpPr txBox="1"/>
          <p:nvPr/>
        </p:nvSpPr>
        <p:spPr>
          <a:xfrm>
            <a:off x="868678" y="2420111"/>
            <a:ext cx="10607044" cy="70104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30000"/>
              </a:lnSpc>
              <a:defRPr sz="2000">
                <a:solidFill>
                  <a:srgbClr val="F2F2F2"/>
                </a:solidFill>
                <a:latin typeface="Inter Regular"/>
                <a:ea typeface="Inter Regular"/>
                <a:cs typeface="Inter Regular"/>
                <a:sym typeface="Inter Regular"/>
              </a:defRPr>
            </a:pPr>
            <a:r>
              <a:rPr>
                <a:solidFill>
                  <a:srgbClr val="60D1FA"/>
                </a:solidFill>
                <a:latin typeface="Inter Bold"/>
                <a:ea typeface="Inter Bold"/>
                <a:cs typeface="Inter Bold"/>
                <a:sym typeface="Inter Bold"/>
              </a:rPr>
              <a:t>Dobra arhitektura</a:t>
            </a:r>
            <a:r>
              <a:t> smanjuje količinu konteksta potrebnog AI-u da ispravno obavi svoj posao.</a:t>
            </a:r>
          </a:p>
        </p:txBody>
      </p:sp>
      <p:sp>
        <p:nvSpPr>
          <p:cNvPr id="378" name="TextBox 6"/>
          <p:cNvSpPr txBox="1"/>
          <p:nvPr/>
        </p:nvSpPr>
        <p:spPr>
          <a:xfrm>
            <a:off x="640079" y="3657600"/>
            <a:ext cx="10908794" cy="3048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50000"/>
              </a:lnSpc>
              <a:defRPr sz="2000">
                <a:solidFill>
                  <a:srgbClr val="F2F2F2"/>
                </a:solidFill>
                <a:latin typeface="Inter Regular"/>
                <a:ea typeface="Inter Regular"/>
                <a:cs typeface="Inter Regular"/>
                <a:sym typeface="Inter Regular"/>
              </a:defRPr>
            </a:lvl1pPr>
          </a:lstStyle>
          <a:p>
            <a:pPr/>
            <a:r>
              <a:t>Kako možemo izgraditi dobru arhitekturu? Primjenom prave metodologije.</a:t>
            </a:r>
          </a:p>
        </p:txBody>
      </p:sp>
    </p:spTree>
  </p:cSld>
  <p:clrMapOvr>
    <a:masterClrMapping/>
  </p:clrMapOvr>
  <p:transition xmlns:p14="http://schemas.microsoft.com/office/powerpoint/2010/main" spd="med" advClick="1"/>
</p:sld>
</file>

<file path=ppt/slides/slide2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82" name="TextBox 1"/>
          <p:cNvSpPr txBox="1"/>
          <p:nvPr/>
        </p:nvSpPr>
        <p:spPr>
          <a:xfrm>
            <a:off x="635253" y="3086100"/>
            <a:ext cx="10908794" cy="6858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lnSpc>
                <a:spcPct val="120000"/>
              </a:lnSpc>
              <a:defRPr sz="4400">
                <a:solidFill>
                  <a:srgbClr val="F2F2F2"/>
                </a:solidFill>
                <a:latin typeface="Inter Bold"/>
                <a:ea typeface="Inter Bold"/>
                <a:cs typeface="Inter Bold"/>
                <a:sym typeface="Inter Bold"/>
              </a:defRPr>
            </a:lvl1pPr>
          </a:lstStyle>
          <a:p>
            <a:pPr/>
            <a:r>
              <a:t>Feature-Sliced Design</a:t>
            </a:r>
          </a:p>
        </p:txBody>
      </p:sp>
    </p:spTree>
  </p:cSld>
  <p:clrMapOvr>
    <a:masterClrMapping/>
  </p:clrMapOvr>
  <p:transition xmlns:p14="http://schemas.microsoft.com/office/powerpoint/2010/main" spd="med" advClick="1"/>
</p:sld>
</file>

<file path=ppt/slides/slide2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86"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3600">
                <a:solidFill>
                  <a:srgbClr val="FFFFFF"/>
                </a:solidFill>
                <a:latin typeface="Inter Bold"/>
                <a:ea typeface="Inter Bold"/>
                <a:cs typeface="Inter Bold"/>
                <a:sym typeface="Inter Bold"/>
              </a:defRPr>
            </a:pPr>
            <a:r>
              <a:t>Što je </a:t>
            </a:r>
            <a:r>
              <a:rPr>
                <a:solidFill>
                  <a:srgbClr val="00D4FF"/>
                </a:solidFill>
              </a:rPr>
              <a:t>Feature-Sliced Design</a:t>
            </a:r>
            <a:r>
              <a:t>?</a:t>
            </a:r>
          </a:p>
        </p:txBody>
      </p:sp>
      <p:sp>
        <p:nvSpPr>
          <p:cNvPr id="387" name="Rectangle 3"/>
          <p:cNvSpPr/>
          <p:nvPr/>
        </p:nvSpPr>
        <p:spPr>
          <a:xfrm>
            <a:off x="640080" y="1282700"/>
            <a:ext cx="548641" cy="36577"/>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388" name="TextBox 4"/>
          <p:cNvSpPr txBox="1"/>
          <p:nvPr/>
        </p:nvSpPr>
        <p:spPr>
          <a:xfrm>
            <a:off x="635253" y="2340101"/>
            <a:ext cx="10908794" cy="533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a:solidFill>
                  <a:srgbClr val="FFFFFF"/>
                </a:solidFill>
                <a:latin typeface="Inter Regular"/>
                <a:ea typeface="Inter Regular"/>
                <a:cs typeface="Inter Regular"/>
                <a:sym typeface="Inter Regular"/>
              </a:defRPr>
            </a:pPr>
            <a:r>
              <a:t>FSD propisuje </a:t>
            </a:r>
            <a:r>
              <a:rPr>
                <a:solidFill>
                  <a:srgbClr val="00D4FF"/>
                </a:solidFill>
                <a:latin typeface="Inter Bold"/>
                <a:ea typeface="Inter Bold"/>
                <a:cs typeface="Inter Bold"/>
                <a:sym typeface="Inter Bold"/>
              </a:rPr>
              <a:t>kako organizirati kod</a:t>
            </a:r>
            <a:r>
              <a:t> u projektu - gdje stavljati datoteke, kako ih grupirati i kako smiju ovisiti jedni o drugima.</a:t>
            </a:r>
          </a:p>
        </p:txBody>
      </p:sp>
      <p:sp>
        <p:nvSpPr>
          <p:cNvPr id="389" name="TextBox 5"/>
          <p:cNvSpPr txBox="1"/>
          <p:nvPr/>
        </p:nvSpPr>
        <p:spPr>
          <a:xfrm>
            <a:off x="635253" y="1693060"/>
            <a:ext cx="10908794"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a:solidFill>
                  <a:srgbClr val="FFFFFF"/>
                </a:solidFill>
                <a:latin typeface="Inter Regular"/>
                <a:ea typeface="Inter Regular"/>
                <a:cs typeface="Inter Regular"/>
                <a:sym typeface="Inter Regular"/>
              </a:defRPr>
            </a:lvl1pPr>
          </a:lstStyle>
          <a:p>
            <a:pPr/>
            <a:r>
              <a:t>Arhitekturna metodologija za frontend projekte</a:t>
            </a:r>
          </a:p>
        </p:txBody>
      </p:sp>
    </p:spTree>
  </p:cSld>
  <p:clrMapOvr>
    <a:masterClrMapping/>
  </p:clrMapOvr>
  <p:transition xmlns:p14="http://schemas.microsoft.com/office/powerpoint/2010/main" spd="med" advClick="1"/>
</p:sld>
</file>

<file path=ppt/slides/slide2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93"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3600">
                <a:solidFill>
                  <a:srgbClr val="FFFFFF"/>
                </a:solidFill>
                <a:latin typeface="Inter Bold"/>
                <a:ea typeface="Inter Bold"/>
                <a:cs typeface="Inter Bold"/>
                <a:sym typeface="Inter Bold"/>
              </a:defRPr>
            </a:pPr>
            <a:r>
              <a:t>Što je </a:t>
            </a:r>
            <a:r>
              <a:rPr>
                <a:solidFill>
                  <a:srgbClr val="00D4FF"/>
                </a:solidFill>
              </a:rPr>
              <a:t>Feature-Sliced Design</a:t>
            </a:r>
            <a:r>
              <a:t>?</a:t>
            </a:r>
          </a:p>
        </p:txBody>
      </p:sp>
      <p:sp>
        <p:nvSpPr>
          <p:cNvPr id="394" name="Rectangle 3"/>
          <p:cNvSpPr/>
          <p:nvPr/>
        </p:nvSpPr>
        <p:spPr>
          <a:xfrm>
            <a:off x="640080" y="1282700"/>
            <a:ext cx="548641" cy="36577"/>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395" name="TextBox 4"/>
          <p:cNvSpPr txBox="1"/>
          <p:nvPr/>
        </p:nvSpPr>
        <p:spPr>
          <a:xfrm>
            <a:off x="635253" y="2340101"/>
            <a:ext cx="10908794" cy="533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a:solidFill>
                  <a:srgbClr val="FFFFFF"/>
                </a:solidFill>
                <a:latin typeface="Inter Regular"/>
                <a:ea typeface="Inter Regular"/>
                <a:cs typeface="Inter Regular"/>
                <a:sym typeface="Inter Regular"/>
              </a:defRPr>
            </a:pPr>
            <a:r>
              <a:t>FSD propisuje </a:t>
            </a:r>
            <a:r>
              <a:rPr>
                <a:solidFill>
                  <a:srgbClr val="00D4FF"/>
                </a:solidFill>
                <a:latin typeface="Inter Bold"/>
                <a:ea typeface="Inter Bold"/>
                <a:cs typeface="Inter Bold"/>
                <a:sym typeface="Inter Bold"/>
              </a:rPr>
              <a:t>kako organizirati kod</a:t>
            </a:r>
            <a:r>
              <a:t> u projektu - gdje stavljati datoteke, kako ih grupirati i kako smiju ovisiti jedni o drugima.</a:t>
            </a:r>
          </a:p>
        </p:txBody>
      </p:sp>
      <p:sp>
        <p:nvSpPr>
          <p:cNvPr id="396" name="TextBox 5"/>
          <p:cNvSpPr txBox="1"/>
          <p:nvPr/>
        </p:nvSpPr>
        <p:spPr>
          <a:xfrm>
            <a:off x="635253" y="3360928"/>
            <a:ext cx="10908794"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a:solidFill>
                  <a:srgbClr val="FFFFFF"/>
                </a:solidFill>
                <a:latin typeface="Inter Regular"/>
                <a:ea typeface="Inter Regular"/>
                <a:cs typeface="Inter Regular"/>
                <a:sym typeface="Inter Regular"/>
              </a:defRPr>
            </a:pPr>
            <a:r>
              <a:t>Cilj: kod koji je </a:t>
            </a:r>
            <a:r>
              <a:rPr>
                <a:solidFill>
                  <a:srgbClr val="00D4FF"/>
                </a:solidFill>
                <a:latin typeface="Inter Bold"/>
                <a:ea typeface="Inter Bold"/>
                <a:cs typeface="Inter Bold"/>
                <a:sym typeface="Inter Bold"/>
              </a:rPr>
              <a:t>predvidljiv</a:t>
            </a:r>
            <a:r>
              <a:t>, </a:t>
            </a:r>
            <a:r>
              <a:rPr>
                <a:solidFill>
                  <a:srgbClr val="00D4FF"/>
                </a:solidFill>
                <a:latin typeface="Inter Bold"/>
                <a:ea typeface="Inter Bold"/>
                <a:cs typeface="Inter Bold"/>
                <a:sym typeface="Inter Bold"/>
              </a:rPr>
              <a:t>izoliran</a:t>
            </a:r>
            <a:r>
              <a:t> i </a:t>
            </a:r>
            <a:r>
              <a:rPr>
                <a:solidFill>
                  <a:srgbClr val="00D4FF"/>
                </a:solidFill>
                <a:latin typeface="Inter Bold"/>
                <a:ea typeface="Inter Bold"/>
                <a:cs typeface="Inter Bold"/>
                <a:sym typeface="Inter Bold"/>
              </a:rPr>
              <a:t>razumljiv iz strukture</a:t>
            </a:r>
            <a:r>
              <a:t> - bez čitanja svake datoteke.</a:t>
            </a:r>
          </a:p>
        </p:txBody>
      </p:sp>
      <p:sp>
        <p:nvSpPr>
          <p:cNvPr id="397" name="TextBox 5"/>
          <p:cNvSpPr txBox="1"/>
          <p:nvPr/>
        </p:nvSpPr>
        <p:spPr>
          <a:xfrm>
            <a:off x="635253" y="1693060"/>
            <a:ext cx="10908794"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a:solidFill>
                  <a:srgbClr val="FFFFFF"/>
                </a:solidFill>
                <a:latin typeface="Inter Regular"/>
                <a:ea typeface="Inter Regular"/>
                <a:cs typeface="Inter Regular"/>
                <a:sym typeface="Inter Regular"/>
              </a:defRPr>
            </a:lvl1pPr>
          </a:lstStyle>
          <a:p>
            <a:pPr/>
            <a:r>
              <a:t>Arhitekturna metodologija za frontend projekte</a:t>
            </a:r>
          </a:p>
        </p:txBody>
      </p:sp>
    </p:spTree>
  </p:cSld>
  <p:clrMapOvr>
    <a:masterClrMapping/>
  </p:clrMapOvr>
  <p:transition xmlns:p14="http://schemas.microsoft.com/office/powerpoint/2010/main" spd="med" advClick="1"/>
</p:sld>
</file>

<file path=ppt/slides/slide2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01"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3600">
                <a:solidFill>
                  <a:srgbClr val="FFFFFF"/>
                </a:solidFill>
                <a:latin typeface="Inter Bold"/>
                <a:ea typeface="Inter Bold"/>
                <a:cs typeface="Inter Bold"/>
                <a:sym typeface="Inter Bold"/>
              </a:defRPr>
            </a:pPr>
            <a:r>
              <a:t>Što je </a:t>
            </a:r>
            <a:r>
              <a:rPr>
                <a:solidFill>
                  <a:srgbClr val="00D4FF"/>
                </a:solidFill>
              </a:rPr>
              <a:t>Feature-Sliced Design</a:t>
            </a:r>
            <a:r>
              <a:t>?</a:t>
            </a:r>
          </a:p>
        </p:txBody>
      </p:sp>
      <p:sp>
        <p:nvSpPr>
          <p:cNvPr id="402" name="Rectangle 3"/>
          <p:cNvSpPr/>
          <p:nvPr/>
        </p:nvSpPr>
        <p:spPr>
          <a:xfrm>
            <a:off x="640080" y="1282700"/>
            <a:ext cx="548641" cy="36577"/>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403" name="TextBox 4"/>
          <p:cNvSpPr txBox="1"/>
          <p:nvPr/>
        </p:nvSpPr>
        <p:spPr>
          <a:xfrm>
            <a:off x="635253" y="2340101"/>
            <a:ext cx="10908794" cy="533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a:solidFill>
                  <a:srgbClr val="FFFFFF"/>
                </a:solidFill>
                <a:latin typeface="Inter Regular"/>
                <a:ea typeface="Inter Regular"/>
                <a:cs typeface="Inter Regular"/>
                <a:sym typeface="Inter Regular"/>
              </a:defRPr>
            </a:pPr>
            <a:r>
              <a:t>FSD propisuje </a:t>
            </a:r>
            <a:r>
              <a:rPr>
                <a:solidFill>
                  <a:srgbClr val="00D4FF"/>
                </a:solidFill>
                <a:latin typeface="Inter Bold"/>
                <a:ea typeface="Inter Bold"/>
                <a:cs typeface="Inter Bold"/>
                <a:sym typeface="Inter Bold"/>
              </a:rPr>
              <a:t>kako organizirati kod</a:t>
            </a:r>
            <a:r>
              <a:t> u projektu - gdje stavljati datoteke, kako ih grupirati i kako smiju ovisiti jedni o drugima.</a:t>
            </a:r>
          </a:p>
        </p:txBody>
      </p:sp>
      <p:sp>
        <p:nvSpPr>
          <p:cNvPr id="404" name="TextBox 5"/>
          <p:cNvSpPr txBox="1"/>
          <p:nvPr/>
        </p:nvSpPr>
        <p:spPr>
          <a:xfrm>
            <a:off x="635253" y="3360928"/>
            <a:ext cx="10908794"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a:solidFill>
                  <a:srgbClr val="FFFFFF"/>
                </a:solidFill>
                <a:latin typeface="Inter Regular"/>
                <a:ea typeface="Inter Regular"/>
                <a:cs typeface="Inter Regular"/>
                <a:sym typeface="Inter Regular"/>
              </a:defRPr>
            </a:pPr>
            <a:r>
              <a:t>Cilj: kod koji je </a:t>
            </a:r>
            <a:r>
              <a:rPr>
                <a:solidFill>
                  <a:srgbClr val="00D4FF"/>
                </a:solidFill>
                <a:latin typeface="Inter Bold"/>
                <a:ea typeface="Inter Bold"/>
                <a:cs typeface="Inter Bold"/>
                <a:sym typeface="Inter Bold"/>
              </a:rPr>
              <a:t>predvidljiv</a:t>
            </a:r>
            <a:r>
              <a:t>, </a:t>
            </a:r>
            <a:r>
              <a:rPr>
                <a:solidFill>
                  <a:srgbClr val="00D4FF"/>
                </a:solidFill>
                <a:latin typeface="Inter Bold"/>
                <a:ea typeface="Inter Bold"/>
                <a:cs typeface="Inter Bold"/>
                <a:sym typeface="Inter Bold"/>
              </a:rPr>
              <a:t>izoliran</a:t>
            </a:r>
            <a:r>
              <a:t> i </a:t>
            </a:r>
            <a:r>
              <a:rPr>
                <a:solidFill>
                  <a:srgbClr val="00D4FF"/>
                </a:solidFill>
                <a:latin typeface="Inter Bold"/>
                <a:ea typeface="Inter Bold"/>
                <a:cs typeface="Inter Bold"/>
                <a:sym typeface="Inter Bold"/>
              </a:rPr>
              <a:t>razumljiv iz strukture</a:t>
            </a:r>
            <a:r>
              <a:t> - bez čitanja svake datoteke.</a:t>
            </a:r>
          </a:p>
        </p:txBody>
      </p:sp>
      <p:sp>
        <p:nvSpPr>
          <p:cNvPr id="405" name="Rounded Rectangle 6"/>
          <p:cNvSpPr/>
          <p:nvPr/>
        </p:nvSpPr>
        <p:spPr>
          <a:xfrm>
            <a:off x="640080" y="4389120"/>
            <a:ext cx="10972801" cy="899160"/>
          </a:xfrm>
          <a:prstGeom prst="roundRect">
            <a:avLst>
              <a:gd name="adj" fmla="val 14644"/>
            </a:avLst>
          </a:prstGeom>
          <a:solidFill>
            <a:srgbClr val="0E3A47"/>
          </a:solidFill>
          <a:ln w="12700">
            <a:miter lim="400000"/>
          </a:ln>
        </p:spPr>
        <p:txBody>
          <a:bodyPr lIns="45718" tIns="45718" rIns="45718" bIns="45718" anchor="ctr"/>
          <a:lstStyle/>
          <a:p>
            <a:pPr algn="ctr">
              <a:defRPr>
                <a:solidFill>
                  <a:srgbClr val="FFFFFF"/>
                </a:solidFill>
              </a:defRPr>
            </a:pPr>
          </a:p>
        </p:txBody>
      </p:sp>
      <p:sp>
        <p:nvSpPr>
          <p:cNvPr id="406" name="Rectangle 7"/>
          <p:cNvSpPr/>
          <p:nvPr/>
        </p:nvSpPr>
        <p:spPr>
          <a:xfrm>
            <a:off x="638970" y="4389120"/>
            <a:ext cx="55975" cy="899160"/>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407" name="TextBox 8"/>
          <p:cNvSpPr txBox="1"/>
          <p:nvPr/>
        </p:nvSpPr>
        <p:spPr>
          <a:xfrm>
            <a:off x="914400" y="4572000"/>
            <a:ext cx="10515600" cy="5334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a:solidFill>
                  <a:srgbClr val="FFFFFF"/>
                </a:solidFill>
                <a:latin typeface="Inter Regular"/>
                <a:ea typeface="Inter Regular"/>
                <a:cs typeface="Inter Regular"/>
                <a:sym typeface="Inter Regular"/>
              </a:defRPr>
            </a:pPr>
            <a:r>
              <a:t>Drugim riječima - metodologija dizajnirana za isti problem koji AI ima: </a:t>
            </a:r>
            <a:r>
              <a:rPr>
                <a:solidFill>
                  <a:srgbClr val="00D4FF"/>
                </a:solidFill>
                <a:latin typeface="Inter Bold"/>
                <a:ea typeface="Inter Bold"/>
                <a:cs typeface="Inter Bold"/>
                <a:sym typeface="Inter Bold"/>
              </a:rPr>
              <a:t>izgraditi mentalni model projekta brzo i bez prethodnog konteksta.</a:t>
            </a:r>
          </a:p>
        </p:txBody>
      </p:sp>
      <p:sp>
        <p:nvSpPr>
          <p:cNvPr id="408" name="TextBox 5"/>
          <p:cNvSpPr txBox="1"/>
          <p:nvPr/>
        </p:nvSpPr>
        <p:spPr>
          <a:xfrm>
            <a:off x="635253" y="1693060"/>
            <a:ext cx="10908794"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a:solidFill>
                  <a:srgbClr val="FFFFFF"/>
                </a:solidFill>
                <a:latin typeface="Inter Regular"/>
                <a:ea typeface="Inter Regular"/>
                <a:cs typeface="Inter Regular"/>
                <a:sym typeface="Inter Regular"/>
              </a:defRPr>
            </a:lvl1pPr>
          </a:lstStyle>
          <a:p>
            <a:pPr/>
            <a:r>
              <a:t>Arhitekturna metodologija za frontend projekte</a:t>
            </a:r>
          </a:p>
        </p:txBody>
      </p:sp>
    </p:spTree>
  </p:cSld>
  <p:clrMapOvr>
    <a:masterClrMapping/>
  </p:clrMapOvr>
  <p:transition xmlns:p14="http://schemas.microsoft.com/office/powerpoint/2010/main" spd="med" advClick="1"/>
</p:sld>
</file>

<file path=ppt/slides/slide3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412" name="FSD Diagram Dark - Layers.png" descr="FSD Diagram Dark - Layers.png"/>
          <p:cNvPicPr>
            <a:picLocks noChangeAspect="1"/>
          </p:cNvPicPr>
          <p:nvPr/>
        </p:nvPicPr>
        <p:blipFill>
          <a:blip r:embed="rId3">
            <a:extLst/>
          </a:blip>
          <a:stretch>
            <a:fillRect/>
          </a:stretch>
        </p:blipFill>
        <p:spPr>
          <a:xfrm>
            <a:off x="374650" y="0"/>
            <a:ext cx="11430000" cy="6858001"/>
          </a:xfrm>
          <a:prstGeom prst="rect">
            <a:avLst/>
          </a:prstGeom>
          <a:ln w="12700">
            <a:miter lim="400000"/>
          </a:ln>
        </p:spPr>
      </p:pic>
    </p:spTree>
  </p:cSld>
  <p:clrMapOvr>
    <a:masterClrMapping/>
  </p:clrMapOvr>
  <p:transition xmlns:p14="http://schemas.microsoft.com/office/powerpoint/2010/main" spd="med" advClick="1"/>
</p:sld>
</file>

<file path=ppt/slides/slide3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416" name="FSD Diagram Dark - Layers - Slices.png" descr="FSD Diagram Dark - Layers - Slices.png"/>
          <p:cNvPicPr>
            <a:picLocks noChangeAspect="1"/>
          </p:cNvPicPr>
          <p:nvPr/>
        </p:nvPicPr>
        <p:blipFill>
          <a:blip r:embed="rId3">
            <a:extLst/>
          </a:blip>
          <a:stretch>
            <a:fillRect/>
          </a:stretch>
        </p:blipFill>
        <p:spPr>
          <a:xfrm>
            <a:off x="374650" y="0"/>
            <a:ext cx="11430000" cy="6858001"/>
          </a:xfrm>
          <a:prstGeom prst="rect">
            <a:avLst/>
          </a:prstGeom>
          <a:ln w="12700">
            <a:miter lim="400000"/>
          </a:ln>
        </p:spPr>
      </p:pic>
    </p:spTree>
  </p:cSld>
  <p:clrMapOvr>
    <a:masterClrMapping/>
  </p:clrMapOvr>
  <p:transition xmlns:p14="http://schemas.microsoft.com/office/powerpoint/2010/main" spd="med" advClick="1"/>
</p:sld>
</file>

<file path=ppt/slides/slide3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420" name="FSD Diagram Dark.png" descr="FSD Diagram Dark.png"/>
          <p:cNvPicPr>
            <a:picLocks noChangeAspect="1"/>
          </p:cNvPicPr>
          <p:nvPr/>
        </p:nvPicPr>
        <p:blipFill>
          <a:blip r:embed="rId3">
            <a:extLst/>
          </a:blip>
          <a:stretch>
            <a:fillRect/>
          </a:stretch>
        </p:blipFill>
        <p:spPr>
          <a:xfrm>
            <a:off x="374650" y="0"/>
            <a:ext cx="11430000" cy="6858001"/>
          </a:xfrm>
          <a:prstGeom prst="rect">
            <a:avLst/>
          </a:prstGeom>
          <a:ln w="12700">
            <a:miter lim="400000"/>
          </a:ln>
        </p:spPr>
      </p:pic>
    </p:spTree>
  </p:cSld>
  <p:clrMapOvr>
    <a:masterClrMapping/>
  </p:clrMapOvr>
  <p:transition xmlns:p14="http://schemas.microsoft.com/office/powerpoint/2010/main" spd="med" advClick="1"/>
</p:sld>
</file>

<file path=ppt/slides/slide3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24"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3600">
                <a:solidFill>
                  <a:srgbClr val="FFFFFF"/>
                </a:solidFill>
                <a:latin typeface="Inter Bold"/>
                <a:ea typeface="Inter Bold"/>
                <a:cs typeface="Inter Bold"/>
                <a:sym typeface="Inter Bold"/>
              </a:defRPr>
            </a:pPr>
            <a:r>
              <a:t>Pravilo #1: </a:t>
            </a:r>
            <a:r>
              <a:rPr>
                <a:solidFill>
                  <a:srgbClr val="00D4FF"/>
                </a:solidFill>
              </a:rPr>
              <a:t>Layers</a:t>
            </a:r>
          </a:p>
        </p:txBody>
      </p:sp>
      <p:sp>
        <p:nvSpPr>
          <p:cNvPr id="425" name="TextBox 2"/>
          <p:cNvSpPr txBox="1"/>
          <p:nvPr/>
        </p:nvSpPr>
        <p:spPr>
          <a:xfrm>
            <a:off x="640079" y="1371600"/>
            <a:ext cx="10908794" cy="2159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888888"/>
                </a:solidFill>
                <a:latin typeface="Inter Regular"/>
                <a:ea typeface="Inter Regular"/>
                <a:cs typeface="Inter Regular"/>
                <a:sym typeface="Inter Regular"/>
              </a:defRPr>
            </a:lvl1pPr>
          </a:lstStyle>
          <a:p>
            <a:pPr/>
            <a:r>
              <a:t>Hijerarhija odgovornosti, fiksni redoslijed</a:t>
            </a:r>
          </a:p>
        </p:txBody>
      </p:sp>
      <p:sp>
        <p:nvSpPr>
          <p:cNvPr id="426" name="Rectangle 3"/>
          <p:cNvSpPr/>
          <p:nvPr/>
        </p:nvSpPr>
        <p:spPr>
          <a:xfrm>
            <a:off x="640080" y="1691639"/>
            <a:ext cx="548641" cy="36577"/>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427" name="TextBox 6"/>
          <p:cNvSpPr txBox="1"/>
          <p:nvPr/>
        </p:nvSpPr>
        <p:spPr>
          <a:xfrm>
            <a:off x="6039510" y="2068633"/>
            <a:ext cx="512064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a:solidFill>
                  <a:srgbClr val="00D4FF"/>
                </a:solidFill>
                <a:latin typeface="Inter Bold"/>
                <a:ea typeface="Inter Bold"/>
                <a:cs typeface="Inter Bold"/>
                <a:sym typeface="Inter Bold"/>
              </a:defRPr>
            </a:lvl1pPr>
          </a:lstStyle>
          <a:p>
            <a:pPr/>
            <a:r>
              <a:t>Pravilo importa</a:t>
            </a:r>
          </a:p>
        </p:txBody>
      </p:sp>
      <p:sp>
        <p:nvSpPr>
          <p:cNvPr id="428" name="TextBox 7"/>
          <p:cNvSpPr txBox="1"/>
          <p:nvPr/>
        </p:nvSpPr>
        <p:spPr>
          <a:xfrm>
            <a:off x="6039510" y="2434393"/>
            <a:ext cx="5120641" cy="2159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400">
                <a:solidFill>
                  <a:srgbClr val="FFFFFF"/>
                </a:solidFill>
                <a:latin typeface="Inter Regular"/>
                <a:ea typeface="Inter Regular"/>
                <a:cs typeface="Inter Regular"/>
                <a:sym typeface="Inter Regular"/>
              </a:defRPr>
            </a:pPr>
            <a:r>
              <a:t>Sloj smije importati </a:t>
            </a:r>
            <a:r>
              <a:rPr>
                <a:solidFill>
                  <a:srgbClr val="2ED573"/>
                </a:solidFill>
                <a:latin typeface="Inter Bold"/>
                <a:ea typeface="Inter Bold"/>
                <a:cs typeface="Inter Bold"/>
                <a:sym typeface="Inter Bold"/>
              </a:rPr>
              <a:t>samo iz slojeva ispod sebe.</a:t>
            </a:r>
          </a:p>
        </p:txBody>
      </p:sp>
      <p:grpSp>
        <p:nvGrpSpPr>
          <p:cNvPr id="431" name="Rounded Rectangle 8"/>
          <p:cNvGrpSpPr/>
          <p:nvPr/>
        </p:nvGrpSpPr>
        <p:grpSpPr>
          <a:xfrm>
            <a:off x="6027096" y="2846214"/>
            <a:ext cx="894081" cy="470569"/>
            <a:chOff x="0" y="0"/>
            <a:chExt cx="894080" cy="470568"/>
          </a:xfrm>
        </p:grpSpPr>
        <p:sp>
          <p:nvSpPr>
            <p:cNvPr id="429" name="Rounded Rectangle"/>
            <p:cNvSpPr/>
            <p:nvPr/>
          </p:nvSpPr>
          <p:spPr>
            <a:xfrm>
              <a:off x="0" y="0"/>
              <a:ext cx="894081" cy="470569"/>
            </a:xfrm>
            <a:prstGeom prst="roundRect">
              <a:avLst>
                <a:gd name="adj" fmla="val 18000"/>
              </a:avLst>
            </a:prstGeom>
            <a:solidFill>
              <a:srgbClr val="1A1A2E"/>
            </a:solidFill>
            <a:ln w="1587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430" name="app"/>
            <p:cNvSpPr txBox="1"/>
            <p:nvPr/>
          </p:nvSpPr>
          <p:spPr>
            <a:xfrm>
              <a:off x="32978" y="91499"/>
              <a:ext cx="828124" cy="28757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noAutofit/>
            </a:bodyPr>
            <a:lstStyle/>
            <a:p>
              <a:pPr lvl="1" algn="ctr">
                <a:defRPr sz="1600">
                  <a:solidFill>
                    <a:srgbClr val="FFFFFF"/>
                  </a:solidFill>
                  <a:latin typeface="JetBrains Mono Bold"/>
                  <a:ea typeface="JetBrains Mono Bold"/>
                  <a:cs typeface="JetBrains Mono Bold"/>
                  <a:sym typeface="JetBrains Mono Bold"/>
                </a:defRPr>
              </a:pPr>
              <a:r>
                <a:t>app</a:t>
              </a:r>
            </a:p>
          </p:txBody>
        </p:sp>
      </p:grpSp>
      <p:sp>
        <p:nvSpPr>
          <p:cNvPr id="432" name="TextBox 9"/>
          <p:cNvSpPr txBox="1"/>
          <p:nvPr/>
        </p:nvSpPr>
        <p:spPr>
          <a:xfrm>
            <a:off x="6895775" y="2891933"/>
            <a:ext cx="274321" cy="368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2400">
                <a:solidFill>
                  <a:srgbClr val="00D4FF"/>
                </a:solidFill>
                <a:latin typeface="Inter Bold"/>
                <a:ea typeface="Inter Bold"/>
                <a:cs typeface="Inter Bold"/>
                <a:sym typeface="Inter Bold"/>
              </a:defRPr>
            </a:lvl1pPr>
          </a:lstStyle>
          <a:p>
            <a:pPr/>
            <a:r>
              <a:t>→</a:t>
            </a:r>
          </a:p>
        </p:txBody>
      </p:sp>
      <p:grpSp>
        <p:nvGrpSpPr>
          <p:cNvPr id="435" name="Rounded Rectangle 10"/>
          <p:cNvGrpSpPr/>
          <p:nvPr/>
        </p:nvGrpSpPr>
        <p:grpSpPr>
          <a:xfrm>
            <a:off x="7170095" y="2846214"/>
            <a:ext cx="894081" cy="470569"/>
            <a:chOff x="0" y="0"/>
            <a:chExt cx="894080" cy="470568"/>
          </a:xfrm>
        </p:grpSpPr>
        <p:sp>
          <p:nvSpPr>
            <p:cNvPr id="433" name="Rounded Rectangle"/>
            <p:cNvSpPr/>
            <p:nvPr/>
          </p:nvSpPr>
          <p:spPr>
            <a:xfrm>
              <a:off x="0" y="0"/>
              <a:ext cx="894081" cy="470569"/>
            </a:xfrm>
            <a:prstGeom prst="roundRect">
              <a:avLst>
                <a:gd name="adj" fmla="val 18000"/>
              </a:avLst>
            </a:prstGeom>
            <a:solidFill>
              <a:srgbClr val="1A1A2E"/>
            </a:solidFill>
            <a:ln w="1587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434" name="pages"/>
            <p:cNvSpPr txBox="1"/>
            <p:nvPr/>
          </p:nvSpPr>
          <p:spPr>
            <a:xfrm>
              <a:off x="32978" y="91499"/>
              <a:ext cx="828124" cy="28757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noAutofit/>
            </a:bodyPr>
            <a:lstStyle>
              <a:lvl1pPr algn="ctr">
                <a:defRPr sz="1600">
                  <a:solidFill>
                    <a:srgbClr val="FFFFFF"/>
                  </a:solidFill>
                  <a:latin typeface="JetBrains Mono Bold"/>
                  <a:ea typeface="JetBrains Mono Bold"/>
                  <a:cs typeface="JetBrains Mono Bold"/>
                  <a:sym typeface="JetBrains Mono Bold"/>
                </a:defRPr>
              </a:lvl1pPr>
            </a:lstStyle>
            <a:p>
              <a:pPr/>
              <a:r>
                <a:t>pages</a:t>
              </a:r>
            </a:p>
          </p:txBody>
        </p:sp>
      </p:grpSp>
      <p:sp>
        <p:nvSpPr>
          <p:cNvPr id="436" name="TextBox 11"/>
          <p:cNvSpPr txBox="1"/>
          <p:nvPr/>
        </p:nvSpPr>
        <p:spPr>
          <a:xfrm>
            <a:off x="8038775" y="2891933"/>
            <a:ext cx="274321" cy="368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2400">
                <a:solidFill>
                  <a:srgbClr val="00D4FF"/>
                </a:solidFill>
                <a:latin typeface="Inter Bold"/>
                <a:ea typeface="Inter Bold"/>
                <a:cs typeface="Inter Bold"/>
                <a:sym typeface="Inter Bold"/>
              </a:defRPr>
            </a:lvl1pPr>
          </a:lstStyle>
          <a:p>
            <a:pPr/>
            <a:r>
              <a:t>→</a:t>
            </a:r>
          </a:p>
        </p:txBody>
      </p:sp>
      <p:grpSp>
        <p:nvGrpSpPr>
          <p:cNvPr id="439" name="Rounded Rectangle 12"/>
          <p:cNvGrpSpPr/>
          <p:nvPr/>
        </p:nvGrpSpPr>
        <p:grpSpPr>
          <a:xfrm>
            <a:off x="8313095" y="2846214"/>
            <a:ext cx="894081" cy="470569"/>
            <a:chOff x="0" y="0"/>
            <a:chExt cx="894080" cy="470568"/>
          </a:xfrm>
        </p:grpSpPr>
        <p:sp>
          <p:nvSpPr>
            <p:cNvPr id="437" name="Rounded Rectangle"/>
            <p:cNvSpPr/>
            <p:nvPr/>
          </p:nvSpPr>
          <p:spPr>
            <a:xfrm>
              <a:off x="0" y="0"/>
              <a:ext cx="894081" cy="470569"/>
            </a:xfrm>
            <a:prstGeom prst="roundRect">
              <a:avLst>
                <a:gd name="adj" fmla="val 18000"/>
              </a:avLst>
            </a:prstGeom>
            <a:solidFill>
              <a:srgbClr val="1A1A2E"/>
            </a:solidFill>
            <a:ln w="1587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438" name="..."/>
            <p:cNvSpPr txBox="1"/>
            <p:nvPr/>
          </p:nvSpPr>
          <p:spPr>
            <a:xfrm>
              <a:off x="32978" y="91499"/>
              <a:ext cx="828124" cy="28757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noAutofit/>
            </a:bodyPr>
            <a:lstStyle>
              <a:lvl1pPr algn="ctr">
                <a:defRPr sz="1600">
                  <a:solidFill>
                    <a:srgbClr val="FFFFFF"/>
                  </a:solidFill>
                  <a:latin typeface="JetBrains Mono Bold"/>
                  <a:ea typeface="JetBrains Mono Bold"/>
                  <a:cs typeface="JetBrains Mono Bold"/>
                  <a:sym typeface="JetBrains Mono Bold"/>
                </a:defRPr>
              </a:lvl1pPr>
            </a:lstStyle>
            <a:p>
              <a:pPr/>
              <a:r>
                <a:t>...</a:t>
              </a:r>
            </a:p>
          </p:txBody>
        </p:sp>
      </p:grpSp>
      <p:sp>
        <p:nvSpPr>
          <p:cNvPr id="440" name="TextBox 13"/>
          <p:cNvSpPr txBox="1"/>
          <p:nvPr/>
        </p:nvSpPr>
        <p:spPr>
          <a:xfrm>
            <a:off x="9181775" y="2891933"/>
            <a:ext cx="274321" cy="368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2400">
                <a:solidFill>
                  <a:srgbClr val="00D4FF"/>
                </a:solidFill>
                <a:latin typeface="Inter Bold"/>
                <a:ea typeface="Inter Bold"/>
                <a:cs typeface="Inter Bold"/>
                <a:sym typeface="Inter Bold"/>
              </a:defRPr>
            </a:lvl1pPr>
          </a:lstStyle>
          <a:p>
            <a:pPr/>
            <a:r>
              <a:t>→</a:t>
            </a:r>
          </a:p>
        </p:txBody>
      </p:sp>
      <p:grpSp>
        <p:nvGrpSpPr>
          <p:cNvPr id="443" name="Rounded Rectangle 14"/>
          <p:cNvGrpSpPr/>
          <p:nvPr/>
        </p:nvGrpSpPr>
        <p:grpSpPr>
          <a:xfrm>
            <a:off x="9456095" y="2846214"/>
            <a:ext cx="894081" cy="470569"/>
            <a:chOff x="0" y="0"/>
            <a:chExt cx="894080" cy="470568"/>
          </a:xfrm>
        </p:grpSpPr>
        <p:sp>
          <p:nvSpPr>
            <p:cNvPr id="441" name="Rounded Rectangle"/>
            <p:cNvSpPr/>
            <p:nvPr/>
          </p:nvSpPr>
          <p:spPr>
            <a:xfrm>
              <a:off x="0" y="0"/>
              <a:ext cx="894081" cy="470569"/>
            </a:xfrm>
            <a:prstGeom prst="roundRect">
              <a:avLst>
                <a:gd name="adj" fmla="val 18000"/>
              </a:avLst>
            </a:prstGeom>
            <a:solidFill>
              <a:srgbClr val="1A1A2E"/>
            </a:solidFill>
            <a:ln w="1587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442" name="shared"/>
            <p:cNvSpPr txBox="1"/>
            <p:nvPr/>
          </p:nvSpPr>
          <p:spPr>
            <a:xfrm>
              <a:off x="32978" y="91499"/>
              <a:ext cx="828124" cy="28757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noAutofit/>
            </a:bodyPr>
            <a:lstStyle>
              <a:lvl1pPr algn="ctr">
                <a:defRPr sz="1600">
                  <a:solidFill>
                    <a:srgbClr val="FFFFFF"/>
                  </a:solidFill>
                  <a:latin typeface="JetBrains Mono Bold"/>
                  <a:ea typeface="JetBrains Mono Bold"/>
                  <a:cs typeface="JetBrains Mono Bold"/>
                  <a:sym typeface="JetBrains Mono Bold"/>
                </a:defRPr>
              </a:lvl1pPr>
            </a:lstStyle>
            <a:p>
              <a:pPr/>
              <a:r>
                <a:t>shared</a:t>
              </a:r>
            </a:p>
          </p:txBody>
        </p:sp>
      </p:grpSp>
      <p:pic>
        <p:nvPicPr>
          <p:cNvPr id="444" name="Folders Graphic.png" descr="Folders Graphic.png"/>
          <p:cNvPicPr>
            <a:picLocks noChangeAspect="1"/>
          </p:cNvPicPr>
          <p:nvPr/>
        </p:nvPicPr>
        <p:blipFill>
          <a:blip r:embed="rId3">
            <a:extLst/>
          </a:blip>
          <a:stretch>
            <a:fillRect/>
          </a:stretch>
        </p:blipFill>
        <p:spPr>
          <a:xfrm>
            <a:off x="344664" y="1828066"/>
            <a:ext cx="3421832" cy="4516817"/>
          </a:xfrm>
          <a:prstGeom prst="rect">
            <a:avLst/>
          </a:prstGeom>
          <a:ln w="12700">
            <a:miter lim="400000"/>
          </a:ln>
        </p:spPr>
      </p:pic>
    </p:spTree>
  </p:cSld>
  <p:clrMapOvr>
    <a:masterClrMapping/>
  </p:clrMapOvr>
  <p:transition xmlns:p14="http://schemas.microsoft.com/office/powerpoint/2010/main" spd="med" advClick="1"/>
</p:sld>
</file>

<file path=ppt/slides/slide3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48"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3600">
                <a:solidFill>
                  <a:srgbClr val="FFFFFF"/>
                </a:solidFill>
                <a:latin typeface="Inter Bold"/>
                <a:ea typeface="Inter Bold"/>
                <a:cs typeface="Inter Bold"/>
                <a:sym typeface="Inter Bold"/>
              </a:defRPr>
            </a:pPr>
            <a:r>
              <a:t>Pravilo #1: </a:t>
            </a:r>
            <a:r>
              <a:rPr>
                <a:solidFill>
                  <a:srgbClr val="00D4FF"/>
                </a:solidFill>
              </a:rPr>
              <a:t>Layers</a:t>
            </a:r>
          </a:p>
        </p:txBody>
      </p:sp>
      <p:sp>
        <p:nvSpPr>
          <p:cNvPr id="449" name="TextBox 2"/>
          <p:cNvSpPr txBox="1"/>
          <p:nvPr/>
        </p:nvSpPr>
        <p:spPr>
          <a:xfrm>
            <a:off x="640079" y="1371600"/>
            <a:ext cx="10908794" cy="2159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888888"/>
                </a:solidFill>
                <a:latin typeface="Inter Regular"/>
                <a:ea typeface="Inter Regular"/>
                <a:cs typeface="Inter Regular"/>
                <a:sym typeface="Inter Regular"/>
              </a:defRPr>
            </a:lvl1pPr>
          </a:lstStyle>
          <a:p>
            <a:pPr/>
            <a:r>
              <a:t>Hijerarhija odgovornosti, fiksni redoslijed</a:t>
            </a:r>
          </a:p>
        </p:txBody>
      </p:sp>
      <p:sp>
        <p:nvSpPr>
          <p:cNvPr id="450" name="Rectangle 3"/>
          <p:cNvSpPr/>
          <p:nvPr/>
        </p:nvSpPr>
        <p:spPr>
          <a:xfrm>
            <a:off x="640080" y="1691639"/>
            <a:ext cx="548641" cy="36577"/>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451" name="TextBox 6"/>
          <p:cNvSpPr txBox="1"/>
          <p:nvPr/>
        </p:nvSpPr>
        <p:spPr>
          <a:xfrm>
            <a:off x="6039510" y="2068633"/>
            <a:ext cx="512064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a:solidFill>
                  <a:srgbClr val="00D4FF"/>
                </a:solidFill>
                <a:latin typeface="Inter Bold"/>
                <a:ea typeface="Inter Bold"/>
                <a:cs typeface="Inter Bold"/>
                <a:sym typeface="Inter Bold"/>
              </a:defRPr>
            </a:lvl1pPr>
          </a:lstStyle>
          <a:p>
            <a:pPr/>
            <a:r>
              <a:t>Pravilo importa</a:t>
            </a:r>
          </a:p>
        </p:txBody>
      </p:sp>
      <p:sp>
        <p:nvSpPr>
          <p:cNvPr id="452" name="TextBox 7"/>
          <p:cNvSpPr txBox="1"/>
          <p:nvPr/>
        </p:nvSpPr>
        <p:spPr>
          <a:xfrm>
            <a:off x="6039510" y="2434393"/>
            <a:ext cx="5120641" cy="2159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400">
                <a:solidFill>
                  <a:srgbClr val="FFFFFF"/>
                </a:solidFill>
                <a:latin typeface="Inter Regular"/>
                <a:ea typeface="Inter Regular"/>
                <a:cs typeface="Inter Regular"/>
                <a:sym typeface="Inter Regular"/>
              </a:defRPr>
            </a:pPr>
            <a:r>
              <a:t>Sloj smije importati </a:t>
            </a:r>
            <a:r>
              <a:rPr>
                <a:solidFill>
                  <a:srgbClr val="2ED573"/>
                </a:solidFill>
                <a:latin typeface="Inter Bold"/>
                <a:ea typeface="Inter Bold"/>
                <a:cs typeface="Inter Bold"/>
                <a:sym typeface="Inter Bold"/>
              </a:rPr>
              <a:t>samo iz slojeva ispod sebe.</a:t>
            </a:r>
          </a:p>
        </p:txBody>
      </p:sp>
      <p:grpSp>
        <p:nvGrpSpPr>
          <p:cNvPr id="455" name="Rounded Rectangle 8"/>
          <p:cNvGrpSpPr/>
          <p:nvPr/>
        </p:nvGrpSpPr>
        <p:grpSpPr>
          <a:xfrm>
            <a:off x="6027096" y="2846214"/>
            <a:ext cx="894081" cy="470569"/>
            <a:chOff x="0" y="0"/>
            <a:chExt cx="894080" cy="470568"/>
          </a:xfrm>
        </p:grpSpPr>
        <p:sp>
          <p:nvSpPr>
            <p:cNvPr id="453" name="Rounded Rectangle"/>
            <p:cNvSpPr/>
            <p:nvPr/>
          </p:nvSpPr>
          <p:spPr>
            <a:xfrm>
              <a:off x="0" y="0"/>
              <a:ext cx="894081" cy="470569"/>
            </a:xfrm>
            <a:prstGeom prst="roundRect">
              <a:avLst>
                <a:gd name="adj" fmla="val 18000"/>
              </a:avLst>
            </a:prstGeom>
            <a:solidFill>
              <a:srgbClr val="1A1A2E"/>
            </a:solidFill>
            <a:ln w="1587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454" name="app"/>
            <p:cNvSpPr txBox="1"/>
            <p:nvPr/>
          </p:nvSpPr>
          <p:spPr>
            <a:xfrm>
              <a:off x="32978" y="91499"/>
              <a:ext cx="828124" cy="28757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noAutofit/>
            </a:bodyPr>
            <a:lstStyle/>
            <a:p>
              <a:pPr lvl="1" algn="ctr">
                <a:defRPr sz="1600">
                  <a:solidFill>
                    <a:srgbClr val="FFFFFF"/>
                  </a:solidFill>
                  <a:latin typeface="JetBrains Mono Bold"/>
                  <a:ea typeface="JetBrains Mono Bold"/>
                  <a:cs typeface="JetBrains Mono Bold"/>
                  <a:sym typeface="JetBrains Mono Bold"/>
                </a:defRPr>
              </a:pPr>
              <a:r>
                <a:t>app</a:t>
              </a:r>
            </a:p>
          </p:txBody>
        </p:sp>
      </p:grpSp>
      <p:sp>
        <p:nvSpPr>
          <p:cNvPr id="456" name="TextBox 9"/>
          <p:cNvSpPr txBox="1"/>
          <p:nvPr/>
        </p:nvSpPr>
        <p:spPr>
          <a:xfrm>
            <a:off x="6895775" y="2891933"/>
            <a:ext cx="274321" cy="368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2400">
                <a:solidFill>
                  <a:srgbClr val="00D4FF"/>
                </a:solidFill>
                <a:latin typeface="Inter Bold"/>
                <a:ea typeface="Inter Bold"/>
                <a:cs typeface="Inter Bold"/>
                <a:sym typeface="Inter Bold"/>
              </a:defRPr>
            </a:lvl1pPr>
          </a:lstStyle>
          <a:p>
            <a:pPr/>
            <a:r>
              <a:t>→</a:t>
            </a:r>
          </a:p>
        </p:txBody>
      </p:sp>
      <p:grpSp>
        <p:nvGrpSpPr>
          <p:cNvPr id="459" name="Rounded Rectangle 10"/>
          <p:cNvGrpSpPr/>
          <p:nvPr/>
        </p:nvGrpSpPr>
        <p:grpSpPr>
          <a:xfrm>
            <a:off x="7170095" y="2846214"/>
            <a:ext cx="894081" cy="470569"/>
            <a:chOff x="0" y="0"/>
            <a:chExt cx="894080" cy="470568"/>
          </a:xfrm>
        </p:grpSpPr>
        <p:sp>
          <p:nvSpPr>
            <p:cNvPr id="457" name="Rounded Rectangle"/>
            <p:cNvSpPr/>
            <p:nvPr/>
          </p:nvSpPr>
          <p:spPr>
            <a:xfrm>
              <a:off x="0" y="0"/>
              <a:ext cx="894081" cy="470569"/>
            </a:xfrm>
            <a:prstGeom prst="roundRect">
              <a:avLst>
                <a:gd name="adj" fmla="val 18000"/>
              </a:avLst>
            </a:prstGeom>
            <a:solidFill>
              <a:srgbClr val="1A1A2E"/>
            </a:solidFill>
            <a:ln w="1587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458" name="pages"/>
            <p:cNvSpPr txBox="1"/>
            <p:nvPr/>
          </p:nvSpPr>
          <p:spPr>
            <a:xfrm>
              <a:off x="32978" y="91499"/>
              <a:ext cx="828124" cy="28757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noAutofit/>
            </a:bodyPr>
            <a:lstStyle>
              <a:lvl1pPr algn="ctr">
                <a:defRPr sz="1600">
                  <a:solidFill>
                    <a:srgbClr val="FFFFFF"/>
                  </a:solidFill>
                  <a:latin typeface="JetBrains Mono Bold"/>
                  <a:ea typeface="JetBrains Mono Bold"/>
                  <a:cs typeface="JetBrains Mono Bold"/>
                  <a:sym typeface="JetBrains Mono Bold"/>
                </a:defRPr>
              </a:lvl1pPr>
            </a:lstStyle>
            <a:p>
              <a:pPr/>
              <a:r>
                <a:t>pages</a:t>
              </a:r>
            </a:p>
          </p:txBody>
        </p:sp>
      </p:grpSp>
      <p:sp>
        <p:nvSpPr>
          <p:cNvPr id="460" name="TextBox 11"/>
          <p:cNvSpPr txBox="1"/>
          <p:nvPr/>
        </p:nvSpPr>
        <p:spPr>
          <a:xfrm>
            <a:off x="8038775" y="2891933"/>
            <a:ext cx="274321" cy="368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2400">
                <a:solidFill>
                  <a:srgbClr val="00D4FF"/>
                </a:solidFill>
                <a:latin typeface="Inter Bold"/>
                <a:ea typeface="Inter Bold"/>
                <a:cs typeface="Inter Bold"/>
                <a:sym typeface="Inter Bold"/>
              </a:defRPr>
            </a:lvl1pPr>
          </a:lstStyle>
          <a:p>
            <a:pPr/>
            <a:r>
              <a:t>→</a:t>
            </a:r>
          </a:p>
        </p:txBody>
      </p:sp>
      <p:grpSp>
        <p:nvGrpSpPr>
          <p:cNvPr id="463" name="Rounded Rectangle 12"/>
          <p:cNvGrpSpPr/>
          <p:nvPr/>
        </p:nvGrpSpPr>
        <p:grpSpPr>
          <a:xfrm>
            <a:off x="8313095" y="2846214"/>
            <a:ext cx="894081" cy="470569"/>
            <a:chOff x="0" y="0"/>
            <a:chExt cx="894080" cy="470568"/>
          </a:xfrm>
        </p:grpSpPr>
        <p:sp>
          <p:nvSpPr>
            <p:cNvPr id="461" name="Rounded Rectangle"/>
            <p:cNvSpPr/>
            <p:nvPr/>
          </p:nvSpPr>
          <p:spPr>
            <a:xfrm>
              <a:off x="0" y="0"/>
              <a:ext cx="894081" cy="470569"/>
            </a:xfrm>
            <a:prstGeom prst="roundRect">
              <a:avLst>
                <a:gd name="adj" fmla="val 18000"/>
              </a:avLst>
            </a:prstGeom>
            <a:solidFill>
              <a:srgbClr val="1A1A2E"/>
            </a:solidFill>
            <a:ln w="1587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462" name="..."/>
            <p:cNvSpPr txBox="1"/>
            <p:nvPr/>
          </p:nvSpPr>
          <p:spPr>
            <a:xfrm>
              <a:off x="32978" y="91499"/>
              <a:ext cx="828124" cy="28757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noAutofit/>
            </a:bodyPr>
            <a:lstStyle>
              <a:lvl1pPr algn="ctr">
                <a:defRPr sz="1600">
                  <a:solidFill>
                    <a:srgbClr val="FFFFFF"/>
                  </a:solidFill>
                  <a:latin typeface="JetBrains Mono Bold"/>
                  <a:ea typeface="JetBrains Mono Bold"/>
                  <a:cs typeface="JetBrains Mono Bold"/>
                  <a:sym typeface="JetBrains Mono Bold"/>
                </a:defRPr>
              </a:lvl1pPr>
            </a:lstStyle>
            <a:p>
              <a:pPr/>
              <a:r>
                <a:t>...</a:t>
              </a:r>
            </a:p>
          </p:txBody>
        </p:sp>
      </p:grpSp>
      <p:sp>
        <p:nvSpPr>
          <p:cNvPr id="464" name="TextBox 13"/>
          <p:cNvSpPr txBox="1"/>
          <p:nvPr/>
        </p:nvSpPr>
        <p:spPr>
          <a:xfrm>
            <a:off x="9181775" y="2891933"/>
            <a:ext cx="274321" cy="368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2400">
                <a:solidFill>
                  <a:srgbClr val="00D4FF"/>
                </a:solidFill>
                <a:latin typeface="Inter Bold"/>
                <a:ea typeface="Inter Bold"/>
                <a:cs typeface="Inter Bold"/>
                <a:sym typeface="Inter Bold"/>
              </a:defRPr>
            </a:lvl1pPr>
          </a:lstStyle>
          <a:p>
            <a:pPr/>
            <a:r>
              <a:t>→</a:t>
            </a:r>
          </a:p>
        </p:txBody>
      </p:sp>
      <p:grpSp>
        <p:nvGrpSpPr>
          <p:cNvPr id="467" name="Rounded Rectangle 14"/>
          <p:cNvGrpSpPr/>
          <p:nvPr/>
        </p:nvGrpSpPr>
        <p:grpSpPr>
          <a:xfrm>
            <a:off x="9456095" y="2846214"/>
            <a:ext cx="894081" cy="470569"/>
            <a:chOff x="0" y="0"/>
            <a:chExt cx="894080" cy="470568"/>
          </a:xfrm>
        </p:grpSpPr>
        <p:sp>
          <p:nvSpPr>
            <p:cNvPr id="465" name="Rounded Rectangle"/>
            <p:cNvSpPr/>
            <p:nvPr/>
          </p:nvSpPr>
          <p:spPr>
            <a:xfrm>
              <a:off x="0" y="0"/>
              <a:ext cx="894081" cy="470569"/>
            </a:xfrm>
            <a:prstGeom prst="roundRect">
              <a:avLst>
                <a:gd name="adj" fmla="val 18000"/>
              </a:avLst>
            </a:prstGeom>
            <a:solidFill>
              <a:srgbClr val="1A1A2E"/>
            </a:solidFill>
            <a:ln w="1587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466" name="shared"/>
            <p:cNvSpPr txBox="1"/>
            <p:nvPr/>
          </p:nvSpPr>
          <p:spPr>
            <a:xfrm>
              <a:off x="32978" y="91499"/>
              <a:ext cx="828124" cy="28757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noAutofit/>
            </a:bodyPr>
            <a:lstStyle>
              <a:lvl1pPr algn="ctr">
                <a:defRPr sz="1600">
                  <a:solidFill>
                    <a:srgbClr val="FFFFFF"/>
                  </a:solidFill>
                  <a:latin typeface="JetBrains Mono Bold"/>
                  <a:ea typeface="JetBrains Mono Bold"/>
                  <a:cs typeface="JetBrains Mono Bold"/>
                  <a:sym typeface="JetBrains Mono Bold"/>
                </a:defRPr>
              </a:lvl1pPr>
            </a:lstStyle>
            <a:p>
              <a:pPr/>
              <a:r>
                <a:t>shared</a:t>
              </a:r>
            </a:p>
          </p:txBody>
        </p:sp>
      </p:grpSp>
      <p:sp>
        <p:nvSpPr>
          <p:cNvPr id="468" name="TextBox 17"/>
          <p:cNvSpPr txBox="1"/>
          <p:nvPr/>
        </p:nvSpPr>
        <p:spPr>
          <a:xfrm>
            <a:off x="6004235" y="3710369"/>
            <a:ext cx="548640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a:solidFill>
                  <a:srgbClr val="00D4FF"/>
                </a:solidFill>
                <a:latin typeface="Inter Bold"/>
                <a:ea typeface="Inter Bold"/>
                <a:cs typeface="Inter Bold"/>
                <a:sym typeface="Inter Bold"/>
              </a:defRPr>
            </a:lvl1pPr>
          </a:lstStyle>
          <a:p>
            <a:pPr/>
            <a:r>
              <a:t>Manje context-hopova</a:t>
            </a:r>
          </a:p>
        </p:txBody>
      </p:sp>
      <p:sp>
        <p:nvSpPr>
          <p:cNvPr id="469" name="TextBox 18"/>
          <p:cNvSpPr txBox="1"/>
          <p:nvPr/>
        </p:nvSpPr>
        <p:spPr>
          <a:xfrm>
            <a:off x="6004235" y="4030409"/>
            <a:ext cx="5486401" cy="406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solidFill>
                  <a:srgbClr val="FFFFFF"/>
                </a:solidFill>
                <a:latin typeface="Inter Regular"/>
                <a:ea typeface="Inter Regular"/>
                <a:cs typeface="Inter Regular"/>
                <a:sym typeface="Inter Regular"/>
              </a:defRPr>
            </a:pPr>
            <a:r>
              <a:t>Jednosmjerni tok importa = </a:t>
            </a:r>
            <a:r>
              <a:rPr>
                <a:solidFill>
                  <a:srgbClr val="00D4FF"/>
                </a:solidFill>
                <a:latin typeface="Inter Bold"/>
                <a:ea typeface="Inter Bold"/>
                <a:cs typeface="Inter Bold"/>
                <a:sym typeface="Inter Bold"/>
              </a:rPr>
              <a:t>konačan put kroz ovisnosti</a:t>
            </a:r>
            <a:r>
              <a:t>. Manje koraka, manje potrošenih tokena.</a:t>
            </a:r>
          </a:p>
        </p:txBody>
      </p:sp>
      <p:pic>
        <p:nvPicPr>
          <p:cNvPr id="470" name="Folders Graphic.png" descr="Folders Graphic.png"/>
          <p:cNvPicPr>
            <a:picLocks noChangeAspect="1"/>
          </p:cNvPicPr>
          <p:nvPr/>
        </p:nvPicPr>
        <p:blipFill>
          <a:blip r:embed="rId3">
            <a:extLst/>
          </a:blip>
          <a:stretch>
            <a:fillRect/>
          </a:stretch>
        </p:blipFill>
        <p:spPr>
          <a:xfrm>
            <a:off x="344664" y="1828066"/>
            <a:ext cx="3421832" cy="4516817"/>
          </a:xfrm>
          <a:prstGeom prst="rect">
            <a:avLst/>
          </a:prstGeom>
          <a:ln w="12700">
            <a:miter lim="400000"/>
          </a:ln>
        </p:spPr>
      </p:pic>
    </p:spTree>
  </p:cSld>
  <p:clrMapOvr>
    <a:masterClrMapping/>
  </p:clrMapOvr>
  <p:transition xmlns:p14="http://schemas.microsoft.com/office/powerpoint/2010/main" spd="med" advClick="1"/>
</p:sld>
</file>

<file path=ppt/slides/slide3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74"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3600">
                <a:solidFill>
                  <a:srgbClr val="FFFFFF"/>
                </a:solidFill>
                <a:latin typeface="Inter Bold"/>
                <a:ea typeface="Inter Bold"/>
                <a:cs typeface="Inter Bold"/>
                <a:sym typeface="Inter Bold"/>
              </a:defRPr>
            </a:pPr>
            <a:r>
              <a:t>Pravilo #1: </a:t>
            </a:r>
            <a:r>
              <a:rPr>
                <a:solidFill>
                  <a:srgbClr val="00D4FF"/>
                </a:solidFill>
              </a:rPr>
              <a:t>Layers</a:t>
            </a:r>
          </a:p>
        </p:txBody>
      </p:sp>
      <p:sp>
        <p:nvSpPr>
          <p:cNvPr id="475" name="TextBox 2"/>
          <p:cNvSpPr txBox="1"/>
          <p:nvPr/>
        </p:nvSpPr>
        <p:spPr>
          <a:xfrm>
            <a:off x="640079" y="1371600"/>
            <a:ext cx="10908794" cy="2159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888888"/>
                </a:solidFill>
                <a:latin typeface="Inter Regular"/>
                <a:ea typeface="Inter Regular"/>
                <a:cs typeface="Inter Regular"/>
                <a:sym typeface="Inter Regular"/>
              </a:defRPr>
            </a:lvl1pPr>
          </a:lstStyle>
          <a:p>
            <a:pPr/>
            <a:r>
              <a:t>Hijerarhija odgovornosti, fiksni redoslijed</a:t>
            </a:r>
          </a:p>
        </p:txBody>
      </p:sp>
      <p:sp>
        <p:nvSpPr>
          <p:cNvPr id="476" name="Rectangle 3"/>
          <p:cNvSpPr/>
          <p:nvPr/>
        </p:nvSpPr>
        <p:spPr>
          <a:xfrm>
            <a:off x="640080" y="1691639"/>
            <a:ext cx="548641" cy="36577"/>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477" name="TextBox 6"/>
          <p:cNvSpPr txBox="1"/>
          <p:nvPr/>
        </p:nvSpPr>
        <p:spPr>
          <a:xfrm>
            <a:off x="6039510" y="2068633"/>
            <a:ext cx="512064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a:solidFill>
                  <a:srgbClr val="00D4FF"/>
                </a:solidFill>
                <a:latin typeface="Inter Bold"/>
                <a:ea typeface="Inter Bold"/>
                <a:cs typeface="Inter Bold"/>
                <a:sym typeface="Inter Bold"/>
              </a:defRPr>
            </a:lvl1pPr>
          </a:lstStyle>
          <a:p>
            <a:pPr/>
            <a:r>
              <a:t>Pravilo importa</a:t>
            </a:r>
          </a:p>
        </p:txBody>
      </p:sp>
      <p:sp>
        <p:nvSpPr>
          <p:cNvPr id="478" name="TextBox 7"/>
          <p:cNvSpPr txBox="1"/>
          <p:nvPr/>
        </p:nvSpPr>
        <p:spPr>
          <a:xfrm>
            <a:off x="6039510" y="2434393"/>
            <a:ext cx="5120641" cy="2159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400">
                <a:solidFill>
                  <a:srgbClr val="FFFFFF"/>
                </a:solidFill>
                <a:latin typeface="Inter Regular"/>
                <a:ea typeface="Inter Regular"/>
                <a:cs typeface="Inter Regular"/>
                <a:sym typeface="Inter Regular"/>
              </a:defRPr>
            </a:pPr>
            <a:r>
              <a:t>Sloj smije importati </a:t>
            </a:r>
            <a:r>
              <a:rPr>
                <a:solidFill>
                  <a:srgbClr val="2ED573"/>
                </a:solidFill>
                <a:latin typeface="Inter Bold"/>
                <a:ea typeface="Inter Bold"/>
                <a:cs typeface="Inter Bold"/>
                <a:sym typeface="Inter Bold"/>
              </a:rPr>
              <a:t>samo iz slojeva ispod sebe.</a:t>
            </a:r>
          </a:p>
        </p:txBody>
      </p:sp>
      <p:grpSp>
        <p:nvGrpSpPr>
          <p:cNvPr id="481" name="Rounded Rectangle 8"/>
          <p:cNvGrpSpPr/>
          <p:nvPr/>
        </p:nvGrpSpPr>
        <p:grpSpPr>
          <a:xfrm>
            <a:off x="6027096" y="2846214"/>
            <a:ext cx="894081" cy="470569"/>
            <a:chOff x="0" y="0"/>
            <a:chExt cx="894080" cy="470568"/>
          </a:xfrm>
        </p:grpSpPr>
        <p:sp>
          <p:nvSpPr>
            <p:cNvPr id="479" name="Rounded Rectangle"/>
            <p:cNvSpPr/>
            <p:nvPr/>
          </p:nvSpPr>
          <p:spPr>
            <a:xfrm>
              <a:off x="0" y="0"/>
              <a:ext cx="894081" cy="470569"/>
            </a:xfrm>
            <a:prstGeom prst="roundRect">
              <a:avLst>
                <a:gd name="adj" fmla="val 18000"/>
              </a:avLst>
            </a:prstGeom>
            <a:solidFill>
              <a:srgbClr val="1A1A2E"/>
            </a:solidFill>
            <a:ln w="1587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480" name="app"/>
            <p:cNvSpPr txBox="1"/>
            <p:nvPr/>
          </p:nvSpPr>
          <p:spPr>
            <a:xfrm>
              <a:off x="32978" y="91499"/>
              <a:ext cx="828124" cy="28757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noAutofit/>
            </a:bodyPr>
            <a:lstStyle/>
            <a:p>
              <a:pPr lvl="1" algn="ctr">
                <a:defRPr sz="1600">
                  <a:solidFill>
                    <a:srgbClr val="FFFFFF"/>
                  </a:solidFill>
                  <a:latin typeface="JetBrains Mono Bold"/>
                  <a:ea typeface="JetBrains Mono Bold"/>
                  <a:cs typeface="JetBrains Mono Bold"/>
                  <a:sym typeface="JetBrains Mono Bold"/>
                </a:defRPr>
              </a:pPr>
              <a:r>
                <a:t>app</a:t>
              </a:r>
            </a:p>
          </p:txBody>
        </p:sp>
      </p:grpSp>
      <p:sp>
        <p:nvSpPr>
          <p:cNvPr id="482" name="TextBox 9"/>
          <p:cNvSpPr txBox="1"/>
          <p:nvPr/>
        </p:nvSpPr>
        <p:spPr>
          <a:xfrm>
            <a:off x="6895775" y="2891933"/>
            <a:ext cx="274321" cy="368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2400">
                <a:solidFill>
                  <a:srgbClr val="00D4FF"/>
                </a:solidFill>
                <a:latin typeface="Inter Bold"/>
                <a:ea typeface="Inter Bold"/>
                <a:cs typeface="Inter Bold"/>
                <a:sym typeface="Inter Bold"/>
              </a:defRPr>
            </a:lvl1pPr>
          </a:lstStyle>
          <a:p>
            <a:pPr/>
            <a:r>
              <a:t>→</a:t>
            </a:r>
          </a:p>
        </p:txBody>
      </p:sp>
      <p:grpSp>
        <p:nvGrpSpPr>
          <p:cNvPr id="485" name="Rounded Rectangle 10"/>
          <p:cNvGrpSpPr/>
          <p:nvPr/>
        </p:nvGrpSpPr>
        <p:grpSpPr>
          <a:xfrm>
            <a:off x="7170095" y="2846214"/>
            <a:ext cx="894081" cy="470569"/>
            <a:chOff x="0" y="0"/>
            <a:chExt cx="894080" cy="470568"/>
          </a:xfrm>
        </p:grpSpPr>
        <p:sp>
          <p:nvSpPr>
            <p:cNvPr id="483" name="Rounded Rectangle"/>
            <p:cNvSpPr/>
            <p:nvPr/>
          </p:nvSpPr>
          <p:spPr>
            <a:xfrm>
              <a:off x="0" y="0"/>
              <a:ext cx="894081" cy="470569"/>
            </a:xfrm>
            <a:prstGeom prst="roundRect">
              <a:avLst>
                <a:gd name="adj" fmla="val 18000"/>
              </a:avLst>
            </a:prstGeom>
            <a:solidFill>
              <a:srgbClr val="1A1A2E"/>
            </a:solidFill>
            <a:ln w="1587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484" name="pages"/>
            <p:cNvSpPr txBox="1"/>
            <p:nvPr/>
          </p:nvSpPr>
          <p:spPr>
            <a:xfrm>
              <a:off x="32978" y="91499"/>
              <a:ext cx="828124" cy="28757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noAutofit/>
            </a:bodyPr>
            <a:lstStyle>
              <a:lvl1pPr algn="ctr">
                <a:defRPr sz="1600">
                  <a:solidFill>
                    <a:srgbClr val="FFFFFF"/>
                  </a:solidFill>
                  <a:latin typeface="JetBrains Mono Bold"/>
                  <a:ea typeface="JetBrains Mono Bold"/>
                  <a:cs typeface="JetBrains Mono Bold"/>
                  <a:sym typeface="JetBrains Mono Bold"/>
                </a:defRPr>
              </a:lvl1pPr>
            </a:lstStyle>
            <a:p>
              <a:pPr/>
              <a:r>
                <a:t>pages</a:t>
              </a:r>
            </a:p>
          </p:txBody>
        </p:sp>
      </p:grpSp>
      <p:sp>
        <p:nvSpPr>
          <p:cNvPr id="486" name="TextBox 11"/>
          <p:cNvSpPr txBox="1"/>
          <p:nvPr/>
        </p:nvSpPr>
        <p:spPr>
          <a:xfrm>
            <a:off x="8038775" y="2891933"/>
            <a:ext cx="274321" cy="368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2400">
                <a:solidFill>
                  <a:srgbClr val="00D4FF"/>
                </a:solidFill>
                <a:latin typeface="Inter Bold"/>
                <a:ea typeface="Inter Bold"/>
                <a:cs typeface="Inter Bold"/>
                <a:sym typeface="Inter Bold"/>
              </a:defRPr>
            </a:lvl1pPr>
          </a:lstStyle>
          <a:p>
            <a:pPr/>
            <a:r>
              <a:t>→</a:t>
            </a:r>
          </a:p>
        </p:txBody>
      </p:sp>
      <p:grpSp>
        <p:nvGrpSpPr>
          <p:cNvPr id="489" name="Rounded Rectangle 12"/>
          <p:cNvGrpSpPr/>
          <p:nvPr/>
        </p:nvGrpSpPr>
        <p:grpSpPr>
          <a:xfrm>
            <a:off x="8313095" y="2846214"/>
            <a:ext cx="894081" cy="470569"/>
            <a:chOff x="0" y="0"/>
            <a:chExt cx="894080" cy="470568"/>
          </a:xfrm>
        </p:grpSpPr>
        <p:sp>
          <p:nvSpPr>
            <p:cNvPr id="487" name="Rounded Rectangle"/>
            <p:cNvSpPr/>
            <p:nvPr/>
          </p:nvSpPr>
          <p:spPr>
            <a:xfrm>
              <a:off x="0" y="0"/>
              <a:ext cx="894081" cy="470569"/>
            </a:xfrm>
            <a:prstGeom prst="roundRect">
              <a:avLst>
                <a:gd name="adj" fmla="val 18000"/>
              </a:avLst>
            </a:prstGeom>
            <a:solidFill>
              <a:srgbClr val="1A1A2E"/>
            </a:solidFill>
            <a:ln w="1587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488" name="..."/>
            <p:cNvSpPr txBox="1"/>
            <p:nvPr/>
          </p:nvSpPr>
          <p:spPr>
            <a:xfrm>
              <a:off x="32978" y="91499"/>
              <a:ext cx="828124" cy="28757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noAutofit/>
            </a:bodyPr>
            <a:lstStyle>
              <a:lvl1pPr algn="ctr">
                <a:defRPr sz="1600">
                  <a:solidFill>
                    <a:srgbClr val="FFFFFF"/>
                  </a:solidFill>
                  <a:latin typeface="JetBrains Mono Bold"/>
                  <a:ea typeface="JetBrains Mono Bold"/>
                  <a:cs typeface="JetBrains Mono Bold"/>
                  <a:sym typeface="JetBrains Mono Bold"/>
                </a:defRPr>
              </a:lvl1pPr>
            </a:lstStyle>
            <a:p>
              <a:pPr/>
              <a:r>
                <a:t>...</a:t>
              </a:r>
            </a:p>
          </p:txBody>
        </p:sp>
      </p:grpSp>
      <p:sp>
        <p:nvSpPr>
          <p:cNvPr id="490" name="TextBox 13"/>
          <p:cNvSpPr txBox="1"/>
          <p:nvPr/>
        </p:nvSpPr>
        <p:spPr>
          <a:xfrm>
            <a:off x="9181775" y="2891933"/>
            <a:ext cx="274321" cy="368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2400">
                <a:solidFill>
                  <a:srgbClr val="00D4FF"/>
                </a:solidFill>
                <a:latin typeface="Inter Bold"/>
                <a:ea typeface="Inter Bold"/>
                <a:cs typeface="Inter Bold"/>
                <a:sym typeface="Inter Bold"/>
              </a:defRPr>
            </a:lvl1pPr>
          </a:lstStyle>
          <a:p>
            <a:pPr/>
            <a:r>
              <a:t>→</a:t>
            </a:r>
          </a:p>
        </p:txBody>
      </p:sp>
      <p:grpSp>
        <p:nvGrpSpPr>
          <p:cNvPr id="493" name="Rounded Rectangle 14"/>
          <p:cNvGrpSpPr/>
          <p:nvPr/>
        </p:nvGrpSpPr>
        <p:grpSpPr>
          <a:xfrm>
            <a:off x="9456095" y="2846214"/>
            <a:ext cx="894081" cy="470569"/>
            <a:chOff x="0" y="0"/>
            <a:chExt cx="894080" cy="470568"/>
          </a:xfrm>
        </p:grpSpPr>
        <p:sp>
          <p:nvSpPr>
            <p:cNvPr id="491" name="Rounded Rectangle"/>
            <p:cNvSpPr/>
            <p:nvPr/>
          </p:nvSpPr>
          <p:spPr>
            <a:xfrm>
              <a:off x="0" y="0"/>
              <a:ext cx="894081" cy="470569"/>
            </a:xfrm>
            <a:prstGeom prst="roundRect">
              <a:avLst>
                <a:gd name="adj" fmla="val 18000"/>
              </a:avLst>
            </a:prstGeom>
            <a:solidFill>
              <a:srgbClr val="1A1A2E"/>
            </a:solidFill>
            <a:ln w="1587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492" name="shared"/>
            <p:cNvSpPr txBox="1"/>
            <p:nvPr/>
          </p:nvSpPr>
          <p:spPr>
            <a:xfrm>
              <a:off x="32978" y="91499"/>
              <a:ext cx="828124" cy="28757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noAutofit/>
            </a:bodyPr>
            <a:lstStyle>
              <a:lvl1pPr algn="ctr">
                <a:defRPr sz="1600">
                  <a:solidFill>
                    <a:srgbClr val="FFFFFF"/>
                  </a:solidFill>
                  <a:latin typeface="JetBrains Mono Bold"/>
                  <a:ea typeface="JetBrains Mono Bold"/>
                  <a:cs typeface="JetBrains Mono Bold"/>
                  <a:sym typeface="JetBrains Mono Bold"/>
                </a:defRPr>
              </a:lvl1pPr>
            </a:lstStyle>
            <a:p>
              <a:pPr/>
              <a:r>
                <a:t>shared</a:t>
              </a:r>
            </a:p>
          </p:txBody>
        </p:sp>
      </p:grpSp>
      <p:sp>
        <p:nvSpPr>
          <p:cNvPr id="494" name="TextBox 15"/>
          <p:cNvSpPr txBox="1"/>
          <p:nvPr/>
        </p:nvSpPr>
        <p:spPr>
          <a:xfrm>
            <a:off x="6004235" y="5037145"/>
            <a:ext cx="548640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a:solidFill>
                  <a:srgbClr val="00D4FF"/>
                </a:solidFill>
                <a:latin typeface="Inter Bold"/>
                <a:ea typeface="Inter Bold"/>
                <a:cs typeface="Inter Bold"/>
                <a:sym typeface="Inter Bold"/>
              </a:defRPr>
            </a:lvl1pPr>
          </a:lstStyle>
          <a:p>
            <a:pPr/>
            <a:r>
              <a:t>Mapa odgovornosti</a:t>
            </a:r>
          </a:p>
        </p:txBody>
      </p:sp>
      <p:sp>
        <p:nvSpPr>
          <p:cNvPr id="495" name="TextBox 16"/>
          <p:cNvSpPr txBox="1"/>
          <p:nvPr/>
        </p:nvSpPr>
        <p:spPr>
          <a:xfrm>
            <a:off x="6004235" y="5357185"/>
            <a:ext cx="5486401" cy="406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solidFill>
                  <a:srgbClr val="FFFFFF"/>
                </a:solidFill>
                <a:latin typeface="Inter Regular"/>
                <a:ea typeface="Inter Regular"/>
                <a:cs typeface="Inter Regular"/>
                <a:sym typeface="Inter Regular"/>
              </a:defRPr>
            </a:pPr>
            <a:r>
              <a:t>AI pročita file tree i </a:t>
            </a:r>
            <a:r>
              <a:rPr>
                <a:solidFill>
                  <a:srgbClr val="00D4FF"/>
                </a:solidFill>
                <a:latin typeface="Inter Bold"/>
                <a:ea typeface="Inter Bold"/>
                <a:cs typeface="Inter Bold"/>
                <a:sym typeface="Inter Bold"/>
              </a:rPr>
              <a:t>odmah zna</a:t>
            </a:r>
            <a:r>
              <a:t> gdje je poslovna logika, gdje akcije, a gdje infrastruktura.</a:t>
            </a:r>
          </a:p>
        </p:txBody>
      </p:sp>
      <p:sp>
        <p:nvSpPr>
          <p:cNvPr id="496" name="TextBox 17"/>
          <p:cNvSpPr txBox="1"/>
          <p:nvPr/>
        </p:nvSpPr>
        <p:spPr>
          <a:xfrm>
            <a:off x="6004235" y="3710369"/>
            <a:ext cx="548640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a:solidFill>
                  <a:srgbClr val="00D4FF"/>
                </a:solidFill>
                <a:latin typeface="Inter Bold"/>
                <a:ea typeface="Inter Bold"/>
                <a:cs typeface="Inter Bold"/>
                <a:sym typeface="Inter Bold"/>
              </a:defRPr>
            </a:lvl1pPr>
          </a:lstStyle>
          <a:p>
            <a:pPr/>
            <a:r>
              <a:t>Manje context-hopova</a:t>
            </a:r>
          </a:p>
        </p:txBody>
      </p:sp>
      <p:sp>
        <p:nvSpPr>
          <p:cNvPr id="497" name="TextBox 18"/>
          <p:cNvSpPr txBox="1"/>
          <p:nvPr/>
        </p:nvSpPr>
        <p:spPr>
          <a:xfrm>
            <a:off x="6004235" y="4030409"/>
            <a:ext cx="5486401" cy="406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solidFill>
                  <a:srgbClr val="FFFFFF"/>
                </a:solidFill>
                <a:latin typeface="Inter Regular"/>
                <a:ea typeface="Inter Regular"/>
                <a:cs typeface="Inter Regular"/>
                <a:sym typeface="Inter Regular"/>
              </a:defRPr>
            </a:pPr>
            <a:r>
              <a:t>Jednosmjerni tok importa = </a:t>
            </a:r>
            <a:r>
              <a:rPr>
                <a:solidFill>
                  <a:srgbClr val="00D4FF"/>
                </a:solidFill>
                <a:latin typeface="Inter Bold"/>
                <a:ea typeface="Inter Bold"/>
                <a:cs typeface="Inter Bold"/>
                <a:sym typeface="Inter Bold"/>
              </a:rPr>
              <a:t>konačan put kroz ovisnosti</a:t>
            </a:r>
            <a:r>
              <a:t>. Manje koraka, manje potrošenih tokena.</a:t>
            </a:r>
          </a:p>
        </p:txBody>
      </p:sp>
      <p:pic>
        <p:nvPicPr>
          <p:cNvPr id="498" name="Folders Graphic.png" descr="Folders Graphic.png"/>
          <p:cNvPicPr>
            <a:picLocks noChangeAspect="1"/>
          </p:cNvPicPr>
          <p:nvPr/>
        </p:nvPicPr>
        <p:blipFill>
          <a:blip r:embed="rId3">
            <a:extLst/>
          </a:blip>
          <a:stretch>
            <a:fillRect/>
          </a:stretch>
        </p:blipFill>
        <p:spPr>
          <a:xfrm>
            <a:off x="344664" y="1828066"/>
            <a:ext cx="3421832" cy="4516817"/>
          </a:xfrm>
          <a:prstGeom prst="rect">
            <a:avLst/>
          </a:prstGeom>
          <a:ln w="12700">
            <a:miter lim="400000"/>
          </a:ln>
        </p:spPr>
      </p:pic>
    </p:spTree>
  </p:cSld>
  <p:clrMapOvr>
    <a:masterClrMapping/>
  </p:clrMapOvr>
  <p:transition xmlns:p14="http://schemas.microsoft.com/office/powerpoint/2010/main" spd="med" advClick="1"/>
</p:sld>
</file>

<file path=ppt/slides/slide3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02"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3600">
                <a:solidFill>
                  <a:srgbClr val="FFFFFF"/>
                </a:solidFill>
                <a:latin typeface="Inter Bold"/>
                <a:ea typeface="Inter Bold"/>
                <a:cs typeface="Inter Bold"/>
                <a:sym typeface="Inter Bold"/>
              </a:defRPr>
            </a:pPr>
            <a:r>
              <a:t>Pravilo #2: </a:t>
            </a:r>
            <a:r>
              <a:rPr>
                <a:solidFill>
                  <a:srgbClr val="00D4FF"/>
                </a:solidFill>
              </a:rPr>
              <a:t>Slices &amp; Segments</a:t>
            </a:r>
          </a:p>
        </p:txBody>
      </p:sp>
      <p:sp>
        <p:nvSpPr>
          <p:cNvPr id="503" name="TextBox 2"/>
          <p:cNvSpPr txBox="1"/>
          <p:nvPr/>
        </p:nvSpPr>
        <p:spPr>
          <a:xfrm>
            <a:off x="640079" y="1371600"/>
            <a:ext cx="10908794" cy="2159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888888"/>
                </a:solidFill>
                <a:latin typeface="Inter Regular"/>
                <a:ea typeface="Inter Regular"/>
                <a:cs typeface="Inter Regular"/>
                <a:sym typeface="Inter Regular"/>
              </a:defRPr>
            </a:lvl1pPr>
          </a:lstStyle>
          <a:p>
            <a:pPr/>
            <a:r>
              <a:t>Domena (slice) × tehnička svrha (segment)</a:t>
            </a:r>
          </a:p>
        </p:txBody>
      </p:sp>
      <p:sp>
        <p:nvSpPr>
          <p:cNvPr id="504" name="Rectangle 3"/>
          <p:cNvSpPr/>
          <p:nvPr/>
        </p:nvSpPr>
        <p:spPr>
          <a:xfrm>
            <a:off x="640080" y="1691639"/>
            <a:ext cx="548641" cy="36577"/>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505" name="TextBox 4"/>
          <p:cNvSpPr txBox="1"/>
          <p:nvPr/>
        </p:nvSpPr>
        <p:spPr>
          <a:xfrm>
            <a:off x="640080" y="2194560"/>
            <a:ext cx="548640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a:solidFill>
                  <a:srgbClr val="00D4FF"/>
                </a:solidFill>
                <a:latin typeface="Inter Bold"/>
                <a:ea typeface="Inter Bold"/>
                <a:cs typeface="Inter Bold"/>
                <a:sym typeface="Inter Bold"/>
              </a:defRPr>
            </a:lvl1pPr>
          </a:lstStyle>
          <a:p>
            <a:pPr/>
            <a:r>
              <a:t>Slice = poslovna domena</a:t>
            </a:r>
          </a:p>
        </p:txBody>
      </p:sp>
      <p:sp>
        <p:nvSpPr>
          <p:cNvPr id="506" name="Rectangle 5"/>
          <p:cNvSpPr/>
          <p:nvPr/>
        </p:nvSpPr>
        <p:spPr>
          <a:xfrm>
            <a:off x="640080" y="2560320"/>
            <a:ext cx="5486401" cy="1554481"/>
          </a:xfrm>
          <a:prstGeom prst="rect">
            <a:avLst/>
          </a:prstGeom>
          <a:solidFill>
            <a:srgbClr val="1A1A2E"/>
          </a:solidFill>
          <a:ln w="12700">
            <a:miter lim="400000"/>
          </a:ln>
        </p:spPr>
        <p:txBody>
          <a:bodyPr lIns="45718" tIns="45718" rIns="45718" bIns="45718" anchor="ctr"/>
          <a:lstStyle/>
          <a:p>
            <a:pPr algn="ctr">
              <a:defRPr>
                <a:solidFill>
                  <a:srgbClr val="FFFFFF"/>
                </a:solidFill>
              </a:defRPr>
            </a:pPr>
          </a:p>
        </p:txBody>
      </p:sp>
      <p:sp>
        <p:nvSpPr>
          <p:cNvPr id="507" name="TextBox 6"/>
          <p:cNvSpPr txBox="1"/>
          <p:nvPr/>
        </p:nvSpPr>
        <p:spPr>
          <a:xfrm>
            <a:off x="822958" y="2724911"/>
            <a:ext cx="3319781" cy="825502"/>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lnSpc>
                <a:spcPts val="1600"/>
              </a:lnSpc>
              <a:defRPr sz="1400">
                <a:solidFill>
                  <a:srgbClr val="F2F2F2"/>
                </a:solidFill>
                <a:latin typeface="JetBrains Mono Regular"/>
                <a:ea typeface="JetBrains Mono Regular"/>
                <a:cs typeface="JetBrains Mono Regular"/>
                <a:sym typeface="JetBrains Mono Regular"/>
              </a:defRPr>
            </a:pPr>
            <a:r>
              <a:t>features/</a:t>
            </a:r>
          </a:p>
          <a:p>
            <a:pPr>
              <a:lnSpc>
                <a:spcPts val="1600"/>
              </a:lnSpc>
              <a:defRPr sz="1400">
                <a:solidFill>
                  <a:srgbClr val="FFFFFF"/>
                </a:solidFill>
                <a:latin typeface="JetBrains Mono Regular"/>
                <a:ea typeface="JetBrains Mono Regular"/>
                <a:cs typeface="JetBrains Mono Regular"/>
                <a:sym typeface="JetBrains Mono Regular"/>
              </a:defRPr>
            </a:pPr>
            <a:r>
              <a:t>  </a:t>
            </a:r>
            <a:r>
              <a:rPr>
                <a:solidFill>
                  <a:srgbClr val="00D4FF"/>
                </a:solidFill>
              </a:rPr>
              <a:t>auth/</a:t>
            </a:r>
            <a:r>
              <a:t>           </a:t>
            </a:r>
            <a:r>
              <a:rPr>
                <a:solidFill>
                  <a:srgbClr val="666666"/>
                </a:solidFill>
              </a:rPr>
              <a:t>← jedan slice</a:t>
            </a:r>
            <a:endParaRPr>
              <a:solidFill>
                <a:srgbClr val="666666"/>
              </a:solidFill>
            </a:endParaRPr>
          </a:p>
          <a:p>
            <a:pPr>
              <a:lnSpc>
                <a:spcPts val="1600"/>
              </a:lnSpc>
              <a:defRPr sz="1400">
                <a:solidFill>
                  <a:srgbClr val="FFFFFF"/>
                </a:solidFill>
                <a:latin typeface="JetBrains Mono Regular"/>
                <a:ea typeface="JetBrains Mono Regular"/>
                <a:cs typeface="JetBrains Mono Regular"/>
                <a:sym typeface="JetBrains Mono Regular"/>
              </a:defRPr>
            </a:pPr>
            <a:r>
              <a:t>  </a:t>
            </a:r>
            <a:r>
              <a:rPr>
                <a:solidFill>
                  <a:srgbClr val="00D4FF"/>
                </a:solidFill>
              </a:rPr>
              <a:t>profile-edit/</a:t>
            </a:r>
            <a:r>
              <a:t>   </a:t>
            </a:r>
            <a:r>
              <a:rPr>
                <a:solidFill>
                  <a:srgbClr val="666666"/>
                </a:solidFill>
              </a:rPr>
              <a:t>← drugi slice</a:t>
            </a:r>
            <a:endParaRPr>
              <a:solidFill>
                <a:srgbClr val="666666"/>
              </a:solidFill>
            </a:endParaRPr>
          </a:p>
          <a:p>
            <a:pPr>
              <a:lnSpc>
                <a:spcPts val="1600"/>
              </a:lnSpc>
              <a:defRPr sz="1400">
                <a:solidFill>
                  <a:srgbClr val="FFFFFF"/>
                </a:solidFill>
                <a:latin typeface="JetBrains Mono Regular"/>
                <a:ea typeface="JetBrains Mono Regular"/>
                <a:cs typeface="JetBrains Mono Regular"/>
                <a:sym typeface="JetBrains Mono Regular"/>
              </a:defRPr>
            </a:pPr>
            <a:r>
              <a:t>  </a:t>
            </a:r>
            <a:r>
              <a:rPr>
                <a:solidFill>
                  <a:srgbClr val="00D4FF"/>
                </a:solidFill>
              </a:rPr>
              <a:t>like-post/</a:t>
            </a:r>
            <a:r>
              <a:t>      </a:t>
            </a:r>
            <a:r>
              <a:rPr>
                <a:solidFill>
                  <a:srgbClr val="666666"/>
                </a:solidFill>
              </a:rPr>
              <a:t>← treći slice</a:t>
            </a:r>
          </a:p>
        </p:txBody>
      </p:sp>
      <p:sp>
        <p:nvSpPr>
          <p:cNvPr id="508" name="TextBox 7"/>
          <p:cNvSpPr txBox="1"/>
          <p:nvPr/>
        </p:nvSpPr>
        <p:spPr>
          <a:xfrm>
            <a:off x="640080" y="4206240"/>
            <a:ext cx="5486401" cy="406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solidFill>
                  <a:srgbClr val="FFFFFF"/>
                </a:solidFill>
                <a:latin typeface="Inter Regular"/>
                <a:ea typeface="Inter Regular"/>
                <a:cs typeface="Inter Regular"/>
                <a:sym typeface="Inter Regular"/>
              </a:defRPr>
            </a:pPr>
            <a:r>
              <a:t>Slice grupira sve što pripada </a:t>
            </a:r>
            <a:r>
              <a:rPr>
                <a:solidFill>
                  <a:srgbClr val="00D4FF"/>
                </a:solidFill>
                <a:latin typeface="Inter Bold"/>
                <a:ea typeface="Inter Bold"/>
                <a:cs typeface="Inter Bold"/>
                <a:sym typeface="Inter Bold"/>
              </a:rPr>
              <a:t>jednoj domeni</a:t>
            </a:r>
            <a:r>
              <a:t> - bez couplinga sa susjedima.</a:t>
            </a:r>
          </a:p>
        </p:txBody>
      </p:sp>
    </p:spTree>
  </p:cSld>
  <p:clrMapOvr>
    <a:masterClrMapping/>
  </p:clrMapOvr>
  <p:transition xmlns:p14="http://schemas.microsoft.com/office/powerpoint/2010/main" spd="med" advClick="1"/>
</p:sld>
</file>

<file path=ppt/slides/slide3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12"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3600">
                <a:solidFill>
                  <a:srgbClr val="FFFFFF"/>
                </a:solidFill>
                <a:latin typeface="Inter Bold"/>
                <a:ea typeface="Inter Bold"/>
                <a:cs typeface="Inter Bold"/>
                <a:sym typeface="Inter Bold"/>
              </a:defRPr>
            </a:pPr>
            <a:r>
              <a:t>Pravilo #2: </a:t>
            </a:r>
            <a:r>
              <a:rPr>
                <a:solidFill>
                  <a:srgbClr val="00D4FF"/>
                </a:solidFill>
              </a:rPr>
              <a:t>Slices &amp; Segments</a:t>
            </a:r>
          </a:p>
        </p:txBody>
      </p:sp>
      <p:sp>
        <p:nvSpPr>
          <p:cNvPr id="513" name="TextBox 2"/>
          <p:cNvSpPr txBox="1"/>
          <p:nvPr/>
        </p:nvSpPr>
        <p:spPr>
          <a:xfrm>
            <a:off x="640079" y="1371600"/>
            <a:ext cx="10908794" cy="2159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888888"/>
                </a:solidFill>
                <a:latin typeface="Inter Regular"/>
                <a:ea typeface="Inter Regular"/>
                <a:cs typeface="Inter Regular"/>
                <a:sym typeface="Inter Regular"/>
              </a:defRPr>
            </a:lvl1pPr>
          </a:lstStyle>
          <a:p>
            <a:pPr/>
            <a:r>
              <a:t>Domena (slice) × tehnička svrha (segment)</a:t>
            </a:r>
          </a:p>
        </p:txBody>
      </p:sp>
      <p:sp>
        <p:nvSpPr>
          <p:cNvPr id="514" name="Rectangle 3"/>
          <p:cNvSpPr/>
          <p:nvPr/>
        </p:nvSpPr>
        <p:spPr>
          <a:xfrm>
            <a:off x="640080" y="1691639"/>
            <a:ext cx="548641" cy="36577"/>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515" name="TextBox 4"/>
          <p:cNvSpPr txBox="1"/>
          <p:nvPr/>
        </p:nvSpPr>
        <p:spPr>
          <a:xfrm>
            <a:off x="640080" y="2194560"/>
            <a:ext cx="548640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a:solidFill>
                  <a:srgbClr val="00D4FF"/>
                </a:solidFill>
                <a:latin typeface="Inter Bold"/>
                <a:ea typeface="Inter Bold"/>
                <a:cs typeface="Inter Bold"/>
                <a:sym typeface="Inter Bold"/>
              </a:defRPr>
            </a:lvl1pPr>
          </a:lstStyle>
          <a:p>
            <a:pPr/>
            <a:r>
              <a:t>Slice = poslovna domena</a:t>
            </a:r>
          </a:p>
        </p:txBody>
      </p:sp>
      <p:sp>
        <p:nvSpPr>
          <p:cNvPr id="516" name="Rectangle 5"/>
          <p:cNvSpPr/>
          <p:nvPr/>
        </p:nvSpPr>
        <p:spPr>
          <a:xfrm>
            <a:off x="640080" y="2560320"/>
            <a:ext cx="5486401" cy="1554481"/>
          </a:xfrm>
          <a:prstGeom prst="rect">
            <a:avLst/>
          </a:prstGeom>
          <a:solidFill>
            <a:srgbClr val="1A1A2E"/>
          </a:solidFill>
          <a:ln w="12700">
            <a:miter lim="400000"/>
          </a:ln>
        </p:spPr>
        <p:txBody>
          <a:bodyPr lIns="45718" tIns="45718" rIns="45718" bIns="45718" anchor="ctr"/>
          <a:lstStyle/>
          <a:p>
            <a:pPr algn="ctr">
              <a:defRPr>
                <a:solidFill>
                  <a:srgbClr val="FFFFFF"/>
                </a:solidFill>
              </a:defRPr>
            </a:pPr>
          </a:p>
        </p:txBody>
      </p:sp>
      <p:sp>
        <p:nvSpPr>
          <p:cNvPr id="517" name="TextBox 6"/>
          <p:cNvSpPr txBox="1"/>
          <p:nvPr/>
        </p:nvSpPr>
        <p:spPr>
          <a:xfrm>
            <a:off x="822958" y="2724911"/>
            <a:ext cx="3319781" cy="825502"/>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lnSpc>
                <a:spcPts val="1600"/>
              </a:lnSpc>
              <a:defRPr sz="1400">
                <a:solidFill>
                  <a:srgbClr val="F2F2F2"/>
                </a:solidFill>
                <a:latin typeface="JetBrains Mono Regular"/>
                <a:ea typeface="JetBrains Mono Regular"/>
                <a:cs typeface="JetBrains Mono Regular"/>
                <a:sym typeface="JetBrains Mono Regular"/>
              </a:defRPr>
            </a:pPr>
            <a:r>
              <a:t>features/</a:t>
            </a:r>
          </a:p>
          <a:p>
            <a:pPr>
              <a:lnSpc>
                <a:spcPts val="1600"/>
              </a:lnSpc>
              <a:defRPr sz="1400">
                <a:solidFill>
                  <a:srgbClr val="FFFFFF"/>
                </a:solidFill>
                <a:latin typeface="JetBrains Mono Regular"/>
                <a:ea typeface="JetBrains Mono Regular"/>
                <a:cs typeface="JetBrains Mono Regular"/>
                <a:sym typeface="JetBrains Mono Regular"/>
              </a:defRPr>
            </a:pPr>
            <a:r>
              <a:t>  </a:t>
            </a:r>
            <a:r>
              <a:rPr>
                <a:solidFill>
                  <a:srgbClr val="00D4FF"/>
                </a:solidFill>
              </a:rPr>
              <a:t>auth/</a:t>
            </a:r>
            <a:r>
              <a:t>           </a:t>
            </a:r>
            <a:r>
              <a:rPr>
                <a:solidFill>
                  <a:srgbClr val="666666"/>
                </a:solidFill>
              </a:rPr>
              <a:t>← jedan slice</a:t>
            </a:r>
            <a:endParaRPr>
              <a:solidFill>
                <a:srgbClr val="666666"/>
              </a:solidFill>
            </a:endParaRPr>
          </a:p>
          <a:p>
            <a:pPr>
              <a:lnSpc>
                <a:spcPts val="1600"/>
              </a:lnSpc>
              <a:defRPr sz="1400">
                <a:solidFill>
                  <a:srgbClr val="FFFFFF"/>
                </a:solidFill>
                <a:latin typeface="JetBrains Mono Regular"/>
                <a:ea typeface="JetBrains Mono Regular"/>
                <a:cs typeface="JetBrains Mono Regular"/>
                <a:sym typeface="JetBrains Mono Regular"/>
              </a:defRPr>
            </a:pPr>
            <a:r>
              <a:t>  </a:t>
            </a:r>
            <a:r>
              <a:rPr>
                <a:solidFill>
                  <a:srgbClr val="00D4FF"/>
                </a:solidFill>
              </a:rPr>
              <a:t>profile-edit/</a:t>
            </a:r>
            <a:r>
              <a:t>   </a:t>
            </a:r>
            <a:r>
              <a:rPr>
                <a:solidFill>
                  <a:srgbClr val="666666"/>
                </a:solidFill>
              </a:rPr>
              <a:t>← drugi slice</a:t>
            </a:r>
            <a:endParaRPr>
              <a:solidFill>
                <a:srgbClr val="666666"/>
              </a:solidFill>
            </a:endParaRPr>
          </a:p>
          <a:p>
            <a:pPr>
              <a:lnSpc>
                <a:spcPts val="1600"/>
              </a:lnSpc>
              <a:defRPr sz="1400">
                <a:solidFill>
                  <a:srgbClr val="FFFFFF"/>
                </a:solidFill>
                <a:latin typeface="JetBrains Mono Regular"/>
                <a:ea typeface="JetBrains Mono Regular"/>
                <a:cs typeface="JetBrains Mono Regular"/>
                <a:sym typeface="JetBrains Mono Regular"/>
              </a:defRPr>
            </a:pPr>
            <a:r>
              <a:t>  </a:t>
            </a:r>
            <a:r>
              <a:rPr>
                <a:solidFill>
                  <a:srgbClr val="00D4FF"/>
                </a:solidFill>
              </a:rPr>
              <a:t>like-post/</a:t>
            </a:r>
            <a:r>
              <a:t>      </a:t>
            </a:r>
            <a:r>
              <a:rPr>
                <a:solidFill>
                  <a:srgbClr val="666666"/>
                </a:solidFill>
              </a:rPr>
              <a:t>← treći slice</a:t>
            </a:r>
          </a:p>
        </p:txBody>
      </p:sp>
      <p:sp>
        <p:nvSpPr>
          <p:cNvPr id="518" name="TextBox 7"/>
          <p:cNvSpPr txBox="1"/>
          <p:nvPr/>
        </p:nvSpPr>
        <p:spPr>
          <a:xfrm>
            <a:off x="640080" y="4206240"/>
            <a:ext cx="5486401" cy="406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solidFill>
                  <a:srgbClr val="FFFFFF"/>
                </a:solidFill>
                <a:latin typeface="Inter Regular"/>
                <a:ea typeface="Inter Regular"/>
                <a:cs typeface="Inter Regular"/>
                <a:sym typeface="Inter Regular"/>
              </a:defRPr>
            </a:pPr>
            <a:r>
              <a:t>Slice grupira sve što pripada </a:t>
            </a:r>
            <a:r>
              <a:rPr>
                <a:solidFill>
                  <a:srgbClr val="00D4FF"/>
                </a:solidFill>
                <a:latin typeface="Inter Bold"/>
                <a:ea typeface="Inter Bold"/>
                <a:cs typeface="Inter Bold"/>
                <a:sym typeface="Inter Bold"/>
              </a:rPr>
              <a:t>jednoj domeni</a:t>
            </a:r>
            <a:r>
              <a:t> - bez couplinga sa susjedima.</a:t>
            </a:r>
          </a:p>
        </p:txBody>
      </p:sp>
      <p:sp>
        <p:nvSpPr>
          <p:cNvPr id="519" name="TextBox 8"/>
          <p:cNvSpPr txBox="1"/>
          <p:nvPr/>
        </p:nvSpPr>
        <p:spPr>
          <a:xfrm>
            <a:off x="6400800" y="2194560"/>
            <a:ext cx="5486400"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a:solidFill>
                  <a:srgbClr val="00D4FF"/>
                </a:solidFill>
                <a:latin typeface="Inter Bold"/>
                <a:ea typeface="Inter Bold"/>
                <a:cs typeface="Inter Bold"/>
                <a:sym typeface="Inter Bold"/>
              </a:defRPr>
            </a:lvl1pPr>
          </a:lstStyle>
          <a:p>
            <a:pPr/>
            <a:r>
              <a:t>Segment = tehnička svrha</a:t>
            </a:r>
          </a:p>
        </p:txBody>
      </p:sp>
      <p:sp>
        <p:nvSpPr>
          <p:cNvPr id="520" name="Rectangle 9"/>
          <p:cNvSpPr/>
          <p:nvPr/>
        </p:nvSpPr>
        <p:spPr>
          <a:xfrm>
            <a:off x="6400800" y="2560320"/>
            <a:ext cx="5486400" cy="1554481"/>
          </a:xfrm>
          <a:prstGeom prst="rect">
            <a:avLst/>
          </a:prstGeom>
          <a:solidFill>
            <a:srgbClr val="1A1A2E"/>
          </a:solidFill>
          <a:ln w="12700">
            <a:miter lim="400000"/>
          </a:ln>
        </p:spPr>
        <p:txBody>
          <a:bodyPr lIns="45718" tIns="45718" rIns="45718" bIns="45718" anchor="ctr"/>
          <a:lstStyle/>
          <a:p>
            <a:pPr algn="ctr">
              <a:defRPr>
                <a:solidFill>
                  <a:srgbClr val="FFFFFF"/>
                </a:solidFill>
              </a:defRPr>
            </a:pPr>
          </a:p>
        </p:txBody>
      </p:sp>
      <p:sp>
        <p:nvSpPr>
          <p:cNvPr id="521" name="TextBox 10"/>
          <p:cNvSpPr txBox="1"/>
          <p:nvPr/>
        </p:nvSpPr>
        <p:spPr>
          <a:xfrm>
            <a:off x="6583680" y="2724911"/>
            <a:ext cx="3533141" cy="1028702"/>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lnSpc>
                <a:spcPts val="1600"/>
              </a:lnSpc>
              <a:defRPr sz="1400">
                <a:solidFill>
                  <a:srgbClr val="F2F2F2"/>
                </a:solidFill>
                <a:latin typeface="JetBrains Mono Regular"/>
                <a:ea typeface="JetBrains Mono Regular"/>
                <a:cs typeface="JetBrains Mono Regular"/>
                <a:sym typeface="JetBrains Mono Regular"/>
              </a:defRPr>
            </a:pPr>
            <a:r>
              <a:t>features/auth/</a:t>
            </a:r>
          </a:p>
          <a:p>
            <a:pPr>
              <a:lnSpc>
                <a:spcPts val="1600"/>
              </a:lnSpc>
              <a:defRPr sz="1400">
                <a:solidFill>
                  <a:srgbClr val="FFFFFF"/>
                </a:solidFill>
                <a:latin typeface="JetBrains Mono Regular"/>
                <a:ea typeface="JetBrains Mono Regular"/>
                <a:cs typeface="JetBrains Mono Regular"/>
                <a:sym typeface="JetBrains Mono Regular"/>
              </a:defRPr>
            </a:pPr>
            <a:r>
              <a:t>  </a:t>
            </a:r>
            <a:r>
              <a:rPr>
                <a:solidFill>
                  <a:srgbClr val="00D4FF"/>
                </a:solidFill>
              </a:rPr>
              <a:t>ui/</a:t>
            </a:r>
            <a:r>
              <a:t>       </a:t>
            </a:r>
            <a:r>
              <a:rPr>
                <a:solidFill>
                  <a:srgbClr val="666666"/>
                </a:solidFill>
              </a:rPr>
              <a:t>← komponente, stilovi</a:t>
            </a:r>
            <a:endParaRPr>
              <a:solidFill>
                <a:srgbClr val="666666"/>
              </a:solidFill>
            </a:endParaRPr>
          </a:p>
          <a:p>
            <a:pPr>
              <a:lnSpc>
                <a:spcPts val="1600"/>
              </a:lnSpc>
              <a:defRPr sz="1400">
                <a:solidFill>
                  <a:srgbClr val="FFFFFF"/>
                </a:solidFill>
                <a:latin typeface="JetBrains Mono Regular"/>
                <a:ea typeface="JetBrains Mono Regular"/>
                <a:cs typeface="JetBrains Mono Regular"/>
                <a:sym typeface="JetBrains Mono Regular"/>
              </a:defRPr>
            </a:pPr>
            <a:r>
              <a:t>  </a:t>
            </a:r>
            <a:r>
              <a:rPr>
                <a:solidFill>
                  <a:srgbClr val="00D4FF"/>
                </a:solidFill>
              </a:rPr>
              <a:t>model/</a:t>
            </a:r>
            <a:r>
              <a:t>    </a:t>
            </a:r>
            <a:r>
              <a:rPr>
                <a:solidFill>
                  <a:srgbClr val="666666"/>
                </a:solidFill>
              </a:rPr>
              <a:t>← state, validacija</a:t>
            </a:r>
            <a:endParaRPr>
              <a:solidFill>
                <a:srgbClr val="666666"/>
              </a:solidFill>
            </a:endParaRPr>
          </a:p>
          <a:p>
            <a:pPr>
              <a:lnSpc>
                <a:spcPts val="1600"/>
              </a:lnSpc>
              <a:defRPr sz="1400">
                <a:solidFill>
                  <a:srgbClr val="FFFFFF"/>
                </a:solidFill>
                <a:latin typeface="JetBrains Mono Regular"/>
                <a:ea typeface="JetBrains Mono Regular"/>
                <a:cs typeface="JetBrains Mono Regular"/>
                <a:sym typeface="JetBrains Mono Regular"/>
              </a:defRPr>
            </a:pPr>
            <a:r>
              <a:t>  </a:t>
            </a:r>
            <a:r>
              <a:rPr>
                <a:solidFill>
                  <a:srgbClr val="00D4FF"/>
                </a:solidFill>
              </a:rPr>
              <a:t>api/</a:t>
            </a:r>
            <a:r>
              <a:t>      </a:t>
            </a:r>
            <a:r>
              <a:rPr>
                <a:solidFill>
                  <a:srgbClr val="666666"/>
                </a:solidFill>
              </a:rPr>
              <a:t>← backend pozivi</a:t>
            </a:r>
            <a:endParaRPr>
              <a:solidFill>
                <a:srgbClr val="666666"/>
              </a:solidFill>
            </a:endParaRPr>
          </a:p>
          <a:p>
            <a:pPr>
              <a:lnSpc>
                <a:spcPts val="1600"/>
              </a:lnSpc>
              <a:defRPr sz="1400">
                <a:solidFill>
                  <a:srgbClr val="FFFFFF"/>
                </a:solidFill>
                <a:latin typeface="JetBrains Mono Regular"/>
                <a:ea typeface="JetBrains Mono Regular"/>
                <a:cs typeface="JetBrains Mono Regular"/>
                <a:sym typeface="JetBrains Mono Regular"/>
              </a:defRPr>
            </a:pPr>
            <a:r>
              <a:t>  </a:t>
            </a:r>
            <a:r>
              <a:rPr>
                <a:solidFill>
                  <a:srgbClr val="00D4FF"/>
                </a:solidFill>
              </a:rPr>
              <a:t>lib/</a:t>
            </a:r>
            <a:r>
              <a:t>      </a:t>
            </a:r>
            <a:r>
              <a:rPr>
                <a:solidFill>
                  <a:srgbClr val="666666"/>
                </a:solidFill>
              </a:rPr>
              <a:t>← utility funkcije</a:t>
            </a:r>
          </a:p>
        </p:txBody>
      </p:sp>
      <p:sp>
        <p:nvSpPr>
          <p:cNvPr id="522" name="TextBox 11"/>
          <p:cNvSpPr txBox="1"/>
          <p:nvPr/>
        </p:nvSpPr>
        <p:spPr>
          <a:xfrm>
            <a:off x="6400800" y="4206240"/>
            <a:ext cx="5486400"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solidFill>
                  <a:srgbClr val="FFFFFF"/>
                </a:solidFill>
                <a:latin typeface="Inter Regular"/>
                <a:ea typeface="Inter Regular"/>
                <a:cs typeface="Inter Regular"/>
                <a:sym typeface="Inter Regular"/>
              </a:defRPr>
            </a:pPr>
            <a:r>
              <a:t>Standardizirana imena segmenata </a:t>
            </a:r>
            <a:r>
              <a:rPr>
                <a:solidFill>
                  <a:srgbClr val="00D4FF"/>
                </a:solidFill>
                <a:latin typeface="Inter Bold"/>
                <a:ea typeface="Inter Bold"/>
                <a:cs typeface="Inter Bold"/>
                <a:sym typeface="Inter Bold"/>
              </a:rPr>
              <a:t>u svakom slice-u</a:t>
            </a:r>
            <a:r>
              <a:t>.</a:t>
            </a:r>
          </a:p>
        </p:txBody>
      </p:sp>
    </p:spTree>
  </p:cSld>
  <p:clrMapOvr>
    <a:masterClrMapping/>
  </p:clrMapOvr>
  <p:transition xmlns:p14="http://schemas.microsoft.com/office/powerpoint/2010/main" spd="med" advClick="1"/>
</p:sld>
</file>

<file path=ppt/slides/slide3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26"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3600">
                <a:solidFill>
                  <a:srgbClr val="FFFFFF"/>
                </a:solidFill>
                <a:latin typeface="Inter Bold"/>
                <a:ea typeface="Inter Bold"/>
                <a:cs typeface="Inter Bold"/>
                <a:sym typeface="Inter Bold"/>
              </a:defRPr>
            </a:pPr>
            <a:r>
              <a:t>Pravilo #2: </a:t>
            </a:r>
            <a:r>
              <a:rPr>
                <a:solidFill>
                  <a:srgbClr val="00D4FF"/>
                </a:solidFill>
              </a:rPr>
              <a:t>Slices &amp; Segments</a:t>
            </a:r>
          </a:p>
        </p:txBody>
      </p:sp>
      <p:sp>
        <p:nvSpPr>
          <p:cNvPr id="527" name="TextBox 2"/>
          <p:cNvSpPr txBox="1"/>
          <p:nvPr/>
        </p:nvSpPr>
        <p:spPr>
          <a:xfrm>
            <a:off x="640079" y="1371600"/>
            <a:ext cx="10908794" cy="2159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888888"/>
                </a:solidFill>
                <a:latin typeface="Inter Regular"/>
                <a:ea typeface="Inter Regular"/>
                <a:cs typeface="Inter Regular"/>
                <a:sym typeface="Inter Regular"/>
              </a:defRPr>
            </a:lvl1pPr>
          </a:lstStyle>
          <a:p>
            <a:pPr/>
            <a:r>
              <a:t>Domena (slice) × tehnička svrha (segment)</a:t>
            </a:r>
          </a:p>
        </p:txBody>
      </p:sp>
      <p:sp>
        <p:nvSpPr>
          <p:cNvPr id="528" name="Rectangle 3"/>
          <p:cNvSpPr/>
          <p:nvPr/>
        </p:nvSpPr>
        <p:spPr>
          <a:xfrm>
            <a:off x="640080" y="1691639"/>
            <a:ext cx="548641" cy="36577"/>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529" name="TextBox 4"/>
          <p:cNvSpPr txBox="1"/>
          <p:nvPr/>
        </p:nvSpPr>
        <p:spPr>
          <a:xfrm>
            <a:off x="640080" y="2194560"/>
            <a:ext cx="548640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a:solidFill>
                  <a:srgbClr val="00D4FF"/>
                </a:solidFill>
                <a:latin typeface="Inter Bold"/>
                <a:ea typeface="Inter Bold"/>
                <a:cs typeface="Inter Bold"/>
                <a:sym typeface="Inter Bold"/>
              </a:defRPr>
            </a:lvl1pPr>
          </a:lstStyle>
          <a:p>
            <a:pPr/>
            <a:r>
              <a:t>Slice = poslovna domena</a:t>
            </a:r>
          </a:p>
        </p:txBody>
      </p:sp>
      <p:sp>
        <p:nvSpPr>
          <p:cNvPr id="530" name="Rectangle 5"/>
          <p:cNvSpPr/>
          <p:nvPr/>
        </p:nvSpPr>
        <p:spPr>
          <a:xfrm>
            <a:off x="640080" y="2560320"/>
            <a:ext cx="5486401" cy="1554481"/>
          </a:xfrm>
          <a:prstGeom prst="rect">
            <a:avLst/>
          </a:prstGeom>
          <a:solidFill>
            <a:srgbClr val="1A1A2E"/>
          </a:solidFill>
          <a:ln w="12700">
            <a:miter lim="400000"/>
          </a:ln>
        </p:spPr>
        <p:txBody>
          <a:bodyPr lIns="45718" tIns="45718" rIns="45718" bIns="45718" anchor="ctr"/>
          <a:lstStyle/>
          <a:p>
            <a:pPr algn="ctr">
              <a:defRPr>
                <a:solidFill>
                  <a:srgbClr val="FFFFFF"/>
                </a:solidFill>
              </a:defRPr>
            </a:pPr>
          </a:p>
        </p:txBody>
      </p:sp>
      <p:sp>
        <p:nvSpPr>
          <p:cNvPr id="531" name="TextBox 6"/>
          <p:cNvSpPr txBox="1"/>
          <p:nvPr/>
        </p:nvSpPr>
        <p:spPr>
          <a:xfrm>
            <a:off x="822958" y="2724911"/>
            <a:ext cx="3319781" cy="825502"/>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lnSpc>
                <a:spcPts val="1600"/>
              </a:lnSpc>
              <a:defRPr sz="1400">
                <a:solidFill>
                  <a:srgbClr val="F2F2F2"/>
                </a:solidFill>
                <a:latin typeface="JetBrains Mono Regular"/>
                <a:ea typeface="JetBrains Mono Regular"/>
                <a:cs typeface="JetBrains Mono Regular"/>
                <a:sym typeface="JetBrains Mono Regular"/>
              </a:defRPr>
            </a:pPr>
            <a:r>
              <a:t>features/</a:t>
            </a:r>
          </a:p>
          <a:p>
            <a:pPr>
              <a:lnSpc>
                <a:spcPts val="1600"/>
              </a:lnSpc>
              <a:defRPr sz="1400">
                <a:solidFill>
                  <a:srgbClr val="FFFFFF"/>
                </a:solidFill>
                <a:latin typeface="JetBrains Mono Regular"/>
                <a:ea typeface="JetBrains Mono Regular"/>
                <a:cs typeface="JetBrains Mono Regular"/>
                <a:sym typeface="JetBrains Mono Regular"/>
              </a:defRPr>
            </a:pPr>
            <a:r>
              <a:t>  </a:t>
            </a:r>
            <a:r>
              <a:rPr>
                <a:solidFill>
                  <a:srgbClr val="00D4FF"/>
                </a:solidFill>
              </a:rPr>
              <a:t>auth/</a:t>
            </a:r>
            <a:r>
              <a:t>           </a:t>
            </a:r>
            <a:r>
              <a:rPr>
                <a:solidFill>
                  <a:srgbClr val="666666"/>
                </a:solidFill>
              </a:rPr>
              <a:t>← jedan slice</a:t>
            </a:r>
            <a:endParaRPr>
              <a:solidFill>
                <a:srgbClr val="666666"/>
              </a:solidFill>
            </a:endParaRPr>
          </a:p>
          <a:p>
            <a:pPr>
              <a:lnSpc>
                <a:spcPts val="1600"/>
              </a:lnSpc>
              <a:defRPr sz="1400">
                <a:solidFill>
                  <a:srgbClr val="FFFFFF"/>
                </a:solidFill>
                <a:latin typeface="JetBrains Mono Regular"/>
                <a:ea typeface="JetBrains Mono Regular"/>
                <a:cs typeface="JetBrains Mono Regular"/>
                <a:sym typeface="JetBrains Mono Regular"/>
              </a:defRPr>
            </a:pPr>
            <a:r>
              <a:t>  </a:t>
            </a:r>
            <a:r>
              <a:rPr>
                <a:solidFill>
                  <a:srgbClr val="00D4FF"/>
                </a:solidFill>
              </a:rPr>
              <a:t>profile-edit/</a:t>
            </a:r>
            <a:r>
              <a:t>   </a:t>
            </a:r>
            <a:r>
              <a:rPr>
                <a:solidFill>
                  <a:srgbClr val="666666"/>
                </a:solidFill>
              </a:rPr>
              <a:t>← drugi slice</a:t>
            </a:r>
            <a:endParaRPr>
              <a:solidFill>
                <a:srgbClr val="666666"/>
              </a:solidFill>
            </a:endParaRPr>
          </a:p>
          <a:p>
            <a:pPr>
              <a:lnSpc>
                <a:spcPts val="1600"/>
              </a:lnSpc>
              <a:defRPr sz="1400">
                <a:solidFill>
                  <a:srgbClr val="FFFFFF"/>
                </a:solidFill>
                <a:latin typeface="JetBrains Mono Regular"/>
                <a:ea typeface="JetBrains Mono Regular"/>
                <a:cs typeface="JetBrains Mono Regular"/>
                <a:sym typeface="JetBrains Mono Regular"/>
              </a:defRPr>
            </a:pPr>
            <a:r>
              <a:t>  </a:t>
            </a:r>
            <a:r>
              <a:rPr>
                <a:solidFill>
                  <a:srgbClr val="00D4FF"/>
                </a:solidFill>
              </a:rPr>
              <a:t>like-post/</a:t>
            </a:r>
            <a:r>
              <a:t>      </a:t>
            </a:r>
            <a:r>
              <a:rPr>
                <a:solidFill>
                  <a:srgbClr val="666666"/>
                </a:solidFill>
              </a:rPr>
              <a:t>← treći slice</a:t>
            </a:r>
          </a:p>
        </p:txBody>
      </p:sp>
      <p:sp>
        <p:nvSpPr>
          <p:cNvPr id="532" name="TextBox 7"/>
          <p:cNvSpPr txBox="1"/>
          <p:nvPr/>
        </p:nvSpPr>
        <p:spPr>
          <a:xfrm>
            <a:off x="640080" y="4206240"/>
            <a:ext cx="5486401" cy="406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solidFill>
                  <a:srgbClr val="FFFFFF"/>
                </a:solidFill>
                <a:latin typeface="Inter Regular"/>
                <a:ea typeface="Inter Regular"/>
                <a:cs typeface="Inter Regular"/>
                <a:sym typeface="Inter Regular"/>
              </a:defRPr>
            </a:pPr>
            <a:r>
              <a:t>Slice grupira sve što pripada </a:t>
            </a:r>
            <a:r>
              <a:rPr>
                <a:solidFill>
                  <a:srgbClr val="00D4FF"/>
                </a:solidFill>
                <a:latin typeface="Inter Bold"/>
                <a:ea typeface="Inter Bold"/>
                <a:cs typeface="Inter Bold"/>
                <a:sym typeface="Inter Bold"/>
              </a:rPr>
              <a:t>jednoj domeni</a:t>
            </a:r>
            <a:r>
              <a:t> - bez couplinga sa susjedima.</a:t>
            </a:r>
          </a:p>
        </p:txBody>
      </p:sp>
      <p:sp>
        <p:nvSpPr>
          <p:cNvPr id="533" name="TextBox 8"/>
          <p:cNvSpPr txBox="1"/>
          <p:nvPr/>
        </p:nvSpPr>
        <p:spPr>
          <a:xfrm>
            <a:off x="6400800" y="2194560"/>
            <a:ext cx="5486400"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a:solidFill>
                  <a:srgbClr val="00D4FF"/>
                </a:solidFill>
                <a:latin typeface="Inter Bold"/>
                <a:ea typeface="Inter Bold"/>
                <a:cs typeface="Inter Bold"/>
                <a:sym typeface="Inter Bold"/>
              </a:defRPr>
            </a:lvl1pPr>
          </a:lstStyle>
          <a:p>
            <a:pPr/>
            <a:r>
              <a:t>Segment = tehnička svrha</a:t>
            </a:r>
          </a:p>
        </p:txBody>
      </p:sp>
      <p:sp>
        <p:nvSpPr>
          <p:cNvPr id="534" name="Rectangle 9"/>
          <p:cNvSpPr/>
          <p:nvPr/>
        </p:nvSpPr>
        <p:spPr>
          <a:xfrm>
            <a:off x="6400800" y="2560320"/>
            <a:ext cx="5486400" cy="1554481"/>
          </a:xfrm>
          <a:prstGeom prst="rect">
            <a:avLst/>
          </a:prstGeom>
          <a:solidFill>
            <a:srgbClr val="1A1A2E"/>
          </a:solidFill>
          <a:ln w="12700">
            <a:miter lim="400000"/>
          </a:ln>
        </p:spPr>
        <p:txBody>
          <a:bodyPr lIns="45718" tIns="45718" rIns="45718" bIns="45718" anchor="ctr"/>
          <a:lstStyle/>
          <a:p>
            <a:pPr algn="ctr">
              <a:defRPr>
                <a:solidFill>
                  <a:srgbClr val="FFFFFF"/>
                </a:solidFill>
              </a:defRPr>
            </a:pPr>
          </a:p>
        </p:txBody>
      </p:sp>
      <p:sp>
        <p:nvSpPr>
          <p:cNvPr id="535" name="TextBox 10"/>
          <p:cNvSpPr txBox="1"/>
          <p:nvPr/>
        </p:nvSpPr>
        <p:spPr>
          <a:xfrm>
            <a:off x="6583680" y="2724911"/>
            <a:ext cx="3533141" cy="1028702"/>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lnSpc>
                <a:spcPts val="1600"/>
              </a:lnSpc>
              <a:defRPr sz="1400">
                <a:solidFill>
                  <a:srgbClr val="F2F2F2"/>
                </a:solidFill>
                <a:latin typeface="JetBrains Mono Regular"/>
                <a:ea typeface="JetBrains Mono Regular"/>
                <a:cs typeface="JetBrains Mono Regular"/>
                <a:sym typeface="JetBrains Mono Regular"/>
              </a:defRPr>
            </a:pPr>
            <a:r>
              <a:t>features/auth/</a:t>
            </a:r>
          </a:p>
          <a:p>
            <a:pPr>
              <a:lnSpc>
                <a:spcPts val="1600"/>
              </a:lnSpc>
              <a:defRPr sz="1400">
                <a:solidFill>
                  <a:srgbClr val="FFFFFF"/>
                </a:solidFill>
                <a:latin typeface="JetBrains Mono Regular"/>
                <a:ea typeface="JetBrains Mono Regular"/>
                <a:cs typeface="JetBrains Mono Regular"/>
                <a:sym typeface="JetBrains Mono Regular"/>
              </a:defRPr>
            </a:pPr>
            <a:r>
              <a:t>  </a:t>
            </a:r>
            <a:r>
              <a:rPr>
                <a:solidFill>
                  <a:srgbClr val="00D4FF"/>
                </a:solidFill>
              </a:rPr>
              <a:t>ui/</a:t>
            </a:r>
            <a:r>
              <a:t>       </a:t>
            </a:r>
            <a:r>
              <a:rPr>
                <a:solidFill>
                  <a:srgbClr val="666666"/>
                </a:solidFill>
              </a:rPr>
              <a:t>← komponente, stilovi</a:t>
            </a:r>
            <a:endParaRPr>
              <a:solidFill>
                <a:srgbClr val="666666"/>
              </a:solidFill>
            </a:endParaRPr>
          </a:p>
          <a:p>
            <a:pPr>
              <a:lnSpc>
                <a:spcPts val="1600"/>
              </a:lnSpc>
              <a:defRPr sz="1400">
                <a:solidFill>
                  <a:srgbClr val="FFFFFF"/>
                </a:solidFill>
                <a:latin typeface="JetBrains Mono Regular"/>
                <a:ea typeface="JetBrains Mono Regular"/>
                <a:cs typeface="JetBrains Mono Regular"/>
                <a:sym typeface="JetBrains Mono Regular"/>
              </a:defRPr>
            </a:pPr>
            <a:r>
              <a:t>  </a:t>
            </a:r>
            <a:r>
              <a:rPr>
                <a:solidFill>
                  <a:srgbClr val="00D4FF"/>
                </a:solidFill>
              </a:rPr>
              <a:t>model/</a:t>
            </a:r>
            <a:r>
              <a:t>    </a:t>
            </a:r>
            <a:r>
              <a:rPr>
                <a:solidFill>
                  <a:srgbClr val="666666"/>
                </a:solidFill>
              </a:rPr>
              <a:t>← state, validacija</a:t>
            </a:r>
            <a:endParaRPr>
              <a:solidFill>
                <a:srgbClr val="666666"/>
              </a:solidFill>
            </a:endParaRPr>
          </a:p>
          <a:p>
            <a:pPr>
              <a:lnSpc>
                <a:spcPts val="1600"/>
              </a:lnSpc>
              <a:defRPr sz="1400">
                <a:solidFill>
                  <a:srgbClr val="FFFFFF"/>
                </a:solidFill>
                <a:latin typeface="JetBrains Mono Regular"/>
                <a:ea typeface="JetBrains Mono Regular"/>
                <a:cs typeface="JetBrains Mono Regular"/>
                <a:sym typeface="JetBrains Mono Regular"/>
              </a:defRPr>
            </a:pPr>
            <a:r>
              <a:t>  </a:t>
            </a:r>
            <a:r>
              <a:rPr>
                <a:solidFill>
                  <a:srgbClr val="00D4FF"/>
                </a:solidFill>
              </a:rPr>
              <a:t>api/</a:t>
            </a:r>
            <a:r>
              <a:t>      </a:t>
            </a:r>
            <a:r>
              <a:rPr>
                <a:solidFill>
                  <a:srgbClr val="666666"/>
                </a:solidFill>
              </a:rPr>
              <a:t>← backend pozivi</a:t>
            </a:r>
            <a:endParaRPr>
              <a:solidFill>
                <a:srgbClr val="666666"/>
              </a:solidFill>
            </a:endParaRPr>
          </a:p>
          <a:p>
            <a:pPr>
              <a:lnSpc>
                <a:spcPts val="1600"/>
              </a:lnSpc>
              <a:defRPr sz="1400">
                <a:solidFill>
                  <a:srgbClr val="FFFFFF"/>
                </a:solidFill>
                <a:latin typeface="JetBrains Mono Regular"/>
                <a:ea typeface="JetBrains Mono Regular"/>
                <a:cs typeface="JetBrains Mono Regular"/>
                <a:sym typeface="JetBrains Mono Regular"/>
              </a:defRPr>
            </a:pPr>
            <a:r>
              <a:t>  </a:t>
            </a:r>
            <a:r>
              <a:rPr>
                <a:solidFill>
                  <a:srgbClr val="00D4FF"/>
                </a:solidFill>
              </a:rPr>
              <a:t>lib/</a:t>
            </a:r>
            <a:r>
              <a:t>      </a:t>
            </a:r>
            <a:r>
              <a:rPr>
                <a:solidFill>
                  <a:srgbClr val="666666"/>
                </a:solidFill>
              </a:rPr>
              <a:t>← utility funkcije</a:t>
            </a:r>
          </a:p>
        </p:txBody>
      </p:sp>
      <p:sp>
        <p:nvSpPr>
          <p:cNvPr id="536" name="TextBox 11"/>
          <p:cNvSpPr txBox="1"/>
          <p:nvPr/>
        </p:nvSpPr>
        <p:spPr>
          <a:xfrm>
            <a:off x="6400800" y="4206240"/>
            <a:ext cx="5486400"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solidFill>
                  <a:srgbClr val="FFFFFF"/>
                </a:solidFill>
                <a:latin typeface="Inter Regular"/>
                <a:ea typeface="Inter Regular"/>
                <a:cs typeface="Inter Regular"/>
                <a:sym typeface="Inter Regular"/>
              </a:defRPr>
            </a:pPr>
            <a:r>
              <a:t>Standardizirana imena segmenata </a:t>
            </a:r>
            <a:r>
              <a:rPr>
                <a:solidFill>
                  <a:srgbClr val="00D4FF"/>
                </a:solidFill>
                <a:latin typeface="Inter Bold"/>
                <a:ea typeface="Inter Bold"/>
                <a:cs typeface="Inter Bold"/>
                <a:sym typeface="Inter Bold"/>
              </a:rPr>
              <a:t>u svakom slice-u</a:t>
            </a:r>
            <a:r>
              <a:t>.</a:t>
            </a:r>
          </a:p>
        </p:txBody>
      </p:sp>
      <p:sp>
        <p:nvSpPr>
          <p:cNvPr id="537" name="Rounded Rectangle 12"/>
          <p:cNvSpPr/>
          <p:nvPr/>
        </p:nvSpPr>
        <p:spPr>
          <a:xfrm>
            <a:off x="640080" y="5074920"/>
            <a:ext cx="10972801" cy="1188721"/>
          </a:xfrm>
          <a:prstGeom prst="roundRect">
            <a:avLst>
              <a:gd name="adj" fmla="val 8000"/>
            </a:avLst>
          </a:prstGeom>
          <a:solidFill>
            <a:srgbClr val="0E3A47"/>
          </a:solidFill>
          <a:ln w="12700">
            <a:miter lim="400000"/>
          </a:ln>
        </p:spPr>
        <p:txBody>
          <a:bodyPr lIns="45718" tIns="45718" rIns="45718" bIns="45718" anchor="ctr"/>
          <a:lstStyle/>
          <a:p>
            <a:pPr algn="ctr">
              <a:defRPr>
                <a:solidFill>
                  <a:srgbClr val="FFFFFF"/>
                </a:solidFill>
              </a:defRPr>
            </a:pPr>
          </a:p>
        </p:txBody>
      </p:sp>
      <p:sp>
        <p:nvSpPr>
          <p:cNvPr id="538" name="Rectangle 13"/>
          <p:cNvSpPr/>
          <p:nvPr/>
        </p:nvSpPr>
        <p:spPr>
          <a:xfrm>
            <a:off x="640080" y="5074920"/>
            <a:ext cx="54865" cy="1188721"/>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539" name="TextBox 14"/>
          <p:cNvSpPr txBox="1"/>
          <p:nvPr/>
        </p:nvSpPr>
        <p:spPr>
          <a:xfrm>
            <a:off x="914400" y="5257800"/>
            <a:ext cx="10515600" cy="7239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500">
                <a:solidFill>
                  <a:srgbClr val="FFFFFF"/>
                </a:solidFill>
                <a:latin typeface="Inter Regular"/>
                <a:ea typeface="Inter Regular"/>
                <a:cs typeface="Inter Regular"/>
                <a:sym typeface="Inter Regular"/>
              </a:defRPr>
            </a:pPr>
            <a:r>
              <a:t>Granice slica = manje </a:t>
            </a:r>
            <a:r>
              <a:rPr>
                <a:solidFill>
                  <a:srgbClr val="00D4FF"/>
                </a:solidFill>
                <a:latin typeface="Inter Bold"/>
                <a:ea typeface="Inter Bold"/>
                <a:cs typeface="Inter Bold"/>
                <a:sym typeface="Inter Bold"/>
              </a:rPr>
              <a:t>context pollutiona</a:t>
            </a:r>
            <a:r>
              <a:t>, segmenti = </a:t>
            </a:r>
            <a:r>
              <a:rPr>
                <a:solidFill>
                  <a:srgbClr val="00D4FF"/>
                </a:solidFill>
                <a:latin typeface="Inter Bold"/>
                <a:ea typeface="Inter Bold"/>
                <a:cs typeface="Inter Bold"/>
                <a:sym typeface="Inter Bold"/>
              </a:rPr>
              <a:t>pattern matching</a:t>
            </a:r>
            <a:r>
              <a:t> kroz cijeli projekt. </a:t>
            </a:r>
            <a:br/>
            <a:br/>
            <a:r>
              <a:t>„Trebam fetch korisnika?“ → entities/user/api/. Bez pretrage.</a:t>
            </a:r>
          </a:p>
        </p:txBody>
      </p:sp>
    </p:spTree>
  </p:cSld>
  <p:clrMapOvr>
    <a:masterClrMapping/>
  </p:clrMapOvr>
  <p:transition xmlns:p14="http://schemas.microsoft.com/office/powerpoint/2010/main" spd="med" advClick="1"/>
</p:sld>
</file>

<file path=ppt/slides/slide3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543" name="Coupling Cohesion.png" descr="Coupling Cohesion.png"/>
          <p:cNvPicPr>
            <a:picLocks noChangeAspect="1"/>
          </p:cNvPicPr>
          <p:nvPr/>
        </p:nvPicPr>
        <p:blipFill>
          <a:blip r:embed="rId3">
            <a:extLst/>
          </a:blip>
          <a:stretch>
            <a:fillRect/>
          </a:stretch>
        </p:blipFill>
        <p:spPr>
          <a:xfrm>
            <a:off x="2716904" y="334943"/>
            <a:ext cx="6745492" cy="6188114"/>
          </a:xfrm>
          <a:prstGeom prst="rect">
            <a:avLst/>
          </a:prstGeom>
          <a:ln w="12700">
            <a:miter lim="400000"/>
          </a:ln>
        </p:spPr>
      </p:pic>
    </p:spTree>
  </p:cSld>
  <p:clrMapOvr>
    <a:masterClrMapping/>
  </p:clrMapOvr>
  <p:transition xmlns:p14="http://schemas.microsoft.com/office/powerpoint/2010/main" spd="med" advClick="1"/>
</p:sld>
</file>

<file path=ppt/slides/slide4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47"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3600">
                <a:solidFill>
                  <a:srgbClr val="FFFFFF"/>
                </a:solidFill>
                <a:latin typeface="Inter Bold"/>
                <a:ea typeface="Inter Bold"/>
                <a:cs typeface="Inter Bold"/>
                <a:sym typeface="Inter Bold"/>
              </a:defRPr>
            </a:pPr>
            <a:r>
              <a:t>Pravilo #3: </a:t>
            </a:r>
            <a:r>
              <a:rPr>
                <a:solidFill>
                  <a:srgbClr val="00D4FF"/>
                </a:solidFill>
              </a:rPr>
              <a:t>Public API</a:t>
            </a:r>
          </a:p>
        </p:txBody>
      </p:sp>
      <p:sp>
        <p:nvSpPr>
          <p:cNvPr id="548" name="TextBox 2"/>
          <p:cNvSpPr txBox="1"/>
          <p:nvPr/>
        </p:nvSpPr>
        <p:spPr>
          <a:xfrm>
            <a:off x="640079" y="1371600"/>
            <a:ext cx="10908794" cy="2286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400">
                <a:solidFill>
                  <a:srgbClr val="888888"/>
                </a:solidFill>
                <a:latin typeface="Inter Regular"/>
                <a:ea typeface="Inter Regular"/>
                <a:cs typeface="Inter Regular"/>
                <a:sym typeface="Inter Regular"/>
              </a:defRPr>
            </a:pPr>
            <a:r>
              <a:t>Svaki slice “otkriva” svoj API kroz  </a:t>
            </a:r>
            <a:r>
              <a:rPr>
                <a:solidFill>
                  <a:srgbClr val="00D4FF"/>
                </a:solidFill>
                <a:latin typeface="JetBrains Mono Regular"/>
                <a:ea typeface="JetBrains Mono Regular"/>
                <a:cs typeface="JetBrains Mono Regular"/>
                <a:sym typeface="JetBrains Mono Regular"/>
              </a:rPr>
              <a:t>index.ts</a:t>
            </a:r>
          </a:p>
        </p:txBody>
      </p:sp>
      <p:sp>
        <p:nvSpPr>
          <p:cNvPr id="549" name="Rectangle 3"/>
          <p:cNvSpPr/>
          <p:nvPr/>
        </p:nvSpPr>
        <p:spPr>
          <a:xfrm>
            <a:off x="640080" y="1691639"/>
            <a:ext cx="548641" cy="36577"/>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550" name="Rectangle 4"/>
          <p:cNvSpPr/>
          <p:nvPr/>
        </p:nvSpPr>
        <p:spPr>
          <a:xfrm>
            <a:off x="640079" y="2194560"/>
            <a:ext cx="5303522" cy="3017521"/>
          </a:xfrm>
          <a:prstGeom prst="rect">
            <a:avLst/>
          </a:prstGeom>
          <a:solidFill>
            <a:srgbClr val="1A1A2E"/>
          </a:solidFill>
          <a:ln w="12700">
            <a:miter lim="400000"/>
          </a:ln>
        </p:spPr>
        <p:txBody>
          <a:bodyPr lIns="45718" tIns="45718" rIns="45718" bIns="45718" anchor="ctr"/>
          <a:lstStyle/>
          <a:p>
            <a:pPr algn="ctr">
              <a:defRPr>
                <a:solidFill>
                  <a:srgbClr val="FFFFFF"/>
                </a:solidFill>
              </a:defRPr>
            </a:pPr>
          </a:p>
        </p:txBody>
      </p:sp>
      <p:sp>
        <p:nvSpPr>
          <p:cNvPr id="551" name="TextBox 5"/>
          <p:cNvSpPr txBox="1"/>
          <p:nvPr/>
        </p:nvSpPr>
        <p:spPr>
          <a:xfrm>
            <a:off x="822958" y="2359152"/>
            <a:ext cx="2390141" cy="183388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lnSpc>
                <a:spcPts val="1600"/>
              </a:lnSpc>
              <a:defRPr sz="1200">
                <a:solidFill>
                  <a:srgbClr val="F2F2F2"/>
                </a:solidFill>
                <a:latin typeface="JetBrains Mono Regular"/>
                <a:ea typeface="JetBrains Mono Regular"/>
                <a:cs typeface="JetBrains Mono Regular"/>
                <a:sym typeface="JetBrains Mono Regular"/>
              </a:defRPr>
            </a:pPr>
            <a:r>
              <a:t>features/auth/</a:t>
            </a:r>
          </a:p>
          <a:p>
            <a:pPr>
              <a:lnSpc>
                <a:spcPts val="1600"/>
              </a:lnSpc>
              <a:defRPr sz="1200">
                <a:solidFill>
                  <a:srgbClr val="F2F2F2"/>
                </a:solidFill>
                <a:latin typeface="JetBrains Mono Regular"/>
                <a:ea typeface="JetBrains Mono Regular"/>
                <a:cs typeface="JetBrains Mono Regular"/>
                <a:sym typeface="JetBrains Mono Regular"/>
              </a:defRPr>
            </a:pPr>
            <a:r>
              <a:t>  ui/</a:t>
            </a:r>
          </a:p>
          <a:p>
            <a:pPr>
              <a:lnSpc>
                <a:spcPts val="1600"/>
              </a:lnSpc>
              <a:defRPr sz="1200">
                <a:solidFill>
                  <a:srgbClr val="F2F2F2"/>
                </a:solidFill>
                <a:latin typeface="JetBrains Mono Regular"/>
                <a:ea typeface="JetBrains Mono Regular"/>
                <a:cs typeface="JetBrains Mono Regular"/>
                <a:sym typeface="JetBrains Mono Regular"/>
              </a:defRPr>
            </a:pPr>
            <a:r>
              <a:t>    LoginForm.tsx</a:t>
            </a:r>
          </a:p>
          <a:p>
            <a:pPr>
              <a:lnSpc>
                <a:spcPts val="1600"/>
              </a:lnSpc>
              <a:defRPr sz="1200">
                <a:solidFill>
                  <a:srgbClr val="F2F2F2"/>
                </a:solidFill>
                <a:latin typeface="JetBrains Mono Regular"/>
                <a:ea typeface="JetBrains Mono Regular"/>
                <a:cs typeface="JetBrains Mono Regular"/>
                <a:sym typeface="JetBrains Mono Regular"/>
              </a:defRPr>
            </a:pPr>
            <a:r>
              <a:t>    LogoutButton.tsx</a:t>
            </a:r>
          </a:p>
          <a:p>
            <a:pPr>
              <a:lnSpc>
                <a:spcPts val="1600"/>
              </a:lnSpc>
              <a:defRPr sz="1200">
                <a:solidFill>
                  <a:srgbClr val="F2F2F2"/>
                </a:solidFill>
                <a:latin typeface="JetBrains Mono Regular"/>
                <a:ea typeface="JetBrains Mono Regular"/>
                <a:cs typeface="JetBrains Mono Regular"/>
                <a:sym typeface="JetBrains Mono Regular"/>
              </a:defRPr>
            </a:pPr>
            <a:r>
              <a:t>  model/</a:t>
            </a:r>
          </a:p>
          <a:p>
            <a:pPr>
              <a:lnSpc>
                <a:spcPts val="1600"/>
              </a:lnSpc>
              <a:defRPr sz="1200">
                <a:solidFill>
                  <a:srgbClr val="F2F2F2"/>
                </a:solidFill>
                <a:latin typeface="JetBrains Mono Regular"/>
                <a:ea typeface="JetBrains Mono Regular"/>
                <a:cs typeface="JetBrains Mono Regular"/>
                <a:sym typeface="JetBrains Mono Regular"/>
              </a:defRPr>
            </a:pPr>
            <a:r>
              <a:t>    auth-store.ts</a:t>
            </a:r>
          </a:p>
          <a:p>
            <a:pPr>
              <a:lnSpc>
                <a:spcPts val="1600"/>
              </a:lnSpc>
              <a:defRPr sz="1200">
                <a:solidFill>
                  <a:srgbClr val="F2F2F2"/>
                </a:solidFill>
                <a:latin typeface="JetBrains Mono Regular"/>
                <a:ea typeface="JetBrains Mono Regular"/>
                <a:cs typeface="JetBrains Mono Regular"/>
                <a:sym typeface="JetBrains Mono Regular"/>
              </a:defRPr>
            </a:pPr>
            <a:r>
              <a:t>  api/</a:t>
            </a:r>
          </a:p>
          <a:p>
            <a:pPr>
              <a:lnSpc>
                <a:spcPts val="1600"/>
              </a:lnSpc>
              <a:defRPr sz="1200">
                <a:solidFill>
                  <a:srgbClr val="F2F2F2"/>
                </a:solidFill>
                <a:latin typeface="JetBrains Mono Regular"/>
                <a:ea typeface="JetBrains Mono Regular"/>
                <a:cs typeface="JetBrains Mono Regular"/>
                <a:sym typeface="JetBrains Mono Regular"/>
              </a:defRPr>
            </a:pPr>
            <a:r>
              <a:t>    login.ts</a:t>
            </a:r>
          </a:p>
          <a:p>
            <a:pPr>
              <a:lnSpc>
                <a:spcPts val="1600"/>
              </a:lnSpc>
              <a:defRPr sz="1200">
                <a:solidFill>
                  <a:srgbClr val="FFFFFF"/>
                </a:solidFill>
                <a:latin typeface="JetBrains Mono Regular"/>
                <a:ea typeface="JetBrains Mono Regular"/>
                <a:cs typeface="JetBrains Mono Regular"/>
                <a:sym typeface="JetBrains Mono Regular"/>
              </a:defRPr>
            </a:pPr>
            <a:r>
              <a:t>  </a:t>
            </a:r>
            <a:r>
              <a:rPr>
                <a:solidFill>
                  <a:srgbClr val="00D4FF"/>
                </a:solidFill>
              </a:rPr>
              <a:t>index.ts</a:t>
            </a:r>
            <a:r>
              <a:t>   </a:t>
            </a:r>
            <a:r>
              <a:rPr>
                <a:solidFill>
                  <a:srgbClr val="666666"/>
                </a:solidFill>
              </a:rPr>
              <a:t>← jedini ulaz</a:t>
            </a:r>
          </a:p>
        </p:txBody>
      </p:sp>
      <p:sp>
        <p:nvSpPr>
          <p:cNvPr id="552" name="Rectangle 6"/>
          <p:cNvSpPr/>
          <p:nvPr/>
        </p:nvSpPr>
        <p:spPr>
          <a:xfrm>
            <a:off x="6217920" y="2194560"/>
            <a:ext cx="5669280" cy="3017521"/>
          </a:xfrm>
          <a:prstGeom prst="rect">
            <a:avLst/>
          </a:prstGeom>
          <a:solidFill>
            <a:srgbClr val="1A1A2E"/>
          </a:solidFill>
          <a:ln w="12700">
            <a:miter lim="400000"/>
          </a:ln>
        </p:spPr>
        <p:txBody>
          <a:bodyPr lIns="45718" tIns="45718" rIns="45718" bIns="45718" anchor="ctr"/>
          <a:lstStyle/>
          <a:p>
            <a:pPr algn="ctr">
              <a:defRPr>
                <a:solidFill>
                  <a:srgbClr val="FFFFFF"/>
                </a:solidFill>
              </a:defRPr>
            </a:pPr>
          </a:p>
        </p:txBody>
      </p:sp>
      <p:sp>
        <p:nvSpPr>
          <p:cNvPr id="553" name="TextBox 7"/>
          <p:cNvSpPr txBox="1"/>
          <p:nvPr/>
        </p:nvSpPr>
        <p:spPr>
          <a:xfrm>
            <a:off x="6400800" y="2359152"/>
            <a:ext cx="4706621" cy="183007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lnSpc>
                <a:spcPts val="1600"/>
              </a:lnSpc>
              <a:defRPr sz="1100">
                <a:solidFill>
                  <a:srgbClr val="888888"/>
                </a:solidFill>
                <a:latin typeface="JetBrains Mono Regular"/>
                <a:ea typeface="JetBrains Mono Regular"/>
                <a:cs typeface="JetBrains Mono Regular"/>
                <a:sym typeface="JetBrains Mono Regular"/>
              </a:defRPr>
            </a:pPr>
            <a:r>
              <a:t>// features/auth/index.ts</a:t>
            </a:r>
          </a:p>
          <a:p>
            <a:pPr>
              <a:lnSpc>
                <a:spcPts val="1600"/>
              </a:lnSpc>
              <a:defRPr sz="1100">
                <a:solidFill>
                  <a:srgbClr val="00D4FF"/>
                </a:solidFill>
                <a:latin typeface="JetBrains Mono Regular"/>
                <a:ea typeface="JetBrains Mono Regular"/>
                <a:cs typeface="JetBrains Mono Regular"/>
                <a:sym typeface="JetBrains Mono Regular"/>
              </a:defRPr>
            </a:pPr>
            <a:r>
              <a:t>export </a:t>
            </a:r>
            <a:r>
              <a:rPr>
                <a:solidFill>
                  <a:srgbClr val="F2F2F2"/>
                </a:solidFill>
              </a:rPr>
              <a:t>{ LoginForm } from './ui/LoginForm'</a:t>
            </a:r>
            <a:endParaRPr>
              <a:solidFill>
                <a:srgbClr val="F2F2F2"/>
              </a:solidFill>
            </a:endParaRPr>
          </a:p>
          <a:p>
            <a:pPr>
              <a:lnSpc>
                <a:spcPts val="1600"/>
              </a:lnSpc>
              <a:defRPr sz="1100">
                <a:solidFill>
                  <a:srgbClr val="00D4FF"/>
                </a:solidFill>
                <a:latin typeface="JetBrains Mono Regular"/>
                <a:ea typeface="JetBrains Mono Regular"/>
                <a:cs typeface="JetBrains Mono Regular"/>
                <a:sym typeface="JetBrains Mono Regular"/>
              </a:defRPr>
            </a:pPr>
            <a:r>
              <a:t>export </a:t>
            </a:r>
            <a:r>
              <a:rPr>
                <a:solidFill>
                  <a:srgbClr val="F2F2F2"/>
                </a:solidFill>
              </a:rPr>
              <a:t>{ useAuth } from './model/auth-store'</a:t>
            </a:r>
            <a:endParaRPr>
              <a:solidFill>
                <a:srgbClr val="F2F2F2"/>
              </a:solidFill>
            </a:endParaRPr>
          </a:p>
          <a:p>
            <a:pPr>
              <a:lnSpc>
                <a:spcPts val="1600"/>
              </a:lnSpc>
              <a:defRPr sz="1100">
                <a:solidFill>
                  <a:srgbClr val="FFFFFF"/>
                </a:solidFill>
                <a:latin typeface="JetBrains Mono Regular"/>
                <a:ea typeface="JetBrains Mono Regular"/>
                <a:cs typeface="JetBrains Mono Regular"/>
                <a:sym typeface="JetBrains Mono Regular"/>
              </a:defRPr>
            </a:pPr>
            <a:r>
              <a:t> </a:t>
            </a:r>
          </a:p>
          <a:p>
            <a:pPr>
              <a:lnSpc>
                <a:spcPts val="1600"/>
              </a:lnSpc>
              <a:defRPr sz="1100">
                <a:solidFill>
                  <a:srgbClr val="888888"/>
                </a:solidFill>
                <a:latin typeface="JetBrains Mono Regular"/>
                <a:ea typeface="JetBrains Mono Regular"/>
                <a:cs typeface="JetBrains Mono Regular"/>
                <a:sym typeface="JetBrains Mono Regular"/>
              </a:defRPr>
            </a:pPr>
            <a:r>
              <a:t>// Svugdje drugdje:</a:t>
            </a:r>
          </a:p>
          <a:p>
            <a:pPr>
              <a:lnSpc>
                <a:spcPts val="1600"/>
              </a:lnSpc>
              <a:defRPr sz="1100">
                <a:solidFill>
                  <a:srgbClr val="2ED573"/>
                </a:solidFill>
                <a:latin typeface="JetBrains Mono Regular"/>
                <a:ea typeface="JetBrains Mono Regular"/>
                <a:cs typeface="JetBrains Mono Regular"/>
                <a:sym typeface="JetBrains Mono Regular"/>
              </a:defRPr>
            </a:pPr>
            <a:r>
              <a:t>import { LoginForm } from '@/features/auth'</a:t>
            </a:r>
          </a:p>
          <a:p>
            <a:pPr>
              <a:lnSpc>
                <a:spcPts val="1600"/>
              </a:lnSpc>
              <a:defRPr sz="1100">
                <a:solidFill>
                  <a:srgbClr val="FFFFFF"/>
                </a:solidFill>
                <a:latin typeface="JetBrains Mono Regular"/>
                <a:ea typeface="JetBrains Mono Regular"/>
                <a:cs typeface="JetBrains Mono Regular"/>
                <a:sym typeface="JetBrains Mono Regular"/>
              </a:defRPr>
            </a:pPr>
            <a:r>
              <a:t> </a:t>
            </a:r>
          </a:p>
          <a:p>
            <a:pPr>
              <a:lnSpc>
                <a:spcPts val="1600"/>
              </a:lnSpc>
              <a:defRPr sz="1100">
                <a:solidFill>
                  <a:srgbClr val="FF6B81"/>
                </a:solidFill>
                <a:latin typeface="JetBrains Mono Regular"/>
                <a:ea typeface="JetBrains Mono Regular"/>
                <a:cs typeface="JetBrains Mono Regular"/>
                <a:sym typeface="JetBrains Mono Regular"/>
              </a:defRPr>
            </a:pPr>
            <a:r>
              <a:t>// Zabranjeno:</a:t>
            </a:r>
          </a:p>
          <a:p>
            <a:pPr>
              <a:lnSpc>
                <a:spcPts val="1600"/>
              </a:lnSpc>
              <a:defRPr sz="1100">
                <a:solidFill>
                  <a:srgbClr val="FF6B81"/>
                </a:solidFill>
                <a:latin typeface="JetBrains Mono Regular"/>
                <a:ea typeface="JetBrains Mono Regular"/>
                <a:cs typeface="JetBrains Mono Regular"/>
                <a:sym typeface="JetBrains Mono Regular"/>
              </a:defRPr>
            </a:pPr>
            <a:r>
              <a:t>import { LoginForm } from '@/features/auth/ui/LoginForm'</a:t>
            </a:r>
          </a:p>
        </p:txBody>
      </p:sp>
    </p:spTree>
  </p:cSld>
  <p:clrMapOvr>
    <a:masterClrMapping/>
  </p:clrMapOvr>
  <p:transition xmlns:p14="http://schemas.microsoft.com/office/powerpoint/2010/main" spd="med" advClick="1"/>
</p:sld>
</file>

<file path=ppt/slides/slide4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57"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3600">
                <a:solidFill>
                  <a:srgbClr val="FFFFFF"/>
                </a:solidFill>
                <a:latin typeface="Inter Bold"/>
                <a:ea typeface="Inter Bold"/>
                <a:cs typeface="Inter Bold"/>
                <a:sym typeface="Inter Bold"/>
              </a:defRPr>
            </a:pPr>
            <a:r>
              <a:t>Pravilo #3: </a:t>
            </a:r>
            <a:r>
              <a:rPr>
                <a:solidFill>
                  <a:srgbClr val="00D4FF"/>
                </a:solidFill>
              </a:rPr>
              <a:t>Public API</a:t>
            </a:r>
          </a:p>
        </p:txBody>
      </p:sp>
      <p:sp>
        <p:nvSpPr>
          <p:cNvPr id="558" name="TextBox 2"/>
          <p:cNvSpPr txBox="1"/>
          <p:nvPr/>
        </p:nvSpPr>
        <p:spPr>
          <a:xfrm>
            <a:off x="640079" y="1371600"/>
            <a:ext cx="10908794" cy="2286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400">
                <a:solidFill>
                  <a:srgbClr val="888888"/>
                </a:solidFill>
                <a:latin typeface="Inter Regular"/>
                <a:ea typeface="Inter Regular"/>
                <a:cs typeface="Inter Regular"/>
                <a:sym typeface="Inter Regular"/>
              </a:defRPr>
            </a:pPr>
            <a:r>
              <a:t>Svaki slice “otkriva” svoj API kroz  </a:t>
            </a:r>
            <a:r>
              <a:rPr>
                <a:solidFill>
                  <a:srgbClr val="00D4FF"/>
                </a:solidFill>
                <a:latin typeface="JetBrains Mono Regular"/>
                <a:ea typeface="JetBrains Mono Regular"/>
                <a:cs typeface="JetBrains Mono Regular"/>
                <a:sym typeface="JetBrains Mono Regular"/>
              </a:rPr>
              <a:t>index.ts</a:t>
            </a:r>
          </a:p>
        </p:txBody>
      </p:sp>
      <p:sp>
        <p:nvSpPr>
          <p:cNvPr id="559" name="Rectangle 3"/>
          <p:cNvSpPr/>
          <p:nvPr/>
        </p:nvSpPr>
        <p:spPr>
          <a:xfrm>
            <a:off x="640080" y="1691639"/>
            <a:ext cx="548641" cy="36577"/>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560" name="Rectangle 4"/>
          <p:cNvSpPr/>
          <p:nvPr/>
        </p:nvSpPr>
        <p:spPr>
          <a:xfrm>
            <a:off x="640079" y="2194560"/>
            <a:ext cx="5303522" cy="3017521"/>
          </a:xfrm>
          <a:prstGeom prst="rect">
            <a:avLst/>
          </a:prstGeom>
          <a:solidFill>
            <a:srgbClr val="1A1A2E"/>
          </a:solidFill>
          <a:ln w="12700">
            <a:miter lim="400000"/>
          </a:ln>
        </p:spPr>
        <p:txBody>
          <a:bodyPr lIns="45718" tIns="45718" rIns="45718" bIns="45718" anchor="ctr"/>
          <a:lstStyle/>
          <a:p>
            <a:pPr algn="ctr">
              <a:defRPr>
                <a:solidFill>
                  <a:srgbClr val="FFFFFF"/>
                </a:solidFill>
              </a:defRPr>
            </a:pPr>
          </a:p>
        </p:txBody>
      </p:sp>
      <p:sp>
        <p:nvSpPr>
          <p:cNvPr id="561" name="TextBox 5"/>
          <p:cNvSpPr txBox="1"/>
          <p:nvPr/>
        </p:nvSpPr>
        <p:spPr>
          <a:xfrm>
            <a:off x="822958" y="2359152"/>
            <a:ext cx="2390141" cy="183388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lnSpc>
                <a:spcPts val="1600"/>
              </a:lnSpc>
              <a:defRPr sz="1200">
                <a:solidFill>
                  <a:srgbClr val="F2F2F2"/>
                </a:solidFill>
                <a:latin typeface="JetBrains Mono Regular"/>
                <a:ea typeface="JetBrains Mono Regular"/>
                <a:cs typeface="JetBrains Mono Regular"/>
                <a:sym typeface="JetBrains Mono Regular"/>
              </a:defRPr>
            </a:pPr>
            <a:r>
              <a:t>features/auth/</a:t>
            </a:r>
          </a:p>
          <a:p>
            <a:pPr>
              <a:lnSpc>
                <a:spcPts val="1600"/>
              </a:lnSpc>
              <a:defRPr sz="1200">
                <a:solidFill>
                  <a:srgbClr val="F2F2F2"/>
                </a:solidFill>
                <a:latin typeface="JetBrains Mono Regular"/>
                <a:ea typeface="JetBrains Mono Regular"/>
                <a:cs typeface="JetBrains Mono Regular"/>
                <a:sym typeface="JetBrains Mono Regular"/>
              </a:defRPr>
            </a:pPr>
            <a:r>
              <a:t>  ui/</a:t>
            </a:r>
          </a:p>
          <a:p>
            <a:pPr>
              <a:lnSpc>
                <a:spcPts val="1600"/>
              </a:lnSpc>
              <a:defRPr sz="1200">
                <a:solidFill>
                  <a:srgbClr val="F2F2F2"/>
                </a:solidFill>
                <a:latin typeface="JetBrains Mono Regular"/>
                <a:ea typeface="JetBrains Mono Regular"/>
                <a:cs typeface="JetBrains Mono Regular"/>
                <a:sym typeface="JetBrains Mono Regular"/>
              </a:defRPr>
            </a:pPr>
            <a:r>
              <a:t>    LoginForm.tsx</a:t>
            </a:r>
          </a:p>
          <a:p>
            <a:pPr>
              <a:lnSpc>
                <a:spcPts val="1600"/>
              </a:lnSpc>
              <a:defRPr sz="1200">
                <a:solidFill>
                  <a:srgbClr val="F2F2F2"/>
                </a:solidFill>
                <a:latin typeface="JetBrains Mono Regular"/>
                <a:ea typeface="JetBrains Mono Regular"/>
                <a:cs typeface="JetBrains Mono Regular"/>
                <a:sym typeface="JetBrains Mono Regular"/>
              </a:defRPr>
            </a:pPr>
            <a:r>
              <a:t>    LogoutButton.tsx</a:t>
            </a:r>
          </a:p>
          <a:p>
            <a:pPr>
              <a:lnSpc>
                <a:spcPts val="1600"/>
              </a:lnSpc>
              <a:defRPr sz="1200">
                <a:solidFill>
                  <a:srgbClr val="F2F2F2"/>
                </a:solidFill>
                <a:latin typeface="JetBrains Mono Regular"/>
                <a:ea typeface="JetBrains Mono Regular"/>
                <a:cs typeface="JetBrains Mono Regular"/>
                <a:sym typeface="JetBrains Mono Regular"/>
              </a:defRPr>
            </a:pPr>
            <a:r>
              <a:t>  model/</a:t>
            </a:r>
          </a:p>
          <a:p>
            <a:pPr>
              <a:lnSpc>
                <a:spcPts val="1600"/>
              </a:lnSpc>
              <a:defRPr sz="1200">
                <a:solidFill>
                  <a:srgbClr val="F2F2F2"/>
                </a:solidFill>
                <a:latin typeface="JetBrains Mono Regular"/>
                <a:ea typeface="JetBrains Mono Regular"/>
                <a:cs typeface="JetBrains Mono Regular"/>
                <a:sym typeface="JetBrains Mono Regular"/>
              </a:defRPr>
            </a:pPr>
            <a:r>
              <a:t>    auth-store.ts</a:t>
            </a:r>
          </a:p>
          <a:p>
            <a:pPr>
              <a:lnSpc>
                <a:spcPts val="1600"/>
              </a:lnSpc>
              <a:defRPr sz="1200">
                <a:solidFill>
                  <a:srgbClr val="F2F2F2"/>
                </a:solidFill>
                <a:latin typeface="JetBrains Mono Regular"/>
                <a:ea typeface="JetBrains Mono Regular"/>
                <a:cs typeface="JetBrains Mono Regular"/>
                <a:sym typeface="JetBrains Mono Regular"/>
              </a:defRPr>
            </a:pPr>
            <a:r>
              <a:t>  api/</a:t>
            </a:r>
          </a:p>
          <a:p>
            <a:pPr>
              <a:lnSpc>
                <a:spcPts val="1600"/>
              </a:lnSpc>
              <a:defRPr sz="1200">
                <a:solidFill>
                  <a:srgbClr val="F2F2F2"/>
                </a:solidFill>
                <a:latin typeface="JetBrains Mono Regular"/>
                <a:ea typeface="JetBrains Mono Regular"/>
                <a:cs typeface="JetBrains Mono Regular"/>
                <a:sym typeface="JetBrains Mono Regular"/>
              </a:defRPr>
            </a:pPr>
            <a:r>
              <a:t>    login.ts</a:t>
            </a:r>
          </a:p>
          <a:p>
            <a:pPr>
              <a:lnSpc>
                <a:spcPts val="1600"/>
              </a:lnSpc>
              <a:defRPr sz="1200">
                <a:solidFill>
                  <a:srgbClr val="FFFFFF"/>
                </a:solidFill>
                <a:latin typeface="JetBrains Mono Regular"/>
                <a:ea typeface="JetBrains Mono Regular"/>
                <a:cs typeface="JetBrains Mono Regular"/>
                <a:sym typeface="JetBrains Mono Regular"/>
              </a:defRPr>
            </a:pPr>
            <a:r>
              <a:t>  </a:t>
            </a:r>
            <a:r>
              <a:rPr>
                <a:solidFill>
                  <a:srgbClr val="00D4FF"/>
                </a:solidFill>
              </a:rPr>
              <a:t>index.ts</a:t>
            </a:r>
            <a:r>
              <a:t>   </a:t>
            </a:r>
            <a:r>
              <a:rPr>
                <a:solidFill>
                  <a:srgbClr val="666666"/>
                </a:solidFill>
              </a:rPr>
              <a:t>← jedini ulaz</a:t>
            </a:r>
          </a:p>
        </p:txBody>
      </p:sp>
      <p:sp>
        <p:nvSpPr>
          <p:cNvPr id="562" name="Rectangle 6"/>
          <p:cNvSpPr/>
          <p:nvPr/>
        </p:nvSpPr>
        <p:spPr>
          <a:xfrm>
            <a:off x="6217920" y="2194560"/>
            <a:ext cx="5669280" cy="3017521"/>
          </a:xfrm>
          <a:prstGeom prst="rect">
            <a:avLst/>
          </a:prstGeom>
          <a:solidFill>
            <a:srgbClr val="1A1A2E"/>
          </a:solidFill>
          <a:ln w="12700">
            <a:miter lim="400000"/>
          </a:ln>
        </p:spPr>
        <p:txBody>
          <a:bodyPr lIns="45718" tIns="45718" rIns="45718" bIns="45718" anchor="ctr"/>
          <a:lstStyle/>
          <a:p>
            <a:pPr algn="ctr">
              <a:defRPr>
                <a:solidFill>
                  <a:srgbClr val="FFFFFF"/>
                </a:solidFill>
              </a:defRPr>
            </a:pPr>
          </a:p>
        </p:txBody>
      </p:sp>
      <p:sp>
        <p:nvSpPr>
          <p:cNvPr id="563" name="TextBox 7"/>
          <p:cNvSpPr txBox="1"/>
          <p:nvPr/>
        </p:nvSpPr>
        <p:spPr>
          <a:xfrm>
            <a:off x="6400800" y="2359152"/>
            <a:ext cx="4706621" cy="183007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lnSpc>
                <a:spcPts val="1600"/>
              </a:lnSpc>
              <a:defRPr sz="1100">
                <a:solidFill>
                  <a:srgbClr val="888888"/>
                </a:solidFill>
                <a:latin typeface="JetBrains Mono Regular"/>
                <a:ea typeface="JetBrains Mono Regular"/>
                <a:cs typeface="JetBrains Mono Regular"/>
                <a:sym typeface="JetBrains Mono Regular"/>
              </a:defRPr>
            </a:pPr>
            <a:r>
              <a:t>// features/auth/index.ts</a:t>
            </a:r>
          </a:p>
          <a:p>
            <a:pPr>
              <a:lnSpc>
                <a:spcPts val="1600"/>
              </a:lnSpc>
              <a:defRPr sz="1100">
                <a:solidFill>
                  <a:srgbClr val="00D4FF"/>
                </a:solidFill>
                <a:latin typeface="JetBrains Mono Regular"/>
                <a:ea typeface="JetBrains Mono Regular"/>
                <a:cs typeface="JetBrains Mono Regular"/>
                <a:sym typeface="JetBrains Mono Regular"/>
              </a:defRPr>
            </a:pPr>
            <a:r>
              <a:t>export </a:t>
            </a:r>
            <a:r>
              <a:rPr>
                <a:solidFill>
                  <a:srgbClr val="F2F2F2"/>
                </a:solidFill>
              </a:rPr>
              <a:t>{ LoginForm } from './ui/LoginForm'</a:t>
            </a:r>
            <a:endParaRPr>
              <a:solidFill>
                <a:srgbClr val="F2F2F2"/>
              </a:solidFill>
            </a:endParaRPr>
          </a:p>
          <a:p>
            <a:pPr>
              <a:lnSpc>
                <a:spcPts val="1600"/>
              </a:lnSpc>
              <a:defRPr sz="1100">
                <a:solidFill>
                  <a:srgbClr val="00D4FF"/>
                </a:solidFill>
                <a:latin typeface="JetBrains Mono Regular"/>
                <a:ea typeface="JetBrains Mono Regular"/>
                <a:cs typeface="JetBrains Mono Regular"/>
                <a:sym typeface="JetBrains Mono Regular"/>
              </a:defRPr>
            </a:pPr>
            <a:r>
              <a:t>export </a:t>
            </a:r>
            <a:r>
              <a:rPr>
                <a:solidFill>
                  <a:srgbClr val="F2F2F2"/>
                </a:solidFill>
              </a:rPr>
              <a:t>{ useAuth } from './model/auth-store'</a:t>
            </a:r>
            <a:endParaRPr>
              <a:solidFill>
                <a:srgbClr val="F2F2F2"/>
              </a:solidFill>
            </a:endParaRPr>
          </a:p>
          <a:p>
            <a:pPr>
              <a:lnSpc>
                <a:spcPts val="1600"/>
              </a:lnSpc>
              <a:defRPr sz="1100">
                <a:solidFill>
                  <a:srgbClr val="FFFFFF"/>
                </a:solidFill>
                <a:latin typeface="JetBrains Mono Regular"/>
                <a:ea typeface="JetBrains Mono Regular"/>
                <a:cs typeface="JetBrains Mono Regular"/>
                <a:sym typeface="JetBrains Mono Regular"/>
              </a:defRPr>
            </a:pPr>
            <a:r>
              <a:t> </a:t>
            </a:r>
          </a:p>
          <a:p>
            <a:pPr>
              <a:lnSpc>
                <a:spcPts val="1600"/>
              </a:lnSpc>
              <a:defRPr sz="1100">
                <a:solidFill>
                  <a:srgbClr val="888888"/>
                </a:solidFill>
                <a:latin typeface="JetBrains Mono Regular"/>
                <a:ea typeface="JetBrains Mono Regular"/>
                <a:cs typeface="JetBrains Mono Regular"/>
                <a:sym typeface="JetBrains Mono Regular"/>
              </a:defRPr>
            </a:pPr>
            <a:r>
              <a:t>// Svugdje drugdje:</a:t>
            </a:r>
          </a:p>
          <a:p>
            <a:pPr>
              <a:lnSpc>
                <a:spcPts val="1600"/>
              </a:lnSpc>
              <a:defRPr sz="1100">
                <a:solidFill>
                  <a:srgbClr val="2ED573"/>
                </a:solidFill>
                <a:latin typeface="JetBrains Mono Regular"/>
                <a:ea typeface="JetBrains Mono Regular"/>
                <a:cs typeface="JetBrains Mono Regular"/>
                <a:sym typeface="JetBrains Mono Regular"/>
              </a:defRPr>
            </a:pPr>
            <a:r>
              <a:t>import { LoginForm } from '@/features/auth'</a:t>
            </a:r>
          </a:p>
          <a:p>
            <a:pPr>
              <a:lnSpc>
                <a:spcPts val="1600"/>
              </a:lnSpc>
              <a:defRPr sz="1100">
                <a:solidFill>
                  <a:srgbClr val="FFFFFF"/>
                </a:solidFill>
                <a:latin typeface="JetBrains Mono Regular"/>
                <a:ea typeface="JetBrains Mono Regular"/>
                <a:cs typeface="JetBrains Mono Regular"/>
                <a:sym typeface="JetBrains Mono Regular"/>
              </a:defRPr>
            </a:pPr>
            <a:r>
              <a:t> </a:t>
            </a:r>
          </a:p>
          <a:p>
            <a:pPr>
              <a:lnSpc>
                <a:spcPts val="1600"/>
              </a:lnSpc>
              <a:defRPr sz="1100">
                <a:solidFill>
                  <a:srgbClr val="FF6B81"/>
                </a:solidFill>
                <a:latin typeface="JetBrains Mono Regular"/>
                <a:ea typeface="JetBrains Mono Regular"/>
                <a:cs typeface="JetBrains Mono Regular"/>
                <a:sym typeface="JetBrains Mono Regular"/>
              </a:defRPr>
            </a:pPr>
            <a:r>
              <a:t>// Zabranjeno:</a:t>
            </a:r>
          </a:p>
          <a:p>
            <a:pPr>
              <a:lnSpc>
                <a:spcPts val="1600"/>
              </a:lnSpc>
              <a:defRPr sz="1100">
                <a:solidFill>
                  <a:srgbClr val="FF6B81"/>
                </a:solidFill>
                <a:latin typeface="JetBrains Mono Regular"/>
                <a:ea typeface="JetBrains Mono Regular"/>
                <a:cs typeface="JetBrains Mono Regular"/>
                <a:sym typeface="JetBrains Mono Regular"/>
              </a:defRPr>
            </a:pPr>
            <a:r>
              <a:t>import { LoginForm } from '@/features/auth/ui/LoginForm'</a:t>
            </a:r>
          </a:p>
        </p:txBody>
      </p:sp>
      <p:sp>
        <p:nvSpPr>
          <p:cNvPr id="564" name="Rounded Rectangle 8"/>
          <p:cNvSpPr/>
          <p:nvPr/>
        </p:nvSpPr>
        <p:spPr>
          <a:xfrm>
            <a:off x="640080" y="5440679"/>
            <a:ext cx="10972801" cy="1005841"/>
          </a:xfrm>
          <a:prstGeom prst="roundRect">
            <a:avLst>
              <a:gd name="adj" fmla="val 8000"/>
            </a:avLst>
          </a:prstGeom>
          <a:solidFill>
            <a:srgbClr val="0E3A47"/>
          </a:solidFill>
          <a:ln w="12700">
            <a:miter lim="400000"/>
          </a:ln>
        </p:spPr>
        <p:txBody>
          <a:bodyPr lIns="45718" tIns="45718" rIns="45718" bIns="45718" anchor="ctr"/>
          <a:lstStyle/>
          <a:p>
            <a:pPr algn="ctr">
              <a:defRPr>
                <a:solidFill>
                  <a:srgbClr val="FFFFFF"/>
                </a:solidFill>
              </a:defRPr>
            </a:pPr>
          </a:p>
        </p:txBody>
      </p:sp>
      <p:sp>
        <p:nvSpPr>
          <p:cNvPr id="565" name="Rectangle 9"/>
          <p:cNvSpPr/>
          <p:nvPr/>
        </p:nvSpPr>
        <p:spPr>
          <a:xfrm>
            <a:off x="640080" y="5440679"/>
            <a:ext cx="54865" cy="1005840"/>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566" name="TextBox 10"/>
          <p:cNvSpPr txBox="1"/>
          <p:nvPr/>
        </p:nvSpPr>
        <p:spPr>
          <a:xfrm>
            <a:off x="914400" y="5623559"/>
            <a:ext cx="10515600" cy="495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500">
                <a:solidFill>
                  <a:srgbClr val="FFFFFF"/>
                </a:solidFill>
                <a:latin typeface="Inter Regular"/>
                <a:ea typeface="Inter Regular"/>
                <a:cs typeface="Inter Regular"/>
                <a:sym typeface="Inter Regular"/>
              </a:defRPr>
            </a:pPr>
            <a:r>
              <a:t>AI pročita </a:t>
            </a:r>
            <a:r>
              <a:rPr>
                <a:solidFill>
                  <a:srgbClr val="00D4FF"/>
                </a:solidFill>
                <a:latin typeface="JetBrains Mono Regular"/>
                <a:ea typeface="JetBrains Mono Regular"/>
                <a:cs typeface="JetBrains Mono Regular"/>
                <a:sym typeface="JetBrains Mono Regular"/>
              </a:rPr>
              <a:t>index.ts</a:t>
            </a:r>
            <a:r>
              <a:t> i zna kompletno sučelje slice-a umjesto da učita hrpu linija interne implementacije. </a:t>
            </a:r>
            <a:r>
              <a:rPr>
                <a:solidFill>
                  <a:srgbClr val="00D4FF"/>
                </a:solidFill>
                <a:latin typeface="Inter Bold"/>
                <a:ea typeface="Inter Bold"/>
                <a:cs typeface="Inter Bold"/>
                <a:sym typeface="Inter Bold"/>
              </a:rPr>
              <a:t>Stabilan</a:t>
            </a:r>
            <a:r>
              <a:rPr>
                <a:solidFill>
                  <a:srgbClr val="00D4FF"/>
                </a:solidFill>
                <a:latin typeface="Inter Bold"/>
                <a:ea typeface="Inter Bold"/>
                <a:cs typeface="Inter Bold"/>
                <a:sym typeface="Inter Bold"/>
              </a:rPr>
              <a:t> contract -&gt; manje potrošenih tokena -&gt; bolji reasoning.</a:t>
            </a:r>
          </a:p>
        </p:txBody>
      </p:sp>
    </p:spTree>
  </p:cSld>
  <p:clrMapOvr>
    <a:masterClrMapping/>
  </p:clrMapOvr>
  <p:transition xmlns:p14="http://schemas.microsoft.com/office/powerpoint/2010/main" spd="med" advClick="1"/>
</p:sld>
</file>

<file path=ppt/slides/slide4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70"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3600">
                <a:solidFill>
                  <a:srgbClr val="FFFFFF"/>
                </a:solidFill>
                <a:latin typeface="Inter Bold"/>
                <a:ea typeface="Inter Bold"/>
                <a:cs typeface="Inter Bold"/>
                <a:sym typeface="Inter Bold"/>
              </a:defRPr>
            </a:lvl1pPr>
          </a:lstStyle>
          <a:p>
            <a:pPr/>
            <a:r>
              <a:t>FSD u akciji</a:t>
            </a:r>
          </a:p>
        </p:txBody>
      </p:sp>
      <p:sp>
        <p:nvSpPr>
          <p:cNvPr id="571" name="Rounded Rectangle 5"/>
          <p:cNvSpPr/>
          <p:nvPr/>
        </p:nvSpPr>
        <p:spPr>
          <a:xfrm>
            <a:off x="649730" y="1193128"/>
            <a:ext cx="7479825" cy="5402120"/>
          </a:xfrm>
          <a:prstGeom prst="roundRect">
            <a:avLst>
              <a:gd name="adj" fmla="val 2979"/>
            </a:avLst>
          </a:prstGeom>
          <a:solidFill>
            <a:srgbClr val="1A1A2E"/>
          </a:solidFill>
          <a:ln>
            <a:solidFill>
              <a:srgbClr val="333333"/>
            </a:solidFill>
          </a:ln>
        </p:spPr>
        <p:txBody>
          <a:bodyPr lIns="45718" tIns="45718" rIns="45718" bIns="45718" anchor="ctr"/>
          <a:lstStyle/>
          <a:p>
            <a:pPr algn="ctr">
              <a:defRPr>
                <a:solidFill>
                  <a:srgbClr val="FFFFFF"/>
                </a:solidFill>
              </a:defRPr>
            </a:pPr>
          </a:p>
        </p:txBody>
      </p:sp>
      <p:sp>
        <p:nvSpPr>
          <p:cNvPr id="572" name="TextBox 6"/>
          <p:cNvSpPr txBox="1"/>
          <p:nvPr/>
        </p:nvSpPr>
        <p:spPr>
          <a:xfrm>
            <a:off x="811416" y="1341669"/>
            <a:ext cx="7402191" cy="533971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45000"/>
              </a:lnSpc>
              <a:defRPr sz="1000">
                <a:solidFill>
                  <a:srgbClr val="F2F2F2"/>
                </a:solidFill>
                <a:latin typeface="JetBrains Mono Regular"/>
                <a:ea typeface="JetBrains Mono Regular"/>
                <a:cs typeface="JetBrains Mono Regular"/>
                <a:sym typeface="JetBrains Mono Regular"/>
              </a:defRPr>
            </a:pPr>
            <a:r>
              <a:t>src/</a:t>
            </a:r>
          </a:p>
          <a:p>
            <a:pPr>
              <a:lnSpc>
                <a:spcPct val="145000"/>
              </a:lnSpc>
              <a:defRPr sz="1000">
                <a:solidFill>
                  <a:srgbClr val="F2F2F2"/>
                </a:solidFill>
                <a:latin typeface="JetBrains Mono Regular"/>
                <a:ea typeface="JetBrains Mono Regular"/>
                <a:cs typeface="JetBrains Mono Regular"/>
                <a:sym typeface="JetBrains Mono Regular"/>
              </a:defRPr>
            </a:pPr>
            <a:r>
              <a:t>  pages/</a:t>
            </a:r>
          </a:p>
          <a:p>
            <a:pPr>
              <a:lnSpc>
                <a:spcPct val="145000"/>
              </a:lnSpc>
              <a:defRPr sz="1000">
                <a:solidFill>
                  <a:srgbClr val="F2F2F2"/>
                </a:solidFill>
                <a:latin typeface="JetBrains Mono Regular"/>
                <a:ea typeface="JetBrains Mono Regular"/>
                <a:cs typeface="JetBrains Mono Regular"/>
                <a:sym typeface="JetBrains Mono Regular"/>
              </a:defRPr>
            </a:pPr>
            <a:r>
              <a:t>    checkout</a:t>
            </a:r>
          </a:p>
          <a:p>
            <a:pPr>
              <a:lnSpc>
                <a:spcPct val="145000"/>
              </a:lnSpc>
              <a:defRPr sz="1000">
                <a:solidFill>
                  <a:srgbClr val="F2F2F2"/>
                </a:solidFill>
                <a:latin typeface="JetBrains Mono Regular"/>
                <a:ea typeface="JetBrains Mono Regular"/>
                <a:cs typeface="JetBrains Mono Regular"/>
                <a:sym typeface="JetBrains Mono Regular"/>
              </a:defRPr>
            </a:pPr>
            <a:r>
              <a:t>      ui/</a:t>
            </a:r>
          </a:p>
          <a:p>
            <a:pPr>
              <a:lnSpc>
                <a:spcPct val="145000"/>
              </a:lnSpc>
              <a:defRPr sz="1000">
                <a:solidFill>
                  <a:srgbClr val="F2F2F2"/>
                </a:solidFill>
                <a:latin typeface="JetBrains Mono Regular"/>
                <a:ea typeface="JetBrains Mono Regular"/>
                <a:cs typeface="JetBrains Mono Regular"/>
                <a:sym typeface="JetBrains Mono Regular"/>
              </a:defRPr>
            </a:pPr>
            <a:r>
              <a:t>        Checkout.tsx            </a:t>
            </a:r>
            <a:r>
              <a:rPr>
                <a:solidFill>
                  <a:srgbClr val="888888"/>
                </a:solidFill>
              </a:rPr>
              <a:t>← page ne sadržava poslovnu logiku - preskoci </a:t>
            </a:r>
            <a:r>
              <a:rPr sz="900">
                <a:solidFill>
                  <a:srgbClr val="888888"/>
                </a:solidFill>
              </a:rPr>
              <a:t>✅</a:t>
            </a:r>
          </a:p>
          <a:p>
            <a:pPr>
              <a:lnSpc>
                <a:spcPct val="145000"/>
              </a:lnSpc>
              <a:defRPr sz="1000">
                <a:solidFill>
                  <a:srgbClr val="F2F2F2"/>
                </a:solidFill>
                <a:latin typeface="JetBrains Mono Regular"/>
                <a:ea typeface="JetBrains Mono Regular"/>
                <a:cs typeface="JetBrains Mono Regular"/>
                <a:sym typeface="JetBrains Mono Regular"/>
              </a:defRPr>
            </a:pPr>
            <a:r>
              <a:t>  widgets/</a:t>
            </a:r>
          </a:p>
          <a:p>
            <a:pPr>
              <a:lnSpc>
                <a:spcPct val="145000"/>
              </a:lnSpc>
              <a:defRPr sz="1000">
                <a:solidFill>
                  <a:srgbClr val="F2F2F2"/>
                </a:solidFill>
                <a:latin typeface="JetBrains Mono Regular"/>
                <a:ea typeface="JetBrains Mono Regular"/>
                <a:cs typeface="JetBrains Mono Regular"/>
                <a:sym typeface="JetBrains Mono Regular"/>
              </a:defRPr>
            </a:pPr>
            <a:r>
              <a:t>      ui/</a:t>
            </a:r>
          </a:p>
          <a:p>
            <a:pPr>
              <a:lnSpc>
                <a:spcPct val="145000"/>
              </a:lnSpc>
              <a:defRPr sz="1000">
                <a:solidFill>
                  <a:srgbClr val="F2F2F2"/>
                </a:solidFill>
                <a:latin typeface="JetBrains Mono Regular"/>
                <a:ea typeface="JetBrains Mono Regular"/>
                <a:cs typeface="JetBrains Mono Regular"/>
                <a:sym typeface="JetBrains Mono Regular"/>
              </a:defRPr>
            </a:pPr>
            <a:r>
              <a:t>        </a:t>
            </a:r>
            <a:r>
              <a:rPr>
                <a:solidFill>
                  <a:srgbClr val="F2FFF2"/>
                </a:solidFill>
              </a:rPr>
              <a:t>CheckoutSection.tsx</a:t>
            </a:r>
            <a:r>
              <a:t>     </a:t>
            </a:r>
            <a:r>
              <a:rPr>
                <a:solidFill>
                  <a:srgbClr val="888888"/>
                </a:solidFill>
              </a:rPr>
              <a:t>← widget je samo skup feature-a - preskoci </a:t>
            </a:r>
            <a:r>
              <a:rPr sz="900">
                <a:solidFill>
                  <a:srgbClr val="888888"/>
                </a:solidFill>
              </a:rPr>
              <a:t>✅</a:t>
            </a:r>
          </a:p>
          <a:p>
            <a:pPr>
              <a:lnSpc>
                <a:spcPct val="145000"/>
              </a:lnSpc>
              <a:defRPr sz="1000">
                <a:solidFill>
                  <a:srgbClr val="F2F2F2"/>
                </a:solidFill>
                <a:latin typeface="JetBrains Mono Regular"/>
                <a:ea typeface="JetBrains Mono Regular"/>
                <a:cs typeface="JetBrains Mono Regular"/>
                <a:sym typeface="JetBrains Mono Regular"/>
              </a:defRPr>
            </a:pPr>
            <a:r>
              <a:t>  features/</a:t>
            </a:r>
          </a:p>
          <a:p>
            <a:pPr>
              <a:lnSpc>
                <a:spcPct val="145000"/>
              </a:lnSpc>
              <a:defRPr sz="1000">
                <a:solidFill>
                  <a:srgbClr val="F2F2F2"/>
                </a:solidFill>
                <a:latin typeface="JetBrains Mono Regular"/>
                <a:ea typeface="JetBrains Mono Regular"/>
                <a:cs typeface="JetBrains Mono Regular"/>
                <a:sym typeface="JetBrains Mono Regular"/>
              </a:defRPr>
            </a:pPr>
            <a:r>
              <a:t>    orders/</a:t>
            </a:r>
          </a:p>
          <a:p>
            <a:pPr>
              <a:lnSpc>
                <a:spcPct val="145000"/>
              </a:lnSpc>
              <a:defRPr sz="1000">
                <a:solidFill>
                  <a:srgbClr val="F2F2F2"/>
                </a:solidFill>
                <a:latin typeface="JetBrains Mono Regular"/>
                <a:ea typeface="JetBrains Mono Regular"/>
                <a:cs typeface="JetBrains Mono Regular"/>
                <a:sym typeface="JetBrains Mono Regular"/>
              </a:defRPr>
            </a:pPr>
            <a:r>
              <a:t>      api/</a:t>
            </a:r>
          </a:p>
          <a:p>
            <a:pPr>
              <a:lnSpc>
                <a:spcPct val="145000"/>
              </a:lnSpc>
              <a:defRPr sz="1000">
                <a:solidFill>
                  <a:srgbClr val="F2F2F2"/>
                </a:solidFill>
                <a:latin typeface="JetBrains Mono Regular"/>
                <a:ea typeface="JetBrains Mono Regular"/>
                <a:cs typeface="JetBrains Mono Regular"/>
                <a:sym typeface="JetBrains Mono Regular"/>
              </a:defRPr>
            </a:pPr>
            <a:r>
              <a:t>        createOrder.ts          </a:t>
            </a:r>
            <a:r>
              <a:rPr>
                <a:solidFill>
                  <a:srgbClr val="888888"/>
                </a:solidFill>
              </a:rPr>
              <a:t>← u API segmentu su BE interakcije i mapiranja - preskoci </a:t>
            </a:r>
            <a:r>
              <a:rPr sz="900">
                <a:solidFill>
                  <a:srgbClr val="888888"/>
                </a:solidFill>
              </a:rPr>
              <a:t>✅</a:t>
            </a:r>
          </a:p>
          <a:p>
            <a:pPr>
              <a:lnSpc>
                <a:spcPct val="145000"/>
              </a:lnSpc>
              <a:defRPr sz="1000">
                <a:solidFill>
                  <a:srgbClr val="F2F2F2"/>
                </a:solidFill>
                <a:latin typeface="JetBrains Mono Regular"/>
                <a:ea typeface="JetBrains Mono Regular"/>
                <a:cs typeface="JetBrains Mono Regular"/>
                <a:sym typeface="JetBrains Mono Regular"/>
              </a:defRPr>
            </a:pPr>
            <a:r>
              <a:t>      config/</a:t>
            </a:r>
          </a:p>
          <a:p>
            <a:pPr>
              <a:lnSpc>
                <a:spcPct val="145000"/>
              </a:lnSpc>
              <a:defRPr sz="1000">
                <a:solidFill>
                  <a:srgbClr val="F2F2F2"/>
                </a:solidFill>
                <a:latin typeface="JetBrains Mono Regular"/>
                <a:ea typeface="JetBrains Mono Regular"/>
                <a:cs typeface="JetBrains Mono Regular"/>
                <a:sym typeface="JetBrains Mono Regular"/>
              </a:defRPr>
            </a:pPr>
            <a:r>
              <a:t>        shipping.ts             </a:t>
            </a:r>
            <a:r>
              <a:rPr>
                <a:solidFill>
                  <a:srgbClr val="888888"/>
                </a:solidFill>
              </a:rPr>
              <a:t>← najbolji kandidat </a:t>
            </a:r>
            <a:r>
              <a:rPr sz="900">
                <a:solidFill>
                  <a:srgbClr val="888888"/>
                </a:solidFill>
              </a:rPr>
              <a:t>💡</a:t>
            </a:r>
          </a:p>
          <a:p>
            <a:pPr>
              <a:lnSpc>
                <a:spcPct val="145000"/>
              </a:lnSpc>
              <a:defRPr sz="1000">
                <a:solidFill>
                  <a:srgbClr val="F2F2F2"/>
                </a:solidFill>
                <a:latin typeface="JetBrains Mono Regular"/>
                <a:ea typeface="JetBrains Mono Regular"/>
                <a:cs typeface="JetBrains Mono Regular"/>
                <a:sym typeface="JetBrains Mono Regular"/>
              </a:defRPr>
            </a:pPr>
            <a:r>
              <a:t>      ui/</a:t>
            </a:r>
            <a:br/>
            <a:r>
              <a:t>        </a:t>
            </a:r>
            <a:r>
              <a:rPr>
                <a:solidFill>
                  <a:srgbClr val="888888"/>
                </a:solidFill>
              </a:rPr>
              <a:t>ContactForm.tsx </a:t>
            </a:r>
            <a:endParaRPr>
              <a:solidFill>
                <a:srgbClr val="888888"/>
              </a:solidFill>
            </a:endParaRPr>
          </a:p>
          <a:p>
            <a:pPr>
              <a:lnSpc>
                <a:spcPct val="145000"/>
              </a:lnSpc>
              <a:defRPr sz="1000">
                <a:solidFill>
                  <a:srgbClr val="F2F2F2"/>
                </a:solidFill>
                <a:latin typeface="JetBrains Mono Regular"/>
                <a:ea typeface="JetBrains Mono Regular"/>
                <a:cs typeface="JetBrains Mono Regular"/>
                <a:sym typeface="JetBrains Mono Regular"/>
              </a:defRPr>
            </a:pPr>
            <a:r>
              <a:t>        ShippingForm.tsx        </a:t>
            </a:r>
            <a:r>
              <a:rPr>
                <a:solidFill>
                  <a:srgbClr val="888888"/>
                </a:solidFill>
              </a:rPr>
              <a:t>← sljedeće mjesto za pretragu</a:t>
            </a:r>
          </a:p>
          <a:p>
            <a:pPr>
              <a:lnSpc>
                <a:spcPct val="145000"/>
              </a:lnSpc>
              <a:defRPr sz="1000">
                <a:solidFill>
                  <a:srgbClr val="FFFFFF"/>
                </a:solidFill>
                <a:latin typeface="JetBrains Mono Regular"/>
                <a:ea typeface="JetBrains Mono Regular"/>
                <a:cs typeface="JetBrains Mono Regular"/>
                <a:sym typeface="JetBrains Mono Regular"/>
              </a:defRPr>
            </a:pPr>
            <a:r>
              <a:t>      model/</a:t>
            </a:r>
            <a:endParaRPr>
              <a:solidFill>
                <a:srgbClr val="F2F2F2"/>
              </a:solidFill>
            </a:endParaRPr>
          </a:p>
          <a:p>
            <a:pPr>
              <a:lnSpc>
                <a:spcPct val="145000"/>
              </a:lnSpc>
              <a:defRPr sz="1000">
                <a:solidFill>
                  <a:srgbClr val="FF4757"/>
                </a:solidFill>
                <a:latin typeface="JetBrains Mono Regular"/>
                <a:ea typeface="JetBrains Mono Regular"/>
                <a:cs typeface="JetBrains Mono Regular"/>
                <a:sym typeface="JetBrains Mono Regular"/>
              </a:defRPr>
            </a:pPr>
            <a:r>
              <a:t>        </a:t>
            </a:r>
            <a:r>
              <a:rPr>
                <a:solidFill>
                  <a:srgbClr val="FFFFFF"/>
                </a:solidFill>
              </a:rPr>
              <a:t>shippingFormSchema.ts</a:t>
            </a:r>
            <a:r>
              <a:rPr>
                <a:solidFill>
                  <a:srgbClr val="888888"/>
                </a:solidFill>
              </a:rPr>
              <a:t>   ← schema samo za shipping, last resort</a:t>
            </a:r>
          </a:p>
          <a:p>
            <a:pPr lvl="1">
              <a:lnSpc>
                <a:spcPct val="145000"/>
              </a:lnSpc>
              <a:defRPr sz="1000">
                <a:solidFill>
                  <a:srgbClr val="EB565D"/>
                </a:solidFill>
                <a:latin typeface="JetBrains Mono Regular"/>
                <a:ea typeface="JetBrains Mono Regular"/>
                <a:cs typeface="JetBrains Mono Regular"/>
                <a:sym typeface="JetBrains Mono Regular"/>
              </a:defRPr>
            </a:pPr>
            <a:r>
              <a:t>        </a:t>
            </a:r>
            <a:r>
              <a:rPr>
                <a:solidFill>
                  <a:srgbClr val="FFFFFF"/>
                </a:solidFill>
              </a:rPr>
              <a:t>shippingFormValues.ts</a:t>
            </a:r>
            <a:r>
              <a:t>  </a:t>
            </a:r>
            <a:r>
              <a:rPr>
                <a:solidFill>
                  <a:srgbClr val="888888"/>
                </a:solidFill>
              </a:rPr>
              <a:t> ← tipovi samo za shipping</a:t>
            </a:r>
            <a:endParaRPr>
              <a:solidFill>
                <a:srgbClr val="888888"/>
              </a:solidFill>
            </a:endParaRPr>
          </a:p>
          <a:p>
            <a:pPr lvl="1">
              <a:lnSpc>
                <a:spcPct val="145000"/>
              </a:lnSpc>
              <a:defRPr sz="1000">
                <a:solidFill>
                  <a:srgbClr val="EB565D"/>
                </a:solidFill>
                <a:latin typeface="JetBrains Mono Regular"/>
                <a:ea typeface="JetBrains Mono Regular"/>
                <a:cs typeface="JetBrains Mono Regular"/>
                <a:sym typeface="JetBrains Mono Regular"/>
              </a:defRPr>
            </a:pPr>
            <a:r>
              <a:t>        </a:t>
            </a:r>
            <a:r>
              <a:rPr>
                <a:solidFill>
                  <a:srgbClr val="888888"/>
                </a:solidFill>
              </a:rPr>
              <a:t>contactFormSchema.ts</a:t>
            </a:r>
            <a:r>
              <a:rPr>
                <a:solidFill>
                  <a:srgbClr val="FFFFFF"/>
                </a:solidFill>
              </a:rPr>
              <a:t> </a:t>
            </a:r>
            <a:r>
              <a:t>  </a:t>
            </a:r>
            <a:endParaRPr>
              <a:solidFill>
                <a:srgbClr val="888888"/>
              </a:solidFill>
            </a:endParaRPr>
          </a:p>
        </p:txBody>
      </p:sp>
    </p:spTree>
  </p:cSld>
  <p:clrMapOvr>
    <a:masterClrMapping/>
  </p:clrMapOvr>
  <p:transition xmlns:p14="http://schemas.microsoft.com/office/powerpoint/2010/main" spd="med" advClick="1"/>
</p:sld>
</file>

<file path=ppt/slides/slide4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76"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3600">
                <a:solidFill>
                  <a:srgbClr val="FFFFFF"/>
                </a:solidFill>
                <a:latin typeface="Inter Bold"/>
                <a:ea typeface="Inter Bold"/>
                <a:cs typeface="Inter Bold"/>
                <a:sym typeface="Inter Bold"/>
              </a:defRPr>
            </a:pPr>
            <a:r>
              <a:t>AI alati </a:t>
            </a:r>
            <a:r>
              <a:rPr>
                <a:solidFill>
                  <a:srgbClr val="00D4FF"/>
                </a:solidFill>
              </a:rPr>
              <a:t>za FSD</a:t>
            </a:r>
          </a:p>
        </p:txBody>
      </p:sp>
      <p:sp>
        <p:nvSpPr>
          <p:cNvPr id="577" name="TextBox 2"/>
          <p:cNvSpPr txBox="1"/>
          <p:nvPr/>
        </p:nvSpPr>
        <p:spPr>
          <a:xfrm>
            <a:off x="640079" y="1371600"/>
            <a:ext cx="10908794" cy="2159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888888"/>
                </a:solidFill>
                <a:latin typeface="Inter Regular"/>
                <a:ea typeface="Inter Regular"/>
                <a:cs typeface="Inter Regular"/>
                <a:sym typeface="Inter Regular"/>
              </a:defRPr>
            </a:lvl1pPr>
          </a:lstStyle>
          <a:p>
            <a:pPr/>
            <a:r>
              <a:t>Daj AI-u FSD dokumentaciju kao kontekst — ne mora pogađati pravila.</a:t>
            </a:r>
          </a:p>
        </p:txBody>
      </p:sp>
      <p:sp>
        <p:nvSpPr>
          <p:cNvPr id="578" name="Rectangle 3"/>
          <p:cNvSpPr/>
          <p:nvPr/>
        </p:nvSpPr>
        <p:spPr>
          <a:xfrm>
            <a:off x="640080" y="1691639"/>
            <a:ext cx="548641" cy="36577"/>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579" name="TextBox 4"/>
          <p:cNvSpPr txBox="1"/>
          <p:nvPr/>
        </p:nvSpPr>
        <p:spPr>
          <a:xfrm>
            <a:off x="640080" y="2194560"/>
            <a:ext cx="548640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a:solidFill>
                  <a:srgbClr val="00D4FF"/>
                </a:solidFill>
                <a:latin typeface="Inter Bold"/>
                <a:ea typeface="Inter Bold"/>
                <a:cs typeface="Inter Bold"/>
                <a:sym typeface="Inter Bold"/>
              </a:defRPr>
            </a:lvl1pPr>
          </a:lstStyle>
          <a:p>
            <a:pPr/>
            <a:r>
              <a:t>LLMs.txt</a:t>
            </a:r>
          </a:p>
        </p:txBody>
      </p:sp>
      <p:sp>
        <p:nvSpPr>
          <p:cNvPr id="580" name="TextBox 5"/>
          <p:cNvSpPr txBox="1"/>
          <p:nvPr/>
        </p:nvSpPr>
        <p:spPr>
          <a:xfrm>
            <a:off x="640080" y="2606039"/>
            <a:ext cx="5486401" cy="2286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F2F2F2"/>
                </a:solidFill>
                <a:latin typeface="JetBrains Mono Regular"/>
                <a:ea typeface="JetBrains Mono Regular"/>
                <a:cs typeface="JetBrains Mono Regular"/>
                <a:sym typeface="JetBrains Mono Regular"/>
              </a:defRPr>
            </a:lvl1pPr>
          </a:lstStyle>
          <a:p>
            <a:pPr/>
            <a:r>
              <a:t>fsd.how/llms-full.txt</a:t>
            </a:r>
          </a:p>
        </p:txBody>
      </p:sp>
      <p:sp>
        <p:nvSpPr>
          <p:cNvPr id="581" name="TextBox 6"/>
          <p:cNvSpPr txBox="1"/>
          <p:nvPr/>
        </p:nvSpPr>
        <p:spPr>
          <a:xfrm>
            <a:off x="640080" y="3154679"/>
            <a:ext cx="5486401" cy="9779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400">
                <a:solidFill>
                  <a:srgbClr val="FFFFFF"/>
                </a:solidFill>
                <a:latin typeface="Inter Regular"/>
                <a:ea typeface="Inter Regular"/>
                <a:cs typeface="Inter Regular"/>
                <a:sym typeface="Inter Regular"/>
              </a:defRPr>
            </a:pPr>
            <a:r>
              <a:t>Cijela FSD specifikacija u jednom plain-text fileu — formatirana baš tako da je AI agenti mogu lako progutati.</a:t>
            </a:r>
          </a:p>
          <a:p>
            <a:pPr>
              <a:spcBef>
                <a:spcPts val="800"/>
              </a:spcBef>
              <a:defRPr sz="1400">
                <a:solidFill>
                  <a:srgbClr val="FFFFFF"/>
                </a:solidFill>
                <a:latin typeface="Inter Regular"/>
                <a:ea typeface="Inter Regular"/>
                <a:cs typeface="Inter Regular"/>
                <a:sym typeface="Inter Regular"/>
              </a:defRPr>
            </a:pPr>
            <a:r>
              <a:t>Doda se u </a:t>
            </a:r>
            <a:r>
              <a:rPr>
                <a:solidFill>
                  <a:srgbClr val="00D4FF"/>
                </a:solidFill>
                <a:latin typeface="JetBrains Mono Regular"/>
                <a:ea typeface="JetBrains Mono Regular"/>
                <a:cs typeface="JetBrains Mono Regular"/>
                <a:sym typeface="JetBrains Mono Regular"/>
              </a:rPr>
              <a:t>CLAUDE.md</a:t>
            </a:r>
            <a:r>
              <a:t> / </a:t>
            </a:r>
            <a:r>
              <a:rPr>
                <a:solidFill>
                  <a:srgbClr val="00D4FF"/>
                </a:solidFill>
                <a:latin typeface="JetBrains Mono Regular"/>
                <a:ea typeface="JetBrains Mono Regular"/>
                <a:cs typeface="JetBrains Mono Regular"/>
                <a:sym typeface="JetBrains Mono Regular"/>
              </a:rPr>
              <a:t>AGENTS.md</a:t>
            </a:r>
            <a:r>
              <a:t> ili kao referenca u promptu — AI dobiva pravila prije nego napiše ijednu liniju.</a:t>
            </a:r>
          </a:p>
        </p:txBody>
      </p:sp>
      <p:sp>
        <p:nvSpPr>
          <p:cNvPr id="582" name="TextBox 7"/>
          <p:cNvSpPr txBox="1"/>
          <p:nvPr/>
        </p:nvSpPr>
        <p:spPr>
          <a:xfrm>
            <a:off x="6400800" y="2194560"/>
            <a:ext cx="5486400"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a:solidFill>
                  <a:srgbClr val="00D4FF"/>
                </a:solidFill>
                <a:latin typeface="Inter Bold"/>
                <a:ea typeface="Inter Bold"/>
                <a:cs typeface="Inter Bold"/>
                <a:sym typeface="Inter Bold"/>
              </a:defRPr>
            </a:lvl1pPr>
          </a:lstStyle>
          <a:p>
            <a:pPr/>
            <a:r>
              <a:t>feature-sliced-design Skill</a:t>
            </a:r>
          </a:p>
        </p:txBody>
      </p:sp>
      <p:sp>
        <p:nvSpPr>
          <p:cNvPr id="583" name="TextBox 8"/>
          <p:cNvSpPr txBox="1"/>
          <p:nvPr/>
        </p:nvSpPr>
        <p:spPr>
          <a:xfrm>
            <a:off x="6400800" y="2606039"/>
            <a:ext cx="5486400" cy="2286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F2F2F2"/>
                </a:solidFill>
                <a:latin typeface="JetBrains Mono Regular"/>
                <a:ea typeface="JetBrains Mono Regular"/>
                <a:cs typeface="JetBrains Mono Regular"/>
                <a:sym typeface="JetBrains Mono Regular"/>
              </a:defRPr>
            </a:lvl1pPr>
          </a:lstStyle>
          <a:p>
            <a:pPr/>
            <a:r>
              <a:t>/feature-sliced-design</a:t>
            </a:r>
          </a:p>
        </p:txBody>
      </p:sp>
      <p:sp>
        <p:nvSpPr>
          <p:cNvPr id="584" name="TextBox 9"/>
          <p:cNvSpPr txBox="1"/>
          <p:nvPr/>
        </p:nvSpPr>
        <p:spPr>
          <a:xfrm>
            <a:off x="6400800" y="3154679"/>
            <a:ext cx="5486400" cy="1181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400">
                <a:solidFill>
                  <a:srgbClr val="FFFFFF"/>
                </a:solidFill>
                <a:latin typeface="Inter Regular"/>
                <a:ea typeface="Inter Regular"/>
                <a:cs typeface="Inter Regular"/>
                <a:sym typeface="Inter Regular"/>
              </a:defRPr>
            </a:pPr>
            <a:r>
              <a:t>Službeni Claude Code skill — aktivira se automatski kad se radi o FSD strukturi (gdje datoteku staviti, public API, cross-import, segmenti).</a:t>
            </a:r>
          </a:p>
          <a:p>
            <a:pPr>
              <a:spcBef>
                <a:spcPts val="800"/>
              </a:spcBef>
              <a:defRPr sz="1400">
                <a:solidFill>
                  <a:srgbClr val="FFFFFF"/>
                </a:solidFill>
                <a:latin typeface="Inter Regular"/>
                <a:ea typeface="Inter Regular"/>
                <a:cs typeface="Inter Regular"/>
                <a:sym typeface="Inter Regular"/>
              </a:defRPr>
            </a:pPr>
            <a:r>
              <a:t>Sadrži decision tree, anti-patterne i conditional reference fileove </a:t>
            </a:r>
            <a:r>
              <a:rPr>
                <a:solidFill>
                  <a:srgbClr val="00D4FF"/>
                </a:solidFill>
                <a:latin typeface="Inter Bold"/>
                <a:ea typeface="Inter Bold"/>
                <a:cs typeface="Inter Bold"/>
                <a:sym typeface="Inter Bold"/>
              </a:rPr>
              <a:t>— zna kada koje znanje učitati u kontekst.</a:t>
            </a:r>
          </a:p>
        </p:txBody>
      </p:sp>
      <p:sp>
        <p:nvSpPr>
          <p:cNvPr id="585" name="Rounded Rectangle 10"/>
          <p:cNvSpPr/>
          <p:nvPr/>
        </p:nvSpPr>
        <p:spPr>
          <a:xfrm>
            <a:off x="640080" y="5074920"/>
            <a:ext cx="10972801" cy="1188721"/>
          </a:xfrm>
          <a:prstGeom prst="roundRect">
            <a:avLst>
              <a:gd name="adj" fmla="val 8000"/>
            </a:avLst>
          </a:prstGeom>
          <a:solidFill>
            <a:srgbClr val="0E3A47"/>
          </a:solidFill>
          <a:ln w="12700">
            <a:miter lim="400000"/>
          </a:ln>
        </p:spPr>
        <p:txBody>
          <a:bodyPr lIns="45718" tIns="45718" rIns="45718" bIns="45718" anchor="ctr"/>
          <a:lstStyle/>
          <a:p>
            <a:pPr algn="ctr">
              <a:defRPr>
                <a:solidFill>
                  <a:srgbClr val="FFFFFF"/>
                </a:solidFill>
              </a:defRPr>
            </a:pPr>
          </a:p>
        </p:txBody>
      </p:sp>
      <p:sp>
        <p:nvSpPr>
          <p:cNvPr id="586" name="Rectangle 11"/>
          <p:cNvSpPr/>
          <p:nvPr/>
        </p:nvSpPr>
        <p:spPr>
          <a:xfrm>
            <a:off x="640080" y="5074920"/>
            <a:ext cx="54865" cy="1188721"/>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587" name="TextBox 12"/>
          <p:cNvSpPr txBox="1"/>
          <p:nvPr/>
        </p:nvSpPr>
        <p:spPr>
          <a:xfrm>
            <a:off x="914400" y="5257800"/>
            <a:ext cx="10515600" cy="5334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a:solidFill>
                  <a:srgbClr val="FFFFFF"/>
                </a:solidFill>
                <a:latin typeface="Inter Regular"/>
                <a:ea typeface="Inter Regular"/>
                <a:cs typeface="Inter Regular"/>
                <a:sym typeface="Inter Regular"/>
              </a:defRPr>
            </a:pPr>
            <a:r>
              <a:t>Dobra arhitektura + dobra dokumentacija u kontekstu = AI prestaje halucinirati i počinje pisati kod </a:t>
            </a:r>
            <a:r>
              <a:rPr>
                <a:solidFill>
                  <a:srgbClr val="00D4FF"/>
                </a:solidFill>
                <a:latin typeface="Inter Bold"/>
                <a:ea typeface="Inter Bold"/>
                <a:cs typeface="Inter Bold"/>
                <a:sym typeface="Inter Bold"/>
              </a:rPr>
              <a:t>po pravilima projekta</a:t>
            </a:r>
            <a:r>
              <a:t>.</a:t>
            </a:r>
          </a:p>
        </p:txBody>
      </p:sp>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0F172A"/>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Office Theme">
      <a:majorFont>
        <a:latin typeface="Calibri"/>
        <a:ea typeface="Calibri"/>
        <a:cs typeface="Calibri"/>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45718" tIns="45718" rIns="45718" bIns="45718" numCol="1" spcCol="38100" rtlCol="0" anchor="ctr"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8" tIns="45718" rIns="45718" bIns="45718" numCol="1" spcCol="38100" rtlCol="0" anchor="t"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Office Theme">
      <a:majorFont>
        <a:latin typeface="Calibri"/>
        <a:ea typeface="Calibri"/>
        <a:cs typeface="Calibri"/>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45718" tIns="45718" rIns="45718" bIns="45718" numCol="1" spcCol="38100" rtlCol="0" anchor="ctr"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8" tIns="45718" rIns="45718" bIns="45718" numCol="1" spcCol="38100" rtlCol="0" anchor="t"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