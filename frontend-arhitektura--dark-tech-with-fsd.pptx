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Shape 96"/>
          <p:cNvSpPr/>
          <p:nvPr>
            <p:ph type="sldImg"/>
          </p:nvPr>
        </p:nvSpPr>
        <p:spPr>
          <a:prstGeom prst="rect">
            <a:avLst/>
          </a:prstGeom>
        </p:spPr>
        <p:txBody>
          <a:bodyPr/>
          <a:lstStyle/>
          <a:p>
            <a:pPr/>
          </a:p>
        </p:txBody>
      </p:sp>
      <p:sp>
        <p:nvSpPr>
          <p:cNvPr id="97" name="Shape 97"/>
          <p:cNvSpPr/>
          <p:nvPr>
            <p:ph type="body" sz="quarter" idx="1"/>
          </p:nvPr>
        </p:nvSpPr>
        <p:spPr>
          <a:prstGeom prst="rect">
            <a:avLst/>
          </a:prstGeom>
        </p:spPr>
        <p:txBody>
          <a:bodyPr/>
          <a:lstStyle/>
          <a:p>
            <a:pPr/>
            <a: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Shape 101"/>
          <p:cNvSpPr/>
          <p:nvPr>
            <p:ph type="sldImg"/>
          </p:nvPr>
        </p:nvSpPr>
        <p:spPr>
          <a:prstGeom prst="rect">
            <a:avLst/>
          </a:prstGeom>
        </p:spPr>
        <p:txBody>
          <a:bodyPr/>
          <a:lstStyle/>
          <a:p>
            <a:pPr/>
          </a:p>
        </p:txBody>
      </p:sp>
      <p:sp>
        <p:nvSpPr>
          <p:cNvPr id="102" name="Shape 102"/>
          <p:cNvSpPr/>
          <p:nvPr>
            <p:ph type="body" sz="quarter" idx="1"/>
          </p:nvPr>
        </p:nvSpPr>
        <p:spPr>
          <a:prstGeom prst="rect">
            <a:avLst/>
          </a:prstGeom>
        </p:spPr>
        <p:txBody>
          <a:bodyPr/>
          <a:lstStyle>
            <a:lvl1pPr>
              <a:defRPr sz="1600"/>
            </a:lvl1pPr>
          </a:lstStyle>
          <a:p>
            <a:pPr/>
            <a:r>
              <a:t>Koliko puta ste čuli ovu rečenicu? Na twitteru, redditu ili pak svojem radnom mjestu. Jedan programer je raspisao detaljni plan implementacije za neki feature. Claude krene sa izvršavanjem plana, prvih par koraka implementira super, ali nakon toga počne halucinirati - importat funkcije koje ne postoje, duplicirati ih, radit promjene koje uzrokuju kršenje na drugim mjestima.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Shape 105"/>
          <p:cNvSpPr/>
          <p:nvPr>
            <p:ph type="sldImg"/>
          </p:nvPr>
        </p:nvSpPr>
        <p:spPr>
          <a:prstGeom prst="rect">
            <a:avLst/>
          </a:prstGeom>
        </p:spPr>
        <p:txBody>
          <a:bodyPr/>
          <a:lstStyle/>
          <a:p>
            <a:pPr/>
          </a:p>
        </p:txBody>
      </p:sp>
      <p:sp>
        <p:nvSpPr>
          <p:cNvPr id="106" name="Shape 106"/>
          <p:cNvSpPr/>
          <p:nvPr>
            <p:ph type="body" sz="quarter" idx="1"/>
          </p:nvPr>
        </p:nvSpPr>
        <p:spPr>
          <a:prstGeom prst="rect">
            <a:avLst/>
          </a:prstGeom>
        </p:spPr>
        <p:txBody>
          <a:bodyPr/>
          <a:lstStyle/>
          <a:p>
            <a:pPr/>
            <a: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Shape 110"/>
          <p:cNvSpPr/>
          <p:nvPr>
            <p:ph type="sldImg"/>
          </p:nvPr>
        </p:nvSpPr>
        <p:spPr>
          <a:prstGeom prst="rect">
            <a:avLst/>
          </a:prstGeom>
        </p:spPr>
        <p:txBody>
          <a:bodyPr/>
          <a:lstStyle/>
          <a:p>
            <a:pPr/>
          </a:p>
        </p:txBody>
      </p:sp>
      <p:sp>
        <p:nvSpPr>
          <p:cNvPr id="111" name="Shape 111"/>
          <p:cNvSpPr/>
          <p:nvPr>
            <p:ph type="body" sz="quarter" idx="1"/>
          </p:nvPr>
        </p:nvSpPr>
        <p:spPr>
          <a:prstGeom prst="rect">
            <a:avLst/>
          </a:prstGeom>
        </p:spPr>
        <p:txBody>
          <a:bodyPr/>
          <a:lstStyle>
            <a:lvl1pPr>
              <a:defRPr sz="1600"/>
            </a:lvl1pPr>
          </a:lstStyle>
          <a:p>
            <a:pPr/>
            <a:r>
              <a:t>Ili pak ovu rečenicu, gdje programer tvrdi da mu AI agent radi super na njegovom manjem projektu sa strane, ali kada ga pokuša koristiti u većem, produkcijskom kodu, on jednostavno ne performa dobro.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lvl1pPr>
              <a:defRPr sz="1600"/>
            </a:lvl1pPr>
          </a:lstStyle>
          <a:p>
            <a:pPr/>
            <a:r>
              <a:t>Realno gledajući, AI asistenti briljiraju u manjim, specifičnim ili repetitivnim zadacima: generiranju funkcija, pisanju kompleksnih regexa, postavljanju boilerplateai slično.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Shape 122"/>
          <p:cNvSpPr/>
          <p:nvPr>
            <p:ph type="sldImg"/>
          </p:nvPr>
        </p:nvSpPr>
        <p:spPr>
          <a:prstGeom prst="rect">
            <a:avLst/>
          </a:prstGeom>
        </p:spPr>
        <p:txBody>
          <a:bodyPr/>
          <a:lstStyle/>
          <a:p>
            <a:pPr/>
          </a:p>
        </p:txBody>
      </p:sp>
      <p:sp>
        <p:nvSpPr>
          <p:cNvPr id="123" name="Shape 123"/>
          <p:cNvSpPr/>
          <p:nvPr>
            <p:ph type="body" sz="quarter" idx="1"/>
          </p:nvPr>
        </p:nvSpPr>
        <p:spPr>
          <a:prstGeom prst="rect">
            <a:avLst/>
          </a:prstGeom>
        </p:spPr>
        <p:txBody>
          <a:bodyPr/>
          <a:lstStyle>
            <a:lvl1pPr>
              <a:defRPr sz="1600"/>
            </a:lvl1pPr>
          </a:lstStyle>
          <a:p>
            <a:pPr/>
            <a:r>
              <a:t>No, čim ih se baci u veće okruženje s puno 'šuma', počinju se mučiti.</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Shape 131"/>
          <p:cNvSpPr/>
          <p:nvPr>
            <p:ph type="sldImg"/>
          </p:nvPr>
        </p:nvSpPr>
        <p:spPr>
          <a:prstGeom prst="rect">
            <a:avLst/>
          </a:prstGeom>
        </p:spPr>
        <p:txBody>
          <a:bodyPr/>
          <a:lstStyle/>
          <a:p>
            <a:pPr/>
          </a:p>
        </p:txBody>
      </p:sp>
      <p:sp>
        <p:nvSpPr>
          <p:cNvPr id="132" name="Shape 132"/>
          <p:cNvSpPr/>
          <p:nvPr>
            <p:ph type="body" sz="quarter" idx="1"/>
          </p:nvPr>
        </p:nvSpPr>
        <p:spPr>
          <a:prstGeom prst="rect">
            <a:avLst/>
          </a:prstGeom>
        </p:spPr>
        <p:txBody>
          <a:bodyPr/>
          <a:lstStyle>
            <a:lvl1pPr>
              <a:defRPr sz="1600"/>
            </a:lvl1pPr>
          </a:lstStyle>
          <a:p>
            <a:pPr/>
            <a:r>
              <a:t>A razlog za nam je svima poznat: kontekst.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Shape 137"/>
          <p:cNvSpPr/>
          <p:nvPr>
            <p:ph type="sldImg"/>
          </p:nvPr>
        </p:nvSpPr>
        <p:spPr>
          <a:prstGeom prst="rect">
            <a:avLst/>
          </a:prstGeom>
        </p:spPr>
        <p:txBody>
          <a:bodyPr/>
          <a:lstStyle/>
          <a:p>
            <a:pPr/>
          </a:p>
        </p:txBody>
      </p:sp>
      <p:sp>
        <p:nvSpPr>
          <p:cNvPr id="138" name="Shape 138"/>
          <p:cNvSpPr/>
          <p:nvPr>
            <p:ph type="body" sz="quarter" idx="1"/>
          </p:nvPr>
        </p:nvSpPr>
        <p:spPr>
          <a:prstGeom prst="rect">
            <a:avLst/>
          </a:prstGeom>
        </p:spPr>
        <p:txBody>
          <a:bodyPr/>
          <a:lstStyle>
            <a:lvl1pPr>
              <a:defRPr sz="1600"/>
            </a:lvl1pPr>
          </a:lstStyle>
          <a:p>
            <a:pPr/>
            <a:r>
              <a:t>Kontekst se zapravo odnosi na skup tokena koji su uključeni u proces generiranja (samplinga) iz LLM-a.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Shape 143"/>
          <p:cNvSpPr/>
          <p:nvPr>
            <p:ph type="sldImg"/>
          </p:nvPr>
        </p:nvSpPr>
        <p:spPr>
          <a:prstGeom prst="rect">
            <a:avLst/>
          </a:prstGeom>
        </p:spPr>
        <p:txBody>
          <a:bodyPr/>
          <a:lstStyle/>
          <a:p>
            <a:pPr/>
          </a:p>
        </p:txBody>
      </p:sp>
      <p:sp>
        <p:nvSpPr>
          <p:cNvPr id="144" name="Shape 144"/>
          <p:cNvSpPr/>
          <p:nvPr>
            <p:ph type="body" sz="quarter" idx="1"/>
          </p:nvPr>
        </p:nvSpPr>
        <p:spPr>
          <a:prstGeom prst="rect">
            <a:avLst/>
          </a:prstGeom>
        </p:spPr>
        <p:txBody>
          <a:bodyPr/>
          <a:lstStyle>
            <a:lvl1pPr>
              <a:defRPr sz="1600"/>
            </a:lvl1pPr>
          </a:lstStyle>
          <a:p>
            <a:pPr/>
            <a:r>
              <a:t>Drugim riječima, sve što model može vidjeti kada generira odgovor; tvoj prompt, otvorene datoteke, struktura projekta itd. Do prije par mjeseci nije bilo tako jer je većina AI asistenata uzimala u obzir samo vaš prompt, ništa drugo. Tada je bilo popularno na društvenim mrežama pisati o magičnim promptovima koji su mogli natjerati AI da napravi čuda. No, kako su modeli postajali veći i sofisticiraniji, počeli su uzimati u obzir i druge izvore informacija, poput otvorenih datoteka, strukture projekta i slično.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Shape 152"/>
          <p:cNvSpPr/>
          <p:nvPr>
            <p:ph type="sldImg"/>
          </p:nvPr>
        </p:nvSpPr>
        <p:spPr>
          <a:prstGeom prst="rect">
            <a:avLst/>
          </a:prstGeom>
        </p:spPr>
        <p:txBody>
          <a:bodyPr/>
          <a:lstStyle/>
          <a:p>
            <a:pPr/>
          </a:p>
        </p:txBody>
      </p:sp>
      <p:sp>
        <p:nvSpPr>
          <p:cNvPr id="153" name="Shape 153"/>
          <p:cNvSpPr/>
          <p:nvPr>
            <p:ph type="body" sz="quarter" idx="1"/>
          </p:nvPr>
        </p:nvSpPr>
        <p:spPr>
          <a:prstGeom prst="rect">
            <a:avLst/>
          </a:prstGeom>
        </p:spPr>
        <p:txBody>
          <a:bodyPr/>
          <a:lstStyle>
            <a:lvl1pPr>
              <a:defRPr sz="1600"/>
            </a:lvl1pPr>
          </a:lstStyle>
          <a:p>
            <a:pPr/>
            <a:r>
              <a:t>To je ono što se promjenilo, a ono što se nije promjenilo je činjenica da AI i dalje ne poznaje projekt već čita samo ono što mu pružite - uz razliku da sada može čitati više stvari odjednom.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Shape 160"/>
          <p:cNvSpPr/>
          <p:nvPr>
            <p:ph type="sldImg"/>
          </p:nvPr>
        </p:nvSpPr>
        <p:spPr>
          <a:prstGeom prst="rect">
            <a:avLst/>
          </a:prstGeom>
        </p:spPr>
        <p:txBody>
          <a:bodyPr/>
          <a:lstStyle/>
          <a:p>
            <a:pPr/>
          </a:p>
        </p:txBody>
      </p:sp>
      <p:sp>
        <p:nvSpPr>
          <p:cNvPr id="161" name="Shape 161"/>
          <p:cNvSpPr/>
          <p:nvPr>
            <p:ph type="body" sz="quarter" idx="1"/>
          </p:nvPr>
        </p:nvSpPr>
        <p:spPr>
          <a:prstGeom prst="rect">
            <a:avLst/>
          </a:prstGeom>
        </p:spPr>
        <p:txBody>
          <a:bodyPr/>
          <a:lstStyle>
            <a:lvl1pPr>
              <a:defRPr sz="1600"/>
            </a:lvl1pPr>
          </a:lstStyle>
          <a:p>
            <a:pPr/>
            <a:r>
              <a:t>Kao što smo već spomenuli, context engineering je još prošle godine zamijenio termin prompt engineering, a u najjednostavnijem smislu odnosi se na oblikovanje onoga što model vidi s ciljem dobivanja boljeg outputa.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Shape 169"/>
          <p:cNvSpPr/>
          <p:nvPr>
            <p:ph type="sldImg"/>
          </p:nvPr>
        </p:nvSpPr>
        <p:spPr>
          <a:prstGeom prst="rect">
            <a:avLst/>
          </a:prstGeom>
        </p:spPr>
        <p:txBody>
          <a:bodyPr/>
          <a:lstStyle/>
          <a:p>
            <a:pPr/>
          </a:p>
        </p:txBody>
      </p:sp>
      <p:sp>
        <p:nvSpPr>
          <p:cNvPr id="170" name="Shape 170"/>
          <p:cNvSpPr/>
          <p:nvPr>
            <p:ph type="body" sz="quarter" idx="1"/>
          </p:nvPr>
        </p:nvSpPr>
        <p:spPr>
          <a:prstGeom prst="rect">
            <a:avLst/>
          </a:prstGeom>
        </p:spPr>
        <p:txBody>
          <a:bodyPr/>
          <a:lstStyle>
            <a:lvl1pPr>
              <a:defRPr sz="1600"/>
            </a:lvl1pPr>
          </a:lstStyle>
          <a:p>
            <a:pPr/>
            <a:r>
              <a:t>Kod dobivanja outputa od AI alata, više nije dovoljno samo napisati dobar prompt, već je potrebno obratiti pozornost i na druge stvari poput programskog koda, strukture direktorija, vanjskih paketa, konvencija i slično.</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Shape 178"/>
          <p:cNvSpPr/>
          <p:nvPr>
            <p:ph type="sldImg"/>
          </p:nvPr>
        </p:nvSpPr>
        <p:spPr>
          <a:prstGeom prst="rect">
            <a:avLst/>
          </a:prstGeom>
        </p:spPr>
        <p:txBody>
          <a:bodyPr/>
          <a:lstStyle/>
          <a:p>
            <a:pPr/>
          </a:p>
        </p:txBody>
      </p:sp>
      <p:sp>
        <p:nvSpPr>
          <p:cNvPr id="179" name="Shape 179"/>
          <p:cNvSpPr/>
          <p:nvPr>
            <p:ph type="body" sz="quarter" idx="1"/>
          </p:nvPr>
        </p:nvSpPr>
        <p:spPr>
          <a:prstGeom prst="rect">
            <a:avLst/>
          </a:prstGeom>
        </p:spPr>
        <p:txBody>
          <a:bodyPr/>
          <a:lstStyle>
            <a:lvl1pPr>
              <a:defRPr sz="1600"/>
            </a:lvl1pPr>
          </a:lstStyle>
          <a:p>
            <a:pPr/>
            <a:r>
              <a:t>Sada je moguće kontekst proširiti na više načina, a najpoznatiji je sa kreiranjem CLAUDE.md (ili AGENTS.md), dodavanjem MCP servera, skillova, rulesa itd.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Shape 182"/>
          <p:cNvSpPr/>
          <p:nvPr>
            <p:ph type="sldImg"/>
          </p:nvPr>
        </p:nvSpPr>
        <p:spPr>
          <a:prstGeom prst="rect">
            <a:avLst/>
          </a:prstGeom>
        </p:spPr>
        <p:txBody>
          <a:bodyPr/>
          <a:lstStyle/>
          <a:p>
            <a:pPr/>
          </a:p>
        </p:txBody>
      </p:sp>
      <p:sp>
        <p:nvSpPr>
          <p:cNvPr id="183" name="Shape 183"/>
          <p:cNvSpPr/>
          <p:nvPr>
            <p:ph type="body" sz="quarter" idx="1"/>
          </p:nvPr>
        </p:nvSpPr>
        <p:spPr>
          <a:prstGeom prst="rect">
            <a:avLst/>
          </a:prstGeom>
        </p:spPr>
        <p:txBody>
          <a:bodyPr/>
          <a:lstStyle>
            <a:lvl1pPr>
              <a:defRPr sz="1600"/>
            </a:lvl1pPr>
          </a:lstStyle>
          <a:p>
            <a:pPr/>
            <a:r>
              <a:t>Kako bi uopće mogli pristupiti rješavanju ovih spomenutih problema, potrebno je razumijeti kako zapravo LLM čita naš codebase.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hape 205"/>
          <p:cNvSpPr/>
          <p:nvPr>
            <p:ph type="sldImg"/>
          </p:nvPr>
        </p:nvSpPr>
        <p:spPr>
          <a:prstGeom prst="rect">
            <a:avLst/>
          </a:prstGeom>
        </p:spPr>
        <p:txBody>
          <a:bodyPr/>
          <a:lstStyle/>
          <a:p>
            <a:pPr/>
          </a:p>
        </p:txBody>
      </p:sp>
      <p:sp>
        <p:nvSpPr>
          <p:cNvPr id="206" name="Shape 206"/>
          <p:cNvSpPr/>
          <p:nvPr>
            <p:ph type="body" sz="quarter" idx="1"/>
          </p:nvPr>
        </p:nvSpPr>
        <p:spPr>
          <a:prstGeom prst="rect">
            <a:avLst/>
          </a:prstGeom>
        </p:spPr>
        <p:txBody>
          <a:bodyPr/>
          <a:lstStyle>
            <a:lvl1pPr>
              <a:defRPr sz="1600"/>
            </a:lvl1pPr>
          </a:lstStyle>
          <a:p>
            <a:pPr/>
            <a:r>
              <a:t>Kad Cursor otvori projekt, prvo se radi indeksiranje codebasea. Podijeli programski kod u chunkove -&gt; to su funkcije, klase, blokovi. Zatim se generiraju vector (vector) embeddingsi -&gt; to su numeričke reprezentacije podataka koje se odnose na semantičko značenje. Svi ti vektori se, naravno, spremaju u vektorsku bazu podataka (turbopuffer).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237"/>
          <p:cNvSpPr/>
          <p:nvPr>
            <p:ph type="sldImg"/>
          </p:nvPr>
        </p:nvSpPr>
        <p:spPr>
          <a:prstGeom prst="rect">
            <a:avLst/>
          </a:prstGeom>
        </p:spPr>
        <p:txBody>
          <a:bodyPr/>
          <a:lstStyle/>
          <a:p>
            <a:pPr/>
          </a:p>
        </p:txBody>
      </p:sp>
      <p:sp>
        <p:nvSpPr>
          <p:cNvPr id="238" name="Shape 238"/>
          <p:cNvSpPr/>
          <p:nvPr>
            <p:ph type="body" sz="quarter" idx="1"/>
          </p:nvPr>
        </p:nvSpPr>
        <p:spPr>
          <a:prstGeom prst="rect">
            <a:avLst/>
          </a:prstGeom>
        </p:spPr>
        <p:txBody>
          <a:bodyPr/>
          <a:lstStyle>
            <a:lvl1pPr>
              <a:defRPr sz="1600"/>
            </a:lvl1pPr>
          </a:lstStyle>
          <a:p>
            <a:pPr/>
            <a:r>
              <a:t>Nakon toga, svaki puta kada pošaljemo prompt, radi se semantičko pretraživanje -&gt; LLM (koji može vektorizirati stvari) pronalazi slične chunkove. Kada LLM pronađe rezultat, slijedi umetanje u kontekst (feeding the LLM).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Shape 272"/>
          <p:cNvSpPr/>
          <p:nvPr>
            <p:ph type="sldImg"/>
          </p:nvPr>
        </p:nvSpPr>
        <p:spPr>
          <a:prstGeom prst="rect">
            <a:avLst/>
          </a:prstGeom>
        </p:spPr>
        <p:txBody>
          <a:bodyPr/>
          <a:lstStyle/>
          <a:p>
            <a:pPr/>
          </a:p>
        </p:txBody>
      </p:sp>
      <p:sp>
        <p:nvSpPr>
          <p:cNvPr id="273" name="Shape 273"/>
          <p:cNvSpPr/>
          <p:nvPr>
            <p:ph type="body" sz="quarter" idx="1"/>
          </p:nvPr>
        </p:nvSpPr>
        <p:spPr>
          <a:prstGeom prst="rect">
            <a:avLst/>
          </a:prstGeom>
        </p:spPr>
        <p:txBody>
          <a:bodyPr/>
          <a:lstStyle>
            <a:lvl1pPr>
              <a:defRPr sz="1600"/>
            </a:lvl1pPr>
          </a:lstStyle>
          <a:p>
            <a:pPr/>
            <a:r>
              <a:t>Indeksiranje codebasea i kreiranje embeddingsa radi boljeg pretraživanja je vrlo moćan koncept, ali moramo biti svjesni da će kvaliteta rezultata pretraživanja odgovarat semantičkoj strukturi našeg codebasea, organizaciji komponenti, i slično. Drugim riječima, loša struktura rezultira lošim rezultatima.</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Shape 283"/>
          <p:cNvSpPr/>
          <p:nvPr>
            <p:ph type="sldImg"/>
          </p:nvPr>
        </p:nvSpPr>
        <p:spPr>
          <a:prstGeom prst="rect">
            <a:avLst/>
          </a:prstGeom>
        </p:spPr>
        <p:txBody>
          <a:bodyPr/>
          <a:lstStyle/>
          <a:p>
            <a:pPr/>
          </a:p>
        </p:txBody>
      </p:sp>
      <p:sp>
        <p:nvSpPr>
          <p:cNvPr id="284" name="Shape 284"/>
          <p:cNvSpPr/>
          <p:nvPr>
            <p:ph type="body" sz="quarter" idx="1"/>
          </p:nvPr>
        </p:nvSpPr>
        <p:spPr>
          <a:prstGeom prst="rect">
            <a:avLst/>
          </a:prstGeom>
        </p:spPr>
        <p:txBody>
          <a:bodyPr/>
          <a:lstStyle>
            <a:lvl1pPr>
              <a:defRPr sz="1600"/>
            </a:lvl1pPr>
          </a:lstStyle>
          <a:p>
            <a:pPr/>
            <a:r>
              <a:t>S druge strane, Claude Code koristi malo drugačiji pristup, a to je agentic search. Tu nema indeksiranja codebasea već se sve pretražuje po potrebi, kao što to developer radi. Claude Code ima svoj “agentic loop”, dakle petlju koja se stalno izvodi i izgleda nekako ovako. Ovdje su najbitniji koraci 4. i 5. gdje LLM zapravo u kompleksnijim zadacima mora nekoliko puta ići u dubinu ne bi li došao do onog dijela koji mu je bitan. Bitno je napomenuti da može i spawnat sub-agente koji će onda paralelno istraživati.</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Shape 297"/>
          <p:cNvSpPr/>
          <p:nvPr>
            <p:ph type="sldImg"/>
          </p:nvPr>
        </p:nvSpPr>
        <p:spPr>
          <a:prstGeom prst="rect">
            <a:avLst/>
          </a:prstGeom>
        </p:spPr>
        <p:txBody>
          <a:bodyPr/>
          <a:lstStyle/>
          <a:p>
            <a:pPr/>
          </a:p>
        </p:txBody>
      </p:sp>
      <p:sp>
        <p:nvSpPr>
          <p:cNvPr id="298" name="Shape 298"/>
          <p:cNvSpPr/>
          <p:nvPr>
            <p:ph type="body" sz="quarter" idx="1"/>
          </p:nvPr>
        </p:nvSpPr>
        <p:spPr>
          <a:prstGeom prst="rect">
            <a:avLst/>
          </a:prstGeom>
        </p:spPr>
        <p:txBody>
          <a:bodyPr/>
          <a:lstStyle>
            <a:lvl1pPr>
              <a:defRPr sz="1600"/>
            </a:lvl1pPr>
          </a:lstStyle>
          <a:p>
            <a:pPr/>
            <a:r>
              <a:t>Možemo zaključiti da niska kohezija u ovom slučaju zapravo rezultira bržim punjenjem konteksta, a samim time i većom potrošnjom tokena.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3" name="Shape 303"/>
          <p:cNvSpPr/>
          <p:nvPr>
            <p:ph type="sldImg"/>
          </p:nvPr>
        </p:nvSpPr>
        <p:spPr>
          <a:prstGeom prst="rect">
            <a:avLst/>
          </a:prstGeom>
        </p:spPr>
        <p:txBody>
          <a:bodyPr/>
          <a:lstStyle/>
          <a:p>
            <a:pPr/>
          </a:p>
        </p:txBody>
      </p:sp>
      <p:sp>
        <p:nvSpPr>
          <p:cNvPr id="304" name="Shape 304"/>
          <p:cNvSpPr/>
          <p:nvPr>
            <p:ph type="body" sz="quarter" idx="1"/>
          </p:nvPr>
        </p:nvSpPr>
        <p:spPr>
          <a:prstGeom prst="rect">
            <a:avLst/>
          </a:prstGeom>
        </p:spPr>
        <p:txBody>
          <a:bodyPr/>
          <a:lstStyle>
            <a:lvl1pPr>
              <a:defRPr sz="1600"/>
            </a:lvl1pPr>
          </a:lstStyle>
          <a:p>
            <a:pPr/>
            <a:r>
              <a:t>Neovisno koji alat i koji pristup koristili, 3 stvari su sigurne: AI mora odabrati što će uključiti u kontekst. Već smo zaključili da je kontekst ograničen i samim time nije moguće apsolutno sve staviti unutra. Također, imenovanje je vrlo bitno zbog generiranja boljih embeddingsa (Embedding / Indexing pristup) u Cursoru, ili zbog boljeg pattern matchinga u Claude Codeu (Agentic pristup). Konačno, definiranje jasnih granica rezultira s manjim šumom, manje potrošenih tokena i boljim outputom.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Shape 313"/>
          <p:cNvSpPr/>
          <p:nvPr>
            <p:ph type="sldImg"/>
          </p:nvPr>
        </p:nvSpPr>
        <p:spPr>
          <a:prstGeom prst="rect">
            <a:avLst/>
          </a:prstGeom>
        </p:spPr>
        <p:txBody>
          <a:bodyPr/>
          <a:lstStyle/>
          <a:p>
            <a:pPr/>
          </a:p>
        </p:txBody>
      </p:sp>
      <p:sp>
        <p:nvSpPr>
          <p:cNvPr id="314" name="Shape 314"/>
          <p:cNvSpPr/>
          <p:nvPr>
            <p:ph type="body" sz="quarter" idx="1"/>
          </p:nvPr>
        </p:nvSpPr>
        <p:spPr>
          <a:prstGeom prst="rect">
            <a:avLst/>
          </a:prstGeom>
        </p:spPr>
        <p:txBody>
          <a:bodyPr/>
          <a:lstStyle/>
          <a:p>
            <a:pPr>
              <a:defRPr sz="1600"/>
            </a:pPr>
            <a:r>
              <a:t>Najveći dio problema možemo prikazati na jednostavnom primjeru gdje LLM-u dajemo prompt u kojem tražimo da promjeni minimalni iznos za besplatnu dostavu sa 50€ na 100€, i to u“modularnoj” strukturi. Kako bi se ovdje ponašali AI asistenti? Cursor bi ovdje bio wildcard, jer bi inicijalno generirao vrlo slabe embeddingse zbog nepostojećeg semantičkog grupiranja pa bi output bio “random”. Claude Code bi nam potencijalno dao do znanja da ne zna odakle krenuti i tražio upute za nastavak, nakon kojeg bi nastavio samostalno istraživati dublje i dublje dok ne završi task i sprži hrpu tokena. </a:t>
            </a:r>
            <a:br/>
            <a:br/>
            <a:r>
              <a:t>Dakle, prvi problem je što nema semantičkog grupiranja.</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Shape 323"/>
          <p:cNvSpPr/>
          <p:nvPr>
            <p:ph type="sldImg"/>
          </p:nvPr>
        </p:nvSpPr>
        <p:spPr>
          <a:prstGeom prst="rect">
            <a:avLst/>
          </a:prstGeom>
        </p:spPr>
        <p:txBody>
          <a:bodyPr/>
          <a:lstStyle/>
          <a:p>
            <a:pPr/>
          </a:p>
        </p:txBody>
      </p:sp>
      <p:sp>
        <p:nvSpPr>
          <p:cNvPr id="324" name="Shape 324"/>
          <p:cNvSpPr/>
          <p:nvPr>
            <p:ph type="body" sz="quarter" idx="1"/>
          </p:nvPr>
        </p:nvSpPr>
        <p:spPr>
          <a:prstGeom prst="rect">
            <a:avLst/>
          </a:prstGeom>
        </p:spPr>
        <p:txBody>
          <a:bodyPr/>
          <a:lstStyle>
            <a:lvl1pPr>
              <a:defRPr sz="1600"/>
            </a:lvl1pPr>
          </a:lstStyle>
          <a:p>
            <a:pPr/>
            <a:r>
              <a:t>Drugi problem su generički nazivi datoteka koji nikako ne pomažu pri pretraživanju.</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Shape 333"/>
          <p:cNvSpPr/>
          <p:nvPr>
            <p:ph type="sldImg"/>
          </p:nvPr>
        </p:nvSpPr>
        <p:spPr>
          <a:prstGeom prst="rect">
            <a:avLst/>
          </a:prstGeom>
        </p:spPr>
        <p:txBody>
          <a:bodyPr/>
          <a:lstStyle/>
          <a:p>
            <a:pPr/>
          </a:p>
        </p:txBody>
      </p:sp>
      <p:sp>
        <p:nvSpPr>
          <p:cNvPr id="334" name="Shape 334"/>
          <p:cNvSpPr/>
          <p:nvPr>
            <p:ph type="body" sz="quarter" idx="1"/>
          </p:nvPr>
        </p:nvSpPr>
        <p:spPr>
          <a:prstGeom prst="rect">
            <a:avLst/>
          </a:prstGeom>
        </p:spPr>
        <p:txBody>
          <a:bodyPr/>
          <a:lstStyle>
            <a:lvl1pPr>
              <a:defRPr sz="1600"/>
            </a:lvl1pPr>
          </a:lstStyle>
          <a:p>
            <a:pPr/>
            <a:r>
              <a:t>Posljednji problem je nešto što svi volimo radit, a to su monolitne datoteke poput interface.ts gdje natrpamo doslovno sve tipove koje koristimo u modulu.</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1" name="Shape 341"/>
          <p:cNvSpPr/>
          <p:nvPr>
            <p:ph type="sldImg"/>
          </p:nvPr>
        </p:nvSpPr>
        <p:spPr>
          <a:prstGeom prst="rect">
            <a:avLst/>
          </a:prstGeom>
        </p:spPr>
        <p:txBody>
          <a:bodyPr/>
          <a:lstStyle/>
          <a:p>
            <a:pPr/>
          </a:p>
        </p:txBody>
      </p:sp>
      <p:sp>
        <p:nvSpPr>
          <p:cNvPr id="342" name="Shape 342"/>
          <p:cNvSpPr/>
          <p:nvPr>
            <p:ph type="body" sz="quarter" idx="1"/>
          </p:nvPr>
        </p:nvSpPr>
        <p:spPr>
          <a:prstGeom prst="rect">
            <a:avLst/>
          </a:prstGeom>
        </p:spPr>
        <p:txBody>
          <a:bodyPr/>
          <a:lstStyle>
            <a:lvl1pPr>
              <a:defRPr sz="1600"/>
            </a:lvl1pPr>
          </a:lstStyle>
          <a:p>
            <a:pPr/>
            <a:r>
              <a:t>Dakle, možemo zaključiti da dobra arhitektura smanjuje količinu konteksta potrebnog AI alatu da ispravno obavi svoj posao.</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0" name="Shape 350"/>
          <p:cNvSpPr/>
          <p:nvPr>
            <p:ph type="sldImg"/>
          </p:nvPr>
        </p:nvSpPr>
        <p:spPr>
          <a:prstGeom prst="rect">
            <a:avLst/>
          </a:prstGeom>
        </p:spPr>
        <p:txBody>
          <a:bodyPr/>
          <a:lstStyle/>
          <a:p>
            <a:pPr/>
          </a:p>
        </p:txBody>
      </p:sp>
      <p:sp>
        <p:nvSpPr>
          <p:cNvPr id="351" name="Shape 351"/>
          <p:cNvSpPr/>
          <p:nvPr>
            <p:ph type="body" sz="quarter" idx="1"/>
          </p:nvPr>
        </p:nvSpPr>
        <p:spPr>
          <a:prstGeom prst="rect">
            <a:avLst/>
          </a:prstGeom>
        </p:spPr>
        <p:txBody>
          <a:bodyPr/>
          <a:lstStyle>
            <a:lvl1pPr>
              <a:defRPr sz="1600"/>
            </a:lvl1pPr>
          </a:lstStyle>
          <a:p>
            <a:pPr/>
            <a:r>
              <a:t>I konačno dolazimo do pitanja, kako zapravo možemo izgraditi dobru arhitekturu?</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Shape 359"/>
          <p:cNvSpPr/>
          <p:nvPr>
            <p:ph type="sldImg"/>
          </p:nvPr>
        </p:nvSpPr>
        <p:spPr>
          <a:prstGeom prst="rect">
            <a:avLst/>
          </a:prstGeom>
        </p:spPr>
        <p:txBody>
          <a:bodyPr/>
          <a:lstStyle/>
          <a:p>
            <a:pPr/>
          </a:p>
        </p:txBody>
      </p:sp>
      <p:sp>
        <p:nvSpPr>
          <p:cNvPr id="360" name="Shape 360"/>
          <p:cNvSpPr/>
          <p:nvPr>
            <p:ph type="body" sz="quarter" idx="1"/>
          </p:nvPr>
        </p:nvSpPr>
        <p:spPr>
          <a:prstGeom prst="rect">
            <a:avLst/>
          </a:prstGeom>
        </p:spPr>
        <p:txBody>
          <a:bodyPr/>
          <a:lstStyle>
            <a:lvl1pPr>
              <a:defRPr sz="1600"/>
            </a:lvl1pPr>
          </a:lstStyle>
          <a:p>
            <a:pPr/>
            <a:r>
              <a:t>Odgovor je: primjenom prave metodologije, a ta metodologija se naziva Feature-Sliced Design.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Shape 363"/>
          <p:cNvSpPr/>
          <p:nvPr>
            <p:ph type="sldImg"/>
          </p:nvPr>
        </p:nvSpPr>
        <p:spPr>
          <a:prstGeom prst="rect">
            <a:avLst/>
          </a:prstGeom>
        </p:spPr>
        <p:txBody>
          <a:bodyPr/>
          <a:lstStyle/>
          <a:p>
            <a:pPr/>
          </a:p>
        </p:txBody>
      </p:sp>
      <p:sp>
        <p:nvSpPr>
          <p:cNvPr id="364" name="Shape 364"/>
          <p:cNvSpPr/>
          <p:nvPr>
            <p:ph type="body" sz="quarter" idx="1"/>
          </p:nvPr>
        </p:nvSpPr>
        <p:spPr>
          <a:prstGeom prst="rect">
            <a:avLst/>
          </a:prstGeom>
        </p:spPr>
        <p:txBody>
          <a:bodyPr/>
          <a:lstStyle/>
          <a:p>
            <a:pPr/>
            <a:r>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0" name="Shape 370"/>
          <p:cNvSpPr/>
          <p:nvPr>
            <p:ph type="sldImg"/>
          </p:nvPr>
        </p:nvSpPr>
        <p:spPr>
          <a:prstGeom prst="rect">
            <a:avLst/>
          </a:prstGeom>
        </p:spPr>
        <p:txBody>
          <a:bodyPr/>
          <a:lstStyle/>
          <a:p>
            <a:pPr/>
          </a:p>
        </p:txBody>
      </p:sp>
      <p:sp>
        <p:nvSpPr>
          <p:cNvPr id="371" name="Shape 371"/>
          <p:cNvSpPr/>
          <p:nvPr>
            <p:ph type="body" sz="quarter" idx="1"/>
          </p:nvPr>
        </p:nvSpPr>
        <p:spPr>
          <a:prstGeom prst="rect">
            <a:avLst/>
          </a:prstGeom>
        </p:spPr>
        <p:txBody>
          <a:bodyPr/>
          <a:lstStyle>
            <a:lvl1pPr>
              <a:defRPr sz="1600"/>
            </a:lvl1pPr>
          </a:lstStyle>
          <a:p>
            <a:pPr/>
            <a:r>
              <a:t>Feature-Sliced Design je arhitekturna metodologija za strukturiranje frontend aplikacija. U jednostavnom smislu - to je skup pravila i konvencija za organiziranje koda.</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8" name="Shape 378"/>
          <p:cNvSpPr/>
          <p:nvPr>
            <p:ph type="sldImg"/>
          </p:nvPr>
        </p:nvSpPr>
        <p:spPr>
          <a:prstGeom prst="rect">
            <a:avLst/>
          </a:prstGeom>
        </p:spPr>
        <p:txBody>
          <a:bodyPr/>
          <a:lstStyle/>
          <a:p>
            <a:pPr/>
          </a:p>
        </p:txBody>
      </p:sp>
      <p:sp>
        <p:nvSpPr>
          <p:cNvPr id="379" name="Shape 379"/>
          <p:cNvSpPr/>
          <p:nvPr>
            <p:ph type="body" sz="quarter" idx="1"/>
          </p:nvPr>
        </p:nvSpPr>
        <p:spPr>
          <a:prstGeom prst="rect">
            <a:avLst/>
          </a:prstGeom>
        </p:spPr>
        <p:txBody>
          <a:bodyPr/>
          <a:lstStyle>
            <a:lvl1pPr>
              <a:defRPr sz="1600"/>
            </a:lvl1pPr>
          </a:lstStyle>
          <a:p>
            <a:pPr/>
            <a:r>
              <a:t>Cilj je da projekt bude razumljiv iz same strukture, bez da se čita svaka linija koda.</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9" name="Shape 389"/>
          <p:cNvSpPr/>
          <p:nvPr>
            <p:ph type="sldImg"/>
          </p:nvPr>
        </p:nvSpPr>
        <p:spPr>
          <a:prstGeom prst="rect">
            <a:avLst/>
          </a:prstGeom>
        </p:spPr>
        <p:txBody>
          <a:bodyPr/>
          <a:lstStyle/>
          <a:p>
            <a:pPr/>
          </a:p>
        </p:txBody>
      </p:sp>
      <p:sp>
        <p:nvSpPr>
          <p:cNvPr id="390" name="Shape 390"/>
          <p:cNvSpPr/>
          <p:nvPr>
            <p:ph type="body" sz="quarter" idx="1"/>
          </p:nvPr>
        </p:nvSpPr>
        <p:spPr>
          <a:prstGeom prst="rect">
            <a:avLst/>
          </a:prstGeom>
        </p:spPr>
        <p:txBody>
          <a:bodyPr/>
          <a:lstStyle>
            <a:lvl1pPr>
              <a:defRPr sz="1600"/>
            </a:lvl1pPr>
          </a:lstStyle>
          <a:p>
            <a:pPr/>
            <a:r>
              <a:t>To je upravo isti problem koji ima AI agent - počinje svaku sesiju s nula konteksta i mora brzo izgraditi mentalni model projekta. Bitno je napomenuti da je ova metodologija namijenjena za “front-facing” aplikacije, a ne za librarye, backend i slično jer takve ne mogu puno benefita dobiti sa primjenom pravila, a u sljedećim slideovima vidjeti ćete i zašto.</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3" name="Shape 393"/>
          <p:cNvSpPr/>
          <p:nvPr>
            <p:ph type="sldImg"/>
          </p:nvPr>
        </p:nvSpPr>
        <p:spPr>
          <a:prstGeom prst="rect">
            <a:avLst/>
          </a:prstGeom>
        </p:spPr>
        <p:txBody>
          <a:bodyPr/>
          <a:lstStyle/>
          <a:p>
            <a:pPr/>
          </a:p>
        </p:txBody>
      </p:sp>
      <p:sp>
        <p:nvSpPr>
          <p:cNvPr id="394" name="Shape 394"/>
          <p:cNvSpPr/>
          <p:nvPr>
            <p:ph type="body" sz="quarter" idx="1"/>
          </p:nvPr>
        </p:nvSpPr>
        <p:spPr>
          <a:prstGeom prst="rect">
            <a:avLst/>
          </a:prstGeom>
        </p:spPr>
        <p:txBody>
          <a:bodyPr/>
          <a:lstStyle/>
          <a:p>
            <a:pPr>
              <a:defRPr sz="1600"/>
            </a:pPr>
            <a:r>
              <a:t>Prvi koncept i prva razina organizacije FSD-a su layeri koje dijele aplikaciju na grupe različite odgovornosti i razine abstrakcije. Layeri su standardizirani, znači uvijek se koriste sljedeći: app (sadrži routing, globalne stilove, providere itd. -&gt; ako npr. imamo file-based routing onda će ovdje ići rute), pages (tu se nalaze pagevi koji se importaju u rute iznad), widgeti (large self-contained chunks of functionality), features (poslovna logika -&gt; sve što donosi vrijednost korisniku), entities (poslovni entiteti specifični za aplikaciju) te shared - reusable funkcionalnosti (ili komponente) najčešće odvojeni od specifičnosti poslovne domene (ali ne nužno).</a:t>
            </a:r>
            <a:br/>
            <a:br/>
            <a:r>
              <a:t>Temeljno pravilo FSD-a je da moduli iz jednog layera smiju znati, odnosno smiju importati samo module isključivo iz layera ispod. Na primjer, modul iz pagesa smije importati samo iz widgetsa i featuresa, ali ne smije iz app-a. </a:t>
            </a:r>
            <a:br/>
            <a:b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7" name="Shape 397"/>
          <p:cNvSpPr/>
          <p:nvPr>
            <p:ph type="sldImg"/>
          </p:nvPr>
        </p:nvSpPr>
        <p:spPr>
          <a:prstGeom prst="rect">
            <a:avLst/>
          </a:prstGeom>
        </p:spPr>
        <p:txBody>
          <a:bodyPr/>
          <a:lstStyle/>
          <a:p>
            <a:pPr/>
          </a:p>
        </p:txBody>
      </p:sp>
      <p:sp>
        <p:nvSpPr>
          <p:cNvPr id="398" name="Shape 398"/>
          <p:cNvSpPr/>
          <p:nvPr>
            <p:ph type="body" sz="quarter" idx="1"/>
          </p:nvPr>
        </p:nvSpPr>
        <p:spPr>
          <a:prstGeom prst="rect">
            <a:avLst/>
          </a:prstGeom>
        </p:spPr>
        <p:txBody>
          <a:bodyPr/>
          <a:lstStyle/>
          <a:p>
            <a:pPr>
              <a:defRPr sz="1600"/>
            </a:pPr>
            <a:r>
              <a:t>Sljedeći koncept su slice-ovi, a oni razdvajaju kod prema poslovnoj domeni. Samim time su specifični aplikaciji i nisu standardizirani, pa ih mozemo nazivati po volji. Ovdje smo za primjer uzeli nekakav blog, pa bi sliceovi entiteta bili user, post i comment dok bi sliceovi featura u tom kontekstu bili npr. CreatePost, EditComment itd. Jedan od primarnih ciljeva FSD-a je ostvariti visoku koheziju i nizak “coupling”, što nas dovodi do drugog pravila, a to je da slicevi ne smiju importati druge sliceve na istom layeru. Ima i smisla, jer zašto bi trebali znati jedno za drugo ako su različitih domena? Također, svaki slice mora imati eksplicitno definirano ono što exporta, odnosno public API, a do toga ću doći kroz par trenutaka.</a:t>
            </a:r>
            <a:br/>
            <a:br/>
            <a:r>
              <a:t>Znamo da ovaj “slicing” ili “vertical slicing” zapravo nije nov pojam u svijetu softverskog inženjerstva, te da pojam “vertical slice architecture” postoji već dugo vremena, FSD je samo uzeo taj koncept i učinio ga dijelom metodologije. </a:t>
            </a:r>
            <a:br/>
            <a:br/>
            <a:r>
              <a:t>Bitno je naglasiti da layeri app i shared nemaju poslovnu domenu, pa samim time ni nemaju sliceove, nego su direktno podijeljeni u segmente. A što su segmenti?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Shape 401"/>
          <p:cNvSpPr/>
          <p:nvPr>
            <p:ph type="sldImg"/>
          </p:nvPr>
        </p:nvSpPr>
        <p:spPr>
          <a:prstGeom prst="rect">
            <a:avLst/>
          </a:prstGeom>
        </p:spPr>
        <p:txBody>
          <a:bodyPr/>
          <a:lstStyle/>
          <a:p>
            <a:pPr/>
          </a:p>
        </p:txBody>
      </p:sp>
      <p:sp>
        <p:nvSpPr>
          <p:cNvPr id="402" name="Shape 402"/>
          <p:cNvSpPr/>
          <p:nvPr>
            <p:ph type="body" sz="quarter" idx="1"/>
          </p:nvPr>
        </p:nvSpPr>
        <p:spPr>
          <a:prstGeom prst="rect">
            <a:avLst/>
          </a:prstGeom>
        </p:spPr>
        <p:txBody>
          <a:bodyPr/>
          <a:lstStyle>
            <a:lvl1pPr>
              <a:defRPr sz="1600"/>
            </a:lvl1pPr>
          </a:lstStyle>
          <a:p>
            <a:pPr/>
            <a:r>
              <a:t>Segmenti su treća razina organizacije koda i oni dijele kod prema svrsi. Znaći: u ui segment stavljamo sve vezano za prikaz korisničkog sučelja (UI komponente, stilove), u model stavljamo interface/typese, scheme, data-access objekte, poslovnu logiku. Česta zabluda oko ovog segmenta je da on treba sadržavati samo “modele” kako mu i ime govori, a zapravo se ovdje nalazi sve vezano uz podatkovni model, uz domenu koju modeliramo. Zatim imamo api segment u kojem se nalaze sve interakcije sa bekendom, repository, rute, DTO mapperi itd. Ostali predloženi segmenti koji nisu ovdje prikazani su lib i config, a kažem predloženi jer također nisu standardizirani -&gt; možemo definirati svoje segmente sve dok njihov naziv određuje zadaću, a ne sadržaj. Jedna greška što sam ja radio na početku je npr kreirao “hooks” segment u kojem bi držao sve React hookove u tom sliceu, što nije ispravno. Ispravno bi bilo staviti te hookove u model/lib, ovisno što točno radi hook.</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5" name="Shape 425"/>
          <p:cNvSpPr/>
          <p:nvPr>
            <p:ph type="sldImg"/>
          </p:nvPr>
        </p:nvSpPr>
        <p:spPr>
          <a:prstGeom prst="rect">
            <a:avLst/>
          </a:prstGeom>
        </p:spPr>
        <p:txBody>
          <a:bodyPr/>
          <a:lstStyle/>
          <a:p>
            <a:pPr/>
          </a:p>
        </p:txBody>
      </p:sp>
      <p:sp>
        <p:nvSpPr>
          <p:cNvPr id="426" name="Shape 426"/>
          <p:cNvSpPr/>
          <p:nvPr>
            <p:ph type="body" sz="quarter" idx="1"/>
          </p:nvPr>
        </p:nvSpPr>
        <p:spPr>
          <a:prstGeom prst="rect">
            <a:avLst/>
          </a:prstGeom>
        </p:spPr>
        <p:txBody>
          <a:bodyPr/>
          <a:lstStyle>
            <a:lvl1pPr>
              <a:defRPr sz="1600"/>
            </a:lvl1pPr>
          </a:lstStyle>
          <a:p>
            <a:pPr/>
            <a:r>
              <a:t>Slojevi su prvo i najvažnije pravilo FSD-a. Šest slojeva, uvijek u istom redoslijedu: app, pages, widgets, features, entities, shared. Pravilo importa je jednosmjerno - viši sloj smije importati iz nižeg, ali nikad obrnuto.</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1" name="Shape 451"/>
          <p:cNvSpPr/>
          <p:nvPr>
            <p:ph type="sldImg"/>
          </p:nvPr>
        </p:nvSpPr>
        <p:spPr>
          <a:prstGeom prst="rect">
            <a:avLst/>
          </a:prstGeom>
        </p:spPr>
        <p:txBody>
          <a:bodyPr/>
          <a:lstStyle/>
          <a:p>
            <a:pPr/>
          </a:p>
        </p:txBody>
      </p:sp>
      <p:sp>
        <p:nvSpPr>
          <p:cNvPr id="452" name="Shape 452"/>
          <p:cNvSpPr/>
          <p:nvPr>
            <p:ph type="body" sz="quarter" idx="1"/>
          </p:nvPr>
        </p:nvSpPr>
        <p:spPr>
          <a:prstGeom prst="rect">
            <a:avLst/>
          </a:prstGeom>
        </p:spPr>
        <p:txBody>
          <a:bodyPr/>
          <a:lstStyle>
            <a:lvl1pPr>
              <a:defRPr sz="1600"/>
            </a:lvl1pPr>
          </a:lstStyle>
          <a:p>
            <a:pPr/>
            <a:r>
              <a:t>Jednosmjerni tok importa znači da AI ne ulazi u beskonačne lance ovisnosti.</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9" name="Shape 479"/>
          <p:cNvSpPr/>
          <p:nvPr>
            <p:ph type="sldImg"/>
          </p:nvPr>
        </p:nvSpPr>
        <p:spPr>
          <a:prstGeom prst="rect">
            <a:avLst/>
          </a:prstGeom>
        </p:spPr>
        <p:txBody>
          <a:bodyPr/>
          <a:lstStyle/>
          <a:p>
            <a:pPr/>
          </a:p>
        </p:txBody>
      </p:sp>
      <p:sp>
        <p:nvSpPr>
          <p:cNvPr id="480" name="Shape 480"/>
          <p:cNvSpPr/>
          <p:nvPr>
            <p:ph type="body" sz="quarter" idx="1"/>
          </p:nvPr>
        </p:nvSpPr>
        <p:spPr>
          <a:prstGeom prst="rect">
            <a:avLst/>
          </a:prstGeom>
        </p:spPr>
        <p:txBody>
          <a:bodyPr/>
          <a:lstStyle>
            <a:lvl1pPr>
              <a:defRPr sz="1600"/>
            </a:lvl1pPr>
          </a:lstStyle>
          <a:p>
            <a:pPr/>
            <a:r>
              <a:t>Drugi benefit je taj da file tree postaje mapa odgovornosti, AI odmah zna gdje se nalazi poslovna logika, gdje primitivne komponente, a gdje infrastruktura.</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6" name="Shape 496"/>
          <p:cNvSpPr/>
          <p:nvPr>
            <p:ph type="sldImg"/>
          </p:nvPr>
        </p:nvSpPr>
        <p:spPr>
          <a:prstGeom prst="rect">
            <a:avLst/>
          </a:prstGeom>
        </p:spPr>
        <p:txBody>
          <a:bodyPr/>
          <a:lstStyle/>
          <a:p>
            <a:pPr/>
          </a:p>
        </p:txBody>
      </p:sp>
      <p:sp>
        <p:nvSpPr>
          <p:cNvPr id="497" name="Shape 497"/>
          <p:cNvSpPr/>
          <p:nvPr>
            <p:ph type="body" sz="quarter" idx="1"/>
          </p:nvPr>
        </p:nvSpPr>
        <p:spPr>
          <a:prstGeom prst="rect">
            <a:avLst/>
          </a:prstGeom>
        </p:spPr>
        <p:txBody>
          <a:bodyPr/>
          <a:lstStyle/>
          <a:p>
            <a:pPr/>
            <a:r>
              <a:t>Drugo pravilo razdvaja što od kako. Slice predstavlja jednu poslovnu domenu - auth, profile-edit, like-post. Unutar slica imamo segmente koji grupiraju kod po tehničkoj svrsi - ui, model, api, lib. Kako ovo pomaže AI-u? Prvo, granice slica znače da AI ostaje unutar jedne domene dok radi, ne vuče u kontekst kod iz drugih featurea. Drugo, segmenti su isti u svakom slice-u - AI nauči obrazac jednom i može ga primijeniti svugdje. Domain-based naming, user.ts a ne types.ts, daje AI-u jak semantički signal i kod tekstualne pretrage i kod embeddinga.</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9" name="Shape 509"/>
          <p:cNvSpPr/>
          <p:nvPr>
            <p:ph type="sldImg"/>
          </p:nvPr>
        </p:nvSpPr>
        <p:spPr>
          <a:prstGeom prst="rect">
            <a:avLst/>
          </a:prstGeom>
        </p:spPr>
        <p:txBody>
          <a:bodyPr/>
          <a:lstStyle/>
          <a:p>
            <a:pPr/>
          </a:p>
        </p:txBody>
      </p:sp>
      <p:sp>
        <p:nvSpPr>
          <p:cNvPr id="510" name="Shape 510"/>
          <p:cNvSpPr/>
          <p:nvPr>
            <p:ph type="body" sz="quarter" idx="1"/>
          </p:nvPr>
        </p:nvSpPr>
        <p:spPr>
          <a:prstGeom prst="rect">
            <a:avLst/>
          </a:prstGeom>
        </p:spPr>
        <p:txBody>
          <a:bodyPr/>
          <a:lstStyle/>
          <a:p>
            <a:pPr/>
            <a:r>
              <a:t>Treće pravilo: svaki slice mora imati index.ts koji eksponira svoj javni API. To je jedino mjesto kroz koje vanjski kod smije importati. Direktno importanje iz internih datoteka, kao auth/ui/LoginForm, strogo je zabranjeno. Public API daje dva ključna benefita za AI: prvo, drastično štedi tokene - AI pročita 8 redova index.ts-a i zna kompletno sučelje slica, umjesto da učitava 400+ linija implementacije. Drugo, Public API je stabilan ugovor - AI može refaktorirati internu implementaciju slica bez straha da će razbiti ostatak projekta. Index.ts je za AI ono što je TypeScript interface za developera.</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4" name="Shape 524"/>
          <p:cNvSpPr/>
          <p:nvPr>
            <p:ph type="sldImg"/>
          </p:nvPr>
        </p:nvSpPr>
        <p:spPr>
          <a:prstGeom prst="rect">
            <a:avLst/>
          </a:prstGeom>
        </p:spPr>
        <p:txBody>
          <a:bodyPr/>
          <a:lstStyle/>
          <a:p>
            <a:pPr/>
          </a:p>
        </p:txBody>
      </p:sp>
      <p:sp>
        <p:nvSpPr>
          <p:cNvPr id="525" name="Shape 525"/>
          <p:cNvSpPr/>
          <p:nvPr>
            <p:ph type="body" sz="quarter" idx="1"/>
          </p:nvPr>
        </p:nvSpPr>
        <p:spPr>
          <a:prstGeom prst="rect">
            <a:avLst/>
          </a:prstGeom>
        </p:spPr>
        <p:txBody>
          <a:bodyPr/>
          <a:lstStyle/>
          <a:p>
            <a:pPr/>
            <a:r>
              <a:t>Zadnji dio priče: kako konkretno dati AI-u FSD znanje. Dva alata. Prvi je LLMs.txt — cijela FSD specifikacija u jednom plain-text fileu, formatirana baš za AI agente. Doda se u CLAUDE.md, AGENTS.md ili kao referenca u promptu, i AI dobiva sva pravila prije nego napiše ijednu liniju. Drugi je službeni feature-sliced-design Skill u Claude Codeu — aktivira se automatski kad task uključuje FSD odluke. Sadrži decision tree, anti-patterne i conditional reference fileove, što znači da zna kada koje znanje učitati u kontekst, ne dump-a sve odjednom. Kombinacija: dobra arhitektura + dokumentacija u kontekstu = AI prestaje halucinirati i počinje pisati kod po pravilima projekta.</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0" name="Shape 550"/>
          <p:cNvSpPr/>
          <p:nvPr>
            <p:ph type="sldImg"/>
          </p:nvPr>
        </p:nvSpPr>
        <p:spPr>
          <a:prstGeom prst="rect">
            <a:avLst/>
          </a:prstGeom>
        </p:spPr>
        <p:txBody>
          <a:bodyPr/>
          <a:lstStyle/>
          <a:p>
            <a:pPr/>
          </a:p>
        </p:txBody>
      </p:sp>
      <p:sp>
        <p:nvSpPr>
          <p:cNvPr id="551" name="Shape 551"/>
          <p:cNvSpPr/>
          <p:nvPr>
            <p:ph type="body" sz="quarter" idx="1"/>
          </p:nvPr>
        </p:nvSpPr>
        <p:spPr>
          <a:prstGeom prst="rect">
            <a:avLst/>
          </a:prstGeom>
        </p:spPr>
        <p:txBody>
          <a:bodyPr/>
          <a:lstStyle/>
          <a:p>
            <a:pPr/>
            <a:r>
              <a: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0" algn="ctr">
              <a:buSzTx/>
              <a:buFontTx/>
              <a:buNone/>
              <a:defRPr>
                <a:solidFill>
                  <a:srgbClr val="888888"/>
                </a:solidFill>
              </a:defRPr>
            </a:lvl2pPr>
            <a:lvl3pPr marL="0" indent="0" algn="ctr">
              <a:buSzTx/>
              <a:buFontTx/>
              <a:buNone/>
              <a:defRPr>
                <a:solidFill>
                  <a:srgbClr val="888888"/>
                </a:solidFill>
              </a:defRPr>
            </a:lvl3pPr>
            <a:lvl4pPr marL="0" indent="0" algn="ctr">
              <a:buSzTx/>
              <a:buFontTx/>
              <a:buNone/>
              <a:defRPr>
                <a:solidFill>
                  <a:srgbClr val="888888"/>
                </a:solidFill>
              </a:defRPr>
            </a:lvl4pPr>
            <a:lvl5pPr marL="0" indent="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9"/>
          </a:xfrm>
          <a:prstGeom prst="rect">
            <a:avLst/>
          </a:prstGeom>
        </p:spPr>
        <p:txBody>
          <a:bodyPr anchor="b"/>
          <a:lstStyle>
            <a:lvl1pPr marL="0" indent="0">
              <a:spcBef>
                <a:spcPts val="400"/>
              </a:spcBef>
              <a:buSzTx/>
              <a:buFontTx/>
              <a:buNone/>
              <a:defRPr sz="2000">
                <a:solidFill>
                  <a:srgbClr val="888888"/>
                </a:solidFill>
              </a:defRPr>
            </a:lvl1pPr>
            <a:lvl2pPr marL="0" indent="0">
              <a:spcBef>
                <a:spcPts val="400"/>
              </a:spcBef>
              <a:buSzTx/>
              <a:buFontTx/>
              <a:buNone/>
              <a:defRPr sz="2000">
                <a:solidFill>
                  <a:srgbClr val="888888"/>
                </a:solidFill>
              </a:defRPr>
            </a:lvl2pPr>
            <a:lvl3pPr marL="0" indent="0">
              <a:spcBef>
                <a:spcPts val="400"/>
              </a:spcBef>
              <a:buSzTx/>
              <a:buFontTx/>
              <a:buNone/>
              <a:defRPr sz="2000">
                <a:solidFill>
                  <a:srgbClr val="888888"/>
                </a:solidFill>
              </a:defRPr>
            </a:lvl3pPr>
            <a:lvl4pPr marL="0" indent="0">
              <a:spcBef>
                <a:spcPts val="400"/>
              </a:spcBef>
              <a:buSzTx/>
              <a:buFontTx/>
              <a:buNone/>
              <a:defRPr sz="2000">
                <a:solidFill>
                  <a:srgbClr val="888888"/>
                </a:solidFill>
              </a:defRPr>
            </a:lvl4pPr>
            <a:lvl5pPr marL="0" indent="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8" indent="-320038">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0">
              <a:spcBef>
                <a:spcPts val="500"/>
              </a:spcBef>
              <a:buSzTx/>
              <a:buFontTx/>
              <a:buNone/>
              <a:defRPr b="1" sz="2400"/>
            </a:lvl2pPr>
            <a:lvl3pPr marL="0" indent="0">
              <a:spcBef>
                <a:spcPts val="500"/>
              </a:spcBef>
              <a:buSzTx/>
              <a:buFontTx/>
              <a:buNone/>
              <a:defRPr b="1" sz="2400"/>
            </a:lvl3pPr>
            <a:lvl4pPr marL="0" indent="0">
              <a:spcBef>
                <a:spcPts val="500"/>
              </a:spcBef>
              <a:buSzTx/>
              <a:buFontTx/>
              <a:buNone/>
              <a:defRPr b="1" sz="2400"/>
            </a:lvl4pPr>
            <a:lvl5pPr marL="0" indent="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4"/>
          </a:xfrm>
          <a:prstGeom prst="rect">
            <a:avLst/>
          </a:prstGeom>
        </p:spPr>
        <p:txBody>
          <a:bodyPr anchor="b"/>
          <a:lstStyle/>
          <a:p>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5"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8" y="1435100"/>
            <a:ext cx="3008317" cy="4691063"/>
          </a:xfrm>
          <a:prstGeom prst="rect">
            <a:avLst/>
          </a:prstGeom>
        </p:spPr>
        <p:txBody>
          <a:bodyPr/>
          <a:lstStyle/>
          <a:p>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2"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2" cy="4114800"/>
          </a:xfrm>
          <a:prstGeom prst="rect">
            <a:avLst/>
          </a:prstGeom>
        </p:spPr>
        <p:txBody>
          <a:bodyPr lIns="91439" tIns="45719" rIns="91439" bIns="45719">
            <a:noAutofit/>
          </a:bodyPr>
          <a:lstStyle/>
          <a:p>
            <a:pPr/>
          </a:p>
        </p:txBody>
      </p:sp>
      <p:sp>
        <p:nvSpPr>
          <p:cNvPr id="84" name="Body Level One…"/>
          <p:cNvSpPr txBox="1"/>
          <p:nvPr>
            <p:ph type="body" sz="quarter" idx="1"/>
          </p:nvPr>
        </p:nvSpPr>
        <p:spPr>
          <a:xfrm>
            <a:off x="1792288" y="5367337"/>
            <a:ext cx="5486402" cy="804864"/>
          </a:xfrm>
          <a:prstGeom prst="rect">
            <a:avLst/>
          </a:prstGeom>
        </p:spPr>
        <p:txBody>
          <a:bodyPr/>
          <a:lstStyle>
            <a:lvl1pPr marL="0" indent="0">
              <a:spcBef>
                <a:spcPts val="300"/>
              </a:spcBef>
              <a:buSzTx/>
              <a:buFontTx/>
              <a:buNone/>
              <a:defRPr sz="1400"/>
            </a:lvl1pPr>
            <a:lvl2pPr marL="0" indent="0">
              <a:spcBef>
                <a:spcPts val="300"/>
              </a:spcBef>
              <a:buSzTx/>
              <a:buFontTx/>
              <a:buNone/>
              <a:defRPr sz="1400"/>
            </a:lvl2pPr>
            <a:lvl3pPr marL="0" indent="0">
              <a:spcBef>
                <a:spcPts val="300"/>
              </a:spcBef>
              <a:buSzTx/>
              <a:buFontTx/>
              <a:buNone/>
              <a:defRPr sz="1400"/>
            </a:lvl3pPr>
            <a:lvl4pPr marL="0" indent="0">
              <a:spcBef>
                <a:spcPts val="300"/>
              </a:spcBef>
              <a:buSzTx/>
              <a:buFontTx/>
              <a:buNone/>
              <a:defRPr sz="1400"/>
            </a:lvl4pPr>
            <a:lvl5pPr marL="0" indent="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F172A"/>
        </a:solidFill>
      </p:bgPr>
    </p:bg>
    <p:spTree>
      <p:nvGrpSpPr>
        <p:cNvPr id="1" name=""/>
        <p:cNvGrpSpPr/>
        <p:nvPr/>
      </p:nvGrpSpPr>
      <p:grpSpPr>
        <a:xfrm>
          <a:off x="0" y="0"/>
          <a:ext cx="0" cy="0"/>
          <a:chOff x="0" y="0"/>
          <a:chExt cx="0" cy="0"/>
        </a:xfrm>
      </p:grpSpPr>
      <p:sp>
        <p:nvSpPr>
          <p:cNvPr id="2" name="Title Text"/>
          <p:cNvSpPr txBox="1"/>
          <p:nvPr>
            <p:ph type="title"/>
          </p:nvPr>
        </p:nvSpPr>
        <p:spPr>
          <a:xfrm>
            <a:off x="1824780" y="769937"/>
            <a:ext cx="974344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3" name="Body Level One…"/>
          <p:cNvSpPr txBox="1"/>
          <p:nvPr>
            <p:ph type="body" idx="1"/>
          </p:nvPr>
        </p:nvSpPr>
        <p:spPr>
          <a:xfrm>
            <a:off x="6797994" y="2438400"/>
            <a:ext cx="4770227"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8" y="6414761"/>
            <a:ext cx="258623" cy="248303"/>
          </a:xfrm>
          <a:prstGeom prst="rect">
            <a:avLst/>
          </a:prstGeom>
          <a:ln w="12700">
            <a:miter lim="400000"/>
          </a:ln>
        </p:spPr>
        <p:txBody>
          <a:bodyPr wrap="none" lIns="45718" tIns="45718" rIns="45718" bIns="45718"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1"/>
          <p:cNvSpPr/>
          <p:nvPr/>
        </p:nvSpPr>
        <p:spPr>
          <a:xfrm>
            <a:off x="640080" y="640080"/>
            <a:ext cx="548641" cy="45722"/>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95" name="TextBox 3"/>
          <p:cNvSpPr txBox="1"/>
          <p:nvPr/>
        </p:nvSpPr>
        <p:spPr>
          <a:xfrm>
            <a:off x="640080" y="2377438"/>
            <a:ext cx="10972801" cy="20046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6400">
                <a:solidFill>
                  <a:srgbClr val="F2F2F2"/>
                </a:solidFill>
                <a:latin typeface="Inter Bold"/>
                <a:ea typeface="Inter Bold"/>
                <a:cs typeface="Inter Bold"/>
                <a:sym typeface="Inter Bold"/>
              </a:defRPr>
            </a:pPr>
            <a:r>
              <a:t>Frontend arhitektura</a:t>
            </a:r>
          </a:p>
          <a:p>
            <a:pPr>
              <a:lnSpc>
                <a:spcPct val="104999"/>
              </a:lnSpc>
              <a:defRPr sz="6400">
                <a:solidFill>
                  <a:srgbClr val="F2F2F2"/>
                </a:solidFill>
                <a:latin typeface="Inter Bold"/>
                <a:ea typeface="Inter Bold"/>
                <a:cs typeface="Inter Bold"/>
                <a:sym typeface="Inter Bold"/>
              </a:defRPr>
            </a:pPr>
            <a:r>
              <a:t>kakvu </a:t>
            </a:r>
            <a:r>
              <a:rPr>
                <a:solidFill>
                  <a:srgbClr val="00D4FF"/>
                </a:solidFill>
              </a:rPr>
              <a:t>AI</a:t>
            </a:r>
            <a:r>
              <a:t> razumije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TextBox 1"/>
          <p:cNvSpPr txBox="1"/>
          <p:nvPr/>
        </p:nvSpPr>
        <p:spPr>
          <a:xfrm>
            <a:off x="914398" y="1828800"/>
            <a:ext cx="10360156"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888888"/>
                </a:solidFill>
                <a:latin typeface="Inter Regular"/>
                <a:ea typeface="Inter Regular"/>
                <a:cs typeface="Inter Regular"/>
                <a:sym typeface="Inter Regular"/>
              </a:defRPr>
            </a:lvl1pPr>
          </a:lstStyle>
          <a:p>
            <a:pPr/>
            <a:r>
              <a:t>Koliko puta ste čuli ovu rečenicu?</a:t>
            </a:r>
          </a:p>
        </p:txBody>
      </p:sp>
      <p:sp>
        <p:nvSpPr>
          <p:cNvPr id="100" name="TextBox 2"/>
          <p:cNvSpPr txBox="1"/>
          <p:nvPr/>
        </p:nvSpPr>
        <p:spPr>
          <a:xfrm>
            <a:off x="1097279" y="2468878"/>
            <a:ext cx="9994394" cy="18745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30000"/>
              </a:lnSpc>
              <a:defRPr sz="3400">
                <a:solidFill>
                  <a:srgbClr val="F2F2F2"/>
                </a:solidFill>
                <a:latin typeface="Inter Bold"/>
                <a:ea typeface="Inter Bold"/>
                <a:cs typeface="Inter Bold"/>
                <a:sym typeface="Inter Bold"/>
              </a:defRPr>
            </a:pPr>
            <a:r>
              <a:t>“Napisao sam detaljni plan implementacije za Claude-a. Prvih par koraka - sve divno i krasno. Nakon toga, </a:t>
            </a:r>
            <a:r>
              <a:rPr>
                <a:solidFill>
                  <a:srgbClr val="FF4757"/>
                </a:solidFill>
              </a:rPr>
              <a:t>počeo se gubiti.</a:t>
            </a:r>
            <a:r>
              <a: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04" name="top.png" descr="top.png"/>
          <p:cNvPicPr>
            <a:picLocks noChangeAspect="1"/>
          </p:cNvPicPr>
          <p:nvPr/>
        </p:nvPicPr>
        <p:blipFill>
          <a:blip r:embed="rId3">
            <a:extLst/>
          </a:blip>
          <a:stretch>
            <a:fillRect/>
          </a:stretch>
        </p:blipFill>
        <p:spPr>
          <a:xfrm>
            <a:off x="2866010" y="0"/>
            <a:ext cx="6447280" cy="6858001"/>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TextBox 1"/>
          <p:cNvSpPr txBox="1"/>
          <p:nvPr/>
        </p:nvSpPr>
        <p:spPr>
          <a:xfrm>
            <a:off x="914398" y="1828800"/>
            <a:ext cx="10360156"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888888"/>
                </a:solidFill>
                <a:latin typeface="Inter Regular"/>
                <a:ea typeface="Inter Regular"/>
                <a:cs typeface="Inter Regular"/>
                <a:sym typeface="Inter Regular"/>
              </a:defRPr>
            </a:lvl1pPr>
          </a:lstStyle>
          <a:p>
            <a:pPr/>
            <a:r>
              <a:t>Ili ovu rečenicu:</a:t>
            </a:r>
          </a:p>
        </p:txBody>
      </p:sp>
      <p:sp>
        <p:nvSpPr>
          <p:cNvPr id="109" name="TextBox 2"/>
          <p:cNvSpPr txBox="1"/>
          <p:nvPr/>
        </p:nvSpPr>
        <p:spPr>
          <a:xfrm>
            <a:off x="1595832" y="2491738"/>
            <a:ext cx="8987637" cy="18745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30000"/>
              </a:lnSpc>
              <a:defRPr sz="3400">
                <a:solidFill>
                  <a:srgbClr val="F2F2F2"/>
                </a:solidFill>
                <a:latin typeface="Inter Bold"/>
                <a:ea typeface="Inter Bold"/>
                <a:cs typeface="Inter Bold"/>
                <a:sym typeface="Inter Bold"/>
              </a:defRPr>
            </a:pPr>
            <a:r>
              <a:t>“Codex radi odlično na mojem mini projektu, ali je </a:t>
            </a:r>
            <a:r>
              <a:rPr>
                <a:solidFill>
                  <a:srgbClr val="FF4757"/>
                </a:solidFill>
              </a:rPr>
              <a:t>beskoristan</a:t>
            </a:r>
            <a:r>
              <a:t> u našem produkcijskom kodu.”</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Gdje AI zapinje</a:t>
            </a:r>
          </a:p>
        </p:txBody>
      </p:sp>
      <p:sp>
        <p:nvSpPr>
          <p:cNvPr id="114"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15" name="TextBox 3"/>
          <p:cNvSpPr txBox="1"/>
          <p:nvPr/>
        </p:nvSpPr>
        <p:spPr>
          <a:xfrm>
            <a:off x="640079" y="2103120"/>
            <a:ext cx="10908794" cy="7670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2200">
                <a:solidFill>
                  <a:srgbClr val="F2F2F2"/>
                </a:solidFill>
                <a:latin typeface="Inter Regular"/>
                <a:ea typeface="Inter Regular"/>
                <a:cs typeface="Inter Regular"/>
                <a:sym typeface="Inter Regular"/>
              </a:defRPr>
            </a:pPr>
            <a:r>
              <a:t>AI asistenti su </a:t>
            </a:r>
            <a:r>
              <a:rPr>
                <a:solidFill>
                  <a:srgbClr val="2ED573"/>
                </a:solidFill>
                <a:latin typeface="Inter Bold"/>
                <a:ea typeface="Inter Bold"/>
                <a:cs typeface="Inter Bold"/>
                <a:sym typeface="Inter Bold"/>
              </a:rPr>
              <a:t>stvarno sjajni</a:t>
            </a:r>
            <a:r>
              <a:t> u pisanju koda.</a:t>
            </a:r>
          </a:p>
          <a:p>
            <a:pPr>
              <a:lnSpc>
                <a:spcPct val="140000"/>
              </a:lnSpc>
              <a:spcBef>
                <a:spcPts val="400"/>
              </a:spcBef>
              <a:defRPr sz="1600">
                <a:solidFill>
                  <a:srgbClr val="888888"/>
                </a:solidFill>
                <a:latin typeface="Inter Regular"/>
                <a:ea typeface="Inter Regular"/>
                <a:cs typeface="Inter Regular"/>
                <a:sym typeface="Inter Regular"/>
              </a:defRPr>
            </a:pPr>
            <a:r>
              <a:t>Generiraj testove, napiši regex, složi boilerplate - mačji kašalj.</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Gdje AI zapinje</a:t>
            </a:r>
          </a:p>
        </p:txBody>
      </p:sp>
      <p:sp>
        <p:nvSpPr>
          <p:cNvPr id="120"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21" name="TextBox 3"/>
          <p:cNvSpPr txBox="1"/>
          <p:nvPr/>
        </p:nvSpPr>
        <p:spPr>
          <a:xfrm>
            <a:off x="640079" y="2103120"/>
            <a:ext cx="10908794" cy="1427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2200">
                <a:solidFill>
                  <a:srgbClr val="F2F2F2"/>
                </a:solidFill>
                <a:latin typeface="Inter Regular"/>
                <a:ea typeface="Inter Regular"/>
                <a:cs typeface="Inter Regular"/>
                <a:sym typeface="Inter Regular"/>
              </a:defRPr>
            </a:pPr>
            <a:r>
              <a:t>AI asistenti su </a:t>
            </a:r>
            <a:r>
              <a:rPr>
                <a:solidFill>
                  <a:srgbClr val="2ED573"/>
                </a:solidFill>
                <a:latin typeface="Inter Bold"/>
                <a:ea typeface="Inter Bold"/>
                <a:cs typeface="Inter Bold"/>
                <a:sym typeface="Inter Bold"/>
              </a:rPr>
              <a:t>stvarno sjajni</a:t>
            </a:r>
            <a:r>
              <a:t> u pisanju koda.</a:t>
            </a:r>
          </a:p>
          <a:p>
            <a:pPr>
              <a:lnSpc>
                <a:spcPct val="140000"/>
              </a:lnSpc>
              <a:spcBef>
                <a:spcPts val="400"/>
              </a:spcBef>
              <a:defRPr sz="1600">
                <a:solidFill>
                  <a:srgbClr val="888888"/>
                </a:solidFill>
                <a:latin typeface="Inter Regular"/>
                <a:ea typeface="Inter Regular"/>
                <a:cs typeface="Inter Regular"/>
                <a:sym typeface="Inter Regular"/>
              </a:defRPr>
            </a:pPr>
            <a:r>
              <a:t>Generiraj testove, napiši regex, složi boilerplate - mačji kašalj.</a:t>
            </a:r>
          </a:p>
          <a:p>
            <a:pPr>
              <a:lnSpc>
                <a:spcPct val="140000"/>
              </a:lnSpc>
              <a:spcBef>
                <a:spcPts val="1800"/>
              </a:spcBef>
              <a:defRPr sz="2200">
                <a:solidFill>
                  <a:srgbClr val="F2F2F2"/>
                </a:solidFill>
                <a:latin typeface="Inter Regular"/>
                <a:ea typeface="Inter Regular"/>
                <a:cs typeface="Inter Regular"/>
                <a:sym typeface="Inter Regular"/>
              </a:defRPr>
            </a:pPr>
            <a:r>
              <a:t>No, što je zadatak veći to AI-ju postaje </a:t>
            </a:r>
            <a:r>
              <a:rPr>
                <a:solidFill>
                  <a:srgbClr val="FF4757"/>
                </a:solidFill>
                <a:latin typeface="Inter Bold"/>
                <a:ea typeface="Inter Bold"/>
                <a:cs typeface="Inter Bold"/>
                <a:sym typeface="Inter Bold"/>
              </a:rPr>
              <a:t>sve teže</a:t>
            </a:r>
            <a:r>
              <a:t> pomoći:</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Gdje AI zapinje</a:t>
            </a:r>
          </a:p>
        </p:txBody>
      </p:sp>
      <p:sp>
        <p:nvSpPr>
          <p:cNvPr id="126"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27" name="TextBox 3"/>
          <p:cNvSpPr txBox="1"/>
          <p:nvPr/>
        </p:nvSpPr>
        <p:spPr>
          <a:xfrm>
            <a:off x="640079" y="2103120"/>
            <a:ext cx="10908794" cy="14274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2200">
                <a:solidFill>
                  <a:srgbClr val="F2F2F2"/>
                </a:solidFill>
                <a:latin typeface="Inter Regular"/>
                <a:ea typeface="Inter Regular"/>
                <a:cs typeface="Inter Regular"/>
                <a:sym typeface="Inter Regular"/>
              </a:defRPr>
            </a:pPr>
            <a:r>
              <a:t>AI asistenti su </a:t>
            </a:r>
            <a:r>
              <a:rPr>
                <a:solidFill>
                  <a:srgbClr val="2ED573"/>
                </a:solidFill>
                <a:latin typeface="Inter Bold"/>
                <a:ea typeface="Inter Bold"/>
                <a:cs typeface="Inter Bold"/>
                <a:sym typeface="Inter Bold"/>
              </a:rPr>
              <a:t>stvarno sjajni</a:t>
            </a:r>
            <a:r>
              <a:t> u pisanju koda.</a:t>
            </a:r>
          </a:p>
          <a:p>
            <a:pPr>
              <a:lnSpc>
                <a:spcPct val="140000"/>
              </a:lnSpc>
              <a:spcBef>
                <a:spcPts val="400"/>
              </a:spcBef>
              <a:defRPr sz="1600">
                <a:solidFill>
                  <a:srgbClr val="888888"/>
                </a:solidFill>
                <a:latin typeface="Inter Regular"/>
                <a:ea typeface="Inter Regular"/>
                <a:cs typeface="Inter Regular"/>
                <a:sym typeface="Inter Regular"/>
              </a:defRPr>
            </a:pPr>
            <a:r>
              <a:t>Generiraj testove, napiši regex, složi boilerplate - mačji kašalj.</a:t>
            </a:r>
          </a:p>
          <a:p>
            <a:pPr>
              <a:lnSpc>
                <a:spcPct val="140000"/>
              </a:lnSpc>
              <a:spcBef>
                <a:spcPts val="1800"/>
              </a:spcBef>
              <a:defRPr sz="2200">
                <a:solidFill>
                  <a:srgbClr val="F2F2F2"/>
                </a:solidFill>
                <a:latin typeface="Inter Regular"/>
                <a:ea typeface="Inter Regular"/>
                <a:cs typeface="Inter Regular"/>
                <a:sym typeface="Inter Regular"/>
              </a:defRPr>
            </a:pPr>
            <a:r>
              <a:t>No, što je zadatak veći to AI-ju postaje </a:t>
            </a:r>
            <a:r>
              <a:rPr>
                <a:solidFill>
                  <a:srgbClr val="FF4757"/>
                </a:solidFill>
                <a:latin typeface="Inter Bold"/>
                <a:ea typeface="Inter Bold"/>
                <a:cs typeface="Inter Bold"/>
                <a:sym typeface="Inter Bold"/>
              </a:rPr>
              <a:t>sve teže</a:t>
            </a:r>
            <a:r>
              <a:t> pomoći:</a:t>
            </a:r>
          </a:p>
        </p:txBody>
      </p:sp>
      <p:sp>
        <p:nvSpPr>
          <p:cNvPr id="128" name="Rounded Rectangle 4"/>
          <p:cNvSpPr/>
          <p:nvPr/>
        </p:nvSpPr>
        <p:spPr>
          <a:xfrm>
            <a:off x="640080" y="4937759"/>
            <a:ext cx="10972801" cy="1005842"/>
          </a:xfrm>
          <a:prstGeom prst="roundRect">
            <a:avLst>
              <a:gd name="adj" fmla="val 6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129" name="Rectangle 5"/>
          <p:cNvSpPr/>
          <p:nvPr/>
        </p:nvSpPr>
        <p:spPr>
          <a:xfrm>
            <a:off x="640080" y="4937759"/>
            <a:ext cx="54866" cy="1005840"/>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30" name="TextBox 6"/>
          <p:cNvSpPr txBox="1"/>
          <p:nvPr/>
        </p:nvSpPr>
        <p:spPr>
          <a:xfrm>
            <a:off x="868678" y="5315710"/>
            <a:ext cx="1060704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Regular"/>
                <a:ea typeface="Inter Regular"/>
                <a:cs typeface="Inter Regular"/>
                <a:sym typeface="Inter Regular"/>
              </a:defRPr>
            </a:pPr>
            <a:r>
              <a:t>Razlog za to je jednostavan: </a:t>
            </a:r>
            <a:r>
              <a:rPr>
                <a:solidFill>
                  <a:srgbClr val="00D4FF"/>
                </a:solidFill>
                <a:latin typeface="Inter Bold"/>
                <a:ea typeface="Inter Bold"/>
                <a:cs typeface="Inter Bold"/>
                <a:sym typeface="Inter Bold"/>
              </a:rPr>
              <a:t>kontekst.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Što je </a:t>
            </a:r>
            <a:r>
              <a:rPr>
                <a:solidFill>
                  <a:srgbClr val="00D4FF"/>
                </a:solidFill>
              </a:rPr>
              <a:t>“kontekst”</a:t>
            </a:r>
            <a:r>
              <a:t> u LLM smislu?</a:t>
            </a:r>
          </a:p>
        </p:txBody>
      </p:sp>
      <p:sp>
        <p:nvSpPr>
          <p:cNvPr id="135"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36" name="TextBox 3"/>
          <p:cNvSpPr txBox="1"/>
          <p:nvPr/>
        </p:nvSpPr>
        <p:spPr>
          <a:xfrm>
            <a:off x="640079" y="2103120"/>
            <a:ext cx="9701615"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00D4FF"/>
                </a:solidFill>
                <a:latin typeface="Inter Bold"/>
                <a:ea typeface="Inter Bold"/>
                <a:cs typeface="Inter Bold"/>
                <a:sym typeface="Inter Bold"/>
              </a:defRPr>
            </a:pPr>
            <a:r>
              <a:t>Kontekst</a:t>
            </a:r>
            <a:r>
              <a:rPr>
                <a:solidFill>
                  <a:srgbClr val="F2F2F2"/>
                </a:solidFill>
                <a:latin typeface="Inter Regular"/>
                <a:ea typeface="Inter Regular"/>
                <a:cs typeface="Inter Regular"/>
                <a:sym typeface="Inter Regular"/>
              </a:rPr>
              <a:t> se odnosi na skup tokena koji su uključeni u proces generiranja (samplinga) iz LLM-a.</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Što je </a:t>
            </a:r>
            <a:r>
              <a:rPr>
                <a:solidFill>
                  <a:srgbClr val="00D4FF"/>
                </a:solidFill>
              </a:rPr>
              <a:t>“kontekst”</a:t>
            </a:r>
            <a:r>
              <a:t> u LLM smislu?</a:t>
            </a:r>
          </a:p>
        </p:txBody>
      </p:sp>
      <p:sp>
        <p:nvSpPr>
          <p:cNvPr id="141"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42" name="TextBox 3"/>
          <p:cNvSpPr txBox="1"/>
          <p:nvPr/>
        </p:nvSpPr>
        <p:spPr>
          <a:xfrm>
            <a:off x="640079" y="2103120"/>
            <a:ext cx="9701615" cy="1854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00D4FF"/>
                </a:solidFill>
                <a:latin typeface="Inter Bold"/>
                <a:ea typeface="Inter Bold"/>
                <a:cs typeface="Inter Bold"/>
                <a:sym typeface="Inter Bold"/>
              </a:defRPr>
            </a:pPr>
            <a:r>
              <a:t>Kontekst</a:t>
            </a:r>
            <a:r>
              <a:rPr>
                <a:solidFill>
                  <a:srgbClr val="F2F2F2"/>
                </a:solidFill>
                <a:latin typeface="Inter Regular"/>
                <a:ea typeface="Inter Regular"/>
                <a:cs typeface="Inter Regular"/>
                <a:sym typeface="Inter Regular"/>
              </a:rPr>
              <a:t> se odnosi na skup tokena koji su uključeni u proces generiranja (samplinga) iz LLM-a.</a:t>
            </a:r>
            <a:endParaRPr>
              <a:solidFill>
                <a:srgbClr val="F2F2F2"/>
              </a:solidFill>
            </a:endParaRPr>
          </a:p>
          <a:p>
            <a:pPr>
              <a:lnSpc>
                <a:spcPct val="150000"/>
              </a:lnSpc>
              <a:spcBef>
                <a:spcPts val="1400"/>
              </a:spcBef>
              <a:defRPr sz="2000">
                <a:solidFill>
                  <a:srgbClr val="F2F2F2"/>
                </a:solidFill>
                <a:latin typeface="Inter Regular"/>
                <a:ea typeface="Inter Regular"/>
                <a:cs typeface="Inter Regular"/>
                <a:sym typeface="Inter Regular"/>
              </a:defRPr>
            </a:pPr>
            <a:r>
              <a:t>Drugim riječima, sve što model može vidjeti kada generira odgovor - tvoj prompt, otvorene datoteke, struktura projekta itd.</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Što je </a:t>
            </a:r>
            <a:r>
              <a:rPr>
                <a:solidFill>
                  <a:srgbClr val="00D4FF"/>
                </a:solidFill>
              </a:rPr>
              <a:t>“kontekst”</a:t>
            </a:r>
            <a:r>
              <a:t> u LLM smislu?</a:t>
            </a:r>
          </a:p>
        </p:txBody>
      </p:sp>
      <p:sp>
        <p:nvSpPr>
          <p:cNvPr id="147"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48" name="TextBox 3"/>
          <p:cNvSpPr txBox="1"/>
          <p:nvPr/>
        </p:nvSpPr>
        <p:spPr>
          <a:xfrm>
            <a:off x="640079" y="2103120"/>
            <a:ext cx="9701615" cy="1854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00D4FF"/>
                </a:solidFill>
                <a:latin typeface="Inter Bold"/>
                <a:ea typeface="Inter Bold"/>
                <a:cs typeface="Inter Bold"/>
                <a:sym typeface="Inter Bold"/>
              </a:defRPr>
            </a:pPr>
            <a:r>
              <a:t>Kontekst</a:t>
            </a:r>
            <a:r>
              <a:rPr>
                <a:solidFill>
                  <a:srgbClr val="F2F2F2"/>
                </a:solidFill>
                <a:latin typeface="Inter Regular"/>
                <a:ea typeface="Inter Regular"/>
                <a:cs typeface="Inter Regular"/>
                <a:sym typeface="Inter Regular"/>
              </a:rPr>
              <a:t> se odnosi na skup tokena koji su uključeni u proces generiranja (samplinga) iz LLM-a.</a:t>
            </a:r>
            <a:endParaRPr>
              <a:solidFill>
                <a:srgbClr val="F2F2F2"/>
              </a:solidFill>
            </a:endParaRPr>
          </a:p>
          <a:p>
            <a:pPr>
              <a:lnSpc>
                <a:spcPct val="150000"/>
              </a:lnSpc>
              <a:spcBef>
                <a:spcPts val="1400"/>
              </a:spcBef>
              <a:defRPr sz="2000">
                <a:solidFill>
                  <a:srgbClr val="F2F2F2"/>
                </a:solidFill>
                <a:latin typeface="Inter Regular"/>
                <a:ea typeface="Inter Regular"/>
                <a:cs typeface="Inter Regular"/>
                <a:sym typeface="Inter Regular"/>
              </a:defRPr>
            </a:pPr>
            <a:r>
              <a:t>Drugim riječima, sve što model može vidjeti kada generira odgovor - tvoj prompt, otvorene datoteke, struktura projekta itd.</a:t>
            </a:r>
          </a:p>
        </p:txBody>
      </p:sp>
      <p:sp>
        <p:nvSpPr>
          <p:cNvPr id="149" name="Rounded Rectangle 4"/>
          <p:cNvSpPr/>
          <p:nvPr/>
        </p:nvSpPr>
        <p:spPr>
          <a:xfrm>
            <a:off x="640080" y="5029200"/>
            <a:ext cx="10972801" cy="1188720"/>
          </a:xfrm>
          <a:prstGeom prst="roundRect">
            <a:avLst>
              <a:gd name="adj" fmla="val 6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150" name="Rectangle 5"/>
          <p:cNvSpPr/>
          <p:nvPr/>
        </p:nvSpPr>
        <p:spPr>
          <a:xfrm>
            <a:off x="640080" y="5029200"/>
            <a:ext cx="54866" cy="1188720"/>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51" name="TextBox 6"/>
          <p:cNvSpPr txBox="1"/>
          <p:nvPr/>
        </p:nvSpPr>
        <p:spPr>
          <a:xfrm>
            <a:off x="868678" y="5517641"/>
            <a:ext cx="10607044"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a:solidFill>
                  <a:srgbClr val="F2F2F2"/>
                </a:solidFill>
                <a:latin typeface="Inter Regular"/>
                <a:ea typeface="Inter Regular"/>
                <a:cs typeface="Inter Regular"/>
                <a:sym typeface="Inter Regular"/>
              </a:defRPr>
            </a:pPr>
            <a:r>
              <a:t>AI ne poznaje vaš projekt. On </a:t>
            </a:r>
            <a:r>
              <a:rPr>
                <a:solidFill>
                  <a:srgbClr val="00D4FF"/>
                </a:solidFill>
                <a:latin typeface="Inter Bold"/>
                <a:ea typeface="Inter Bold"/>
                <a:cs typeface="Inter Bold"/>
                <a:sym typeface="Inter Bold"/>
              </a:rPr>
              <a:t>čita samo ono što mu pružite</a:t>
            </a:r>
            <a:r>
              <a:t> - i to je sve čime raspolaže.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Context Engineering</a:t>
            </a:r>
          </a:p>
        </p:txBody>
      </p:sp>
      <p:sp>
        <p:nvSpPr>
          <p:cNvPr id="156"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57" name="Rounded Rectangle 3"/>
          <p:cNvSpPr/>
          <p:nvPr/>
        </p:nvSpPr>
        <p:spPr>
          <a:xfrm>
            <a:off x="640080" y="2011678"/>
            <a:ext cx="10972801" cy="1097282"/>
          </a:xfrm>
          <a:prstGeom prst="roundRect">
            <a:avLst>
              <a:gd name="adj" fmla="val 6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158" name="Rectangle 4"/>
          <p:cNvSpPr/>
          <p:nvPr/>
        </p:nvSpPr>
        <p:spPr>
          <a:xfrm>
            <a:off x="640080" y="2011678"/>
            <a:ext cx="54866" cy="1097282"/>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59" name="TextBox 5"/>
          <p:cNvSpPr txBox="1"/>
          <p:nvPr/>
        </p:nvSpPr>
        <p:spPr>
          <a:xfrm>
            <a:off x="868678" y="2237231"/>
            <a:ext cx="10607044" cy="7010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Bold"/>
                <a:ea typeface="Inter Bold"/>
                <a:cs typeface="Inter Bold"/>
                <a:sym typeface="Inter Bold"/>
              </a:defRPr>
            </a:pPr>
            <a:r>
              <a:t>Context engineering</a:t>
            </a:r>
            <a:r>
              <a:rPr>
                <a:latin typeface="Inter Regular"/>
                <a:ea typeface="Inter Regular"/>
                <a:cs typeface="Inter Regular"/>
                <a:sym typeface="Inter Regular"/>
              </a:rPr>
              <a:t> = oblikovanje onoga što model vidi s ciljem dobivanja boljeg outputa</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Context Engineering</a:t>
            </a:r>
          </a:p>
        </p:txBody>
      </p:sp>
      <p:sp>
        <p:nvSpPr>
          <p:cNvPr id="164"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65" name="Rounded Rectangle 3"/>
          <p:cNvSpPr/>
          <p:nvPr/>
        </p:nvSpPr>
        <p:spPr>
          <a:xfrm>
            <a:off x="640080" y="2011678"/>
            <a:ext cx="10972801" cy="1097282"/>
          </a:xfrm>
          <a:prstGeom prst="roundRect">
            <a:avLst>
              <a:gd name="adj" fmla="val 6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166" name="Rectangle 4"/>
          <p:cNvSpPr/>
          <p:nvPr/>
        </p:nvSpPr>
        <p:spPr>
          <a:xfrm>
            <a:off x="640080" y="2011678"/>
            <a:ext cx="54866" cy="1097282"/>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67" name="TextBox 5"/>
          <p:cNvSpPr txBox="1"/>
          <p:nvPr/>
        </p:nvSpPr>
        <p:spPr>
          <a:xfrm>
            <a:off x="868678" y="2237231"/>
            <a:ext cx="10607044" cy="7010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Bold"/>
                <a:ea typeface="Inter Bold"/>
                <a:cs typeface="Inter Bold"/>
                <a:sym typeface="Inter Bold"/>
              </a:defRPr>
            </a:pPr>
            <a:r>
              <a:t>Context engineering</a:t>
            </a:r>
            <a:r>
              <a:rPr>
                <a:latin typeface="Inter Regular"/>
                <a:ea typeface="Inter Regular"/>
                <a:cs typeface="Inter Regular"/>
                <a:sym typeface="Inter Regular"/>
              </a:rPr>
              <a:t> = oblikovanje onoga što model vidi s ciljem dobivanja boljeg outputa</a:t>
            </a:r>
          </a:p>
        </p:txBody>
      </p:sp>
      <p:sp>
        <p:nvSpPr>
          <p:cNvPr id="168" name="TextBox 6"/>
          <p:cNvSpPr txBox="1"/>
          <p:nvPr/>
        </p:nvSpPr>
        <p:spPr>
          <a:xfrm>
            <a:off x="640079" y="3383279"/>
            <a:ext cx="10908794"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F2F2F2"/>
                </a:solidFill>
                <a:latin typeface="Inter Regular"/>
                <a:ea typeface="Inter Regular"/>
                <a:cs typeface="Inter Regular"/>
                <a:sym typeface="Inter Regular"/>
              </a:defRPr>
            </a:pPr>
            <a:r>
              <a:t>Ne samo tvoj prompt - već i </a:t>
            </a:r>
            <a:r>
              <a:rPr>
                <a:solidFill>
                  <a:srgbClr val="00D4FF"/>
                </a:solidFill>
                <a:latin typeface="Inter Bold"/>
                <a:ea typeface="Inter Bold"/>
                <a:cs typeface="Inter Bold"/>
                <a:sym typeface="Inter Bold"/>
              </a:rPr>
              <a:t>programski kod</a:t>
            </a:r>
            <a:r>
              <a:t>, </a:t>
            </a:r>
            <a:r>
              <a:rPr>
                <a:solidFill>
                  <a:srgbClr val="00D4FF"/>
                </a:solidFill>
                <a:latin typeface="Inter Bold"/>
                <a:ea typeface="Inter Bold"/>
                <a:cs typeface="Inter Bold"/>
                <a:sym typeface="Inter Bold"/>
              </a:rPr>
              <a:t>struktura direktorija</a:t>
            </a:r>
            <a:r>
              <a:t>, </a:t>
            </a:r>
            <a:r>
              <a:rPr>
                <a:solidFill>
                  <a:srgbClr val="00D4FF"/>
                </a:solidFill>
                <a:latin typeface="Inter Bold"/>
                <a:ea typeface="Inter Bold"/>
                <a:cs typeface="Inter Bold"/>
                <a:sym typeface="Inter Bold"/>
              </a:rPr>
              <a:t>vanjski paketi</a:t>
            </a:r>
            <a:r>
              <a:t>, </a:t>
            </a:r>
            <a:r>
              <a:rPr>
                <a:solidFill>
                  <a:srgbClr val="00D4FF"/>
                </a:solidFill>
                <a:latin typeface="Inter Bold"/>
                <a:ea typeface="Inter Bold"/>
                <a:cs typeface="Inter Bold"/>
                <a:sym typeface="Inter Bold"/>
              </a:rPr>
              <a:t>konvencije</a:t>
            </a:r>
            <a:r>
              <a:t> itd.</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Context Engineering</a:t>
            </a:r>
          </a:p>
        </p:txBody>
      </p:sp>
      <p:sp>
        <p:nvSpPr>
          <p:cNvPr id="173"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74" name="Rounded Rectangle 3"/>
          <p:cNvSpPr/>
          <p:nvPr/>
        </p:nvSpPr>
        <p:spPr>
          <a:xfrm>
            <a:off x="640080" y="2011678"/>
            <a:ext cx="10972801" cy="1097282"/>
          </a:xfrm>
          <a:prstGeom prst="roundRect">
            <a:avLst>
              <a:gd name="adj" fmla="val 6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175" name="Rectangle 4"/>
          <p:cNvSpPr/>
          <p:nvPr/>
        </p:nvSpPr>
        <p:spPr>
          <a:xfrm>
            <a:off x="640080" y="2011678"/>
            <a:ext cx="54866" cy="1097282"/>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176" name="TextBox 5"/>
          <p:cNvSpPr txBox="1"/>
          <p:nvPr/>
        </p:nvSpPr>
        <p:spPr>
          <a:xfrm>
            <a:off x="868678" y="2237231"/>
            <a:ext cx="10607044" cy="7010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Bold"/>
                <a:ea typeface="Inter Bold"/>
                <a:cs typeface="Inter Bold"/>
                <a:sym typeface="Inter Bold"/>
              </a:defRPr>
            </a:pPr>
            <a:r>
              <a:t>Context engineering</a:t>
            </a:r>
            <a:r>
              <a:rPr>
                <a:latin typeface="Inter Regular"/>
                <a:ea typeface="Inter Regular"/>
                <a:cs typeface="Inter Regular"/>
                <a:sym typeface="Inter Regular"/>
              </a:rPr>
              <a:t> = oblikovanje onoga što model vidi s ciljem dobivanja boljeg outputa</a:t>
            </a:r>
          </a:p>
        </p:txBody>
      </p:sp>
      <p:sp>
        <p:nvSpPr>
          <p:cNvPr id="177" name="TextBox 6"/>
          <p:cNvSpPr txBox="1"/>
          <p:nvPr/>
        </p:nvSpPr>
        <p:spPr>
          <a:xfrm>
            <a:off x="640079" y="3383279"/>
            <a:ext cx="10908794" cy="144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0000"/>
              </a:lnSpc>
              <a:defRPr sz="2000">
                <a:solidFill>
                  <a:srgbClr val="F2F2F2"/>
                </a:solidFill>
                <a:latin typeface="Inter Regular"/>
                <a:ea typeface="Inter Regular"/>
                <a:cs typeface="Inter Regular"/>
                <a:sym typeface="Inter Regular"/>
              </a:defRPr>
            </a:pPr>
            <a:r>
              <a:t>Ne samo tvoj prompt - već i </a:t>
            </a:r>
            <a:r>
              <a:rPr>
                <a:solidFill>
                  <a:srgbClr val="00D4FF"/>
                </a:solidFill>
                <a:latin typeface="Inter Bold"/>
                <a:ea typeface="Inter Bold"/>
                <a:cs typeface="Inter Bold"/>
                <a:sym typeface="Inter Bold"/>
              </a:rPr>
              <a:t>programski kod</a:t>
            </a:r>
            <a:r>
              <a:t>, </a:t>
            </a:r>
            <a:r>
              <a:rPr>
                <a:solidFill>
                  <a:srgbClr val="00D4FF"/>
                </a:solidFill>
                <a:latin typeface="Inter Bold"/>
                <a:ea typeface="Inter Bold"/>
                <a:cs typeface="Inter Bold"/>
                <a:sym typeface="Inter Bold"/>
              </a:rPr>
              <a:t>struktura direktorija</a:t>
            </a:r>
            <a:r>
              <a:t>, </a:t>
            </a:r>
            <a:r>
              <a:rPr>
                <a:solidFill>
                  <a:srgbClr val="00D4FF"/>
                </a:solidFill>
                <a:latin typeface="Inter Bold"/>
                <a:ea typeface="Inter Bold"/>
                <a:cs typeface="Inter Bold"/>
                <a:sym typeface="Inter Bold"/>
              </a:rPr>
              <a:t>vanjski paketi</a:t>
            </a:r>
            <a:r>
              <a:t>, </a:t>
            </a:r>
            <a:r>
              <a:rPr>
                <a:solidFill>
                  <a:srgbClr val="00D4FF"/>
                </a:solidFill>
                <a:latin typeface="Inter Bold"/>
                <a:ea typeface="Inter Bold"/>
                <a:cs typeface="Inter Bold"/>
                <a:sym typeface="Inter Bold"/>
              </a:rPr>
              <a:t>konvencije</a:t>
            </a:r>
            <a:r>
              <a:t> itd.</a:t>
            </a:r>
          </a:p>
          <a:p>
            <a:pPr>
              <a:lnSpc>
                <a:spcPct val="150000"/>
              </a:lnSpc>
              <a:spcBef>
                <a:spcPts val="1800"/>
              </a:spcBef>
              <a:defRPr sz="2000">
                <a:solidFill>
                  <a:srgbClr val="F2F2F2"/>
                </a:solidFill>
                <a:latin typeface="Inter Regular"/>
                <a:ea typeface="Inter Regular"/>
                <a:cs typeface="Inter Regular"/>
                <a:sym typeface="Inter Regular"/>
              </a:defRPr>
            </a:pPr>
            <a:r>
              <a:t>Kvaliteta odgovora </a:t>
            </a:r>
            <a:r>
              <a:rPr>
                <a:solidFill>
                  <a:srgbClr val="00D4FF"/>
                </a:solidFill>
                <a:latin typeface="Inter Bold"/>
                <a:ea typeface="Inter Bold"/>
                <a:cs typeface="Inter Bold"/>
                <a:sym typeface="Inter Bold"/>
              </a:rPr>
              <a:t>ograničena je</a:t>
            </a:r>
            <a:r>
              <a:t> kvalitetom konteksta koji model prima.</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TextBox 2"/>
          <p:cNvSpPr txBox="1"/>
          <p:nvPr/>
        </p:nvSpPr>
        <p:spPr>
          <a:xfrm>
            <a:off x="1092453" y="3168650"/>
            <a:ext cx="9994394" cy="520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30000"/>
              </a:lnSpc>
              <a:defRPr sz="3400">
                <a:solidFill>
                  <a:srgbClr val="F2F2F2"/>
                </a:solidFill>
                <a:latin typeface="Inter Bold"/>
                <a:ea typeface="Inter Bold"/>
                <a:cs typeface="Inter Bold"/>
                <a:sym typeface="Inter Bold"/>
              </a:defRPr>
            </a:lvl1pPr>
          </a:lstStyle>
          <a:p>
            <a:pPr/>
            <a:r>
              <a:t>Kako točno AI “čita” naš kod? </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Pristup A: Embedding &amp; Indexing</a:t>
            </a:r>
          </a:p>
        </p:txBody>
      </p:sp>
      <p:sp>
        <p:nvSpPr>
          <p:cNvPr id="186"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grpSp>
        <p:nvGrpSpPr>
          <p:cNvPr id="189" name="Rounded Rectangle 4"/>
          <p:cNvGrpSpPr/>
          <p:nvPr/>
        </p:nvGrpSpPr>
        <p:grpSpPr>
          <a:xfrm>
            <a:off x="8616074" y="686815"/>
            <a:ext cx="987555" cy="292611"/>
            <a:chOff x="0" y="0"/>
            <a:chExt cx="987554" cy="292609"/>
          </a:xfrm>
        </p:grpSpPr>
        <p:sp>
          <p:nvSpPr>
            <p:cNvPr id="187" name="Rounded Rectangle"/>
            <p:cNvSpPr/>
            <p:nvPr/>
          </p:nvSpPr>
          <p:spPr>
            <a:xfrm>
              <a:off x="-1" y="0"/>
              <a:ext cx="987556" cy="292611"/>
            </a:xfrm>
            <a:prstGeom prst="roundRect">
              <a:avLst>
                <a:gd name="adj" fmla="val 50000"/>
              </a:avLst>
            </a:prstGeom>
            <a:noFill/>
            <a:ln w="952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188" name="Cursor"/>
            <p:cNvSpPr txBox="1"/>
            <p:nvPr/>
          </p:nvSpPr>
          <p:spPr>
            <a:xfrm>
              <a:off x="93333" y="70104"/>
              <a:ext cx="800887"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Cursor</a:t>
              </a:r>
            </a:p>
          </p:txBody>
        </p:sp>
      </p:grpSp>
      <p:grpSp>
        <p:nvGrpSpPr>
          <p:cNvPr id="192" name="Rounded Rectangle 5"/>
          <p:cNvGrpSpPr/>
          <p:nvPr/>
        </p:nvGrpSpPr>
        <p:grpSpPr>
          <a:xfrm>
            <a:off x="9676779" y="686815"/>
            <a:ext cx="1106427" cy="292611"/>
            <a:chOff x="0" y="0"/>
            <a:chExt cx="1106426" cy="292609"/>
          </a:xfrm>
        </p:grpSpPr>
        <p:sp>
          <p:nvSpPr>
            <p:cNvPr id="190" name="Rounded Rectangle"/>
            <p:cNvSpPr/>
            <p:nvPr/>
          </p:nvSpPr>
          <p:spPr>
            <a:xfrm>
              <a:off x="-1" y="0"/>
              <a:ext cx="1106428" cy="292611"/>
            </a:xfrm>
            <a:prstGeom prst="roundRect">
              <a:avLst>
                <a:gd name="adj" fmla="val 50000"/>
              </a:avLst>
            </a:prstGeom>
            <a:noFill/>
            <a:ln w="952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191" name="Copilot"/>
            <p:cNvSpPr txBox="1"/>
            <p:nvPr/>
          </p:nvSpPr>
          <p:spPr>
            <a:xfrm>
              <a:off x="93333" y="70104"/>
              <a:ext cx="919759"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Copilot</a:t>
              </a:r>
            </a:p>
          </p:txBody>
        </p:sp>
      </p:grpSp>
      <p:grpSp>
        <p:nvGrpSpPr>
          <p:cNvPr id="195" name="Rounded Rectangle 6"/>
          <p:cNvGrpSpPr/>
          <p:nvPr/>
        </p:nvGrpSpPr>
        <p:grpSpPr>
          <a:xfrm>
            <a:off x="10856355" y="686815"/>
            <a:ext cx="749811" cy="292611"/>
            <a:chOff x="0" y="0"/>
            <a:chExt cx="749809" cy="292609"/>
          </a:xfrm>
        </p:grpSpPr>
        <p:sp>
          <p:nvSpPr>
            <p:cNvPr id="193" name="Rounded Rectangle"/>
            <p:cNvSpPr/>
            <p:nvPr/>
          </p:nvSpPr>
          <p:spPr>
            <a:xfrm>
              <a:off x="-1" y="0"/>
              <a:ext cx="749811" cy="292611"/>
            </a:xfrm>
            <a:prstGeom prst="roundRect">
              <a:avLst>
                <a:gd name="adj" fmla="val 50000"/>
              </a:avLst>
            </a:prstGeom>
            <a:noFill/>
            <a:ln w="952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194" name="Cody"/>
            <p:cNvSpPr txBox="1"/>
            <p:nvPr/>
          </p:nvSpPr>
          <p:spPr>
            <a:xfrm>
              <a:off x="93333" y="70104"/>
              <a:ext cx="563143"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Cody</a:t>
              </a:r>
            </a:p>
          </p:txBody>
        </p:sp>
      </p:grpSp>
      <p:sp>
        <p:nvSpPr>
          <p:cNvPr id="196" name="TextBox 7"/>
          <p:cNvSpPr txBox="1"/>
          <p:nvPr/>
        </p:nvSpPr>
        <p:spPr>
          <a:xfrm>
            <a:off x="631030" y="1691530"/>
            <a:ext cx="1090879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Bold"/>
                <a:ea typeface="Inter Bold"/>
                <a:cs typeface="Inter Bold"/>
                <a:sym typeface="Inter Bold"/>
              </a:defRPr>
            </a:pPr>
            <a:r>
              <a:t>Korak 1.</a:t>
            </a:r>
            <a:r>
              <a:rPr>
                <a:latin typeface="Inter Regular"/>
                <a:ea typeface="Inter Regular"/>
                <a:cs typeface="Inter Regular"/>
                <a:sym typeface="Inter Regular"/>
              </a:rPr>
              <a:t> Kod otvaranja projekta, AI alat </a:t>
            </a:r>
            <a:r>
              <a:rPr>
                <a:solidFill>
                  <a:srgbClr val="00D4FF"/>
                </a:solidFill>
              </a:rPr>
              <a:t>indeksira tvoj codebase</a:t>
            </a:r>
            <a:r>
              <a:rPr>
                <a:latin typeface="Inter Regular"/>
                <a:ea typeface="Inter Regular"/>
                <a:cs typeface="Inter Regular"/>
                <a:sym typeface="Inter Regular"/>
              </a:rPr>
              <a:t>:</a:t>
            </a:r>
          </a:p>
        </p:txBody>
      </p:sp>
      <p:sp>
        <p:nvSpPr>
          <p:cNvPr id="197" name="Rounded Rectangle 8"/>
          <p:cNvSpPr/>
          <p:nvPr/>
        </p:nvSpPr>
        <p:spPr>
          <a:xfrm>
            <a:off x="631031" y="2194449"/>
            <a:ext cx="3154682"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198" name="TextBox 9"/>
          <p:cNvSpPr txBox="1"/>
          <p:nvPr/>
        </p:nvSpPr>
        <p:spPr>
          <a:xfrm>
            <a:off x="768190" y="2539890"/>
            <a:ext cx="28803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Podijeli programski kod u chunkove</a:t>
            </a:r>
          </a:p>
        </p:txBody>
      </p:sp>
      <p:sp>
        <p:nvSpPr>
          <p:cNvPr id="199" name="TextBox 10"/>
          <p:cNvSpPr txBox="1"/>
          <p:nvPr/>
        </p:nvSpPr>
        <p:spPr>
          <a:xfrm>
            <a:off x="3785711" y="2495440"/>
            <a:ext cx="320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00" name="Rounded Rectangle 11"/>
          <p:cNvSpPr/>
          <p:nvPr/>
        </p:nvSpPr>
        <p:spPr>
          <a:xfrm>
            <a:off x="4105750" y="2194449"/>
            <a:ext cx="3154683"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01" name="TextBox 12"/>
          <p:cNvSpPr txBox="1"/>
          <p:nvPr/>
        </p:nvSpPr>
        <p:spPr>
          <a:xfrm>
            <a:off x="4242911" y="2539890"/>
            <a:ext cx="28803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Generiraj embeddingse</a:t>
            </a:r>
          </a:p>
        </p:txBody>
      </p:sp>
      <p:sp>
        <p:nvSpPr>
          <p:cNvPr id="202" name="TextBox 13"/>
          <p:cNvSpPr txBox="1"/>
          <p:nvPr/>
        </p:nvSpPr>
        <p:spPr>
          <a:xfrm>
            <a:off x="7260431" y="2495440"/>
            <a:ext cx="320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03" name="Rounded Rectangle 14"/>
          <p:cNvSpPr/>
          <p:nvPr/>
        </p:nvSpPr>
        <p:spPr>
          <a:xfrm>
            <a:off x="7580469" y="2194449"/>
            <a:ext cx="3154682"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04" name="TextBox 15"/>
          <p:cNvSpPr txBox="1"/>
          <p:nvPr/>
        </p:nvSpPr>
        <p:spPr>
          <a:xfrm>
            <a:off x="7717631" y="2539890"/>
            <a:ext cx="28803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Spremi u vektorsku bazu podataka</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Pristup A: Embedding &amp; Indexing</a:t>
            </a:r>
          </a:p>
        </p:txBody>
      </p:sp>
      <p:sp>
        <p:nvSpPr>
          <p:cNvPr id="209"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grpSp>
        <p:nvGrpSpPr>
          <p:cNvPr id="212" name="Rounded Rectangle 4"/>
          <p:cNvGrpSpPr/>
          <p:nvPr/>
        </p:nvGrpSpPr>
        <p:grpSpPr>
          <a:xfrm>
            <a:off x="8616074" y="686815"/>
            <a:ext cx="987555" cy="292611"/>
            <a:chOff x="0" y="0"/>
            <a:chExt cx="987554" cy="292609"/>
          </a:xfrm>
        </p:grpSpPr>
        <p:sp>
          <p:nvSpPr>
            <p:cNvPr id="210" name="Rounded Rectangle"/>
            <p:cNvSpPr/>
            <p:nvPr/>
          </p:nvSpPr>
          <p:spPr>
            <a:xfrm>
              <a:off x="-1" y="0"/>
              <a:ext cx="987556" cy="292611"/>
            </a:xfrm>
            <a:prstGeom prst="roundRect">
              <a:avLst>
                <a:gd name="adj" fmla="val 50000"/>
              </a:avLst>
            </a:prstGeom>
            <a:noFill/>
            <a:ln w="952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211" name="Cursor"/>
            <p:cNvSpPr txBox="1"/>
            <p:nvPr/>
          </p:nvSpPr>
          <p:spPr>
            <a:xfrm>
              <a:off x="93333" y="70104"/>
              <a:ext cx="800887"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Cursor</a:t>
              </a:r>
            </a:p>
          </p:txBody>
        </p:sp>
      </p:grpSp>
      <p:grpSp>
        <p:nvGrpSpPr>
          <p:cNvPr id="215" name="Rounded Rectangle 5"/>
          <p:cNvGrpSpPr/>
          <p:nvPr/>
        </p:nvGrpSpPr>
        <p:grpSpPr>
          <a:xfrm>
            <a:off x="9676779" y="686815"/>
            <a:ext cx="1106427" cy="292611"/>
            <a:chOff x="0" y="0"/>
            <a:chExt cx="1106426" cy="292609"/>
          </a:xfrm>
        </p:grpSpPr>
        <p:sp>
          <p:nvSpPr>
            <p:cNvPr id="213" name="Rounded Rectangle"/>
            <p:cNvSpPr/>
            <p:nvPr/>
          </p:nvSpPr>
          <p:spPr>
            <a:xfrm>
              <a:off x="-1" y="0"/>
              <a:ext cx="1106428" cy="292611"/>
            </a:xfrm>
            <a:prstGeom prst="roundRect">
              <a:avLst>
                <a:gd name="adj" fmla="val 50000"/>
              </a:avLst>
            </a:prstGeom>
            <a:noFill/>
            <a:ln w="952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214" name="Copilot"/>
            <p:cNvSpPr txBox="1"/>
            <p:nvPr/>
          </p:nvSpPr>
          <p:spPr>
            <a:xfrm>
              <a:off x="93333" y="70104"/>
              <a:ext cx="919759"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Copilot</a:t>
              </a:r>
            </a:p>
          </p:txBody>
        </p:sp>
      </p:grpSp>
      <p:grpSp>
        <p:nvGrpSpPr>
          <p:cNvPr id="218" name="Rounded Rectangle 6"/>
          <p:cNvGrpSpPr/>
          <p:nvPr/>
        </p:nvGrpSpPr>
        <p:grpSpPr>
          <a:xfrm>
            <a:off x="10856355" y="686815"/>
            <a:ext cx="749811" cy="292611"/>
            <a:chOff x="0" y="0"/>
            <a:chExt cx="749809" cy="292609"/>
          </a:xfrm>
        </p:grpSpPr>
        <p:sp>
          <p:nvSpPr>
            <p:cNvPr id="216" name="Rounded Rectangle"/>
            <p:cNvSpPr/>
            <p:nvPr/>
          </p:nvSpPr>
          <p:spPr>
            <a:xfrm>
              <a:off x="-1" y="0"/>
              <a:ext cx="749811" cy="292611"/>
            </a:xfrm>
            <a:prstGeom prst="roundRect">
              <a:avLst>
                <a:gd name="adj" fmla="val 50000"/>
              </a:avLst>
            </a:prstGeom>
            <a:noFill/>
            <a:ln w="952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217" name="Cody"/>
            <p:cNvSpPr txBox="1"/>
            <p:nvPr/>
          </p:nvSpPr>
          <p:spPr>
            <a:xfrm>
              <a:off x="93333" y="70104"/>
              <a:ext cx="563143"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Cody</a:t>
              </a:r>
            </a:p>
          </p:txBody>
        </p:sp>
      </p:grpSp>
      <p:sp>
        <p:nvSpPr>
          <p:cNvPr id="219" name="TextBox 7"/>
          <p:cNvSpPr txBox="1"/>
          <p:nvPr/>
        </p:nvSpPr>
        <p:spPr>
          <a:xfrm>
            <a:off x="631030" y="1691530"/>
            <a:ext cx="1090879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Bold"/>
                <a:ea typeface="Inter Bold"/>
                <a:cs typeface="Inter Bold"/>
                <a:sym typeface="Inter Bold"/>
              </a:defRPr>
            </a:pPr>
            <a:r>
              <a:t>Korak 1.</a:t>
            </a:r>
            <a:r>
              <a:rPr>
                <a:latin typeface="Inter Regular"/>
                <a:ea typeface="Inter Regular"/>
                <a:cs typeface="Inter Regular"/>
                <a:sym typeface="Inter Regular"/>
              </a:rPr>
              <a:t> Kod otvaranja projekta, AI alat </a:t>
            </a:r>
            <a:r>
              <a:rPr>
                <a:solidFill>
                  <a:srgbClr val="00D4FF"/>
                </a:solidFill>
              </a:rPr>
              <a:t>indeksira tvoj codebase</a:t>
            </a:r>
            <a:r>
              <a:rPr>
                <a:latin typeface="Inter Regular"/>
                <a:ea typeface="Inter Regular"/>
                <a:cs typeface="Inter Regular"/>
                <a:sym typeface="Inter Regular"/>
              </a:rPr>
              <a:t>:</a:t>
            </a:r>
          </a:p>
        </p:txBody>
      </p:sp>
      <p:sp>
        <p:nvSpPr>
          <p:cNvPr id="220" name="Rounded Rectangle 8"/>
          <p:cNvSpPr/>
          <p:nvPr/>
        </p:nvSpPr>
        <p:spPr>
          <a:xfrm>
            <a:off x="631031" y="2194449"/>
            <a:ext cx="3154682"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21" name="TextBox 9"/>
          <p:cNvSpPr txBox="1"/>
          <p:nvPr/>
        </p:nvSpPr>
        <p:spPr>
          <a:xfrm>
            <a:off x="768190" y="2539890"/>
            <a:ext cx="28803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Podijeli programski kod u chunkove</a:t>
            </a:r>
          </a:p>
        </p:txBody>
      </p:sp>
      <p:sp>
        <p:nvSpPr>
          <p:cNvPr id="222" name="TextBox 10"/>
          <p:cNvSpPr txBox="1"/>
          <p:nvPr/>
        </p:nvSpPr>
        <p:spPr>
          <a:xfrm>
            <a:off x="3785711" y="2495440"/>
            <a:ext cx="320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23" name="Rounded Rectangle 11"/>
          <p:cNvSpPr/>
          <p:nvPr/>
        </p:nvSpPr>
        <p:spPr>
          <a:xfrm>
            <a:off x="4105750" y="2194449"/>
            <a:ext cx="3154683"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24" name="TextBox 12"/>
          <p:cNvSpPr txBox="1"/>
          <p:nvPr/>
        </p:nvSpPr>
        <p:spPr>
          <a:xfrm>
            <a:off x="4242911" y="2539890"/>
            <a:ext cx="28803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Generiraj embeddingse</a:t>
            </a:r>
          </a:p>
        </p:txBody>
      </p:sp>
      <p:sp>
        <p:nvSpPr>
          <p:cNvPr id="225" name="TextBox 13"/>
          <p:cNvSpPr txBox="1"/>
          <p:nvPr/>
        </p:nvSpPr>
        <p:spPr>
          <a:xfrm>
            <a:off x="7260431" y="2495440"/>
            <a:ext cx="320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26" name="Rounded Rectangle 14"/>
          <p:cNvSpPr/>
          <p:nvPr/>
        </p:nvSpPr>
        <p:spPr>
          <a:xfrm>
            <a:off x="7580469" y="2194449"/>
            <a:ext cx="3154682"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27" name="TextBox 15"/>
          <p:cNvSpPr txBox="1"/>
          <p:nvPr/>
        </p:nvSpPr>
        <p:spPr>
          <a:xfrm>
            <a:off x="7717631" y="2539890"/>
            <a:ext cx="28803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Spremi u vektorsku bazu podataka</a:t>
            </a:r>
          </a:p>
        </p:txBody>
      </p:sp>
      <p:sp>
        <p:nvSpPr>
          <p:cNvPr id="228" name="TextBox 16"/>
          <p:cNvSpPr txBox="1"/>
          <p:nvPr/>
        </p:nvSpPr>
        <p:spPr>
          <a:xfrm>
            <a:off x="631030" y="3337448"/>
            <a:ext cx="1090879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Bold"/>
                <a:ea typeface="Inter Bold"/>
                <a:cs typeface="Inter Bold"/>
                <a:sym typeface="Inter Bold"/>
              </a:defRPr>
            </a:pPr>
            <a:r>
              <a:t>Step 2.</a:t>
            </a:r>
            <a:r>
              <a:rPr>
                <a:latin typeface="Inter Regular"/>
                <a:ea typeface="Inter Regular"/>
                <a:cs typeface="Inter Regular"/>
                <a:sym typeface="Inter Regular"/>
              </a:rPr>
              <a:t> Kod promptanja, </a:t>
            </a:r>
            <a:r>
              <a:rPr>
                <a:solidFill>
                  <a:srgbClr val="00D4FF"/>
                </a:solidFill>
              </a:rPr>
              <a:t>pretražuje relevantan kod</a:t>
            </a:r>
            <a:r>
              <a:rPr>
                <a:latin typeface="Inter Regular"/>
                <a:ea typeface="Inter Regular"/>
                <a:cs typeface="Inter Regular"/>
                <a:sym typeface="Inter Regular"/>
              </a:rPr>
              <a:t>:</a:t>
            </a:r>
          </a:p>
        </p:txBody>
      </p:sp>
      <p:sp>
        <p:nvSpPr>
          <p:cNvPr id="229" name="Rounded Rectangle 17"/>
          <p:cNvSpPr/>
          <p:nvPr/>
        </p:nvSpPr>
        <p:spPr>
          <a:xfrm>
            <a:off x="631031" y="3840369"/>
            <a:ext cx="3154682"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30" name="TextBox 18"/>
          <p:cNvSpPr txBox="1"/>
          <p:nvPr/>
        </p:nvSpPr>
        <p:spPr>
          <a:xfrm>
            <a:off x="768190" y="4185809"/>
            <a:ext cx="28803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Tvoj prompt</a:t>
            </a:r>
          </a:p>
        </p:txBody>
      </p:sp>
      <p:sp>
        <p:nvSpPr>
          <p:cNvPr id="231" name="TextBox 19"/>
          <p:cNvSpPr txBox="1"/>
          <p:nvPr/>
        </p:nvSpPr>
        <p:spPr>
          <a:xfrm>
            <a:off x="3785711" y="4141359"/>
            <a:ext cx="320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32" name="Rounded Rectangle 20"/>
          <p:cNvSpPr/>
          <p:nvPr/>
        </p:nvSpPr>
        <p:spPr>
          <a:xfrm>
            <a:off x="4105750" y="3840369"/>
            <a:ext cx="3154683"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33" name="TextBox 21"/>
          <p:cNvSpPr txBox="1"/>
          <p:nvPr/>
        </p:nvSpPr>
        <p:spPr>
          <a:xfrm>
            <a:off x="4242911" y="4185809"/>
            <a:ext cx="28803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Semantičko pretraživanje</a:t>
            </a:r>
          </a:p>
        </p:txBody>
      </p:sp>
      <p:sp>
        <p:nvSpPr>
          <p:cNvPr id="234" name="TextBox 22"/>
          <p:cNvSpPr txBox="1"/>
          <p:nvPr/>
        </p:nvSpPr>
        <p:spPr>
          <a:xfrm>
            <a:off x="7260431" y="4141359"/>
            <a:ext cx="320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35" name="Rounded Rectangle 23"/>
          <p:cNvSpPr/>
          <p:nvPr/>
        </p:nvSpPr>
        <p:spPr>
          <a:xfrm>
            <a:off x="7580469" y="3840369"/>
            <a:ext cx="3154682"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36" name="TextBox 24"/>
          <p:cNvSpPr txBox="1"/>
          <p:nvPr/>
        </p:nvSpPr>
        <p:spPr>
          <a:xfrm>
            <a:off x="7717631" y="4185809"/>
            <a:ext cx="28803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Umetanje u kontekst</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Pristup A: Embedding &amp; Indexing</a:t>
            </a:r>
          </a:p>
        </p:txBody>
      </p:sp>
      <p:sp>
        <p:nvSpPr>
          <p:cNvPr id="241"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grpSp>
        <p:nvGrpSpPr>
          <p:cNvPr id="244" name="Rounded Rectangle 4"/>
          <p:cNvGrpSpPr/>
          <p:nvPr/>
        </p:nvGrpSpPr>
        <p:grpSpPr>
          <a:xfrm>
            <a:off x="8616074" y="686815"/>
            <a:ext cx="987555" cy="292611"/>
            <a:chOff x="0" y="0"/>
            <a:chExt cx="987554" cy="292609"/>
          </a:xfrm>
        </p:grpSpPr>
        <p:sp>
          <p:nvSpPr>
            <p:cNvPr id="242" name="Rounded Rectangle"/>
            <p:cNvSpPr/>
            <p:nvPr/>
          </p:nvSpPr>
          <p:spPr>
            <a:xfrm>
              <a:off x="-1" y="0"/>
              <a:ext cx="987556" cy="292611"/>
            </a:xfrm>
            <a:prstGeom prst="roundRect">
              <a:avLst>
                <a:gd name="adj" fmla="val 50000"/>
              </a:avLst>
            </a:prstGeom>
            <a:noFill/>
            <a:ln w="952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243" name="Cursor"/>
            <p:cNvSpPr txBox="1"/>
            <p:nvPr/>
          </p:nvSpPr>
          <p:spPr>
            <a:xfrm>
              <a:off x="93333" y="70104"/>
              <a:ext cx="800887"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Cursor</a:t>
              </a:r>
            </a:p>
          </p:txBody>
        </p:sp>
      </p:grpSp>
      <p:grpSp>
        <p:nvGrpSpPr>
          <p:cNvPr id="247" name="Rounded Rectangle 5"/>
          <p:cNvGrpSpPr/>
          <p:nvPr/>
        </p:nvGrpSpPr>
        <p:grpSpPr>
          <a:xfrm>
            <a:off x="9676779" y="686815"/>
            <a:ext cx="1106427" cy="292611"/>
            <a:chOff x="0" y="0"/>
            <a:chExt cx="1106426" cy="292609"/>
          </a:xfrm>
        </p:grpSpPr>
        <p:sp>
          <p:nvSpPr>
            <p:cNvPr id="245" name="Rounded Rectangle"/>
            <p:cNvSpPr/>
            <p:nvPr/>
          </p:nvSpPr>
          <p:spPr>
            <a:xfrm>
              <a:off x="-1" y="0"/>
              <a:ext cx="1106428" cy="292611"/>
            </a:xfrm>
            <a:prstGeom prst="roundRect">
              <a:avLst>
                <a:gd name="adj" fmla="val 50000"/>
              </a:avLst>
            </a:prstGeom>
            <a:noFill/>
            <a:ln w="952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246" name="Copilot"/>
            <p:cNvSpPr txBox="1"/>
            <p:nvPr/>
          </p:nvSpPr>
          <p:spPr>
            <a:xfrm>
              <a:off x="93333" y="70104"/>
              <a:ext cx="919759"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Copilot</a:t>
              </a:r>
            </a:p>
          </p:txBody>
        </p:sp>
      </p:grpSp>
      <p:grpSp>
        <p:nvGrpSpPr>
          <p:cNvPr id="250" name="Rounded Rectangle 6"/>
          <p:cNvGrpSpPr/>
          <p:nvPr/>
        </p:nvGrpSpPr>
        <p:grpSpPr>
          <a:xfrm>
            <a:off x="10856355" y="686815"/>
            <a:ext cx="749811" cy="292611"/>
            <a:chOff x="0" y="0"/>
            <a:chExt cx="749809" cy="292609"/>
          </a:xfrm>
        </p:grpSpPr>
        <p:sp>
          <p:nvSpPr>
            <p:cNvPr id="248" name="Rounded Rectangle"/>
            <p:cNvSpPr/>
            <p:nvPr/>
          </p:nvSpPr>
          <p:spPr>
            <a:xfrm>
              <a:off x="-1" y="0"/>
              <a:ext cx="749811" cy="292611"/>
            </a:xfrm>
            <a:prstGeom prst="roundRect">
              <a:avLst>
                <a:gd name="adj" fmla="val 50000"/>
              </a:avLst>
            </a:prstGeom>
            <a:noFill/>
            <a:ln w="952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249" name="Cody"/>
            <p:cNvSpPr txBox="1"/>
            <p:nvPr/>
          </p:nvSpPr>
          <p:spPr>
            <a:xfrm>
              <a:off x="93333" y="70104"/>
              <a:ext cx="563143"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00D4FF"/>
                  </a:solidFill>
                  <a:latin typeface="Inter Bold"/>
                  <a:ea typeface="Inter Bold"/>
                  <a:cs typeface="Inter Bold"/>
                  <a:sym typeface="Inter Bold"/>
                </a:defRPr>
              </a:lvl1pPr>
            </a:lstStyle>
            <a:p>
              <a:pPr/>
              <a:r>
                <a:t>Cody</a:t>
              </a:r>
            </a:p>
          </p:txBody>
        </p:sp>
      </p:grpSp>
      <p:sp>
        <p:nvSpPr>
          <p:cNvPr id="251" name="TextBox 7"/>
          <p:cNvSpPr txBox="1"/>
          <p:nvPr/>
        </p:nvSpPr>
        <p:spPr>
          <a:xfrm>
            <a:off x="631030" y="1692855"/>
            <a:ext cx="1090879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Bold"/>
                <a:ea typeface="Inter Bold"/>
                <a:cs typeface="Inter Bold"/>
                <a:sym typeface="Inter Bold"/>
              </a:defRPr>
            </a:pPr>
            <a:r>
              <a:t>Korak 1.</a:t>
            </a:r>
            <a:r>
              <a:rPr>
                <a:latin typeface="Inter Regular"/>
                <a:ea typeface="Inter Regular"/>
                <a:cs typeface="Inter Regular"/>
                <a:sym typeface="Inter Regular"/>
              </a:rPr>
              <a:t> Kod otvaranja projekta, AI alat </a:t>
            </a:r>
            <a:r>
              <a:rPr>
                <a:solidFill>
                  <a:srgbClr val="00D4FF"/>
                </a:solidFill>
              </a:rPr>
              <a:t>indeksira tvoj codebase</a:t>
            </a:r>
            <a:r>
              <a:rPr>
                <a:latin typeface="Inter Regular"/>
                <a:ea typeface="Inter Regular"/>
                <a:cs typeface="Inter Regular"/>
                <a:sym typeface="Inter Regular"/>
              </a:rPr>
              <a:t>:</a:t>
            </a:r>
          </a:p>
        </p:txBody>
      </p:sp>
      <p:sp>
        <p:nvSpPr>
          <p:cNvPr id="252" name="Rounded Rectangle 8"/>
          <p:cNvSpPr/>
          <p:nvPr/>
        </p:nvSpPr>
        <p:spPr>
          <a:xfrm>
            <a:off x="631031" y="2194449"/>
            <a:ext cx="3154682"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53" name="TextBox 9"/>
          <p:cNvSpPr txBox="1"/>
          <p:nvPr/>
        </p:nvSpPr>
        <p:spPr>
          <a:xfrm>
            <a:off x="768190" y="2539890"/>
            <a:ext cx="28803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Podijeli programski kod u chunkove</a:t>
            </a:r>
          </a:p>
        </p:txBody>
      </p:sp>
      <p:sp>
        <p:nvSpPr>
          <p:cNvPr id="254" name="TextBox 10"/>
          <p:cNvSpPr txBox="1"/>
          <p:nvPr/>
        </p:nvSpPr>
        <p:spPr>
          <a:xfrm>
            <a:off x="3785711" y="2495440"/>
            <a:ext cx="320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55" name="Rounded Rectangle 11"/>
          <p:cNvSpPr/>
          <p:nvPr/>
        </p:nvSpPr>
        <p:spPr>
          <a:xfrm>
            <a:off x="4105750" y="2194449"/>
            <a:ext cx="3154683"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56" name="TextBox 12"/>
          <p:cNvSpPr txBox="1"/>
          <p:nvPr/>
        </p:nvSpPr>
        <p:spPr>
          <a:xfrm>
            <a:off x="4242911" y="2539890"/>
            <a:ext cx="28803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Generiraj embeddingse</a:t>
            </a:r>
          </a:p>
        </p:txBody>
      </p:sp>
      <p:sp>
        <p:nvSpPr>
          <p:cNvPr id="257" name="TextBox 13"/>
          <p:cNvSpPr txBox="1"/>
          <p:nvPr/>
        </p:nvSpPr>
        <p:spPr>
          <a:xfrm>
            <a:off x="7260431" y="2495440"/>
            <a:ext cx="320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58" name="Rounded Rectangle 14"/>
          <p:cNvSpPr/>
          <p:nvPr/>
        </p:nvSpPr>
        <p:spPr>
          <a:xfrm>
            <a:off x="7580469" y="2194449"/>
            <a:ext cx="3154682"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59" name="TextBox 15"/>
          <p:cNvSpPr txBox="1"/>
          <p:nvPr/>
        </p:nvSpPr>
        <p:spPr>
          <a:xfrm>
            <a:off x="7717631" y="2539890"/>
            <a:ext cx="28803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Spremi u vektorsku bazu podataka</a:t>
            </a:r>
          </a:p>
        </p:txBody>
      </p:sp>
      <p:sp>
        <p:nvSpPr>
          <p:cNvPr id="260" name="TextBox 16"/>
          <p:cNvSpPr txBox="1"/>
          <p:nvPr/>
        </p:nvSpPr>
        <p:spPr>
          <a:xfrm>
            <a:off x="631030" y="3337448"/>
            <a:ext cx="10908795"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Bold"/>
                <a:ea typeface="Inter Bold"/>
                <a:cs typeface="Inter Bold"/>
                <a:sym typeface="Inter Bold"/>
              </a:defRPr>
            </a:pPr>
            <a:r>
              <a:t>Step 2.</a:t>
            </a:r>
            <a:r>
              <a:rPr>
                <a:latin typeface="Inter Regular"/>
                <a:ea typeface="Inter Regular"/>
                <a:cs typeface="Inter Regular"/>
                <a:sym typeface="Inter Regular"/>
              </a:rPr>
              <a:t> Kod promptanja, </a:t>
            </a:r>
            <a:r>
              <a:rPr>
                <a:solidFill>
                  <a:srgbClr val="00D4FF"/>
                </a:solidFill>
              </a:rPr>
              <a:t>pretražuje relevantan kod</a:t>
            </a:r>
            <a:r>
              <a:rPr>
                <a:latin typeface="Inter Regular"/>
                <a:ea typeface="Inter Regular"/>
                <a:cs typeface="Inter Regular"/>
                <a:sym typeface="Inter Regular"/>
              </a:rPr>
              <a:t>:</a:t>
            </a:r>
          </a:p>
        </p:txBody>
      </p:sp>
      <p:sp>
        <p:nvSpPr>
          <p:cNvPr id="261" name="Rounded Rectangle 17"/>
          <p:cNvSpPr/>
          <p:nvPr/>
        </p:nvSpPr>
        <p:spPr>
          <a:xfrm>
            <a:off x="631031" y="3840369"/>
            <a:ext cx="3154682"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62" name="TextBox 18"/>
          <p:cNvSpPr txBox="1"/>
          <p:nvPr/>
        </p:nvSpPr>
        <p:spPr>
          <a:xfrm>
            <a:off x="768190" y="4185809"/>
            <a:ext cx="28803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Tvoj prompt</a:t>
            </a:r>
          </a:p>
        </p:txBody>
      </p:sp>
      <p:sp>
        <p:nvSpPr>
          <p:cNvPr id="263" name="TextBox 19"/>
          <p:cNvSpPr txBox="1"/>
          <p:nvPr/>
        </p:nvSpPr>
        <p:spPr>
          <a:xfrm>
            <a:off x="3785711" y="4141359"/>
            <a:ext cx="320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64" name="Rounded Rectangle 20"/>
          <p:cNvSpPr/>
          <p:nvPr/>
        </p:nvSpPr>
        <p:spPr>
          <a:xfrm>
            <a:off x="4105750" y="3840369"/>
            <a:ext cx="3154683"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65" name="TextBox 21"/>
          <p:cNvSpPr txBox="1"/>
          <p:nvPr/>
        </p:nvSpPr>
        <p:spPr>
          <a:xfrm>
            <a:off x="4242911" y="4185809"/>
            <a:ext cx="28803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Semantičko pretraživanje</a:t>
            </a:r>
          </a:p>
        </p:txBody>
      </p:sp>
      <p:sp>
        <p:nvSpPr>
          <p:cNvPr id="266" name="Rounded Rectangle 25"/>
          <p:cNvSpPr/>
          <p:nvPr/>
        </p:nvSpPr>
        <p:spPr>
          <a:xfrm>
            <a:off x="631031" y="5029089"/>
            <a:ext cx="10972801" cy="914402"/>
          </a:xfrm>
          <a:prstGeom prst="roundRect">
            <a:avLst>
              <a:gd name="adj" fmla="val 6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267" name="Rectangle 26"/>
          <p:cNvSpPr/>
          <p:nvPr/>
        </p:nvSpPr>
        <p:spPr>
          <a:xfrm>
            <a:off x="631031" y="5029089"/>
            <a:ext cx="54866" cy="914402"/>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268" name="TextBox 27"/>
          <p:cNvSpPr txBox="1"/>
          <p:nvPr/>
        </p:nvSpPr>
        <p:spPr>
          <a:xfrm>
            <a:off x="888582" y="5365639"/>
            <a:ext cx="1060704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500">
                <a:solidFill>
                  <a:srgbClr val="F2F2F2"/>
                </a:solidFill>
                <a:latin typeface="Inter Regular"/>
                <a:ea typeface="Inter Regular"/>
                <a:cs typeface="Inter Regular"/>
                <a:sym typeface="Inter Regular"/>
              </a:defRPr>
            </a:lvl1pPr>
          </a:lstStyle>
          <a:p>
            <a:pPr/>
            <a:r>
              <a:t>Loša struktura -&gt; loši rezultati pretraživanja -&gt; loš output</a:t>
            </a:r>
          </a:p>
        </p:txBody>
      </p:sp>
      <p:sp>
        <p:nvSpPr>
          <p:cNvPr id="269" name="TextBox 22"/>
          <p:cNvSpPr txBox="1"/>
          <p:nvPr/>
        </p:nvSpPr>
        <p:spPr>
          <a:xfrm>
            <a:off x="7260431" y="4141359"/>
            <a:ext cx="3200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00D4FF"/>
                </a:solidFill>
                <a:latin typeface="Inter Bold"/>
                <a:ea typeface="Inter Bold"/>
                <a:cs typeface="Inter Bold"/>
                <a:sym typeface="Inter Bold"/>
              </a:defRPr>
            </a:lvl1pPr>
          </a:lstStyle>
          <a:p>
            <a:pPr/>
            <a:r>
              <a:t>→</a:t>
            </a:r>
          </a:p>
        </p:txBody>
      </p:sp>
      <p:sp>
        <p:nvSpPr>
          <p:cNvPr id="270" name="Rounded Rectangle 23"/>
          <p:cNvSpPr/>
          <p:nvPr/>
        </p:nvSpPr>
        <p:spPr>
          <a:xfrm>
            <a:off x="7580469" y="3840369"/>
            <a:ext cx="3154682" cy="868682"/>
          </a:xfrm>
          <a:prstGeom prst="roundRect">
            <a:avLst>
              <a:gd name="adj" fmla="val 12000"/>
            </a:avLst>
          </a:prstGeom>
          <a:solidFill>
            <a:srgbClr val="1A1A2E"/>
          </a:solidFill>
          <a:ln>
            <a:solidFill>
              <a:srgbClr val="00D4FF"/>
            </a:solidFill>
          </a:ln>
        </p:spPr>
        <p:txBody>
          <a:bodyPr lIns="45718" tIns="45718" rIns="45718" bIns="45718" anchor="ctr"/>
          <a:lstStyle/>
          <a:p>
            <a:pPr algn="ctr">
              <a:defRPr>
                <a:solidFill>
                  <a:srgbClr val="FFFFFF"/>
                </a:solidFill>
              </a:defRPr>
            </a:pPr>
          </a:p>
        </p:txBody>
      </p:sp>
      <p:sp>
        <p:nvSpPr>
          <p:cNvPr id="271" name="TextBox 24"/>
          <p:cNvSpPr txBox="1"/>
          <p:nvPr/>
        </p:nvSpPr>
        <p:spPr>
          <a:xfrm>
            <a:off x="7717631" y="4185809"/>
            <a:ext cx="2880362"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2F2F2"/>
                </a:solidFill>
                <a:latin typeface="JetBrains Mono Bold"/>
                <a:ea typeface="JetBrains Mono Bold"/>
                <a:cs typeface="JetBrains Mono Bold"/>
                <a:sym typeface="JetBrains Mono Bold"/>
              </a:defRPr>
            </a:lvl1pPr>
          </a:lstStyle>
          <a:p>
            <a:pPr/>
            <a:r>
              <a:t>Umetanje u kontekst</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Pristup B: Agentic Search</a:t>
            </a:r>
          </a:p>
        </p:txBody>
      </p:sp>
      <p:sp>
        <p:nvSpPr>
          <p:cNvPr id="276"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grpSp>
        <p:nvGrpSpPr>
          <p:cNvPr id="279" name="Rounded Rectangle 4"/>
          <p:cNvGrpSpPr/>
          <p:nvPr/>
        </p:nvGrpSpPr>
        <p:grpSpPr>
          <a:xfrm>
            <a:off x="8610600" y="686815"/>
            <a:ext cx="1581913" cy="292611"/>
            <a:chOff x="0" y="0"/>
            <a:chExt cx="1581912" cy="292609"/>
          </a:xfrm>
        </p:grpSpPr>
        <p:sp>
          <p:nvSpPr>
            <p:cNvPr id="277" name="Rounded Rectangle"/>
            <p:cNvSpPr/>
            <p:nvPr/>
          </p:nvSpPr>
          <p:spPr>
            <a:xfrm>
              <a:off x="0" y="0"/>
              <a:ext cx="1581913" cy="292611"/>
            </a:xfrm>
            <a:prstGeom prst="roundRect">
              <a:avLst>
                <a:gd name="adj" fmla="val 50000"/>
              </a:avLst>
            </a:prstGeom>
            <a:noFill/>
            <a:ln w="9525" cap="flat">
              <a:solidFill>
                <a:srgbClr val="2ED573"/>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278" name="Claude Code"/>
            <p:cNvSpPr txBox="1"/>
            <p:nvPr/>
          </p:nvSpPr>
          <p:spPr>
            <a:xfrm>
              <a:off x="93333" y="70104"/>
              <a:ext cx="1395247"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2ED573"/>
                  </a:solidFill>
                  <a:latin typeface="Inter Bold"/>
                  <a:ea typeface="Inter Bold"/>
                  <a:cs typeface="Inter Bold"/>
                  <a:sym typeface="Inter Bold"/>
                </a:defRPr>
              </a:lvl1pPr>
            </a:lstStyle>
            <a:p>
              <a:pPr/>
              <a:r>
                <a:t>Claude Code</a:t>
              </a:r>
            </a:p>
          </p:txBody>
        </p:sp>
      </p:grpSp>
      <p:sp>
        <p:nvSpPr>
          <p:cNvPr id="280" name="TextBox 5"/>
          <p:cNvSpPr txBox="1"/>
          <p:nvPr/>
        </p:nvSpPr>
        <p:spPr>
          <a:xfrm>
            <a:off x="640079" y="1691638"/>
            <a:ext cx="10908794"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Regular"/>
                <a:ea typeface="Inter Regular"/>
                <a:cs typeface="Inter Regular"/>
                <a:sym typeface="Inter Regular"/>
              </a:defRPr>
            </a:pPr>
            <a:r>
              <a:t>Nema indeksiranja. AI </a:t>
            </a:r>
            <a:r>
              <a:rPr>
                <a:solidFill>
                  <a:srgbClr val="00D4FF"/>
                </a:solidFill>
                <a:latin typeface="Inter Bold"/>
                <a:ea typeface="Inter Bold"/>
                <a:cs typeface="Inter Bold"/>
                <a:sym typeface="Inter Bold"/>
              </a:rPr>
              <a:t>istražuje po potrebi</a:t>
            </a:r>
            <a:r>
              <a:t>, poput developera:</a:t>
            </a:r>
          </a:p>
        </p:txBody>
      </p:sp>
      <p:sp>
        <p:nvSpPr>
          <p:cNvPr id="281" name="Rounded Rectangle 6"/>
          <p:cNvSpPr/>
          <p:nvPr/>
        </p:nvSpPr>
        <p:spPr>
          <a:xfrm>
            <a:off x="640080" y="2202178"/>
            <a:ext cx="10972801" cy="2468883"/>
          </a:xfrm>
          <a:prstGeom prst="roundRect">
            <a:avLst>
              <a:gd name="adj" fmla="val 4000"/>
            </a:avLst>
          </a:prstGeom>
          <a:solidFill>
            <a:srgbClr val="1A1A2E"/>
          </a:solidFill>
          <a:ln>
            <a:solidFill>
              <a:srgbClr val="333333"/>
            </a:solidFill>
          </a:ln>
        </p:spPr>
        <p:txBody>
          <a:bodyPr lIns="45718" tIns="45718" rIns="45718" bIns="45718" anchor="ctr"/>
          <a:lstStyle/>
          <a:p>
            <a:pPr algn="ctr">
              <a:defRPr>
                <a:solidFill>
                  <a:srgbClr val="FFFFFF"/>
                </a:solidFill>
              </a:defRPr>
            </a:pPr>
          </a:p>
        </p:txBody>
      </p:sp>
      <p:sp>
        <p:nvSpPr>
          <p:cNvPr id="282" name="TextBox 7"/>
          <p:cNvSpPr txBox="1"/>
          <p:nvPr/>
        </p:nvSpPr>
        <p:spPr>
          <a:xfrm>
            <a:off x="868680" y="2430778"/>
            <a:ext cx="10515601" cy="182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200">
                <a:solidFill>
                  <a:srgbClr val="888888"/>
                </a:solidFill>
                <a:latin typeface="JetBrains Mono Regular"/>
                <a:ea typeface="JetBrains Mono Regular"/>
                <a:cs typeface="JetBrains Mono Regular"/>
                <a:sym typeface="JetBrains Mono Regular"/>
              </a:defRPr>
            </a:pPr>
            <a:r>
              <a:t>1.  </a:t>
            </a:r>
            <a:r>
              <a:rPr>
                <a:solidFill>
                  <a:srgbClr val="00D4FF"/>
                </a:solidFill>
                <a:latin typeface="JetBrains Mono Bold"/>
                <a:ea typeface="JetBrains Mono Bold"/>
                <a:cs typeface="JetBrains Mono Bold"/>
                <a:sym typeface="JetBrains Mono Bold"/>
              </a:rPr>
              <a:t>Read file tree</a:t>
            </a:r>
            <a:r>
              <a:rPr>
                <a:solidFill>
                  <a:srgbClr val="F2F2F2"/>
                </a:solidFill>
              </a:rPr>
              <a:t>       →  “Kako ovaj projekt izgleda?”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2.  </a:t>
            </a:r>
            <a:r>
              <a:rPr>
                <a:solidFill>
                  <a:srgbClr val="00D4FF"/>
                </a:solidFill>
                <a:latin typeface="JetBrains Mono Bold"/>
                <a:ea typeface="JetBrains Mono Bold"/>
                <a:cs typeface="JetBrains Mono Bold"/>
                <a:sym typeface="JetBrains Mono Bold"/>
              </a:rPr>
              <a:t>Glob</a:t>
            </a:r>
            <a:r>
              <a:rPr>
                <a:solidFill>
                  <a:srgbClr val="F2F2F2"/>
                </a:solidFill>
              </a:rPr>
              <a:t> (find files)    →  “Koje su datoteke vezane uz moj zadatak?”</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3.  </a:t>
            </a:r>
            <a:r>
              <a:rPr>
                <a:solidFill>
                  <a:srgbClr val="00D4FF"/>
                </a:solidFill>
                <a:latin typeface="JetBrains Mono Bold"/>
                <a:ea typeface="JetBrains Mono Bold"/>
                <a:cs typeface="JetBrains Mono Bold"/>
                <a:sym typeface="JetBrains Mono Bold"/>
              </a:rPr>
              <a:t>Grep</a:t>
            </a:r>
            <a:r>
              <a:rPr>
                <a:solidFill>
                  <a:srgbClr val="F2F2F2"/>
                </a:solidFill>
              </a:rPr>
              <a:t> (search code)   →  “Koja od ovih komponenti sadrži ono što meni treba?”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4.  </a:t>
            </a:r>
            <a:r>
              <a:rPr>
                <a:solidFill>
                  <a:srgbClr val="00D4FF"/>
                </a:solidFill>
                <a:latin typeface="JetBrains Mono Bold"/>
                <a:ea typeface="JetBrains Mono Bold"/>
                <a:cs typeface="JetBrains Mono Bold"/>
                <a:sym typeface="JetBrains Mono Bold"/>
              </a:rPr>
              <a:t>Read</a:t>
            </a:r>
            <a:r>
              <a:rPr>
                <a:solidFill>
                  <a:srgbClr val="F2F2F2"/>
                </a:solidFill>
              </a:rPr>
              <a:t> (load file)     →  “Pokušavam shvatit kako funkcionira ova komponenta.”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5.  </a:t>
            </a:r>
            <a:r>
              <a:rPr>
                <a:solidFill>
                  <a:srgbClr val="00D4FF"/>
                </a:solidFill>
                <a:latin typeface="JetBrains Mono Bold"/>
                <a:ea typeface="JetBrains Mono Bold"/>
                <a:cs typeface="JetBrains Mono Bold"/>
                <a:sym typeface="JetBrains Mono Bold"/>
              </a:rPr>
              <a:t>Follow imports</a:t>
            </a:r>
            <a:r>
              <a:rPr>
                <a:solidFill>
                  <a:srgbClr val="F2F2F2"/>
                </a:solidFill>
              </a:rPr>
              <a:t>       →  “O čemu ovisi ova komponenta?”</a:t>
            </a:r>
            <a:endParaRPr>
              <a:solidFill>
                <a:srgbClr val="F2F2F2"/>
              </a:solidFill>
            </a:endParaRPr>
          </a:p>
          <a:p>
            <a:pPr>
              <a:lnSpc>
                <a:spcPct val="160000"/>
              </a:lnSpc>
              <a:defRPr sz="1200">
                <a:solidFill>
                  <a:srgbClr val="F2F2F2"/>
                </a:solidFill>
                <a:latin typeface="JetBrains Mono Regular"/>
                <a:ea typeface="JetBrains Mono Regular"/>
                <a:cs typeface="JetBrains Mono Regular"/>
                <a:sym typeface="JetBrains Mono Regular"/>
              </a:defRPr>
            </a:pPr>
            <a:r>
              <a:t>6.  Repeat 4–5           →  </a:t>
            </a:r>
            <a:r>
              <a:rPr>
                <a:solidFill>
                  <a:srgbClr val="FF4757"/>
                </a:solidFill>
                <a:latin typeface="JetBrains Mono Bold"/>
                <a:ea typeface="JetBrains Mono Bold"/>
                <a:cs typeface="JetBrains Mono Bold"/>
                <a:sym typeface="JetBrains Mono Bold"/>
              </a:rPr>
              <a:t>Svaki skok puni kontekst i troši tokene</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11729"/>
        </a:solidFill>
      </p:bgPr>
    </p:bg>
    <p:spTree>
      <p:nvGrpSpPr>
        <p:cNvPr id="1" name=""/>
        <p:cNvGrpSpPr/>
        <p:nvPr/>
      </p:nvGrpSpPr>
      <p:grpSpPr>
        <a:xfrm>
          <a:off x="0" y="0"/>
          <a:ext cx="0" cy="0"/>
          <a:chOff x="0" y="0"/>
          <a:chExt cx="0" cy="0"/>
        </a:xfrm>
      </p:grpSpPr>
      <p:sp>
        <p:nvSpPr>
          <p:cNvPr id="286"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Pristup B: Agentic Search</a:t>
            </a:r>
          </a:p>
        </p:txBody>
      </p:sp>
      <p:sp>
        <p:nvSpPr>
          <p:cNvPr id="287"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grpSp>
        <p:nvGrpSpPr>
          <p:cNvPr id="290" name="Rounded Rectangle 4"/>
          <p:cNvGrpSpPr/>
          <p:nvPr/>
        </p:nvGrpSpPr>
        <p:grpSpPr>
          <a:xfrm>
            <a:off x="8610600" y="686815"/>
            <a:ext cx="1581913" cy="292611"/>
            <a:chOff x="0" y="0"/>
            <a:chExt cx="1581912" cy="292609"/>
          </a:xfrm>
        </p:grpSpPr>
        <p:sp>
          <p:nvSpPr>
            <p:cNvPr id="288" name="Rounded Rectangle"/>
            <p:cNvSpPr/>
            <p:nvPr/>
          </p:nvSpPr>
          <p:spPr>
            <a:xfrm>
              <a:off x="0" y="0"/>
              <a:ext cx="1581913" cy="292611"/>
            </a:xfrm>
            <a:prstGeom prst="roundRect">
              <a:avLst>
                <a:gd name="adj" fmla="val 50000"/>
              </a:avLst>
            </a:prstGeom>
            <a:noFill/>
            <a:ln w="9525" cap="flat">
              <a:solidFill>
                <a:srgbClr val="2ED573"/>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289" name="Claude Code"/>
            <p:cNvSpPr txBox="1"/>
            <p:nvPr/>
          </p:nvSpPr>
          <p:spPr>
            <a:xfrm>
              <a:off x="93333" y="70104"/>
              <a:ext cx="1395247"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2ED573"/>
                  </a:solidFill>
                  <a:latin typeface="Inter Bold"/>
                  <a:ea typeface="Inter Bold"/>
                  <a:cs typeface="Inter Bold"/>
                  <a:sym typeface="Inter Bold"/>
                </a:defRPr>
              </a:lvl1pPr>
            </a:lstStyle>
            <a:p>
              <a:pPr/>
              <a:r>
                <a:t>Claude Code</a:t>
              </a:r>
            </a:p>
          </p:txBody>
        </p:sp>
      </p:grpSp>
      <p:sp>
        <p:nvSpPr>
          <p:cNvPr id="291" name="TextBox 5"/>
          <p:cNvSpPr txBox="1"/>
          <p:nvPr/>
        </p:nvSpPr>
        <p:spPr>
          <a:xfrm>
            <a:off x="640079" y="1691638"/>
            <a:ext cx="10908794"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2F2F2"/>
                </a:solidFill>
                <a:latin typeface="Inter Regular"/>
                <a:ea typeface="Inter Regular"/>
                <a:cs typeface="Inter Regular"/>
                <a:sym typeface="Inter Regular"/>
              </a:defRPr>
            </a:pPr>
            <a:r>
              <a:t>Nema indeksiranja. AI </a:t>
            </a:r>
            <a:r>
              <a:rPr>
                <a:solidFill>
                  <a:srgbClr val="00D4FF"/>
                </a:solidFill>
                <a:latin typeface="Inter Bold"/>
                <a:ea typeface="Inter Bold"/>
                <a:cs typeface="Inter Bold"/>
                <a:sym typeface="Inter Bold"/>
              </a:rPr>
              <a:t>istražuje po potrebi</a:t>
            </a:r>
            <a:r>
              <a:t>, poput developera:</a:t>
            </a:r>
          </a:p>
        </p:txBody>
      </p:sp>
      <p:sp>
        <p:nvSpPr>
          <p:cNvPr id="292" name="Rounded Rectangle 6"/>
          <p:cNvSpPr/>
          <p:nvPr/>
        </p:nvSpPr>
        <p:spPr>
          <a:xfrm>
            <a:off x="640080" y="2202178"/>
            <a:ext cx="10972801" cy="2468883"/>
          </a:xfrm>
          <a:prstGeom prst="roundRect">
            <a:avLst>
              <a:gd name="adj" fmla="val 4000"/>
            </a:avLst>
          </a:prstGeom>
          <a:solidFill>
            <a:srgbClr val="1A1A2E"/>
          </a:solidFill>
          <a:ln>
            <a:solidFill>
              <a:srgbClr val="333333"/>
            </a:solidFill>
          </a:ln>
        </p:spPr>
        <p:txBody>
          <a:bodyPr lIns="45718" tIns="45718" rIns="45718" bIns="45718" anchor="ctr"/>
          <a:lstStyle/>
          <a:p>
            <a:pPr algn="ctr">
              <a:defRPr>
                <a:solidFill>
                  <a:srgbClr val="FFFFFF"/>
                </a:solidFill>
              </a:defRPr>
            </a:pPr>
          </a:p>
        </p:txBody>
      </p:sp>
      <p:sp>
        <p:nvSpPr>
          <p:cNvPr id="293" name="TextBox 7"/>
          <p:cNvSpPr txBox="1"/>
          <p:nvPr/>
        </p:nvSpPr>
        <p:spPr>
          <a:xfrm>
            <a:off x="868680" y="2430778"/>
            <a:ext cx="10515601" cy="182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200">
                <a:solidFill>
                  <a:srgbClr val="888888"/>
                </a:solidFill>
                <a:latin typeface="JetBrains Mono Regular"/>
                <a:ea typeface="JetBrains Mono Regular"/>
                <a:cs typeface="JetBrains Mono Regular"/>
                <a:sym typeface="JetBrains Mono Regular"/>
              </a:defRPr>
            </a:pPr>
            <a:r>
              <a:t>1.  </a:t>
            </a:r>
            <a:r>
              <a:rPr>
                <a:solidFill>
                  <a:srgbClr val="00D4FF"/>
                </a:solidFill>
                <a:latin typeface="JetBrains Mono Bold"/>
                <a:ea typeface="JetBrains Mono Bold"/>
                <a:cs typeface="JetBrains Mono Bold"/>
                <a:sym typeface="JetBrains Mono Bold"/>
              </a:rPr>
              <a:t>Read file tree</a:t>
            </a:r>
            <a:r>
              <a:rPr>
                <a:solidFill>
                  <a:srgbClr val="F2F2F2"/>
                </a:solidFill>
              </a:rPr>
              <a:t>       →  “Kako ovaj projekt izgleda?”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2.  </a:t>
            </a:r>
            <a:r>
              <a:rPr>
                <a:solidFill>
                  <a:srgbClr val="00D4FF"/>
                </a:solidFill>
                <a:latin typeface="JetBrains Mono Bold"/>
                <a:ea typeface="JetBrains Mono Bold"/>
                <a:cs typeface="JetBrains Mono Bold"/>
                <a:sym typeface="JetBrains Mono Bold"/>
              </a:rPr>
              <a:t>Glob</a:t>
            </a:r>
            <a:r>
              <a:rPr>
                <a:solidFill>
                  <a:srgbClr val="F2F2F2"/>
                </a:solidFill>
              </a:rPr>
              <a:t> (find files)    →  “Koje su datoteke vezane uz moj zadatak?”</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3.  </a:t>
            </a:r>
            <a:r>
              <a:rPr>
                <a:solidFill>
                  <a:srgbClr val="00D4FF"/>
                </a:solidFill>
                <a:latin typeface="JetBrains Mono Bold"/>
                <a:ea typeface="JetBrains Mono Bold"/>
                <a:cs typeface="JetBrains Mono Bold"/>
                <a:sym typeface="JetBrains Mono Bold"/>
              </a:rPr>
              <a:t>Grep</a:t>
            </a:r>
            <a:r>
              <a:rPr>
                <a:solidFill>
                  <a:srgbClr val="F2F2F2"/>
                </a:solidFill>
              </a:rPr>
              <a:t> (search code)   →  “Koja od ovih komponenti sadrži ono što meni treba?”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4.  </a:t>
            </a:r>
            <a:r>
              <a:rPr>
                <a:solidFill>
                  <a:srgbClr val="00D4FF"/>
                </a:solidFill>
                <a:latin typeface="JetBrains Mono Bold"/>
                <a:ea typeface="JetBrains Mono Bold"/>
                <a:cs typeface="JetBrains Mono Bold"/>
                <a:sym typeface="JetBrains Mono Bold"/>
              </a:rPr>
              <a:t>Read</a:t>
            </a:r>
            <a:r>
              <a:rPr>
                <a:solidFill>
                  <a:srgbClr val="F2F2F2"/>
                </a:solidFill>
              </a:rPr>
              <a:t> (load file)     →  “Pokušavam shvatit kako funkcionira ova komponenta.”</a:t>
            </a:r>
            <a:endParaRPr>
              <a:solidFill>
                <a:srgbClr val="F2F2F2"/>
              </a:solidFill>
            </a:endParaRPr>
          </a:p>
          <a:p>
            <a:pPr>
              <a:lnSpc>
                <a:spcPct val="160000"/>
              </a:lnSpc>
              <a:defRPr sz="1200">
                <a:solidFill>
                  <a:srgbClr val="888888"/>
                </a:solidFill>
                <a:latin typeface="JetBrains Mono Regular"/>
                <a:ea typeface="JetBrains Mono Regular"/>
                <a:cs typeface="JetBrains Mono Regular"/>
                <a:sym typeface="JetBrains Mono Regular"/>
              </a:defRPr>
            </a:pPr>
            <a:r>
              <a:t>5.  </a:t>
            </a:r>
            <a:r>
              <a:rPr>
                <a:solidFill>
                  <a:srgbClr val="00D4FF"/>
                </a:solidFill>
                <a:latin typeface="JetBrains Mono Bold"/>
                <a:ea typeface="JetBrains Mono Bold"/>
                <a:cs typeface="JetBrains Mono Bold"/>
                <a:sym typeface="JetBrains Mono Bold"/>
              </a:rPr>
              <a:t>Follow imports</a:t>
            </a:r>
            <a:r>
              <a:rPr>
                <a:solidFill>
                  <a:srgbClr val="F2F2F2"/>
                </a:solidFill>
              </a:rPr>
              <a:t>       →  “O čemu ovisi ova komponenta?”</a:t>
            </a:r>
            <a:endParaRPr>
              <a:solidFill>
                <a:srgbClr val="F2F2F2"/>
              </a:solidFill>
            </a:endParaRPr>
          </a:p>
          <a:p>
            <a:pPr>
              <a:lnSpc>
                <a:spcPct val="160000"/>
              </a:lnSpc>
              <a:defRPr sz="1200">
                <a:solidFill>
                  <a:srgbClr val="F2F2F2"/>
                </a:solidFill>
                <a:latin typeface="JetBrains Mono Regular"/>
                <a:ea typeface="JetBrains Mono Regular"/>
                <a:cs typeface="JetBrains Mono Regular"/>
                <a:sym typeface="JetBrains Mono Regular"/>
              </a:defRPr>
            </a:pPr>
            <a:r>
              <a:t>6.  Repeat 4–5           →  </a:t>
            </a:r>
            <a:r>
              <a:rPr>
                <a:solidFill>
                  <a:srgbClr val="FF4757"/>
                </a:solidFill>
                <a:latin typeface="JetBrains Mono Bold"/>
                <a:ea typeface="JetBrains Mono Bold"/>
                <a:cs typeface="JetBrains Mono Bold"/>
                <a:sym typeface="JetBrains Mono Bold"/>
              </a:rPr>
              <a:t>Svaki skok puni kontekst i troši tokene</a:t>
            </a:r>
          </a:p>
        </p:txBody>
      </p:sp>
      <p:sp>
        <p:nvSpPr>
          <p:cNvPr id="294" name="Rounded Rectangle 9"/>
          <p:cNvSpPr/>
          <p:nvPr/>
        </p:nvSpPr>
        <p:spPr>
          <a:xfrm>
            <a:off x="640080" y="5031740"/>
            <a:ext cx="10972801" cy="919482"/>
          </a:xfrm>
          <a:prstGeom prst="roundRect">
            <a:avLst>
              <a:gd name="adj" fmla="val 5669"/>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295" name="Rectangle 10"/>
          <p:cNvSpPr/>
          <p:nvPr/>
        </p:nvSpPr>
        <p:spPr>
          <a:xfrm>
            <a:off x="640080" y="5031740"/>
            <a:ext cx="54866" cy="919482"/>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296" name="TextBox 11"/>
          <p:cNvSpPr txBox="1"/>
          <p:nvPr/>
        </p:nvSpPr>
        <p:spPr>
          <a:xfrm>
            <a:off x="890011" y="5373623"/>
            <a:ext cx="1060704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500">
                <a:solidFill>
                  <a:srgbClr val="F2F2F2"/>
                </a:solidFill>
                <a:latin typeface="Inter Regular"/>
                <a:ea typeface="Inter Regular"/>
                <a:cs typeface="Inter Regular"/>
                <a:sym typeface="Inter Regular"/>
              </a:defRPr>
            </a:lvl1pPr>
          </a:lstStyle>
          <a:p>
            <a:pPr/>
            <a:r>
              <a:t>Niska kohezija -&gt; brže punjenje konteksta -&gt; veća potrošnja tokena</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Što je zajedničko?</a:t>
            </a:r>
          </a:p>
        </p:txBody>
      </p:sp>
      <p:sp>
        <p:nvSpPr>
          <p:cNvPr id="301"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02" name="TextBox 5"/>
          <p:cNvSpPr txBox="1"/>
          <p:nvPr/>
        </p:nvSpPr>
        <p:spPr>
          <a:xfrm>
            <a:off x="635000" y="1689100"/>
            <a:ext cx="7773728" cy="12966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5000"/>
              </a:lnSpc>
              <a:defRPr sz="1500">
                <a:solidFill>
                  <a:srgbClr val="F2F2F2"/>
                </a:solidFill>
                <a:latin typeface="Inter Regular"/>
                <a:ea typeface="Inter Regular"/>
                <a:cs typeface="Inter Regular"/>
                <a:sym typeface="Inter Regular"/>
              </a:defRPr>
            </a:pPr>
            <a:r>
              <a:t>•  AI mora </a:t>
            </a:r>
            <a:r>
              <a:rPr>
                <a:solidFill>
                  <a:srgbClr val="00D4FF"/>
                </a:solidFill>
                <a:latin typeface="Inter Bold"/>
                <a:ea typeface="Inter Bold"/>
                <a:cs typeface="Inter Bold"/>
                <a:sym typeface="Inter Bold"/>
              </a:rPr>
              <a:t>odabrati</a:t>
            </a:r>
            <a:r>
              <a:t> što će uključiti u kontekst</a:t>
            </a:r>
          </a:p>
          <a:p>
            <a:pPr>
              <a:lnSpc>
                <a:spcPct val="145000"/>
              </a:lnSpc>
              <a:spcBef>
                <a:spcPts val="1400"/>
              </a:spcBef>
              <a:defRPr sz="1500">
                <a:solidFill>
                  <a:srgbClr val="F2F2F2"/>
                </a:solidFill>
                <a:latin typeface="Inter Regular"/>
                <a:ea typeface="Inter Regular"/>
                <a:cs typeface="Inter Regular"/>
                <a:sym typeface="Inter Regular"/>
              </a:defRPr>
            </a:pPr>
            <a:r>
              <a:t>•  </a:t>
            </a:r>
            <a:r>
              <a:rPr>
                <a:solidFill>
                  <a:srgbClr val="00D4FF"/>
                </a:solidFill>
                <a:latin typeface="Inter Bold"/>
                <a:ea typeface="Inter Bold"/>
                <a:cs typeface="Inter Bold"/>
                <a:sym typeface="Inter Bold"/>
              </a:rPr>
              <a:t>Imenovanje je bitno </a:t>
            </a:r>
            <a:r>
              <a:t>- bolji embeddingsi, pattern matching</a:t>
            </a:r>
          </a:p>
          <a:p>
            <a:pPr>
              <a:lnSpc>
                <a:spcPct val="145000"/>
              </a:lnSpc>
              <a:spcBef>
                <a:spcPts val="1400"/>
              </a:spcBef>
              <a:defRPr sz="1500">
                <a:solidFill>
                  <a:srgbClr val="F2F2F2"/>
                </a:solidFill>
                <a:latin typeface="Inter Regular"/>
                <a:ea typeface="Inter Regular"/>
                <a:cs typeface="Inter Regular"/>
                <a:sym typeface="Inter Regular"/>
              </a:defRPr>
            </a:pPr>
            <a:r>
              <a:t>•  </a:t>
            </a:r>
            <a:r>
              <a:rPr>
                <a:solidFill>
                  <a:srgbClr val="00D4FF"/>
                </a:solidFill>
                <a:latin typeface="Inter Bold"/>
                <a:ea typeface="Inter Bold"/>
                <a:cs typeface="Inter Bold"/>
                <a:sym typeface="Inter Bold"/>
              </a:rPr>
              <a:t>Jasne granice </a:t>
            </a:r>
            <a:r>
              <a:t>= manje šuma, manje uzalud potrošenih tokena, bolji output</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6"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Gdje nastaju problemi</a:t>
            </a:r>
          </a:p>
        </p:txBody>
      </p:sp>
      <p:sp>
        <p:nvSpPr>
          <p:cNvPr id="307"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Prompt: “Promijeni minimalni iznos za besplatnu dostavu sa 50€ na 100€”</a:t>
            </a:r>
          </a:p>
        </p:txBody>
      </p:sp>
      <p:sp>
        <p:nvSpPr>
          <p:cNvPr id="308" name="Rectangle 3"/>
          <p:cNvSpPr/>
          <p:nvPr/>
        </p:nvSpPr>
        <p:spPr>
          <a:xfrm>
            <a:off x="640080" y="1691638"/>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09" name="TextBox 4"/>
          <p:cNvSpPr txBox="1"/>
          <p:nvPr/>
        </p:nvSpPr>
        <p:spPr>
          <a:xfrm>
            <a:off x="640079" y="2011678"/>
            <a:ext cx="10908794"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2F2F2"/>
                </a:solidFill>
                <a:latin typeface="Inter Regular"/>
                <a:ea typeface="Inter Regular"/>
                <a:cs typeface="Inter Regular"/>
                <a:sym typeface="Inter Regular"/>
              </a:defRPr>
            </a:lvl1pPr>
          </a:lstStyle>
          <a:p>
            <a:pPr/>
            <a:r>
              <a:t>AI čita file tree i vidi:</a:t>
            </a:r>
          </a:p>
        </p:txBody>
      </p:sp>
      <p:sp>
        <p:nvSpPr>
          <p:cNvPr id="310" name="Rounded Rectangle 5"/>
          <p:cNvSpPr/>
          <p:nvPr/>
        </p:nvSpPr>
        <p:spPr>
          <a:xfrm>
            <a:off x="640080" y="2468878"/>
            <a:ext cx="6322992" cy="3978966"/>
          </a:xfrm>
          <a:prstGeom prst="roundRect">
            <a:avLst>
              <a:gd name="adj" fmla="val 4045"/>
            </a:avLst>
          </a:prstGeom>
          <a:solidFill>
            <a:srgbClr val="1A1A2E"/>
          </a:solidFill>
          <a:ln>
            <a:solidFill>
              <a:srgbClr val="333333"/>
            </a:solidFill>
          </a:ln>
        </p:spPr>
        <p:txBody>
          <a:bodyPr lIns="45718" tIns="45718" rIns="45718" bIns="45718" anchor="ctr"/>
          <a:lstStyle/>
          <a:p>
            <a:pPr algn="ctr">
              <a:defRPr>
                <a:solidFill>
                  <a:srgbClr val="FFFFFF"/>
                </a:solidFill>
              </a:defRPr>
            </a:pPr>
          </a:p>
        </p:txBody>
      </p:sp>
      <p:sp>
        <p:nvSpPr>
          <p:cNvPr id="311" name="TextBox 6"/>
          <p:cNvSpPr txBox="1"/>
          <p:nvPr/>
        </p:nvSpPr>
        <p:spPr>
          <a:xfrm>
            <a:off x="868680" y="2659379"/>
            <a:ext cx="5865792" cy="3756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5000"/>
              </a:lnSpc>
              <a:defRPr sz="1000">
                <a:solidFill>
                  <a:srgbClr val="F2F2F2"/>
                </a:solidFill>
                <a:latin typeface="JetBrains Mono Regular"/>
                <a:ea typeface="JetBrains Mono Regular"/>
                <a:cs typeface="JetBrains Mono Regular"/>
                <a:sym typeface="JetBrains Mono Regular"/>
              </a:defRPr>
            </a:pPr>
            <a:r>
              <a:t>src/</a:t>
            </a:r>
          </a:p>
          <a:p>
            <a:pPr>
              <a:lnSpc>
                <a:spcPct val="145000"/>
              </a:lnSpc>
              <a:defRPr sz="1000">
                <a:solidFill>
                  <a:srgbClr val="F2F2F2"/>
                </a:solidFill>
                <a:latin typeface="JetBrains Mono Regular"/>
                <a:ea typeface="JetBrains Mono Regular"/>
                <a:cs typeface="JetBrains Mono Regular"/>
                <a:sym typeface="JetBrains Mono Regular"/>
              </a:defRPr>
            </a:pPr>
            <a:r>
              <a:t>  modules/</a:t>
            </a:r>
          </a:p>
          <a:p>
            <a:pPr>
              <a:lnSpc>
                <a:spcPct val="145000"/>
              </a:lnSpc>
              <a:defRPr sz="1000">
                <a:solidFill>
                  <a:srgbClr val="F2F2F2"/>
                </a:solidFill>
                <a:latin typeface="JetBrains Mono Regular"/>
                <a:ea typeface="JetBrains Mono Regular"/>
                <a:cs typeface="JetBrains Mono Regular"/>
                <a:sym typeface="JetBrains Mono Regular"/>
              </a:defRPr>
            </a:pPr>
            <a:r>
              <a:t>    checkout/</a:t>
            </a:r>
          </a:p>
          <a:p>
            <a:pPr>
              <a:lnSpc>
                <a:spcPct val="145000"/>
              </a:lnSpc>
              <a:defRPr sz="1000">
                <a:solidFill>
                  <a:srgbClr val="F2F2F2"/>
                </a:solidFill>
                <a:latin typeface="JetBrains Mono Regular"/>
                <a:ea typeface="JetBrains Mono Regular"/>
                <a:cs typeface="JetBrains Mono Regular"/>
                <a:sym typeface="JetBrains Mono Regular"/>
              </a:defRPr>
            </a:pPr>
            <a:r>
              <a:t>      components/</a:t>
            </a:r>
            <a:endParaRPr>
              <a:solidFill>
                <a:srgbClr val="888888"/>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t>        CheckoutForm.tsx</a:t>
            </a:r>
            <a:r>
              <a:rPr>
                <a:solidFill>
                  <a:srgbClr val="888888"/>
                </a:solidFill>
              </a:rPr>
              <a:t>    ← da li se logika nalazi ovdje?</a:t>
            </a:r>
          </a:p>
          <a:p>
            <a:pPr>
              <a:lnSpc>
                <a:spcPct val="145000"/>
              </a:lnSpc>
              <a:defRPr sz="1000">
                <a:solidFill>
                  <a:srgbClr val="FFFFFF"/>
                </a:solidFill>
                <a:latin typeface="JetBrains Mono Regular"/>
                <a:ea typeface="JetBrains Mono Regular"/>
                <a:cs typeface="JetBrains Mono Regular"/>
                <a:sym typeface="JetBrains Mono Regular"/>
              </a:defRPr>
            </a:pPr>
            <a:r>
              <a:t>      schemas/</a:t>
            </a:r>
            <a:endParaRPr>
              <a:solidFill>
                <a:srgbClr val="F2F2F2"/>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t>        formSchema.ts</a:t>
            </a:r>
            <a:r>
              <a:rPr>
                <a:solidFill>
                  <a:srgbClr val="888888"/>
                </a:solidFill>
              </a:rPr>
              <a:t>       ← ili mozda ovdje?</a:t>
            </a:r>
            <a:br/>
            <a:r>
              <a:rPr>
                <a:solidFill>
                  <a:srgbClr val="FFFFFF"/>
                </a:solidFill>
              </a:rPr>
              <a:t>      hooks/</a:t>
            </a:r>
            <a:endParaRPr>
              <a:solidFill>
                <a:srgbClr val="888888"/>
              </a:solidFill>
            </a:endParaRPr>
          </a:p>
          <a:p>
            <a:pPr lvl="1">
              <a:lnSpc>
                <a:spcPct val="145000"/>
              </a:lnSpc>
              <a:defRPr sz="1000">
                <a:solidFill>
                  <a:srgbClr val="FF4757"/>
                </a:solidFill>
                <a:latin typeface="JetBrains Mono Regular"/>
                <a:ea typeface="JetBrains Mono Regular"/>
                <a:cs typeface="JetBrains Mono Regular"/>
                <a:sym typeface="JetBrains Mono Regular"/>
              </a:defRPr>
            </a:pPr>
            <a:r>
              <a:rPr>
                <a:solidFill>
                  <a:srgbClr val="888888"/>
                </a:solidFill>
              </a:rPr>
              <a:t>        useForm.ts</a:t>
            </a:r>
            <a:r>
              <a:rPr>
                <a:solidFill>
                  <a:srgbClr val="FFFFFF"/>
                </a:solidFill>
              </a:rPr>
              <a:t>          </a:t>
            </a:r>
            <a:r>
              <a:rPr>
                <a:solidFill>
                  <a:srgbClr val="888888"/>
                </a:solidFill>
              </a:rPr>
              <a:t>← ili ovdje?</a:t>
            </a:r>
            <a:r>
              <a:rPr>
                <a:solidFill>
                  <a:srgbClr val="FFFFFF"/>
                </a:solidFill>
              </a:rPr>
              <a:t> </a:t>
            </a:r>
            <a:br>
              <a:rPr>
                <a:solidFill>
                  <a:srgbClr val="FFFFFF"/>
                </a:solidFill>
              </a:rPr>
            </a:br>
            <a:r>
              <a:rPr>
                <a:solidFill>
                  <a:srgbClr val="FFFFFF"/>
                </a:solidFill>
              </a:rPr>
              <a:t>      types/</a:t>
            </a:r>
          </a:p>
          <a:p>
            <a:pPr lvl="1">
              <a:lnSpc>
                <a:spcPct val="145000"/>
              </a:lnSpc>
              <a:defRPr sz="1000">
                <a:solidFill>
                  <a:srgbClr val="EB565D"/>
                </a:solidFill>
                <a:latin typeface="JetBrains Mono Regular"/>
                <a:ea typeface="JetBrains Mono Regular"/>
                <a:cs typeface="JetBrains Mono Regular"/>
                <a:sym typeface="JetBrains Mono Regular"/>
              </a:defRPr>
            </a:pPr>
            <a:r>
              <a:t>        interface.ts       </a:t>
            </a:r>
            <a:r>
              <a:rPr>
                <a:solidFill>
                  <a:srgbClr val="888888"/>
                </a:solidFill>
              </a:rPr>
              <a:t> ← svi tipovi na jednom mjestu</a:t>
            </a:r>
            <a:endParaRPr>
              <a:solidFill>
                <a:srgbClr val="888888"/>
              </a:solidFill>
            </a:endParaRPr>
          </a:p>
          <a:p>
            <a:pPr>
              <a:lnSpc>
                <a:spcPct val="145000"/>
              </a:lnSpc>
              <a:defRPr sz="1000">
                <a:solidFill>
                  <a:srgbClr val="F2F2F2"/>
                </a:solidFill>
                <a:latin typeface="JetBrains Mono Regular"/>
                <a:ea typeface="JetBrains Mono Regular"/>
                <a:cs typeface="JetBrains Mono Regular"/>
                <a:sym typeface="JetBrains Mono Regular"/>
              </a:defRPr>
            </a:pPr>
            <a:r>
              <a:t>      utils/</a:t>
            </a:r>
          </a:p>
          <a:p>
            <a:pPr>
              <a:lnSpc>
                <a:spcPct val="145000"/>
              </a:lnSpc>
              <a:defRPr sz="1000">
                <a:solidFill>
                  <a:srgbClr val="FF4757"/>
                </a:solidFill>
                <a:latin typeface="JetBrains Mono Regular"/>
                <a:ea typeface="JetBrains Mono Regular"/>
                <a:cs typeface="JetBrains Mono Regular"/>
                <a:sym typeface="JetBrains Mono Regular"/>
              </a:defRPr>
            </a:pPr>
            <a:r>
              <a:t>        helpers.ts</a:t>
            </a:r>
            <a:r>
              <a:rPr>
                <a:solidFill>
                  <a:srgbClr val="888888"/>
                </a:solidFill>
              </a:rPr>
              <a:t>          ← sve “utility” funkcije na jednom mjestu</a:t>
            </a:r>
            <a:endParaRPr>
              <a:solidFill>
                <a:srgbClr val="888888"/>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rPr>
                <a:solidFill>
                  <a:srgbClr val="FFFFFF"/>
                </a:solidFill>
              </a:rPr>
              <a:t>    cart/                   </a:t>
            </a:r>
            <a:r>
              <a:rPr>
                <a:solidFill>
                  <a:srgbClr val="888888"/>
                </a:solidFill>
              </a:rPr>
              <a:t>← 2. kandidat</a:t>
            </a:r>
            <a:br>
              <a:rPr>
                <a:solidFill>
                  <a:srgbClr val="888888"/>
                </a:solidFill>
              </a:rPr>
            </a:br>
            <a:r>
              <a:rPr>
                <a:solidFill>
                  <a:srgbClr val="FFFFFF"/>
                </a:solidFill>
              </a:rPr>
              <a:t>    products/               </a:t>
            </a:r>
            <a:r>
              <a:rPr>
                <a:solidFill>
                  <a:srgbClr val="888888"/>
                </a:solidFill>
              </a:rPr>
              <a:t>← 3. kandidat</a:t>
            </a:r>
            <a:br>
              <a:rPr>
                <a:solidFill>
                  <a:srgbClr val="888888"/>
                </a:solidFill>
              </a:rPr>
            </a:br>
          </a:p>
        </p:txBody>
      </p:sp>
      <p:sp>
        <p:nvSpPr>
          <p:cNvPr id="312" name="TextBox 7"/>
          <p:cNvSpPr txBox="1"/>
          <p:nvPr/>
        </p:nvSpPr>
        <p:spPr>
          <a:xfrm>
            <a:off x="7406640" y="2468878"/>
            <a:ext cx="4114802" cy="7721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1300">
                <a:solidFill>
                  <a:srgbClr val="FF4757"/>
                </a:solidFill>
                <a:latin typeface="Inter Bold"/>
                <a:ea typeface="Inter Bold"/>
                <a:cs typeface="Inter Bold"/>
                <a:sym typeface="Inter Bold"/>
              </a:defRPr>
            </a:pPr>
            <a:r>
              <a:t>Problem 1: </a:t>
            </a:r>
            <a:r>
              <a:rPr>
                <a:solidFill>
                  <a:srgbClr val="F2F2F2"/>
                </a:solidFill>
                <a:latin typeface="Inter Regular"/>
                <a:ea typeface="Inter Regular"/>
                <a:cs typeface="Inter Regular"/>
                <a:sym typeface="Inter Regular"/>
              </a:rPr>
              <a:t>Nema semantičkog grupiranja. AI mora otvarati više različitih datoteka samo kako bi pronašao gdje se logika nalazi.</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Gdje nastaju problemi</a:t>
            </a:r>
          </a:p>
        </p:txBody>
      </p:sp>
      <p:sp>
        <p:nvSpPr>
          <p:cNvPr id="317"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Prompt: “Promijeni minimalni iznos za besplatnu dostavu sa 50€ na 30€”</a:t>
            </a:r>
          </a:p>
        </p:txBody>
      </p:sp>
      <p:sp>
        <p:nvSpPr>
          <p:cNvPr id="318" name="Rectangle 3"/>
          <p:cNvSpPr/>
          <p:nvPr/>
        </p:nvSpPr>
        <p:spPr>
          <a:xfrm>
            <a:off x="640080" y="1691638"/>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19" name="TextBox 4"/>
          <p:cNvSpPr txBox="1"/>
          <p:nvPr/>
        </p:nvSpPr>
        <p:spPr>
          <a:xfrm>
            <a:off x="640079" y="2011678"/>
            <a:ext cx="10908794"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2F2F2"/>
                </a:solidFill>
                <a:latin typeface="Inter Regular"/>
                <a:ea typeface="Inter Regular"/>
                <a:cs typeface="Inter Regular"/>
                <a:sym typeface="Inter Regular"/>
              </a:defRPr>
            </a:lvl1pPr>
          </a:lstStyle>
          <a:p>
            <a:pPr/>
            <a:r>
              <a:t>AI čita file tree i vidi:</a:t>
            </a:r>
          </a:p>
        </p:txBody>
      </p:sp>
      <p:sp>
        <p:nvSpPr>
          <p:cNvPr id="320" name="Rounded Rectangle 5"/>
          <p:cNvSpPr/>
          <p:nvPr/>
        </p:nvSpPr>
        <p:spPr>
          <a:xfrm>
            <a:off x="640080" y="2468878"/>
            <a:ext cx="6322992" cy="3978966"/>
          </a:xfrm>
          <a:prstGeom prst="roundRect">
            <a:avLst>
              <a:gd name="adj" fmla="val 4045"/>
            </a:avLst>
          </a:prstGeom>
          <a:solidFill>
            <a:srgbClr val="1A1A2E"/>
          </a:solidFill>
          <a:ln>
            <a:solidFill>
              <a:srgbClr val="333333"/>
            </a:solidFill>
          </a:ln>
        </p:spPr>
        <p:txBody>
          <a:bodyPr lIns="45718" tIns="45718" rIns="45718" bIns="45718" anchor="ctr"/>
          <a:lstStyle/>
          <a:p>
            <a:pPr algn="ctr">
              <a:defRPr>
                <a:solidFill>
                  <a:srgbClr val="FFFFFF"/>
                </a:solidFill>
              </a:defRPr>
            </a:pPr>
          </a:p>
        </p:txBody>
      </p:sp>
      <p:sp>
        <p:nvSpPr>
          <p:cNvPr id="321" name="TextBox 6"/>
          <p:cNvSpPr txBox="1"/>
          <p:nvPr/>
        </p:nvSpPr>
        <p:spPr>
          <a:xfrm>
            <a:off x="868680" y="2659378"/>
            <a:ext cx="5865792" cy="375602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5000"/>
              </a:lnSpc>
              <a:defRPr sz="1000">
                <a:solidFill>
                  <a:srgbClr val="F2F2F2"/>
                </a:solidFill>
                <a:latin typeface="JetBrains Mono Regular"/>
                <a:ea typeface="JetBrains Mono Regular"/>
                <a:cs typeface="JetBrains Mono Regular"/>
                <a:sym typeface="JetBrains Mono Regular"/>
              </a:defRPr>
            </a:pPr>
            <a:r>
              <a:t>src/</a:t>
            </a:r>
          </a:p>
          <a:p>
            <a:pPr>
              <a:lnSpc>
                <a:spcPct val="145000"/>
              </a:lnSpc>
              <a:defRPr sz="1000">
                <a:solidFill>
                  <a:srgbClr val="F2F2F2"/>
                </a:solidFill>
                <a:latin typeface="JetBrains Mono Regular"/>
                <a:ea typeface="JetBrains Mono Regular"/>
                <a:cs typeface="JetBrains Mono Regular"/>
                <a:sym typeface="JetBrains Mono Regular"/>
              </a:defRPr>
            </a:pPr>
            <a:r>
              <a:t>  modules/</a:t>
            </a:r>
          </a:p>
          <a:p>
            <a:pPr>
              <a:lnSpc>
                <a:spcPct val="145000"/>
              </a:lnSpc>
              <a:defRPr sz="1000">
                <a:solidFill>
                  <a:srgbClr val="F2F2F2"/>
                </a:solidFill>
                <a:latin typeface="JetBrains Mono Regular"/>
                <a:ea typeface="JetBrains Mono Regular"/>
                <a:cs typeface="JetBrains Mono Regular"/>
                <a:sym typeface="JetBrains Mono Regular"/>
              </a:defRPr>
            </a:pPr>
            <a:r>
              <a:t>    checkout/</a:t>
            </a:r>
          </a:p>
          <a:p>
            <a:pPr>
              <a:lnSpc>
                <a:spcPct val="145000"/>
              </a:lnSpc>
              <a:defRPr sz="1000">
                <a:solidFill>
                  <a:srgbClr val="F2F2F2"/>
                </a:solidFill>
                <a:latin typeface="JetBrains Mono Regular"/>
                <a:ea typeface="JetBrains Mono Regular"/>
                <a:cs typeface="JetBrains Mono Regular"/>
                <a:sym typeface="JetBrains Mono Regular"/>
              </a:defRPr>
            </a:pPr>
            <a:r>
              <a:t>      components/</a:t>
            </a:r>
            <a:endParaRPr>
              <a:solidFill>
                <a:srgbClr val="888888"/>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t>        CheckoutForm.tsx</a:t>
            </a:r>
            <a:r>
              <a:rPr>
                <a:solidFill>
                  <a:srgbClr val="888888"/>
                </a:solidFill>
              </a:rPr>
              <a:t>    ← da li se logika nalazi ovdje?</a:t>
            </a:r>
          </a:p>
          <a:p>
            <a:pPr>
              <a:lnSpc>
                <a:spcPct val="145000"/>
              </a:lnSpc>
              <a:defRPr sz="1000">
                <a:solidFill>
                  <a:srgbClr val="FFFFFF"/>
                </a:solidFill>
                <a:latin typeface="JetBrains Mono Regular"/>
                <a:ea typeface="JetBrains Mono Regular"/>
                <a:cs typeface="JetBrains Mono Regular"/>
                <a:sym typeface="JetBrains Mono Regular"/>
              </a:defRPr>
            </a:pPr>
            <a:r>
              <a:t>      schemas/</a:t>
            </a:r>
            <a:endParaRPr>
              <a:solidFill>
                <a:srgbClr val="F2F2F2"/>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t>        formSchema.ts</a:t>
            </a:r>
            <a:r>
              <a:rPr>
                <a:solidFill>
                  <a:srgbClr val="888888"/>
                </a:solidFill>
              </a:rPr>
              <a:t>       ← ili mozda ovdje?</a:t>
            </a:r>
            <a:br/>
            <a:r>
              <a:rPr>
                <a:solidFill>
                  <a:srgbClr val="FFFFFF"/>
                </a:solidFill>
              </a:rPr>
              <a:t>      hooks/</a:t>
            </a:r>
            <a:endParaRPr>
              <a:solidFill>
                <a:srgbClr val="888888"/>
              </a:solidFill>
            </a:endParaRPr>
          </a:p>
          <a:p>
            <a:pPr lvl="1">
              <a:lnSpc>
                <a:spcPct val="145000"/>
              </a:lnSpc>
              <a:defRPr sz="1000">
                <a:solidFill>
                  <a:srgbClr val="FF4757"/>
                </a:solidFill>
                <a:latin typeface="JetBrains Mono Regular"/>
                <a:ea typeface="JetBrains Mono Regular"/>
                <a:cs typeface="JetBrains Mono Regular"/>
                <a:sym typeface="JetBrains Mono Regular"/>
              </a:defRPr>
            </a:pPr>
            <a:r>
              <a:rPr>
                <a:solidFill>
                  <a:srgbClr val="888888"/>
                </a:solidFill>
              </a:rPr>
              <a:t>        useForm.ts</a:t>
            </a:r>
            <a:r>
              <a:rPr>
                <a:solidFill>
                  <a:srgbClr val="FFFFFF"/>
                </a:solidFill>
              </a:rPr>
              <a:t>          </a:t>
            </a:r>
            <a:r>
              <a:rPr>
                <a:solidFill>
                  <a:srgbClr val="888888"/>
                </a:solidFill>
              </a:rPr>
              <a:t>← ili ovdje?</a:t>
            </a:r>
            <a:r>
              <a:rPr>
                <a:solidFill>
                  <a:srgbClr val="FFFFFF"/>
                </a:solidFill>
              </a:rPr>
              <a:t> </a:t>
            </a:r>
            <a:br>
              <a:rPr>
                <a:solidFill>
                  <a:srgbClr val="FFFFFF"/>
                </a:solidFill>
              </a:rPr>
            </a:br>
            <a:r>
              <a:rPr>
                <a:solidFill>
                  <a:srgbClr val="FFFFFF"/>
                </a:solidFill>
              </a:rPr>
              <a:t>      types/</a:t>
            </a:r>
          </a:p>
          <a:p>
            <a:pPr lvl="1">
              <a:lnSpc>
                <a:spcPct val="145000"/>
              </a:lnSpc>
              <a:defRPr sz="1000">
                <a:solidFill>
                  <a:srgbClr val="EB565D"/>
                </a:solidFill>
                <a:latin typeface="JetBrains Mono Regular"/>
                <a:ea typeface="JetBrains Mono Regular"/>
                <a:cs typeface="JetBrains Mono Regular"/>
                <a:sym typeface="JetBrains Mono Regular"/>
              </a:defRPr>
            </a:pPr>
            <a:r>
              <a:t>        interface.ts       </a:t>
            </a:r>
            <a:r>
              <a:rPr>
                <a:solidFill>
                  <a:srgbClr val="888888"/>
                </a:solidFill>
              </a:rPr>
              <a:t> ← svi tipovi na jednom mjestu</a:t>
            </a:r>
            <a:endParaRPr>
              <a:solidFill>
                <a:srgbClr val="888888"/>
              </a:solidFill>
            </a:endParaRPr>
          </a:p>
          <a:p>
            <a:pPr>
              <a:lnSpc>
                <a:spcPct val="145000"/>
              </a:lnSpc>
              <a:defRPr sz="1000">
                <a:solidFill>
                  <a:srgbClr val="F2F2F2"/>
                </a:solidFill>
                <a:latin typeface="JetBrains Mono Regular"/>
                <a:ea typeface="JetBrains Mono Regular"/>
                <a:cs typeface="JetBrains Mono Regular"/>
                <a:sym typeface="JetBrains Mono Regular"/>
              </a:defRPr>
            </a:pPr>
            <a:r>
              <a:t>      utils/</a:t>
            </a:r>
          </a:p>
          <a:p>
            <a:pPr>
              <a:lnSpc>
                <a:spcPct val="145000"/>
              </a:lnSpc>
              <a:defRPr sz="1000">
                <a:solidFill>
                  <a:srgbClr val="FF4757"/>
                </a:solidFill>
                <a:latin typeface="JetBrains Mono Regular"/>
                <a:ea typeface="JetBrains Mono Regular"/>
                <a:cs typeface="JetBrains Mono Regular"/>
                <a:sym typeface="JetBrains Mono Regular"/>
              </a:defRPr>
            </a:pPr>
            <a:r>
              <a:t>        helpers.ts</a:t>
            </a:r>
            <a:r>
              <a:rPr>
                <a:solidFill>
                  <a:srgbClr val="888888"/>
                </a:solidFill>
              </a:rPr>
              <a:t>          ← sve “utility” funkcije na jednom mjestu</a:t>
            </a:r>
            <a:endParaRPr>
              <a:solidFill>
                <a:srgbClr val="888888"/>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rPr>
                <a:solidFill>
                  <a:srgbClr val="FFFFFF"/>
                </a:solidFill>
              </a:rPr>
              <a:t>    cart/                   </a:t>
            </a:r>
            <a:r>
              <a:rPr>
                <a:solidFill>
                  <a:srgbClr val="888888"/>
                </a:solidFill>
              </a:rPr>
              <a:t>← 2. kandidat</a:t>
            </a:r>
            <a:br>
              <a:rPr>
                <a:solidFill>
                  <a:srgbClr val="888888"/>
                </a:solidFill>
              </a:rPr>
            </a:br>
            <a:r>
              <a:rPr>
                <a:solidFill>
                  <a:srgbClr val="FFFFFF"/>
                </a:solidFill>
              </a:rPr>
              <a:t>    products/               </a:t>
            </a:r>
            <a:r>
              <a:rPr>
                <a:solidFill>
                  <a:srgbClr val="888888"/>
                </a:solidFill>
              </a:rPr>
              <a:t>← 3. kandidat</a:t>
            </a:r>
            <a:br>
              <a:rPr>
                <a:solidFill>
                  <a:srgbClr val="888888"/>
                </a:solidFill>
              </a:rPr>
            </a:br>
          </a:p>
        </p:txBody>
      </p:sp>
      <p:sp>
        <p:nvSpPr>
          <p:cNvPr id="322" name="TextBox 7"/>
          <p:cNvSpPr txBox="1"/>
          <p:nvPr/>
        </p:nvSpPr>
        <p:spPr>
          <a:xfrm>
            <a:off x="7406640" y="2468878"/>
            <a:ext cx="4114802" cy="154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1300">
                <a:solidFill>
                  <a:srgbClr val="FF4757"/>
                </a:solidFill>
                <a:latin typeface="Inter Bold"/>
                <a:ea typeface="Inter Bold"/>
                <a:cs typeface="Inter Bold"/>
                <a:sym typeface="Inter Bold"/>
              </a:defRPr>
            </a:pPr>
            <a:r>
              <a:t>Problem 1: </a:t>
            </a:r>
            <a:r>
              <a:rPr>
                <a:solidFill>
                  <a:srgbClr val="F2F2F2"/>
                </a:solidFill>
                <a:latin typeface="Inter Regular"/>
                <a:ea typeface="Inter Regular"/>
                <a:cs typeface="Inter Regular"/>
                <a:sym typeface="Inter Regular"/>
              </a:rPr>
              <a:t>Nema semantičkog grupiranja. AI mora otvarati više različitih datoteka samo kako bi pronašao gdje se logika nalazi.</a:t>
            </a:r>
            <a:endParaRPr>
              <a:solidFill>
                <a:srgbClr val="F2F2F2"/>
              </a:solidFill>
            </a:endParaRPr>
          </a:p>
          <a:p>
            <a:pPr>
              <a:lnSpc>
                <a:spcPct val="140000"/>
              </a:lnSpc>
              <a:spcBef>
                <a:spcPts val="1400"/>
              </a:spcBef>
              <a:defRPr sz="1300">
                <a:solidFill>
                  <a:srgbClr val="FF4757"/>
                </a:solidFill>
                <a:latin typeface="Inter Bold"/>
                <a:ea typeface="Inter Bold"/>
                <a:cs typeface="Inter Bold"/>
                <a:sym typeface="Inter Bold"/>
              </a:defRPr>
            </a:pPr>
            <a:r>
              <a:t>Problem 2: </a:t>
            </a:r>
            <a:r>
              <a:rPr>
                <a:solidFill>
                  <a:srgbClr val="F2F2F2"/>
                </a:solidFill>
                <a:latin typeface="Inter Regular"/>
                <a:ea typeface="Inter Regular"/>
                <a:cs typeface="Inter Regular"/>
                <a:sym typeface="Inter Regular"/>
              </a:rPr>
              <a:t>Generički nazivi poput </a:t>
            </a:r>
            <a:r>
              <a:rPr>
                <a:solidFill>
                  <a:srgbClr val="F2F2F2"/>
                </a:solidFill>
                <a:latin typeface="JetBrains Mono Regular"/>
                <a:ea typeface="JetBrains Mono Regular"/>
                <a:cs typeface="JetBrains Mono Regular"/>
                <a:sym typeface="JetBrains Mono Regular"/>
              </a:rPr>
              <a:t>helpers.ts</a:t>
            </a:r>
            <a:r>
              <a:rPr>
                <a:solidFill>
                  <a:srgbClr val="F2F2F2"/>
                </a:solidFill>
                <a:latin typeface="Inter Regular"/>
                <a:ea typeface="Inter Regular"/>
                <a:cs typeface="Inter Regular"/>
                <a:sym typeface="Inter Regular"/>
              </a:rPr>
              <a:t> i </a:t>
            </a:r>
            <a:r>
              <a:rPr>
                <a:solidFill>
                  <a:srgbClr val="F2F2F2"/>
                </a:solidFill>
                <a:latin typeface="JetBrains Mono Regular"/>
                <a:ea typeface="JetBrains Mono Regular"/>
                <a:cs typeface="JetBrains Mono Regular"/>
                <a:sym typeface="JetBrains Mono Regular"/>
              </a:rPr>
              <a:t>useForm.ts</a:t>
            </a:r>
            <a:r>
              <a:rPr>
                <a:solidFill>
                  <a:srgbClr val="F2F2F2"/>
                </a:solidFill>
                <a:latin typeface="Inter Regular"/>
                <a:ea typeface="Inter Regular"/>
                <a:cs typeface="Inter Regular"/>
                <a:sym typeface="Inter Regular"/>
              </a:rPr>
              <a:t> ne pomažu pri pretraživanju</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3600">
                <a:solidFill>
                  <a:srgbClr val="F2F2F2"/>
                </a:solidFill>
                <a:latin typeface="Inter Bold"/>
                <a:ea typeface="Inter Bold"/>
                <a:cs typeface="Inter Bold"/>
                <a:sym typeface="Inter Bold"/>
              </a:defRPr>
            </a:lvl1pPr>
          </a:lstStyle>
          <a:p>
            <a:pPr/>
            <a:r>
              <a:t>Gdje nastaju problemi</a:t>
            </a:r>
          </a:p>
        </p:txBody>
      </p:sp>
      <p:sp>
        <p:nvSpPr>
          <p:cNvPr id="327"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Prompt: “Promijeni minimalni iznos za besplatnu dostavu sa 50€ na 100€”</a:t>
            </a:r>
          </a:p>
        </p:txBody>
      </p:sp>
      <p:sp>
        <p:nvSpPr>
          <p:cNvPr id="328" name="Rectangle 3"/>
          <p:cNvSpPr/>
          <p:nvPr/>
        </p:nvSpPr>
        <p:spPr>
          <a:xfrm>
            <a:off x="640080" y="1691638"/>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29" name="TextBox 4"/>
          <p:cNvSpPr txBox="1"/>
          <p:nvPr/>
        </p:nvSpPr>
        <p:spPr>
          <a:xfrm>
            <a:off x="640079" y="2011678"/>
            <a:ext cx="10908794"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2F2F2"/>
                </a:solidFill>
                <a:latin typeface="Inter Regular"/>
                <a:ea typeface="Inter Regular"/>
                <a:cs typeface="Inter Regular"/>
                <a:sym typeface="Inter Regular"/>
              </a:defRPr>
            </a:lvl1pPr>
          </a:lstStyle>
          <a:p>
            <a:pPr/>
            <a:r>
              <a:t>AI čita file tree i vidi:</a:t>
            </a:r>
          </a:p>
        </p:txBody>
      </p:sp>
      <p:sp>
        <p:nvSpPr>
          <p:cNvPr id="330" name="Rounded Rectangle 5"/>
          <p:cNvSpPr/>
          <p:nvPr/>
        </p:nvSpPr>
        <p:spPr>
          <a:xfrm>
            <a:off x="640080" y="2468878"/>
            <a:ext cx="6322992" cy="3978966"/>
          </a:xfrm>
          <a:prstGeom prst="roundRect">
            <a:avLst>
              <a:gd name="adj" fmla="val 4045"/>
            </a:avLst>
          </a:prstGeom>
          <a:solidFill>
            <a:srgbClr val="1A1A2E"/>
          </a:solidFill>
          <a:ln>
            <a:solidFill>
              <a:srgbClr val="333333"/>
            </a:solidFill>
          </a:ln>
        </p:spPr>
        <p:txBody>
          <a:bodyPr lIns="45718" tIns="45718" rIns="45718" bIns="45718" anchor="ctr"/>
          <a:lstStyle/>
          <a:p>
            <a:pPr algn="ctr">
              <a:defRPr>
                <a:solidFill>
                  <a:srgbClr val="FFFFFF"/>
                </a:solidFill>
              </a:defRPr>
            </a:pPr>
          </a:p>
        </p:txBody>
      </p:sp>
      <p:sp>
        <p:nvSpPr>
          <p:cNvPr id="331" name="TextBox 6"/>
          <p:cNvSpPr txBox="1"/>
          <p:nvPr/>
        </p:nvSpPr>
        <p:spPr>
          <a:xfrm>
            <a:off x="868680" y="2659378"/>
            <a:ext cx="5865792" cy="375602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5000"/>
              </a:lnSpc>
              <a:defRPr sz="1000">
                <a:solidFill>
                  <a:srgbClr val="F2F2F2"/>
                </a:solidFill>
                <a:latin typeface="JetBrains Mono Regular"/>
                <a:ea typeface="JetBrains Mono Regular"/>
                <a:cs typeface="JetBrains Mono Regular"/>
                <a:sym typeface="JetBrains Mono Regular"/>
              </a:defRPr>
            </a:pPr>
            <a:r>
              <a:t>src/</a:t>
            </a:r>
          </a:p>
          <a:p>
            <a:pPr>
              <a:lnSpc>
                <a:spcPct val="145000"/>
              </a:lnSpc>
              <a:defRPr sz="1000">
                <a:solidFill>
                  <a:srgbClr val="F2F2F2"/>
                </a:solidFill>
                <a:latin typeface="JetBrains Mono Regular"/>
                <a:ea typeface="JetBrains Mono Regular"/>
                <a:cs typeface="JetBrains Mono Regular"/>
                <a:sym typeface="JetBrains Mono Regular"/>
              </a:defRPr>
            </a:pPr>
            <a:r>
              <a:t>  modules/</a:t>
            </a:r>
          </a:p>
          <a:p>
            <a:pPr>
              <a:lnSpc>
                <a:spcPct val="145000"/>
              </a:lnSpc>
              <a:defRPr sz="1000">
                <a:solidFill>
                  <a:srgbClr val="F2F2F2"/>
                </a:solidFill>
                <a:latin typeface="JetBrains Mono Regular"/>
                <a:ea typeface="JetBrains Mono Regular"/>
                <a:cs typeface="JetBrains Mono Regular"/>
                <a:sym typeface="JetBrains Mono Regular"/>
              </a:defRPr>
            </a:pPr>
            <a:r>
              <a:t>    checkout/</a:t>
            </a:r>
          </a:p>
          <a:p>
            <a:pPr>
              <a:lnSpc>
                <a:spcPct val="145000"/>
              </a:lnSpc>
              <a:defRPr sz="1000">
                <a:solidFill>
                  <a:srgbClr val="F2F2F2"/>
                </a:solidFill>
                <a:latin typeface="JetBrains Mono Regular"/>
                <a:ea typeface="JetBrains Mono Regular"/>
                <a:cs typeface="JetBrains Mono Regular"/>
                <a:sym typeface="JetBrains Mono Regular"/>
              </a:defRPr>
            </a:pPr>
            <a:r>
              <a:t>      components/</a:t>
            </a:r>
            <a:endParaRPr>
              <a:solidFill>
                <a:srgbClr val="888888"/>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t>        CheckoutForm.tsx</a:t>
            </a:r>
            <a:r>
              <a:rPr>
                <a:solidFill>
                  <a:srgbClr val="888888"/>
                </a:solidFill>
              </a:rPr>
              <a:t>    ← da li se logika nalazi ovdje?</a:t>
            </a:r>
          </a:p>
          <a:p>
            <a:pPr>
              <a:lnSpc>
                <a:spcPct val="145000"/>
              </a:lnSpc>
              <a:defRPr sz="1000">
                <a:solidFill>
                  <a:srgbClr val="FFFFFF"/>
                </a:solidFill>
                <a:latin typeface="JetBrains Mono Regular"/>
                <a:ea typeface="JetBrains Mono Regular"/>
                <a:cs typeface="JetBrains Mono Regular"/>
                <a:sym typeface="JetBrains Mono Regular"/>
              </a:defRPr>
            </a:pPr>
            <a:r>
              <a:t>      schemas/</a:t>
            </a:r>
            <a:endParaRPr>
              <a:solidFill>
                <a:srgbClr val="F2F2F2"/>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t>        formSchema.ts</a:t>
            </a:r>
            <a:r>
              <a:rPr>
                <a:solidFill>
                  <a:srgbClr val="888888"/>
                </a:solidFill>
              </a:rPr>
              <a:t>       ← ili mozda ovdje?</a:t>
            </a:r>
            <a:br/>
            <a:r>
              <a:rPr>
                <a:solidFill>
                  <a:srgbClr val="FFFFFF"/>
                </a:solidFill>
              </a:rPr>
              <a:t>      hooks/</a:t>
            </a:r>
            <a:endParaRPr>
              <a:solidFill>
                <a:srgbClr val="888888"/>
              </a:solidFill>
            </a:endParaRPr>
          </a:p>
          <a:p>
            <a:pPr lvl="1">
              <a:lnSpc>
                <a:spcPct val="145000"/>
              </a:lnSpc>
              <a:defRPr sz="1000">
                <a:solidFill>
                  <a:srgbClr val="FF4757"/>
                </a:solidFill>
                <a:latin typeface="JetBrains Mono Regular"/>
                <a:ea typeface="JetBrains Mono Regular"/>
                <a:cs typeface="JetBrains Mono Regular"/>
                <a:sym typeface="JetBrains Mono Regular"/>
              </a:defRPr>
            </a:pPr>
            <a:r>
              <a:rPr>
                <a:solidFill>
                  <a:srgbClr val="888888"/>
                </a:solidFill>
              </a:rPr>
              <a:t>        useForm.ts</a:t>
            </a:r>
            <a:r>
              <a:rPr>
                <a:solidFill>
                  <a:srgbClr val="FFFFFF"/>
                </a:solidFill>
              </a:rPr>
              <a:t>          </a:t>
            </a:r>
            <a:r>
              <a:rPr>
                <a:solidFill>
                  <a:srgbClr val="888888"/>
                </a:solidFill>
              </a:rPr>
              <a:t>← ili ovdje?</a:t>
            </a:r>
            <a:r>
              <a:rPr>
                <a:solidFill>
                  <a:srgbClr val="FFFFFF"/>
                </a:solidFill>
              </a:rPr>
              <a:t> </a:t>
            </a:r>
            <a:br>
              <a:rPr>
                <a:solidFill>
                  <a:srgbClr val="FFFFFF"/>
                </a:solidFill>
              </a:rPr>
            </a:br>
            <a:r>
              <a:rPr>
                <a:solidFill>
                  <a:srgbClr val="FFFFFF"/>
                </a:solidFill>
              </a:rPr>
              <a:t>      types/</a:t>
            </a:r>
          </a:p>
          <a:p>
            <a:pPr lvl="1">
              <a:lnSpc>
                <a:spcPct val="145000"/>
              </a:lnSpc>
              <a:defRPr sz="1000">
                <a:solidFill>
                  <a:srgbClr val="EB565D"/>
                </a:solidFill>
                <a:latin typeface="JetBrains Mono Regular"/>
                <a:ea typeface="JetBrains Mono Regular"/>
                <a:cs typeface="JetBrains Mono Regular"/>
                <a:sym typeface="JetBrains Mono Regular"/>
              </a:defRPr>
            </a:pPr>
            <a:r>
              <a:t>        interface.ts       </a:t>
            </a:r>
            <a:r>
              <a:rPr>
                <a:solidFill>
                  <a:srgbClr val="888888"/>
                </a:solidFill>
              </a:rPr>
              <a:t> ← svi tipovi na jednom mjestu</a:t>
            </a:r>
            <a:endParaRPr>
              <a:solidFill>
                <a:srgbClr val="888888"/>
              </a:solidFill>
            </a:endParaRPr>
          </a:p>
          <a:p>
            <a:pPr>
              <a:lnSpc>
                <a:spcPct val="145000"/>
              </a:lnSpc>
              <a:defRPr sz="1000">
                <a:solidFill>
                  <a:srgbClr val="F2F2F2"/>
                </a:solidFill>
                <a:latin typeface="JetBrains Mono Regular"/>
                <a:ea typeface="JetBrains Mono Regular"/>
                <a:cs typeface="JetBrains Mono Regular"/>
                <a:sym typeface="JetBrains Mono Regular"/>
              </a:defRPr>
            </a:pPr>
            <a:r>
              <a:t>      utils/</a:t>
            </a:r>
          </a:p>
          <a:p>
            <a:pPr>
              <a:lnSpc>
                <a:spcPct val="145000"/>
              </a:lnSpc>
              <a:defRPr sz="1000">
                <a:solidFill>
                  <a:srgbClr val="FF4757"/>
                </a:solidFill>
                <a:latin typeface="JetBrains Mono Regular"/>
                <a:ea typeface="JetBrains Mono Regular"/>
                <a:cs typeface="JetBrains Mono Regular"/>
                <a:sym typeface="JetBrains Mono Regular"/>
              </a:defRPr>
            </a:pPr>
            <a:r>
              <a:t>        helpers.ts</a:t>
            </a:r>
            <a:r>
              <a:rPr>
                <a:solidFill>
                  <a:srgbClr val="888888"/>
                </a:solidFill>
              </a:rPr>
              <a:t>          ← sve “utility” funkcije na jednom mjestu</a:t>
            </a:r>
            <a:endParaRPr>
              <a:solidFill>
                <a:srgbClr val="888888"/>
              </a:solidFill>
            </a:endParaRPr>
          </a:p>
          <a:p>
            <a:pPr>
              <a:lnSpc>
                <a:spcPct val="145000"/>
              </a:lnSpc>
              <a:defRPr sz="1000">
                <a:solidFill>
                  <a:srgbClr val="FF4757"/>
                </a:solidFill>
                <a:latin typeface="JetBrains Mono Regular"/>
                <a:ea typeface="JetBrains Mono Regular"/>
                <a:cs typeface="JetBrains Mono Regular"/>
                <a:sym typeface="JetBrains Mono Regular"/>
              </a:defRPr>
            </a:pPr>
            <a:r>
              <a:rPr>
                <a:solidFill>
                  <a:srgbClr val="FFFFFF"/>
                </a:solidFill>
              </a:rPr>
              <a:t>    cart/                   </a:t>
            </a:r>
            <a:r>
              <a:rPr>
                <a:solidFill>
                  <a:srgbClr val="888888"/>
                </a:solidFill>
              </a:rPr>
              <a:t>← 2. kandidat</a:t>
            </a:r>
            <a:br>
              <a:rPr>
                <a:solidFill>
                  <a:srgbClr val="888888"/>
                </a:solidFill>
              </a:rPr>
            </a:br>
            <a:r>
              <a:rPr>
                <a:solidFill>
                  <a:srgbClr val="FFFFFF"/>
                </a:solidFill>
              </a:rPr>
              <a:t>    products/               </a:t>
            </a:r>
            <a:r>
              <a:rPr>
                <a:solidFill>
                  <a:srgbClr val="888888"/>
                </a:solidFill>
              </a:rPr>
              <a:t>← 3. kandidat</a:t>
            </a:r>
            <a:br>
              <a:rPr>
                <a:solidFill>
                  <a:srgbClr val="888888"/>
                </a:solidFill>
              </a:rPr>
            </a:br>
          </a:p>
        </p:txBody>
      </p:sp>
      <p:sp>
        <p:nvSpPr>
          <p:cNvPr id="332" name="TextBox 7"/>
          <p:cNvSpPr txBox="1"/>
          <p:nvPr/>
        </p:nvSpPr>
        <p:spPr>
          <a:xfrm>
            <a:off x="7406640" y="2468878"/>
            <a:ext cx="4114802" cy="2603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40000"/>
              </a:lnSpc>
              <a:defRPr sz="1300">
                <a:solidFill>
                  <a:srgbClr val="FF4757"/>
                </a:solidFill>
                <a:latin typeface="Inter Bold"/>
                <a:ea typeface="Inter Bold"/>
                <a:cs typeface="Inter Bold"/>
                <a:sym typeface="Inter Bold"/>
              </a:defRPr>
            </a:pPr>
            <a:r>
              <a:t>Problem 1: </a:t>
            </a:r>
            <a:r>
              <a:rPr>
                <a:solidFill>
                  <a:srgbClr val="F2F2F2"/>
                </a:solidFill>
                <a:latin typeface="Inter Regular"/>
                <a:ea typeface="Inter Regular"/>
                <a:cs typeface="Inter Regular"/>
                <a:sym typeface="Inter Regular"/>
              </a:rPr>
              <a:t>Nema semantičkog grupiranja. AI mora otvarati više različitih datoteka samo kako bi pronašao gdje se logika nalazi.</a:t>
            </a:r>
            <a:endParaRPr>
              <a:solidFill>
                <a:srgbClr val="F2F2F2"/>
              </a:solidFill>
            </a:endParaRPr>
          </a:p>
          <a:p>
            <a:pPr>
              <a:lnSpc>
                <a:spcPct val="140000"/>
              </a:lnSpc>
              <a:spcBef>
                <a:spcPts val="1400"/>
              </a:spcBef>
              <a:defRPr sz="1300">
                <a:solidFill>
                  <a:srgbClr val="FF4757"/>
                </a:solidFill>
                <a:latin typeface="Inter Bold"/>
                <a:ea typeface="Inter Bold"/>
                <a:cs typeface="Inter Bold"/>
                <a:sym typeface="Inter Bold"/>
              </a:defRPr>
            </a:pPr>
            <a:r>
              <a:t>Problem 2: </a:t>
            </a:r>
            <a:r>
              <a:rPr>
                <a:solidFill>
                  <a:srgbClr val="F2F2F2"/>
                </a:solidFill>
                <a:latin typeface="Inter Regular"/>
                <a:ea typeface="Inter Regular"/>
                <a:cs typeface="Inter Regular"/>
                <a:sym typeface="Inter Regular"/>
              </a:rPr>
              <a:t>Generički nazivi poput </a:t>
            </a:r>
            <a:r>
              <a:rPr>
                <a:solidFill>
                  <a:srgbClr val="F2F2F2"/>
                </a:solidFill>
                <a:latin typeface="JetBrains Mono Regular"/>
                <a:ea typeface="JetBrains Mono Regular"/>
                <a:cs typeface="JetBrains Mono Regular"/>
                <a:sym typeface="JetBrains Mono Regular"/>
              </a:rPr>
              <a:t>helpers.ts</a:t>
            </a:r>
            <a:r>
              <a:rPr>
                <a:solidFill>
                  <a:srgbClr val="F2F2F2"/>
                </a:solidFill>
                <a:latin typeface="Inter Regular"/>
                <a:ea typeface="Inter Regular"/>
                <a:cs typeface="Inter Regular"/>
                <a:sym typeface="Inter Regular"/>
              </a:rPr>
              <a:t> i </a:t>
            </a:r>
            <a:r>
              <a:rPr>
                <a:solidFill>
                  <a:srgbClr val="F2F2F2"/>
                </a:solidFill>
                <a:latin typeface="JetBrains Mono Regular"/>
                <a:ea typeface="JetBrains Mono Regular"/>
                <a:cs typeface="JetBrains Mono Regular"/>
                <a:sym typeface="JetBrains Mono Regular"/>
              </a:rPr>
              <a:t>useForm.ts</a:t>
            </a:r>
            <a:r>
              <a:rPr>
                <a:solidFill>
                  <a:srgbClr val="F2F2F2"/>
                </a:solidFill>
                <a:latin typeface="Inter Regular"/>
                <a:ea typeface="Inter Regular"/>
                <a:cs typeface="Inter Regular"/>
                <a:sym typeface="Inter Regular"/>
              </a:rPr>
              <a:t> ne pomažu pri pretraživanju</a:t>
            </a:r>
            <a:endParaRPr>
              <a:solidFill>
                <a:srgbClr val="F2F2F2"/>
              </a:solidFill>
            </a:endParaRPr>
          </a:p>
          <a:p>
            <a:pPr>
              <a:lnSpc>
                <a:spcPct val="140000"/>
              </a:lnSpc>
              <a:spcBef>
                <a:spcPts val="1400"/>
              </a:spcBef>
              <a:defRPr sz="1300">
                <a:solidFill>
                  <a:srgbClr val="FF4757"/>
                </a:solidFill>
                <a:latin typeface="Inter Bold"/>
                <a:ea typeface="Inter Bold"/>
                <a:cs typeface="Inter Bold"/>
                <a:sym typeface="Inter Bold"/>
              </a:defRPr>
            </a:pPr>
            <a:r>
              <a:t>Problem 3: </a:t>
            </a:r>
            <a:r>
              <a:rPr>
                <a:solidFill>
                  <a:srgbClr val="F2F2F2"/>
                </a:solidFill>
                <a:latin typeface="Inter Regular"/>
                <a:ea typeface="Inter Regular"/>
                <a:cs typeface="Inter Regular"/>
                <a:sym typeface="Inter Regular"/>
              </a:rPr>
              <a:t>Monolitne datoteke (interface</a:t>
            </a:r>
            <a:r>
              <a:rPr>
                <a:solidFill>
                  <a:srgbClr val="F2F2F2"/>
                </a:solidFill>
                <a:latin typeface="JetBrains Mono Regular"/>
                <a:ea typeface="JetBrains Mono Regular"/>
                <a:cs typeface="JetBrains Mono Regular"/>
                <a:sym typeface="JetBrains Mono Regular"/>
              </a:rPr>
              <a:t>.ts</a:t>
            </a:r>
            <a:r>
              <a:rPr>
                <a:solidFill>
                  <a:srgbClr val="F2F2F2"/>
                </a:solidFill>
                <a:latin typeface="Inter Regular"/>
                <a:ea typeface="Inter Regular"/>
                <a:cs typeface="Inter Regular"/>
                <a:sym typeface="Inter Regular"/>
              </a:rPr>
              <a:t>) prisiljavaju AI da učitava stotine nepotrebnih linija koda u kontekst</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6"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Architecture </a:t>
            </a:r>
            <a:r>
              <a:rPr>
                <a:solidFill>
                  <a:srgbClr val="00D4FF"/>
                </a:solidFill>
              </a:rPr>
              <a:t>=</a:t>
            </a:r>
            <a:r>
              <a:t> Context Engineering</a:t>
            </a:r>
          </a:p>
        </p:txBody>
      </p:sp>
      <p:sp>
        <p:nvSpPr>
          <p:cNvPr id="337"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38" name="Rounded Rectangle 3"/>
          <p:cNvSpPr/>
          <p:nvPr/>
        </p:nvSpPr>
        <p:spPr>
          <a:xfrm>
            <a:off x="640080" y="2194560"/>
            <a:ext cx="10972801" cy="1097282"/>
          </a:xfrm>
          <a:prstGeom prst="roundRect">
            <a:avLst>
              <a:gd name="adj" fmla="val 6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339" name="Rectangle 4"/>
          <p:cNvSpPr/>
          <p:nvPr/>
        </p:nvSpPr>
        <p:spPr>
          <a:xfrm>
            <a:off x="640080" y="2194560"/>
            <a:ext cx="54866" cy="1097282"/>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40" name="TextBox 5"/>
          <p:cNvSpPr txBox="1"/>
          <p:nvPr/>
        </p:nvSpPr>
        <p:spPr>
          <a:xfrm>
            <a:off x="868678" y="2420111"/>
            <a:ext cx="10607044" cy="7010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Regular"/>
                <a:ea typeface="Inter Regular"/>
                <a:cs typeface="Inter Regular"/>
                <a:sym typeface="Inter Regular"/>
              </a:defRPr>
            </a:pPr>
            <a:r>
              <a:rPr>
                <a:solidFill>
                  <a:srgbClr val="60D1FA"/>
                </a:solidFill>
                <a:latin typeface="Inter Bold"/>
                <a:ea typeface="Inter Bold"/>
                <a:cs typeface="Inter Bold"/>
                <a:sym typeface="Inter Bold"/>
              </a:rPr>
              <a:t>Dobra arhitektura</a:t>
            </a:r>
            <a:r>
              <a:t> smanjuje količinu konteksta potrebnog AI-u da ispravno obavi svoj posao.</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4"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Architecture </a:t>
            </a:r>
            <a:r>
              <a:rPr>
                <a:solidFill>
                  <a:srgbClr val="00D4FF"/>
                </a:solidFill>
              </a:rPr>
              <a:t>=</a:t>
            </a:r>
            <a:r>
              <a:t> Context Engineering</a:t>
            </a:r>
          </a:p>
        </p:txBody>
      </p:sp>
      <p:sp>
        <p:nvSpPr>
          <p:cNvPr id="345"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46" name="Rounded Rectangle 3"/>
          <p:cNvSpPr/>
          <p:nvPr/>
        </p:nvSpPr>
        <p:spPr>
          <a:xfrm>
            <a:off x="640080" y="2194560"/>
            <a:ext cx="10972801" cy="1097282"/>
          </a:xfrm>
          <a:prstGeom prst="roundRect">
            <a:avLst>
              <a:gd name="adj" fmla="val 6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347" name="Rectangle 4"/>
          <p:cNvSpPr/>
          <p:nvPr/>
        </p:nvSpPr>
        <p:spPr>
          <a:xfrm>
            <a:off x="640080" y="2194560"/>
            <a:ext cx="54866" cy="1097282"/>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48" name="TextBox 5"/>
          <p:cNvSpPr txBox="1"/>
          <p:nvPr/>
        </p:nvSpPr>
        <p:spPr>
          <a:xfrm>
            <a:off x="868678" y="2420111"/>
            <a:ext cx="10607044" cy="7010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Regular"/>
                <a:ea typeface="Inter Regular"/>
                <a:cs typeface="Inter Regular"/>
                <a:sym typeface="Inter Regular"/>
              </a:defRPr>
            </a:pPr>
            <a:r>
              <a:rPr>
                <a:solidFill>
                  <a:srgbClr val="60D1FA"/>
                </a:solidFill>
                <a:latin typeface="Inter Bold"/>
                <a:ea typeface="Inter Bold"/>
                <a:cs typeface="Inter Bold"/>
                <a:sym typeface="Inter Bold"/>
              </a:rPr>
              <a:t>Dobra arhitektura</a:t>
            </a:r>
            <a:r>
              <a:t> smanjuje količinu konteksta potrebnog AI-u da ispravno obavi svoj posao.</a:t>
            </a:r>
          </a:p>
        </p:txBody>
      </p:sp>
      <p:sp>
        <p:nvSpPr>
          <p:cNvPr id="349" name="TextBox 6"/>
          <p:cNvSpPr txBox="1"/>
          <p:nvPr/>
        </p:nvSpPr>
        <p:spPr>
          <a:xfrm>
            <a:off x="640079" y="3657600"/>
            <a:ext cx="10908794"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0000"/>
              </a:lnSpc>
              <a:defRPr sz="2000">
                <a:solidFill>
                  <a:srgbClr val="F2F2F2"/>
                </a:solidFill>
                <a:latin typeface="Inter Regular"/>
                <a:ea typeface="Inter Regular"/>
                <a:cs typeface="Inter Regular"/>
                <a:sym typeface="Inter Regular"/>
              </a:defRPr>
            </a:lvl1pPr>
          </a:lstStyle>
          <a:p>
            <a:pPr/>
            <a:r>
              <a:t>Kako možemo izgraditi dobru arhitekturu?</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Architecture </a:t>
            </a:r>
            <a:r>
              <a:rPr>
                <a:solidFill>
                  <a:srgbClr val="00D4FF"/>
                </a:solidFill>
              </a:rPr>
              <a:t>=</a:t>
            </a:r>
            <a:r>
              <a:t> Context Engineering</a:t>
            </a:r>
          </a:p>
        </p:txBody>
      </p:sp>
      <p:sp>
        <p:nvSpPr>
          <p:cNvPr id="354" name="Rectangle 2"/>
          <p:cNvSpPr/>
          <p:nvPr/>
        </p:nvSpPr>
        <p:spPr>
          <a:xfrm>
            <a:off x="640080" y="1280160"/>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55" name="Rounded Rectangle 3"/>
          <p:cNvSpPr/>
          <p:nvPr/>
        </p:nvSpPr>
        <p:spPr>
          <a:xfrm>
            <a:off x="640080" y="2194560"/>
            <a:ext cx="10972801" cy="1097282"/>
          </a:xfrm>
          <a:prstGeom prst="roundRect">
            <a:avLst>
              <a:gd name="adj" fmla="val 6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356" name="Rectangle 4"/>
          <p:cNvSpPr/>
          <p:nvPr/>
        </p:nvSpPr>
        <p:spPr>
          <a:xfrm>
            <a:off x="640080" y="2194560"/>
            <a:ext cx="54866" cy="1097282"/>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57" name="TextBox 5"/>
          <p:cNvSpPr txBox="1"/>
          <p:nvPr/>
        </p:nvSpPr>
        <p:spPr>
          <a:xfrm>
            <a:off x="868678" y="2420111"/>
            <a:ext cx="10607044" cy="7010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2000">
                <a:solidFill>
                  <a:srgbClr val="F2F2F2"/>
                </a:solidFill>
                <a:latin typeface="Inter Regular"/>
                <a:ea typeface="Inter Regular"/>
                <a:cs typeface="Inter Regular"/>
                <a:sym typeface="Inter Regular"/>
              </a:defRPr>
            </a:pPr>
            <a:r>
              <a:rPr>
                <a:solidFill>
                  <a:srgbClr val="60D1FA"/>
                </a:solidFill>
                <a:latin typeface="Inter Bold"/>
                <a:ea typeface="Inter Bold"/>
                <a:cs typeface="Inter Bold"/>
                <a:sym typeface="Inter Bold"/>
              </a:rPr>
              <a:t>Dobra arhitektura</a:t>
            </a:r>
            <a:r>
              <a:t> smanjuje količinu konteksta potrebnog AI-u da ispravno obavi svoj posao.</a:t>
            </a:r>
          </a:p>
        </p:txBody>
      </p:sp>
      <p:sp>
        <p:nvSpPr>
          <p:cNvPr id="358" name="TextBox 6"/>
          <p:cNvSpPr txBox="1"/>
          <p:nvPr/>
        </p:nvSpPr>
        <p:spPr>
          <a:xfrm>
            <a:off x="640079" y="3657600"/>
            <a:ext cx="10908794"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0000"/>
              </a:lnSpc>
              <a:defRPr sz="2000">
                <a:solidFill>
                  <a:srgbClr val="F2F2F2"/>
                </a:solidFill>
                <a:latin typeface="Inter Regular"/>
                <a:ea typeface="Inter Regular"/>
                <a:cs typeface="Inter Regular"/>
                <a:sym typeface="Inter Regular"/>
              </a:defRPr>
            </a:lvl1pPr>
          </a:lstStyle>
          <a:p>
            <a:pPr/>
            <a:r>
              <a:t>Kako možemo izgraditi dobru arhitekturu? Primjenom prave metodologije.</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TextBox 1"/>
          <p:cNvSpPr txBox="1"/>
          <p:nvPr/>
        </p:nvSpPr>
        <p:spPr>
          <a:xfrm>
            <a:off x="635253" y="3086100"/>
            <a:ext cx="10908794" cy="685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20000"/>
              </a:lnSpc>
              <a:defRPr sz="4400">
                <a:solidFill>
                  <a:srgbClr val="F2F2F2"/>
                </a:solidFill>
                <a:latin typeface="Inter Bold"/>
                <a:ea typeface="Inter Bold"/>
                <a:cs typeface="Inter Bold"/>
                <a:sym typeface="Inter Bold"/>
              </a:defRPr>
            </a:lvl1pPr>
          </a:lstStyle>
          <a:p>
            <a:pPr/>
            <a:r>
              <a:t>Feature-Sliced Design</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6"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3600">
                <a:solidFill>
                  <a:srgbClr val="FFFFFF"/>
                </a:solidFill>
                <a:latin typeface="Inter Bold"/>
                <a:ea typeface="Inter Bold"/>
                <a:cs typeface="Inter Bold"/>
                <a:sym typeface="Inter Bold"/>
              </a:defRPr>
            </a:pPr>
            <a:r>
              <a:t>Što je </a:t>
            </a:r>
            <a:r>
              <a:rPr>
                <a:solidFill>
                  <a:srgbClr val="00D4FF"/>
                </a:solidFill>
              </a:rPr>
              <a:t>Feature-Sliced Design</a:t>
            </a:r>
            <a:r>
              <a:t>?</a:t>
            </a:r>
          </a:p>
        </p:txBody>
      </p:sp>
      <p:sp>
        <p:nvSpPr>
          <p:cNvPr id="367" name="Rectangle 3"/>
          <p:cNvSpPr/>
          <p:nvPr/>
        </p:nvSpPr>
        <p:spPr>
          <a:xfrm>
            <a:off x="640080" y="1282700"/>
            <a:ext cx="548641" cy="36577"/>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68" name="TextBox 4"/>
          <p:cNvSpPr txBox="1"/>
          <p:nvPr/>
        </p:nvSpPr>
        <p:spPr>
          <a:xfrm>
            <a:off x="635253" y="2340101"/>
            <a:ext cx="10908794"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FFFFFF"/>
                </a:solidFill>
                <a:latin typeface="Inter Regular"/>
                <a:ea typeface="Inter Regular"/>
                <a:cs typeface="Inter Regular"/>
                <a:sym typeface="Inter Regular"/>
              </a:defRPr>
            </a:pPr>
            <a:r>
              <a:t>FSD propisuje </a:t>
            </a:r>
            <a:r>
              <a:rPr>
                <a:solidFill>
                  <a:srgbClr val="00D4FF"/>
                </a:solidFill>
                <a:latin typeface="Inter Bold"/>
                <a:ea typeface="Inter Bold"/>
                <a:cs typeface="Inter Bold"/>
                <a:sym typeface="Inter Bold"/>
              </a:rPr>
              <a:t>kako organizirati kod</a:t>
            </a:r>
            <a:r>
              <a:t> u projektu - gdje stavljati datoteke, kako ih grupirati i kako smiju ovisiti jedni o drugima.</a:t>
            </a:r>
          </a:p>
        </p:txBody>
      </p:sp>
      <p:sp>
        <p:nvSpPr>
          <p:cNvPr id="369" name="TextBox 5"/>
          <p:cNvSpPr txBox="1"/>
          <p:nvPr/>
        </p:nvSpPr>
        <p:spPr>
          <a:xfrm>
            <a:off x="635253" y="1693060"/>
            <a:ext cx="10908794"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FFFFFF"/>
                </a:solidFill>
                <a:latin typeface="Inter Regular"/>
                <a:ea typeface="Inter Regular"/>
                <a:cs typeface="Inter Regular"/>
                <a:sym typeface="Inter Regular"/>
              </a:defRPr>
            </a:lvl1pPr>
          </a:lstStyle>
          <a:p>
            <a:pPr/>
            <a:r>
              <a:t>Arhitekturna metodologija za frontend projekte</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3"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3600">
                <a:solidFill>
                  <a:srgbClr val="FFFFFF"/>
                </a:solidFill>
                <a:latin typeface="Inter Bold"/>
                <a:ea typeface="Inter Bold"/>
                <a:cs typeface="Inter Bold"/>
                <a:sym typeface="Inter Bold"/>
              </a:defRPr>
            </a:pPr>
            <a:r>
              <a:t>Što je </a:t>
            </a:r>
            <a:r>
              <a:rPr>
                <a:solidFill>
                  <a:srgbClr val="00D4FF"/>
                </a:solidFill>
              </a:rPr>
              <a:t>Feature-Sliced Design</a:t>
            </a:r>
            <a:r>
              <a:t>?</a:t>
            </a:r>
          </a:p>
        </p:txBody>
      </p:sp>
      <p:sp>
        <p:nvSpPr>
          <p:cNvPr id="374" name="Rectangle 3"/>
          <p:cNvSpPr/>
          <p:nvPr/>
        </p:nvSpPr>
        <p:spPr>
          <a:xfrm>
            <a:off x="640080" y="1282700"/>
            <a:ext cx="548641" cy="36577"/>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75" name="TextBox 4"/>
          <p:cNvSpPr txBox="1"/>
          <p:nvPr/>
        </p:nvSpPr>
        <p:spPr>
          <a:xfrm>
            <a:off x="635253" y="2340101"/>
            <a:ext cx="10908794"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FFFFFF"/>
                </a:solidFill>
                <a:latin typeface="Inter Regular"/>
                <a:ea typeface="Inter Regular"/>
                <a:cs typeface="Inter Regular"/>
                <a:sym typeface="Inter Regular"/>
              </a:defRPr>
            </a:pPr>
            <a:r>
              <a:t>FSD propisuje </a:t>
            </a:r>
            <a:r>
              <a:rPr>
                <a:solidFill>
                  <a:srgbClr val="00D4FF"/>
                </a:solidFill>
                <a:latin typeface="Inter Bold"/>
                <a:ea typeface="Inter Bold"/>
                <a:cs typeface="Inter Bold"/>
                <a:sym typeface="Inter Bold"/>
              </a:rPr>
              <a:t>kako organizirati kod</a:t>
            </a:r>
            <a:r>
              <a:t> u projektu - gdje stavljati datoteke, kako ih grupirati i kako smiju ovisiti jedni o drugima.</a:t>
            </a:r>
          </a:p>
        </p:txBody>
      </p:sp>
      <p:sp>
        <p:nvSpPr>
          <p:cNvPr id="376" name="TextBox 5"/>
          <p:cNvSpPr txBox="1"/>
          <p:nvPr/>
        </p:nvSpPr>
        <p:spPr>
          <a:xfrm>
            <a:off x="635253" y="3360928"/>
            <a:ext cx="10908794"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FFFFFF"/>
                </a:solidFill>
                <a:latin typeface="Inter Regular"/>
                <a:ea typeface="Inter Regular"/>
                <a:cs typeface="Inter Regular"/>
                <a:sym typeface="Inter Regular"/>
              </a:defRPr>
            </a:pPr>
            <a:r>
              <a:t>Cilj: kod koji je </a:t>
            </a:r>
            <a:r>
              <a:rPr>
                <a:solidFill>
                  <a:srgbClr val="00D4FF"/>
                </a:solidFill>
                <a:latin typeface="Inter Bold"/>
                <a:ea typeface="Inter Bold"/>
                <a:cs typeface="Inter Bold"/>
                <a:sym typeface="Inter Bold"/>
              </a:rPr>
              <a:t>predvidljiv</a:t>
            </a:r>
            <a:r>
              <a:t>, </a:t>
            </a:r>
            <a:r>
              <a:rPr>
                <a:solidFill>
                  <a:srgbClr val="00D4FF"/>
                </a:solidFill>
                <a:latin typeface="Inter Bold"/>
                <a:ea typeface="Inter Bold"/>
                <a:cs typeface="Inter Bold"/>
                <a:sym typeface="Inter Bold"/>
              </a:rPr>
              <a:t>izoliran</a:t>
            </a:r>
            <a:r>
              <a:t> i </a:t>
            </a:r>
            <a:r>
              <a:rPr>
                <a:solidFill>
                  <a:srgbClr val="00D4FF"/>
                </a:solidFill>
                <a:latin typeface="Inter Bold"/>
                <a:ea typeface="Inter Bold"/>
                <a:cs typeface="Inter Bold"/>
                <a:sym typeface="Inter Bold"/>
              </a:rPr>
              <a:t>razumljiv iz strukture</a:t>
            </a:r>
            <a:r>
              <a:t> - bez čitanja svake datoteke.</a:t>
            </a:r>
          </a:p>
        </p:txBody>
      </p:sp>
      <p:sp>
        <p:nvSpPr>
          <p:cNvPr id="377" name="TextBox 5"/>
          <p:cNvSpPr txBox="1"/>
          <p:nvPr/>
        </p:nvSpPr>
        <p:spPr>
          <a:xfrm>
            <a:off x="635253" y="1693060"/>
            <a:ext cx="10908794"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FFFFFF"/>
                </a:solidFill>
                <a:latin typeface="Inter Regular"/>
                <a:ea typeface="Inter Regular"/>
                <a:cs typeface="Inter Regular"/>
                <a:sym typeface="Inter Regular"/>
              </a:defRPr>
            </a:lvl1pPr>
          </a:lstStyle>
          <a:p>
            <a:pPr/>
            <a:r>
              <a:t>Arhitekturna metodologija za frontend projekte</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1"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3600">
                <a:solidFill>
                  <a:srgbClr val="FFFFFF"/>
                </a:solidFill>
                <a:latin typeface="Inter Bold"/>
                <a:ea typeface="Inter Bold"/>
                <a:cs typeface="Inter Bold"/>
                <a:sym typeface="Inter Bold"/>
              </a:defRPr>
            </a:pPr>
            <a:r>
              <a:t>Što je </a:t>
            </a:r>
            <a:r>
              <a:rPr>
                <a:solidFill>
                  <a:srgbClr val="00D4FF"/>
                </a:solidFill>
              </a:rPr>
              <a:t>Feature-Sliced Design</a:t>
            </a:r>
            <a:r>
              <a:t>?</a:t>
            </a:r>
          </a:p>
        </p:txBody>
      </p:sp>
      <p:sp>
        <p:nvSpPr>
          <p:cNvPr id="382" name="Rectangle 3"/>
          <p:cNvSpPr/>
          <p:nvPr/>
        </p:nvSpPr>
        <p:spPr>
          <a:xfrm>
            <a:off x="640080" y="1282700"/>
            <a:ext cx="548641" cy="36577"/>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83" name="TextBox 4"/>
          <p:cNvSpPr txBox="1"/>
          <p:nvPr/>
        </p:nvSpPr>
        <p:spPr>
          <a:xfrm>
            <a:off x="635253" y="2340101"/>
            <a:ext cx="10908794"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FFFFFF"/>
                </a:solidFill>
                <a:latin typeface="Inter Regular"/>
                <a:ea typeface="Inter Regular"/>
                <a:cs typeface="Inter Regular"/>
                <a:sym typeface="Inter Regular"/>
              </a:defRPr>
            </a:pPr>
            <a:r>
              <a:t>FSD propisuje </a:t>
            </a:r>
            <a:r>
              <a:rPr>
                <a:solidFill>
                  <a:srgbClr val="00D4FF"/>
                </a:solidFill>
                <a:latin typeface="Inter Bold"/>
                <a:ea typeface="Inter Bold"/>
                <a:cs typeface="Inter Bold"/>
                <a:sym typeface="Inter Bold"/>
              </a:rPr>
              <a:t>kako organizirati kod</a:t>
            </a:r>
            <a:r>
              <a:t> u projektu - gdje stavljati datoteke, kako ih grupirati i kako smiju ovisiti jedni o drugima.</a:t>
            </a:r>
          </a:p>
        </p:txBody>
      </p:sp>
      <p:sp>
        <p:nvSpPr>
          <p:cNvPr id="384" name="TextBox 5"/>
          <p:cNvSpPr txBox="1"/>
          <p:nvPr/>
        </p:nvSpPr>
        <p:spPr>
          <a:xfrm>
            <a:off x="635253" y="3360928"/>
            <a:ext cx="10908794"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FFFFFF"/>
                </a:solidFill>
                <a:latin typeface="Inter Regular"/>
                <a:ea typeface="Inter Regular"/>
                <a:cs typeface="Inter Regular"/>
                <a:sym typeface="Inter Regular"/>
              </a:defRPr>
            </a:pPr>
            <a:r>
              <a:t>Cilj: kod koji je </a:t>
            </a:r>
            <a:r>
              <a:rPr>
                <a:solidFill>
                  <a:srgbClr val="00D4FF"/>
                </a:solidFill>
                <a:latin typeface="Inter Bold"/>
                <a:ea typeface="Inter Bold"/>
                <a:cs typeface="Inter Bold"/>
                <a:sym typeface="Inter Bold"/>
              </a:rPr>
              <a:t>predvidljiv</a:t>
            </a:r>
            <a:r>
              <a:t>, </a:t>
            </a:r>
            <a:r>
              <a:rPr>
                <a:solidFill>
                  <a:srgbClr val="00D4FF"/>
                </a:solidFill>
                <a:latin typeface="Inter Bold"/>
                <a:ea typeface="Inter Bold"/>
                <a:cs typeface="Inter Bold"/>
                <a:sym typeface="Inter Bold"/>
              </a:rPr>
              <a:t>izoliran</a:t>
            </a:r>
            <a:r>
              <a:t> i </a:t>
            </a:r>
            <a:r>
              <a:rPr>
                <a:solidFill>
                  <a:srgbClr val="00D4FF"/>
                </a:solidFill>
                <a:latin typeface="Inter Bold"/>
                <a:ea typeface="Inter Bold"/>
                <a:cs typeface="Inter Bold"/>
                <a:sym typeface="Inter Bold"/>
              </a:rPr>
              <a:t>razumljiv iz strukture</a:t>
            </a:r>
            <a:r>
              <a:t> - bez čitanja svake datoteke.</a:t>
            </a:r>
          </a:p>
        </p:txBody>
      </p:sp>
      <p:sp>
        <p:nvSpPr>
          <p:cNvPr id="385" name="Rounded Rectangle 6"/>
          <p:cNvSpPr/>
          <p:nvPr/>
        </p:nvSpPr>
        <p:spPr>
          <a:xfrm>
            <a:off x="640080" y="4389120"/>
            <a:ext cx="10972801" cy="899160"/>
          </a:xfrm>
          <a:prstGeom prst="roundRect">
            <a:avLst>
              <a:gd name="adj" fmla="val 14644"/>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386" name="Rectangle 7"/>
          <p:cNvSpPr/>
          <p:nvPr/>
        </p:nvSpPr>
        <p:spPr>
          <a:xfrm>
            <a:off x="638970" y="4389120"/>
            <a:ext cx="55975" cy="899160"/>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387" name="TextBox 8"/>
          <p:cNvSpPr txBox="1"/>
          <p:nvPr/>
        </p:nvSpPr>
        <p:spPr>
          <a:xfrm>
            <a:off x="914400" y="4572000"/>
            <a:ext cx="10515600" cy="533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FFFFFF"/>
                </a:solidFill>
                <a:latin typeface="Inter Regular"/>
                <a:ea typeface="Inter Regular"/>
                <a:cs typeface="Inter Regular"/>
                <a:sym typeface="Inter Regular"/>
              </a:defRPr>
            </a:pPr>
            <a:r>
              <a:t>Drugim riječima - metodologija dizajnirana za isti problem koji AI ima: </a:t>
            </a:r>
            <a:r>
              <a:rPr>
                <a:solidFill>
                  <a:srgbClr val="00D4FF"/>
                </a:solidFill>
                <a:latin typeface="Inter Bold"/>
                <a:ea typeface="Inter Bold"/>
                <a:cs typeface="Inter Bold"/>
                <a:sym typeface="Inter Bold"/>
              </a:rPr>
              <a:t>izgraditi mentalni model projekta brzo i bez prethodnog konteksta.</a:t>
            </a:r>
          </a:p>
        </p:txBody>
      </p:sp>
      <p:sp>
        <p:nvSpPr>
          <p:cNvPr id="388" name="TextBox 5"/>
          <p:cNvSpPr txBox="1"/>
          <p:nvPr/>
        </p:nvSpPr>
        <p:spPr>
          <a:xfrm>
            <a:off x="635253" y="1693060"/>
            <a:ext cx="10908794"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FFFFFF"/>
                </a:solidFill>
                <a:latin typeface="Inter Regular"/>
                <a:ea typeface="Inter Regular"/>
                <a:cs typeface="Inter Regular"/>
                <a:sym typeface="Inter Regular"/>
              </a:defRPr>
            </a:lvl1pPr>
          </a:lstStyle>
          <a:p>
            <a:pPr/>
            <a:r>
              <a:t>Arhitekturna metodologija za frontend projekte</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92" name="FSD Diagram Dark - Layers.png" descr="FSD Diagram Dark - Layers.png"/>
          <p:cNvPicPr>
            <a:picLocks noChangeAspect="1"/>
          </p:cNvPicPr>
          <p:nvPr/>
        </p:nvPicPr>
        <p:blipFill>
          <a:blip r:embed="rId3">
            <a:extLst/>
          </a:blip>
          <a:stretch>
            <a:fillRect/>
          </a:stretch>
        </p:blipFill>
        <p:spPr>
          <a:xfrm>
            <a:off x="374649" y="0"/>
            <a:ext cx="11430001" cy="6858001"/>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96" name="FSD Diagram Dark - Layers - Slices.png" descr="FSD Diagram Dark - Layers - Slices.png"/>
          <p:cNvPicPr>
            <a:picLocks noChangeAspect="1"/>
          </p:cNvPicPr>
          <p:nvPr/>
        </p:nvPicPr>
        <p:blipFill>
          <a:blip r:embed="rId3">
            <a:extLst/>
          </a:blip>
          <a:stretch>
            <a:fillRect/>
          </a:stretch>
        </p:blipFill>
        <p:spPr>
          <a:xfrm>
            <a:off x="374650" y="0"/>
            <a:ext cx="11430001" cy="6858001"/>
          </a:xfrm>
          <a:prstGeom prst="rect">
            <a:avLst/>
          </a:prstGeom>
          <a:ln w="12700">
            <a:miter lim="400000"/>
          </a:ln>
        </p:spPr>
      </p:pic>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00" name="FSD Diagram Dark.png" descr="FSD Diagram Dark.png"/>
          <p:cNvPicPr>
            <a:picLocks noChangeAspect="1"/>
          </p:cNvPicPr>
          <p:nvPr/>
        </p:nvPicPr>
        <p:blipFill>
          <a:blip r:embed="rId3">
            <a:extLst/>
          </a:blip>
          <a:stretch>
            <a:fillRect/>
          </a:stretch>
        </p:blipFill>
        <p:spPr>
          <a:xfrm>
            <a:off x="374650" y="0"/>
            <a:ext cx="11430000" cy="6858001"/>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3600">
                <a:solidFill>
                  <a:srgbClr val="FFFFFF"/>
                </a:solidFill>
                <a:latin typeface="Inter Bold"/>
                <a:ea typeface="Inter Bold"/>
                <a:cs typeface="Inter Bold"/>
                <a:sym typeface="Inter Bold"/>
              </a:defRPr>
            </a:pPr>
            <a:r>
              <a:t>Pravilo #1: </a:t>
            </a:r>
            <a:r>
              <a:rPr>
                <a:solidFill>
                  <a:srgbClr val="00D4FF"/>
                </a:solidFill>
              </a:rPr>
              <a:t>Layers</a:t>
            </a:r>
          </a:p>
        </p:txBody>
      </p:sp>
      <p:sp>
        <p:nvSpPr>
          <p:cNvPr id="405"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Hijerarhija odgovornosti, fiksni redoslijed</a:t>
            </a:r>
          </a:p>
        </p:txBody>
      </p:sp>
      <p:sp>
        <p:nvSpPr>
          <p:cNvPr id="406" name="Rectangle 3"/>
          <p:cNvSpPr/>
          <p:nvPr/>
        </p:nvSpPr>
        <p:spPr>
          <a:xfrm>
            <a:off x="640080" y="1691639"/>
            <a:ext cx="548641" cy="36577"/>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407" name="TextBox 6"/>
          <p:cNvSpPr txBox="1"/>
          <p:nvPr/>
        </p:nvSpPr>
        <p:spPr>
          <a:xfrm>
            <a:off x="6039510" y="2068633"/>
            <a:ext cx="51206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0D4FF"/>
                </a:solidFill>
                <a:latin typeface="Inter Bold"/>
                <a:ea typeface="Inter Bold"/>
                <a:cs typeface="Inter Bold"/>
                <a:sym typeface="Inter Bold"/>
              </a:defRPr>
            </a:lvl1pPr>
          </a:lstStyle>
          <a:p>
            <a:pPr/>
            <a:r>
              <a:t>Pravilo importa</a:t>
            </a:r>
          </a:p>
        </p:txBody>
      </p:sp>
      <p:sp>
        <p:nvSpPr>
          <p:cNvPr id="408" name="TextBox 7"/>
          <p:cNvSpPr txBox="1"/>
          <p:nvPr/>
        </p:nvSpPr>
        <p:spPr>
          <a:xfrm>
            <a:off x="6039510" y="2434393"/>
            <a:ext cx="512064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FFFFF"/>
                </a:solidFill>
                <a:latin typeface="Inter Regular"/>
                <a:ea typeface="Inter Regular"/>
                <a:cs typeface="Inter Regular"/>
                <a:sym typeface="Inter Regular"/>
              </a:defRPr>
            </a:pPr>
            <a:r>
              <a:t>Sloj smije importati </a:t>
            </a:r>
            <a:r>
              <a:rPr>
                <a:solidFill>
                  <a:srgbClr val="2ED573"/>
                </a:solidFill>
                <a:latin typeface="Inter Bold"/>
                <a:ea typeface="Inter Bold"/>
                <a:cs typeface="Inter Bold"/>
                <a:sym typeface="Inter Bold"/>
              </a:rPr>
              <a:t>samo iz slojeva ispod sebe.</a:t>
            </a:r>
          </a:p>
        </p:txBody>
      </p:sp>
      <p:grpSp>
        <p:nvGrpSpPr>
          <p:cNvPr id="411" name="Rounded Rectangle 8"/>
          <p:cNvGrpSpPr/>
          <p:nvPr/>
        </p:nvGrpSpPr>
        <p:grpSpPr>
          <a:xfrm>
            <a:off x="6027095" y="2846214"/>
            <a:ext cx="894081" cy="470569"/>
            <a:chOff x="0" y="0"/>
            <a:chExt cx="894080" cy="470568"/>
          </a:xfrm>
        </p:grpSpPr>
        <p:sp>
          <p:nvSpPr>
            <p:cNvPr id="409"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10" name="app"/>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lvl="1" algn="ctr">
                <a:defRPr sz="1600">
                  <a:solidFill>
                    <a:srgbClr val="FFFFFF"/>
                  </a:solidFill>
                  <a:latin typeface="JetBrains Mono Bold"/>
                  <a:ea typeface="JetBrains Mono Bold"/>
                  <a:cs typeface="JetBrains Mono Bold"/>
                  <a:sym typeface="JetBrains Mono Bold"/>
                </a:defRPr>
              </a:pPr>
              <a:r>
                <a:t>app</a:t>
              </a:r>
            </a:p>
          </p:txBody>
        </p:sp>
      </p:grpSp>
      <p:sp>
        <p:nvSpPr>
          <p:cNvPr id="412" name="TextBox 9"/>
          <p:cNvSpPr txBox="1"/>
          <p:nvPr/>
        </p:nvSpPr>
        <p:spPr>
          <a:xfrm>
            <a:off x="6895776" y="2891933"/>
            <a:ext cx="27432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400">
                <a:solidFill>
                  <a:srgbClr val="00D4FF"/>
                </a:solidFill>
                <a:latin typeface="Inter Bold"/>
                <a:ea typeface="Inter Bold"/>
                <a:cs typeface="Inter Bold"/>
                <a:sym typeface="Inter Bold"/>
              </a:defRPr>
            </a:lvl1pPr>
          </a:lstStyle>
          <a:p>
            <a:pPr/>
            <a:r>
              <a:t>→</a:t>
            </a:r>
          </a:p>
        </p:txBody>
      </p:sp>
      <p:grpSp>
        <p:nvGrpSpPr>
          <p:cNvPr id="415" name="Rounded Rectangle 10"/>
          <p:cNvGrpSpPr/>
          <p:nvPr/>
        </p:nvGrpSpPr>
        <p:grpSpPr>
          <a:xfrm>
            <a:off x="7170095" y="2846214"/>
            <a:ext cx="894081" cy="470569"/>
            <a:chOff x="0" y="0"/>
            <a:chExt cx="894080" cy="470568"/>
          </a:xfrm>
        </p:grpSpPr>
        <p:sp>
          <p:nvSpPr>
            <p:cNvPr id="413"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14" name="pages"/>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a:defRPr sz="1600">
                  <a:solidFill>
                    <a:srgbClr val="FFFFFF"/>
                  </a:solidFill>
                  <a:latin typeface="JetBrains Mono Bold"/>
                  <a:ea typeface="JetBrains Mono Bold"/>
                  <a:cs typeface="JetBrains Mono Bold"/>
                  <a:sym typeface="JetBrains Mono Bold"/>
                </a:defRPr>
              </a:lvl1pPr>
            </a:lstStyle>
            <a:p>
              <a:pPr/>
              <a:r>
                <a:t>pages</a:t>
              </a:r>
            </a:p>
          </p:txBody>
        </p:sp>
      </p:grpSp>
      <p:sp>
        <p:nvSpPr>
          <p:cNvPr id="416" name="TextBox 11"/>
          <p:cNvSpPr txBox="1"/>
          <p:nvPr/>
        </p:nvSpPr>
        <p:spPr>
          <a:xfrm>
            <a:off x="8038776" y="2891933"/>
            <a:ext cx="27432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400">
                <a:solidFill>
                  <a:srgbClr val="00D4FF"/>
                </a:solidFill>
                <a:latin typeface="Inter Bold"/>
                <a:ea typeface="Inter Bold"/>
                <a:cs typeface="Inter Bold"/>
                <a:sym typeface="Inter Bold"/>
              </a:defRPr>
            </a:lvl1pPr>
          </a:lstStyle>
          <a:p>
            <a:pPr/>
            <a:r>
              <a:t>→</a:t>
            </a:r>
          </a:p>
        </p:txBody>
      </p:sp>
      <p:grpSp>
        <p:nvGrpSpPr>
          <p:cNvPr id="419" name="Rounded Rectangle 12"/>
          <p:cNvGrpSpPr/>
          <p:nvPr/>
        </p:nvGrpSpPr>
        <p:grpSpPr>
          <a:xfrm>
            <a:off x="8313095" y="2846214"/>
            <a:ext cx="894081" cy="470569"/>
            <a:chOff x="0" y="0"/>
            <a:chExt cx="894080" cy="470568"/>
          </a:xfrm>
        </p:grpSpPr>
        <p:sp>
          <p:nvSpPr>
            <p:cNvPr id="417"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18" name="..."/>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a:defRPr sz="1600">
                  <a:solidFill>
                    <a:srgbClr val="FFFFFF"/>
                  </a:solidFill>
                  <a:latin typeface="JetBrains Mono Bold"/>
                  <a:ea typeface="JetBrains Mono Bold"/>
                  <a:cs typeface="JetBrains Mono Bold"/>
                  <a:sym typeface="JetBrains Mono Bold"/>
                </a:defRPr>
              </a:lvl1pPr>
            </a:lstStyle>
            <a:p>
              <a:pPr/>
              <a:r>
                <a:t>...</a:t>
              </a:r>
            </a:p>
          </p:txBody>
        </p:sp>
      </p:grpSp>
      <p:sp>
        <p:nvSpPr>
          <p:cNvPr id="420" name="TextBox 13"/>
          <p:cNvSpPr txBox="1"/>
          <p:nvPr/>
        </p:nvSpPr>
        <p:spPr>
          <a:xfrm>
            <a:off x="9181776" y="2891933"/>
            <a:ext cx="27432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400">
                <a:solidFill>
                  <a:srgbClr val="00D4FF"/>
                </a:solidFill>
                <a:latin typeface="Inter Bold"/>
                <a:ea typeface="Inter Bold"/>
                <a:cs typeface="Inter Bold"/>
                <a:sym typeface="Inter Bold"/>
              </a:defRPr>
            </a:lvl1pPr>
          </a:lstStyle>
          <a:p>
            <a:pPr/>
            <a:r>
              <a:t>→</a:t>
            </a:r>
          </a:p>
        </p:txBody>
      </p:sp>
      <p:grpSp>
        <p:nvGrpSpPr>
          <p:cNvPr id="423" name="Rounded Rectangle 14"/>
          <p:cNvGrpSpPr/>
          <p:nvPr/>
        </p:nvGrpSpPr>
        <p:grpSpPr>
          <a:xfrm>
            <a:off x="9456095" y="2846214"/>
            <a:ext cx="894081" cy="470569"/>
            <a:chOff x="0" y="0"/>
            <a:chExt cx="894080" cy="470568"/>
          </a:xfrm>
        </p:grpSpPr>
        <p:sp>
          <p:nvSpPr>
            <p:cNvPr id="421"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22" name="shared"/>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a:defRPr sz="1600">
                  <a:solidFill>
                    <a:srgbClr val="FFFFFF"/>
                  </a:solidFill>
                  <a:latin typeface="JetBrains Mono Bold"/>
                  <a:ea typeface="JetBrains Mono Bold"/>
                  <a:cs typeface="JetBrains Mono Bold"/>
                  <a:sym typeface="JetBrains Mono Bold"/>
                </a:defRPr>
              </a:lvl1pPr>
            </a:lstStyle>
            <a:p>
              <a:pPr/>
              <a:r>
                <a:t>shared</a:t>
              </a:r>
            </a:p>
          </p:txBody>
        </p:sp>
      </p:grpSp>
      <p:pic>
        <p:nvPicPr>
          <p:cNvPr id="424" name="Folders Graphic.png" descr="Folders Graphic.png"/>
          <p:cNvPicPr>
            <a:picLocks noChangeAspect="1"/>
          </p:cNvPicPr>
          <p:nvPr/>
        </p:nvPicPr>
        <p:blipFill>
          <a:blip r:embed="rId3">
            <a:extLst/>
          </a:blip>
          <a:stretch>
            <a:fillRect/>
          </a:stretch>
        </p:blipFill>
        <p:spPr>
          <a:xfrm>
            <a:off x="648586" y="2193710"/>
            <a:ext cx="2252528" cy="3793730"/>
          </a:xfrm>
          <a:prstGeom prst="rect">
            <a:avLst/>
          </a:prstGeom>
          <a:ln w="12700">
            <a:miter lim="400000"/>
          </a:ln>
        </p:spPr>
      </p:pic>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8"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3600">
                <a:solidFill>
                  <a:srgbClr val="FFFFFF"/>
                </a:solidFill>
                <a:latin typeface="Inter Bold"/>
                <a:ea typeface="Inter Bold"/>
                <a:cs typeface="Inter Bold"/>
                <a:sym typeface="Inter Bold"/>
              </a:defRPr>
            </a:pPr>
            <a:r>
              <a:t>Pravilo #1: </a:t>
            </a:r>
            <a:r>
              <a:rPr>
                <a:solidFill>
                  <a:srgbClr val="00D4FF"/>
                </a:solidFill>
              </a:rPr>
              <a:t>Layers</a:t>
            </a:r>
          </a:p>
        </p:txBody>
      </p:sp>
      <p:sp>
        <p:nvSpPr>
          <p:cNvPr id="429"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Hijerarhija odgovornosti, fiksni redoslijed</a:t>
            </a:r>
          </a:p>
        </p:txBody>
      </p:sp>
      <p:sp>
        <p:nvSpPr>
          <p:cNvPr id="430" name="Rectangle 3"/>
          <p:cNvSpPr/>
          <p:nvPr/>
        </p:nvSpPr>
        <p:spPr>
          <a:xfrm>
            <a:off x="640080" y="1691639"/>
            <a:ext cx="548641" cy="36577"/>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431" name="TextBox 6"/>
          <p:cNvSpPr txBox="1"/>
          <p:nvPr/>
        </p:nvSpPr>
        <p:spPr>
          <a:xfrm>
            <a:off x="6039510" y="2068633"/>
            <a:ext cx="51206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0D4FF"/>
                </a:solidFill>
                <a:latin typeface="Inter Bold"/>
                <a:ea typeface="Inter Bold"/>
                <a:cs typeface="Inter Bold"/>
                <a:sym typeface="Inter Bold"/>
              </a:defRPr>
            </a:lvl1pPr>
          </a:lstStyle>
          <a:p>
            <a:pPr/>
            <a:r>
              <a:t>Pravilo importa</a:t>
            </a:r>
          </a:p>
        </p:txBody>
      </p:sp>
      <p:sp>
        <p:nvSpPr>
          <p:cNvPr id="432" name="TextBox 7"/>
          <p:cNvSpPr txBox="1"/>
          <p:nvPr/>
        </p:nvSpPr>
        <p:spPr>
          <a:xfrm>
            <a:off x="6039510" y="2434393"/>
            <a:ext cx="51206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FFFFF"/>
                </a:solidFill>
                <a:latin typeface="Inter Regular"/>
                <a:ea typeface="Inter Regular"/>
                <a:cs typeface="Inter Regular"/>
                <a:sym typeface="Inter Regular"/>
              </a:defRPr>
            </a:pPr>
            <a:r>
              <a:t>Sloj smije importati </a:t>
            </a:r>
            <a:r>
              <a:rPr>
                <a:solidFill>
                  <a:srgbClr val="2ED573"/>
                </a:solidFill>
                <a:latin typeface="Inter Bold"/>
                <a:ea typeface="Inter Bold"/>
                <a:cs typeface="Inter Bold"/>
                <a:sym typeface="Inter Bold"/>
              </a:rPr>
              <a:t>samo iz slojeva ispod sebe.</a:t>
            </a:r>
          </a:p>
        </p:txBody>
      </p:sp>
      <p:grpSp>
        <p:nvGrpSpPr>
          <p:cNvPr id="435" name="Rounded Rectangle 8"/>
          <p:cNvGrpSpPr/>
          <p:nvPr/>
        </p:nvGrpSpPr>
        <p:grpSpPr>
          <a:xfrm>
            <a:off x="6027096" y="2846214"/>
            <a:ext cx="894081" cy="470569"/>
            <a:chOff x="0" y="0"/>
            <a:chExt cx="894080" cy="470568"/>
          </a:xfrm>
        </p:grpSpPr>
        <p:sp>
          <p:nvSpPr>
            <p:cNvPr id="433"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34" name="app"/>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lvl="1" algn="ctr">
                <a:defRPr sz="1600">
                  <a:solidFill>
                    <a:srgbClr val="FFFFFF"/>
                  </a:solidFill>
                  <a:latin typeface="JetBrains Mono Bold"/>
                  <a:ea typeface="JetBrains Mono Bold"/>
                  <a:cs typeface="JetBrains Mono Bold"/>
                  <a:sym typeface="JetBrains Mono Bold"/>
                </a:defRPr>
              </a:pPr>
              <a:r>
                <a:t>app</a:t>
              </a:r>
            </a:p>
          </p:txBody>
        </p:sp>
      </p:grpSp>
      <p:sp>
        <p:nvSpPr>
          <p:cNvPr id="436" name="TextBox 9"/>
          <p:cNvSpPr txBox="1"/>
          <p:nvPr/>
        </p:nvSpPr>
        <p:spPr>
          <a:xfrm>
            <a:off x="6895775" y="2891933"/>
            <a:ext cx="27432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400">
                <a:solidFill>
                  <a:srgbClr val="00D4FF"/>
                </a:solidFill>
                <a:latin typeface="Inter Bold"/>
                <a:ea typeface="Inter Bold"/>
                <a:cs typeface="Inter Bold"/>
                <a:sym typeface="Inter Bold"/>
              </a:defRPr>
            </a:lvl1pPr>
          </a:lstStyle>
          <a:p>
            <a:pPr/>
            <a:r>
              <a:t>→</a:t>
            </a:r>
          </a:p>
        </p:txBody>
      </p:sp>
      <p:grpSp>
        <p:nvGrpSpPr>
          <p:cNvPr id="439" name="Rounded Rectangle 10"/>
          <p:cNvGrpSpPr/>
          <p:nvPr/>
        </p:nvGrpSpPr>
        <p:grpSpPr>
          <a:xfrm>
            <a:off x="7170095" y="2846214"/>
            <a:ext cx="894081" cy="470569"/>
            <a:chOff x="0" y="0"/>
            <a:chExt cx="894080" cy="470568"/>
          </a:xfrm>
        </p:grpSpPr>
        <p:sp>
          <p:nvSpPr>
            <p:cNvPr id="437"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38" name="pages"/>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a:defRPr sz="1600">
                  <a:solidFill>
                    <a:srgbClr val="FFFFFF"/>
                  </a:solidFill>
                  <a:latin typeface="JetBrains Mono Bold"/>
                  <a:ea typeface="JetBrains Mono Bold"/>
                  <a:cs typeface="JetBrains Mono Bold"/>
                  <a:sym typeface="JetBrains Mono Bold"/>
                </a:defRPr>
              </a:lvl1pPr>
            </a:lstStyle>
            <a:p>
              <a:pPr/>
              <a:r>
                <a:t>pages</a:t>
              </a:r>
            </a:p>
          </p:txBody>
        </p:sp>
      </p:grpSp>
      <p:sp>
        <p:nvSpPr>
          <p:cNvPr id="440" name="TextBox 11"/>
          <p:cNvSpPr txBox="1"/>
          <p:nvPr/>
        </p:nvSpPr>
        <p:spPr>
          <a:xfrm>
            <a:off x="8038775" y="2891933"/>
            <a:ext cx="27432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400">
                <a:solidFill>
                  <a:srgbClr val="00D4FF"/>
                </a:solidFill>
                <a:latin typeface="Inter Bold"/>
                <a:ea typeface="Inter Bold"/>
                <a:cs typeface="Inter Bold"/>
                <a:sym typeface="Inter Bold"/>
              </a:defRPr>
            </a:lvl1pPr>
          </a:lstStyle>
          <a:p>
            <a:pPr/>
            <a:r>
              <a:t>→</a:t>
            </a:r>
          </a:p>
        </p:txBody>
      </p:sp>
      <p:grpSp>
        <p:nvGrpSpPr>
          <p:cNvPr id="443" name="Rounded Rectangle 12"/>
          <p:cNvGrpSpPr/>
          <p:nvPr/>
        </p:nvGrpSpPr>
        <p:grpSpPr>
          <a:xfrm>
            <a:off x="8313095" y="2846214"/>
            <a:ext cx="894081" cy="470569"/>
            <a:chOff x="0" y="0"/>
            <a:chExt cx="894080" cy="470568"/>
          </a:xfrm>
        </p:grpSpPr>
        <p:sp>
          <p:nvSpPr>
            <p:cNvPr id="441"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42" name="..."/>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a:defRPr sz="1600">
                  <a:solidFill>
                    <a:srgbClr val="FFFFFF"/>
                  </a:solidFill>
                  <a:latin typeface="JetBrains Mono Bold"/>
                  <a:ea typeface="JetBrains Mono Bold"/>
                  <a:cs typeface="JetBrains Mono Bold"/>
                  <a:sym typeface="JetBrains Mono Bold"/>
                </a:defRPr>
              </a:lvl1pPr>
            </a:lstStyle>
            <a:p>
              <a:pPr/>
              <a:r>
                <a:t>...</a:t>
              </a:r>
            </a:p>
          </p:txBody>
        </p:sp>
      </p:grpSp>
      <p:sp>
        <p:nvSpPr>
          <p:cNvPr id="444" name="TextBox 13"/>
          <p:cNvSpPr txBox="1"/>
          <p:nvPr/>
        </p:nvSpPr>
        <p:spPr>
          <a:xfrm>
            <a:off x="9181775" y="2891933"/>
            <a:ext cx="27432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400">
                <a:solidFill>
                  <a:srgbClr val="00D4FF"/>
                </a:solidFill>
                <a:latin typeface="Inter Bold"/>
                <a:ea typeface="Inter Bold"/>
                <a:cs typeface="Inter Bold"/>
                <a:sym typeface="Inter Bold"/>
              </a:defRPr>
            </a:lvl1pPr>
          </a:lstStyle>
          <a:p>
            <a:pPr/>
            <a:r>
              <a:t>→</a:t>
            </a:r>
          </a:p>
        </p:txBody>
      </p:sp>
      <p:grpSp>
        <p:nvGrpSpPr>
          <p:cNvPr id="447" name="Rounded Rectangle 14"/>
          <p:cNvGrpSpPr/>
          <p:nvPr/>
        </p:nvGrpSpPr>
        <p:grpSpPr>
          <a:xfrm>
            <a:off x="9456095" y="2846214"/>
            <a:ext cx="894081" cy="470569"/>
            <a:chOff x="0" y="0"/>
            <a:chExt cx="894080" cy="470568"/>
          </a:xfrm>
        </p:grpSpPr>
        <p:sp>
          <p:nvSpPr>
            <p:cNvPr id="445"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46" name="shared"/>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a:defRPr sz="1600">
                  <a:solidFill>
                    <a:srgbClr val="FFFFFF"/>
                  </a:solidFill>
                  <a:latin typeface="JetBrains Mono Bold"/>
                  <a:ea typeface="JetBrains Mono Bold"/>
                  <a:cs typeface="JetBrains Mono Bold"/>
                  <a:sym typeface="JetBrains Mono Bold"/>
                </a:defRPr>
              </a:lvl1pPr>
            </a:lstStyle>
            <a:p>
              <a:pPr/>
              <a:r>
                <a:t>shared</a:t>
              </a:r>
            </a:p>
          </p:txBody>
        </p:sp>
      </p:grpSp>
      <p:sp>
        <p:nvSpPr>
          <p:cNvPr id="448" name="TextBox 17"/>
          <p:cNvSpPr txBox="1"/>
          <p:nvPr/>
        </p:nvSpPr>
        <p:spPr>
          <a:xfrm>
            <a:off x="6004235" y="3710369"/>
            <a:ext cx="54864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0D4FF"/>
                </a:solidFill>
                <a:latin typeface="Inter Bold"/>
                <a:ea typeface="Inter Bold"/>
                <a:cs typeface="Inter Bold"/>
                <a:sym typeface="Inter Bold"/>
              </a:defRPr>
            </a:lvl1pPr>
          </a:lstStyle>
          <a:p>
            <a:pPr/>
            <a:r>
              <a:t>Manje context-hopova</a:t>
            </a:r>
          </a:p>
        </p:txBody>
      </p:sp>
      <p:sp>
        <p:nvSpPr>
          <p:cNvPr id="449" name="TextBox 18"/>
          <p:cNvSpPr txBox="1"/>
          <p:nvPr/>
        </p:nvSpPr>
        <p:spPr>
          <a:xfrm>
            <a:off x="6004235" y="4030409"/>
            <a:ext cx="54864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300">
                <a:solidFill>
                  <a:srgbClr val="FFFFFF"/>
                </a:solidFill>
                <a:latin typeface="Inter Regular"/>
                <a:ea typeface="Inter Regular"/>
                <a:cs typeface="Inter Regular"/>
                <a:sym typeface="Inter Regular"/>
              </a:defRPr>
            </a:pPr>
            <a:r>
              <a:t>Jednosmjerni tok importa = </a:t>
            </a:r>
            <a:r>
              <a:rPr>
                <a:solidFill>
                  <a:srgbClr val="00D4FF"/>
                </a:solidFill>
                <a:latin typeface="Inter Bold"/>
                <a:ea typeface="Inter Bold"/>
                <a:cs typeface="Inter Bold"/>
                <a:sym typeface="Inter Bold"/>
              </a:rPr>
              <a:t>konačan put kroz ovisnosti</a:t>
            </a:r>
            <a:r>
              <a:t>. Manje koraka, manje potrošenih tokena.</a:t>
            </a:r>
          </a:p>
        </p:txBody>
      </p:sp>
      <p:pic>
        <p:nvPicPr>
          <p:cNvPr id="450" name="Folders Graphic.png" descr="Folders Graphic.png"/>
          <p:cNvPicPr>
            <a:picLocks noChangeAspect="1"/>
          </p:cNvPicPr>
          <p:nvPr/>
        </p:nvPicPr>
        <p:blipFill>
          <a:blip r:embed="rId3">
            <a:extLst/>
          </a:blip>
          <a:stretch>
            <a:fillRect/>
          </a:stretch>
        </p:blipFill>
        <p:spPr>
          <a:xfrm>
            <a:off x="648586" y="2193710"/>
            <a:ext cx="2252528" cy="3793730"/>
          </a:xfrm>
          <a:prstGeom prst="rect">
            <a:avLst/>
          </a:prstGeom>
          <a:ln w="12700">
            <a:miter lim="400000"/>
          </a:ln>
        </p:spPr>
      </p:pic>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4"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3600">
                <a:solidFill>
                  <a:srgbClr val="FFFFFF"/>
                </a:solidFill>
                <a:latin typeface="Inter Bold"/>
                <a:ea typeface="Inter Bold"/>
                <a:cs typeface="Inter Bold"/>
                <a:sym typeface="Inter Bold"/>
              </a:defRPr>
            </a:pPr>
            <a:r>
              <a:t>Pravilo #1: </a:t>
            </a:r>
            <a:r>
              <a:rPr>
                <a:solidFill>
                  <a:srgbClr val="00D4FF"/>
                </a:solidFill>
              </a:rPr>
              <a:t>Layers</a:t>
            </a:r>
          </a:p>
        </p:txBody>
      </p:sp>
      <p:sp>
        <p:nvSpPr>
          <p:cNvPr id="455"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Hijerarhija odgovornosti, fiksni redoslijed</a:t>
            </a:r>
          </a:p>
        </p:txBody>
      </p:sp>
      <p:sp>
        <p:nvSpPr>
          <p:cNvPr id="456" name="Rectangle 3"/>
          <p:cNvSpPr/>
          <p:nvPr/>
        </p:nvSpPr>
        <p:spPr>
          <a:xfrm>
            <a:off x="640080" y="1691639"/>
            <a:ext cx="548641" cy="36577"/>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457" name="TextBox 6"/>
          <p:cNvSpPr txBox="1"/>
          <p:nvPr/>
        </p:nvSpPr>
        <p:spPr>
          <a:xfrm>
            <a:off x="6039510" y="2068633"/>
            <a:ext cx="51206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0D4FF"/>
                </a:solidFill>
                <a:latin typeface="Inter Bold"/>
                <a:ea typeface="Inter Bold"/>
                <a:cs typeface="Inter Bold"/>
                <a:sym typeface="Inter Bold"/>
              </a:defRPr>
            </a:lvl1pPr>
          </a:lstStyle>
          <a:p>
            <a:pPr/>
            <a:r>
              <a:t>Pravilo importa</a:t>
            </a:r>
          </a:p>
        </p:txBody>
      </p:sp>
      <p:sp>
        <p:nvSpPr>
          <p:cNvPr id="458" name="TextBox 7"/>
          <p:cNvSpPr txBox="1"/>
          <p:nvPr/>
        </p:nvSpPr>
        <p:spPr>
          <a:xfrm>
            <a:off x="6039510" y="2434393"/>
            <a:ext cx="51206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FFFFF"/>
                </a:solidFill>
                <a:latin typeface="Inter Regular"/>
                <a:ea typeface="Inter Regular"/>
                <a:cs typeface="Inter Regular"/>
                <a:sym typeface="Inter Regular"/>
              </a:defRPr>
            </a:pPr>
            <a:r>
              <a:t>Sloj smije importati </a:t>
            </a:r>
            <a:r>
              <a:rPr>
                <a:solidFill>
                  <a:srgbClr val="2ED573"/>
                </a:solidFill>
                <a:latin typeface="Inter Bold"/>
                <a:ea typeface="Inter Bold"/>
                <a:cs typeface="Inter Bold"/>
                <a:sym typeface="Inter Bold"/>
              </a:rPr>
              <a:t>samo iz slojeva ispod sebe.</a:t>
            </a:r>
          </a:p>
        </p:txBody>
      </p:sp>
      <p:grpSp>
        <p:nvGrpSpPr>
          <p:cNvPr id="461" name="Rounded Rectangle 8"/>
          <p:cNvGrpSpPr/>
          <p:nvPr/>
        </p:nvGrpSpPr>
        <p:grpSpPr>
          <a:xfrm>
            <a:off x="6027096" y="2846214"/>
            <a:ext cx="894081" cy="470569"/>
            <a:chOff x="0" y="0"/>
            <a:chExt cx="894080" cy="470568"/>
          </a:xfrm>
        </p:grpSpPr>
        <p:sp>
          <p:nvSpPr>
            <p:cNvPr id="459"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60" name="app"/>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lvl="1" algn="ctr">
                <a:defRPr sz="1600">
                  <a:solidFill>
                    <a:srgbClr val="FFFFFF"/>
                  </a:solidFill>
                  <a:latin typeface="JetBrains Mono Bold"/>
                  <a:ea typeface="JetBrains Mono Bold"/>
                  <a:cs typeface="JetBrains Mono Bold"/>
                  <a:sym typeface="JetBrains Mono Bold"/>
                </a:defRPr>
              </a:pPr>
              <a:r>
                <a:t>app</a:t>
              </a:r>
            </a:p>
          </p:txBody>
        </p:sp>
      </p:grpSp>
      <p:sp>
        <p:nvSpPr>
          <p:cNvPr id="462" name="TextBox 9"/>
          <p:cNvSpPr txBox="1"/>
          <p:nvPr/>
        </p:nvSpPr>
        <p:spPr>
          <a:xfrm>
            <a:off x="6895775" y="2891933"/>
            <a:ext cx="27432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400">
                <a:solidFill>
                  <a:srgbClr val="00D4FF"/>
                </a:solidFill>
                <a:latin typeface="Inter Bold"/>
                <a:ea typeface="Inter Bold"/>
                <a:cs typeface="Inter Bold"/>
                <a:sym typeface="Inter Bold"/>
              </a:defRPr>
            </a:lvl1pPr>
          </a:lstStyle>
          <a:p>
            <a:pPr/>
            <a:r>
              <a:t>→</a:t>
            </a:r>
          </a:p>
        </p:txBody>
      </p:sp>
      <p:grpSp>
        <p:nvGrpSpPr>
          <p:cNvPr id="465" name="Rounded Rectangle 10"/>
          <p:cNvGrpSpPr/>
          <p:nvPr/>
        </p:nvGrpSpPr>
        <p:grpSpPr>
          <a:xfrm>
            <a:off x="7170095" y="2846214"/>
            <a:ext cx="894081" cy="470569"/>
            <a:chOff x="0" y="0"/>
            <a:chExt cx="894080" cy="470568"/>
          </a:xfrm>
        </p:grpSpPr>
        <p:sp>
          <p:nvSpPr>
            <p:cNvPr id="463"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64" name="pages"/>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a:defRPr sz="1600">
                  <a:solidFill>
                    <a:srgbClr val="FFFFFF"/>
                  </a:solidFill>
                  <a:latin typeface="JetBrains Mono Bold"/>
                  <a:ea typeface="JetBrains Mono Bold"/>
                  <a:cs typeface="JetBrains Mono Bold"/>
                  <a:sym typeface="JetBrains Mono Bold"/>
                </a:defRPr>
              </a:lvl1pPr>
            </a:lstStyle>
            <a:p>
              <a:pPr/>
              <a:r>
                <a:t>pages</a:t>
              </a:r>
            </a:p>
          </p:txBody>
        </p:sp>
      </p:grpSp>
      <p:sp>
        <p:nvSpPr>
          <p:cNvPr id="466" name="TextBox 11"/>
          <p:cNvSpPr txBox="1"/>
          <p:nvPr/>
        </p:nvSpPr>
        <p:spPr>
          <a:xfrm>
            <a:off x="8038775" y="2891933"/>
            <a:ext cx="27432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400">
                <a:solidFill>
                  <a:srgbClr val="00D4FF"/>
                </a:solidFill>
                <a:latin typeface="Inter Bold"/>
                <a:ea typeface="Inter Bold"/>
                <a:cs typeface="Inter Bold"/>
                <a:sym typeface="Inter Bold"/>
              </a:defRPr>
            </a:lvl1pPr>
          </a:lstStyle>
          <a:p>
            <a:pPr/>
            <a:r>
              <a:t>→</a:t>
            </a:r>
          </a:p>
        </p:txBody>
      </p:sp>
      <p:grpSp>
        <p:nvGrpSpPr>
          <p:cNvPr id="469" name="Rounded Rectangle 12"/>
          <p:cNvGrpSpPr/>
          <p:nvPr/>
        </p:nvGrpSpPr>
        <p:grpSpPr>
          <a:xfrm>
            <a:off x="8313095" y="2846214"/>
            <a:ext cx="894081" cy="470569"/>
            <a:chOff x="0" y="0"/>
            <a:chExt cx="894080" cy="470568"/>
          </a:xfrm>
        </p:grpSpPr>
        <p:sp>
          <p:nvSpPr>
            <p:cNvPr id="467"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68" name="..."/>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a:defRPr sz="1600">
                  <a:solidFill>
                    <a:srgbClr val="FFFFFF"/>
                  </a:solidFill>
                  <a:latin typeface="JetBrains Mono Bold"/>
                  <a:ea typeface="JetBrains Mono Bold"/>
                  <a:cs typeface="JetBrains Mono Bold"/>
                  <a:sym typeface="JetBrains Mono Bold"/>
                </a:defRPr>
              </a:lvl1pPr>
            </a:lstStyle>
            <a:p>
              <a:pPr/>
              <a:r>
                <a:t>...</a:t>
              </a:r>
            </a:p>
          </p:txBody>
        </p:sp>
      </p:grpSp>
      <p:sp>
        <p:nvSpPr>
          <p:cNvPr id="470" name="TextBox 13"/>
          <p:cNvSpPr txBox="1"/>
          <p:nvPr/>
        </p:nvSpPr>
        <p:spPr>
          <a:xfrm>
            <a:off x="9181775" y="2891933"/>
            <a:ext cx="27432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400">
                <a:solidFill>
                  <a:srgbClr val="00D4FF"/>
                </a:solidFill>
                <a:latin typeface="Inter Bold"/>
                <a:ea typeface="Inter Bold"/>
                <a:cs typeface="Inter Bold"/>
                <a:sym typeface="Inter Bold"/>
              </a:defRPr>
            </a:lvl1pPr>
          </a:lstStyle>
          <a:p>
            <a:pPr/>
            <a:r>
              <a:t>→</a:t>
            </a:r>
          </a:p>
        </p:txBody>
      </p:sp>
      <p:grpSp>
        <p:nvGrpSpPr>
          <p:cNvPr id="473" name="Rounded Rectangle 14"/>
          <p:cNvGrpSpPr/>
          <p:nvPr/>
        </p:nvGrpSpPr>
        <p:grpSpPr>
          <a:xfrm>
            <a:off x="9456095" y="2846214"/>
            <a:ext cx="894081" cy="470569"/>
            <a:chOff x="0" y="0"/>
            <a:chExt cx="894080" cy="470568"/>
          </a:xfrm>
        </p:grpSpPr>
        <p:sp>
          <p:nvSpPr>
            <p:cNvPr id="471" name="Rounded Rectangle"/>
            <p:cNvSpPr/>
            <p:nvPr/>
          </p:nvSpPr>
          <p:spPr>
            <a:xfrm>
              <a:off x="0" y="0"/>
              <a:ext cx="894081" cy="470569"/>
            </a:xfrm>
            <a:prstGeom prst="roundRect">
              <a:avLst>
                <a:gd name="adj" fmla="val 18000"/>
              </a:avLst>
            </a:prstGeom>
            <a:solidFill>
              <a:srgbClr val="1A1A2E"/>
            </a:solidFill>
            <a:ln w="15875" cap="flat">
              <a:solidFill>
                <a:srgbClr val="00D4FF"/>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472" name="shared"/>
            <p:cNvSpPr txBox="1"/>
            <p:nvPr/>
          </p:nvSpPr>
          <p:spPr>
            <a:xfrm>
              <a:off x="32978" y="91499"/>
              <a:ext cx="828124" cy="28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a:defRPr sz="1600">
                  <a:solidFill>
                    <a:srgbClr val="FFFFFF"/>
                  </a:solidFill>
                  <a:latin typeface="JetBrains Mono Bold"/>
                  <a:ea typeface="JetBrains Mono Bold"/>
                  <a:cs typeface="JetBrains Mono Bold"/>
                  <a:sym typeface="JetBrains Mono Bold"/>
                </a:defRPr>
              </a:lvl1pPr>
            </a:lstStyle>
            <a:p>
              <a:pPr/>
              <a:r>
                <a:t>shared</a:t>
              </a:r>
            </a:p>
          </p:txBody>
        </p:sp>
      </p:grpSp>
      <p:sp>
        <p:nvSpPr>
          <p:cNvPr id="474" name="TextBox 15"/>
          <p:cNvSpPr txBox="1"/>
          <p:nvPr/>
        </p:nvSpPr>
        <p:spPr>
          <a:xfrm>
            <a:off x="6004235" y="5037145"/>
            <a:ext cx="54864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0D4FF"/>
                </a:solidFill>
                <a:latin typeface="Inter Bold"/>
                <a:ea typeface="Inter Bold"/>
                <a:cs typeface="Inter Bold"/>
                <a:sym typeface="Inter Bold"/>
              </a:defRPr>
            </a:lvl1pPr>
          </a:lstStyle>
          <a:p>
            <a:pPr/>
            <a:r>
              <a:t>Mapa odgovornosti</a:t>
            </a:r>
          </a:p>
        </p:txBody>
      </p:sp>
      <p:sp>
        <p:nvSpPr>
          <p:cNvPr id="475" name="TextBox 16"/>
          <p:cNvSpPr txBox="1"/>
          <p:nvPr/>
        </p:nvSpPr>
        <p:spPr>
          <a:xfrm>
            <a:off x="6004235" y="5357185"/>
            <a:ext cx="54864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300">
                <a:solidFill>
                  <a:srgbClr val="FFFFFF"/>
                </a:solidFill>
                <a:latin typeface="Inter Regular"/>
                <a:ea typeface="Inter Regular"/>
                <a:cs typeface="Inter Regular"/>
                <a:sym typeface="Inter Regular"/>
              </a:defRPr>
            </a:pPr>
            <a:r>
              <a:t>AI pročita file tree i </a:t>
            </a:r>
            <a:r>
              <a:rPr>
                <a:solidFill>
                  <a:srgbClr val="00D4FF"/>
                </a:solidFill>
                <a:latin typeface="Inter Bold"/>
                <a:ea typeface="Inter Bold"/>
                <a:cs typeface="Inter Bold"/>
                <a:sym typeface="Inter Bold"/>
              </a:rPr>
              <a:t>odmah zna</a:t>
            </a:r>
            <a:r>
              <a:t> gdje je poslovna logika, gdje akcije, a gdje infrastruktura.</a:t>
            </a:r>
          </a:p>
        </p:txBody>
      </p:sp>
      <p:sp>
        <p:nvSpPr>
          <p:cNvPr id="476" name="TextBox 17"/>
          <p:cNvSpPr txBox="1"/>
          <p:nvPr/>
        </p:nvSpPr>
        <p:spPr>
          <a:xfrm>
            <a:off x="6004235" y="3710369"/>
            <a:ext cx="54864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0D4FF"/>
                </a:solidFill>
                <a:latin typeface="Inter Bold"/>
                <a:ea typeface="Inter Bold"/>
                <a:cs typeface="Inter Bold"/>
                <a:sym typeface="Inter Bold"/>
              </a:defRPr>
            </a:lvl1pPr>
          </a:lstStyle>
          <a:p>
            <a:pPr/>
            <a:r>
              <a:t>Manje context-hopova</a:t>
            </a:r>
          </a:p>
        </p:txBody>
      </p:sp>
      <p:sp>
        <p:nvSpPr>
          <p:cNvPr id="477" name="TextBox 18"/>
          <p:cNvSpPr txBox="1"/>
          <p:nvPr/>
        </p:nvSpPr>
        <p:spPr>
          <a:xfrm>
            <a:off x="6004235" y="4030409"/>
            <a:ext cx="54864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300">
                <a:solidFill>
                  <a:srgbClr val="FFFFFF"/>
                </a:solidFill>
                <a:latin typeface="Inter Regular"/>
                <a:ea typeface="Inter Regular"/>
                <a:cs typeface="Inter Regular"/>
                <a:sym typeface="Inter Regular"/>
              </a:defRPr>
            </a:pPr>
            <a:r>
              <a:t>Jednosmjerni tok importa = </a:t>
            </a:r>
            <a:r>
              <a:rPr>
                <a:solidFill>
                  <a:srgbClr val="00D4FF"/>
                </a:solidFill>
                <a:latin typeface="Inter Bold"/>
                <a:ea typeface="Inter Bold"/>
                <a:cs typeface="Inter Bold"/>
                <a:sym typeface="Inter Bold"/>
              </a:rPr>
              <a:t>konačan put kroz ovisnosti</a:t>
            </a:r>
            <a:r>
              <a:t>. Manje koraka, manje potrošenih tokena.</a:t>
            </a:r>
          </a:p>
        </p:txBody>
      </p:sp>
      <p:pic>
        <p:nvPicPr>
          <p:cNvPr id="478" name="Folders Graphic.png" descr="Folders Graphic.png"/>
          <p:cNvPicPr>
            <a:picLocks noChangeAspect="1"/>
          </p:cNvPicPr>
          <p:nvPr/>
        </p:nvPicPr>
        <p:blipFill>
          <a:blip r:embed="rId3">
            <a:extLst/>
          </a:blip>
          <a:stretch>
            <a:fillRect/>
          </a:stretch>
        </p:blipFill>
        <p:spPr>
          <a:xfrm>
            <a:off x="648586" y="2193710"/>
            <a:ext cx="2252528" cy="3793730"/>
          </a:xfrm>
          <a:prstGeom prst="rect">
            <a:avLst/>
          </a:prstGeom>
          <a:ln w="12700">
            <a:miter lim="400000"/>
          </a:ln>
        </p:spPr>
      </p:pic>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2"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3600">
                <a:solidFill>
                  <a:srgbClr val="FFFFFF"/>
                </a:solidFill>
                <a:latin typeface="Inter Bold"/>
                <a:ea typeface="Inter Bold"/>
                <a:cs typeface="Inter Bold"/>
                <a:sym typeface="Inter Bold"/>
              </a:defRPr>
            </a:pPr>
            <a:r>
              <a:t>Pravilo #2: </a:t>
            </a:r>
            <a:r>
              <a:rPr>
                <a:solidFill>
                  <a:srgbClr val="00D4FF"/>
                </a:solidFill>
              </a:rPr>
              <a:t>Slices &amp; Segments</a:t>
            </a:r>
          </a:p>
        </p:txBody>
      </p:sp>
      <p:sp>
        <p:nvSpPr>
          <p:cNvPr id="483"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Domena (slice) × tehnička svrha (segment)</a:t>
            </a:r>
          </a:p>
        </p:txBody>
      </p:sp>
      <p:sp>
        <p:nvSpPr>
          <p:cNvPr id="484" name="Rectangle 3"/>
          <p:cNvSpPr/>
          <p:nvPr/>
        </p:nvSpPr>
        <p:spPr>
          <a:xfrm>
            <a:off x="640080" y="1691639"/>
            <a:ext cx="548641" cy="36577"/>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485" name="TextBox 4"/>
          <p:cNvSpPr txBox="1"/>
          <p:nvPr/>
        </p:nvSpPr>
        <p:spPr>
          <a:xfrm>
            <a:off x="640080" y="2194560"/>
            <a:ext cx="54864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0D4FF"/>
                </a:solidFill>
                <a:latin typeface="Inter Bold"/>
                <a:ea typeface="Inter Bold"/>
                <a:cs typeface="Inter Bold"/>
                <a:sym typeface="Inter Bold"/>
              </a:defRPr>
            </a:lvl1pPr>
          </a:lstStyle>
          <a:p>
            <a:pPr/>
            <a:r>
              <a:t>Slice = poslovna domena</a:t>
            </a:r>
          </a:p>
        </p:txBody>
      </p:sp>
      <p:sp>
        <p:nvSpPr>
          <p:cNvPr id="486" name="Rectangle 5"/>
          <p:cNvSpPr/>
          <p:nvPr/>
        </p:nvSpPr>
        <p:spPr>
          <a:xfrm>
            <a:off x="640080" y="2560320"/>
            <a:ext cx="5486401" cy="1554481"/>
          </a:xfrm>
          <a:prstGeom prst="rect">
            <a:avLst/>
          </a:prstGeom>
          <a:solidFill>
            <a:srgbClr val="1A1A2E"/>
          </a:solidFill>
          <a:ln w="12700">
            <a:miter lim="400000"/>
          </a:ln>
        </p:spPr>
        <p:txBody>
          <a:bodyPr lIns="45718" tIns="45718" rIns="45718" bIns="45718" anchor="ctr"/>
          <a:lstStyle/>
          <a:p>
            <a:pPr algn="ctr">
              <a:defRPr>
                <a:solidFill>
                  <a:srgbClr val="FFFFFF"/>
                </a:solidFill>
              </a:defRPr>
            </a:pPr>
          </a:p>
        </p:txBody>
      </p:sp>
      <p:sp>
        <p:nvSpPr>
          <p:cNvPr id="487" name="TextBox 6"/>
          <p:cNvSpPr txBox="1"/>
          <p:nvPr/>
        </p:nvSpPr>
        <p:spPr>
          <a:xfrm>
            <a:off x="822958" y="2724911"/>
            <a:ext cx="3319781" cy="82550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600"/>
              </a:lnSpc>
              <a:defRPr sz="1400">
                <a:solidFill>
                  <a:srgbClr val="F2F2F2"/>
                </a:solidFill>
                <a:latin typeface="JetBrains Mono Regular"/>
                <a:ea typeface="JetBrains Mono Regular"/>
                <a:cs typeface="JetBrains Mono Regular"/>
                <a:sym typeface="JetBrains Mono Regular"/>
              </a:defRPr>
            </a:pPr>
            <a:r>
              <a:t>features/</a:t>
            </a:r>
          </a:p>
          <a:p>
            <a:pPr>
              <a:lnSpc>
                <a:spcPts val="1600"/>
              </a:lnSpc>
              <a:defRPr sz="1400">
                <a:solidFill>
                  <a:srgbClr val="FFFFFF"/>
                </a:solidFill>
                <a:latin typeface="JetBrains Mono Regular"/>
                <a:ea typeface="JetBrains Mono Regular"/>
                <a:cs typeface="JetBrains Mono Regular"/>
                <a:sym typeface="JetBrains Mono Regular"/>
              </a:defRPr>
            </a:pPr>
            <a:r>
              <a:t>  </a:t>
            </a:r>
            <a:r>
              <a:rPr>
                <a:solidFill>
                  <a:srgbClr val="00D4FF"/>
                </a:solidFill>
              </a:rPr>
              <a:t>auth/</a:t>
            </a:r>
            <a:r>
              <a:t>           </a:t>
            </a:r>
            <a:r>
              <a:rPr>
                <a:solidFill>
                  <a:srgbClr val="666666"/>
                </a:solidFill>
              </a:rPr>
              <a:t>← jedan slice</a:t>
            </a:r>
            <a:endParaRPr>
              <a:solidFill>
                <a:srgbClr val="666666"/>
              </a:solidFill>
            </a:endParaRPr>
          </a:p>
          <a:p>
            <a:pPr>
              <a:lnSpc>
                <a:spcPts val="1600"/>
              </a:lnSpc>
              <a:defRPr sz="1400">
                <a:solidFill>
                  <a:srgbClr val="FFFFFF"/>
                </a:solidFill>
                <a:latin typeface="JetBrains Mono Regular"/>
                <a:ea typeface="JetBrains Mono Regular"/>
                <a:cs typeface="JetBrains Mono Regular"/>
                <a:sym typeface="JetBrains Mono Regular"/>
              </a:defRPr>
            </a:pPr>
            <a:r>
              <a:t>  </a:t>
            </a:r>
            <a:r>
              <a:rPr>
                <a:solidFill>
                  <a:srgbClr val="00D4FF"/>
                </a:solidFill>
              </a:rPr>
              <a:t>profile-edit/</a:t>
            </a:r>
            <a:r>
              <a:t>   </a:t>
            </a:r>
            <a:r>
              <a:rPr>
                <a:solidFill>
                  <a:srgbClr val="666666"/>
                </a:solidFill>
              </a:rPr>
              <a:t>← drugi slice</a:t>
            </a:r>
            <a:endParaRPr>
              <a:solidFill>
                <a:srgbClr val="666666"/>
              </a:solidFill>
            </a:endParaRPr>
          </a:p>
          <a:p>
            <a:pPr>
              <a:lnSpc>
                <a:spcPts val="1600"/>
              </a:lnSpc>
              <a:defRPr sz="1400">
                <a:solidFill>
                  <a:srgbClr val="FFFFFF"/>
                </a:solidFill>
                <a:latin typeface="JetBrains Mono Regular"/>
                <a:ea typeface="JetBrains Mono Regular"/>
                <a:cs typeface="JetBrains Mono Regular"/>
                <a:sym typeface="JetBrains Mono Regular"/>
              </a:defRPr>
            </a:pPr>
            <a:r>
              <a:t>  </a:t>
            </a:r>
            <a:r>
              <a:rPr>
                <a:solidFill>
                  <a:srgbClr val="00D4FF"/>
                </a:solidFill>
              </a:rPr>
              <a:t>like-post/</a:t>
            </a:r>
            <a:r>
              <a:t>      </a:t>
            </a:r>
            <a:r>
              <a:rPr>
                <a:solidFill>
                  <a:srgbClr val="666666"/>
                </a:solidFill>
              </a:rPr>
              <a:t>← treći slice</a:t>
            </a:r>
          </a:p>
        </p:txBody>
      </p:sp>
      <p:sp>
        <p:nvSpPr>
          <p:cNvPr id="488" name="TextBox 7"/>
          <p:cNvSpPr txBox="1"/>
          <p:nvPr/>
        </p:nvSpPr>
        <p:spPr>
          <a:xfrm>
            <a:off x="640080" y="4206240"/>
            <a:ext cx="54864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300">
                <a:solidFill>
                  <a:srgbClr val="FFFFFF"/>
                </a:solidFill>
                <a:latin typeface="Inter Regular"/>
                <a:ea typeface="Inter Regular"/>
                <a:cs typeface="Inter Regular"/>
                <a:sym typeface="Inter Regular"/>
              </a:defRPr>
            </a:pPr>
            <a:r>
              <a:t>Slice grupira sve što pripada </a:t>
            </a:r>
            <a:r>
              <a:rPr>
                <a:solidFill>
                  <a:srgbClr val="00D4FF"/>
                </a:solidFill>
                <a:latin typeface="Inter Bold"/>
                <a:ea typeface="Inter Bold"/>
                <a:cs typeface="Inter Bold"/>
                <a:sym typeface="Inter Bold"/>
              </a:rPr>
              <a:t>jednoj domeni</a:t>
            </a:r>
            <a:r>
              <a:t> — bez couplinga sa susjedima.</a:t>
            </a:r>
          </a:p>
        </p:txBody>
      </p:sp>
      <p:sp>
        <p:nvSpPr>
          <p:cNvPr id="489" name="TextBox 8"/>
          <p:cNvSpPr txBox="1"/>
          <p:nvPr/>
        </p:nvSpPr>
        <p:spPr>
          <a:xfrm>
            <a:off x="6400800" y="2194560"/>
            <a:ext cx="548640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0D4FF"/>
                </a:solidFill>
                <a:latin typeface="Inter Bold"/>
                <a:ea typeface="Inter Bold"/>
                <a:cs typeface="Inter Bold"/>
                <a:sym typeface="Inter Bold"/>
              </a:defRPr>
            </a:lvl1pPr>
          </a:lstStyle>
          <a:p>
            <a:pPr/>
            <a:r>
              <a:t>Segment = tehnička svrha</a:t>
            </a:r>
          </a:p>
        </p:txBody>
      </p:sp>
      <p:sp>
        <p:nvSpPr>
          <p:cNvPr id="490" name="Rectangle 9"/>
          <p:cNvSpPr/>
          <p:nvPr/>
        </p:nvSpPr>
        <p:spPr>
          <a:xfrm>
            <a:off x="6400800" y="2560320"/>
            <a:ext cx="5486400" cy="1554481"/>
          </a:xfrm>
          <a:prstGeom prst="rect">
            <a:avLst/>
          </a:prstGeom>
          <a:solidFill>
            <a:srgbClr val="1A1A2E"/>
          </a:solidFill>
          <a:ln w="12700">
            <a:miter lim="400000"/>
          </a:ln>
        </p:spPr>
        <p:txBody>
          <a:bodyPr lIns="45718" tIns="45718" rIns="45718" bIns="45718" anchor="ctr"/>
          <a:lstStyle/>
          <a:p>
            <a:pPr algn="ctr">
              <a:defRPr>
                <a:solidFill>
                  <a:srgbClr val="FFFFFF"/>
                </a:solidFill>
              </a:defRPr>
            </a:pPr>
          </a:p>
        </p:txBody>
      </p:sp>
      <p:sp>
        <p:nvSpPr>
          <p:cNvPr id="491" name="TextBox 10"/>
          <p:cNvSpPr txBox="1"/>
          <p:nvPr/>
        </p:nvSpPr>
        <p:spPr>
          <a:xfrm>
            <a:off x="6583680" y="2724911"/>
            <a:ext cx="3533141" cy="102870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600"/>
              </a:lnSpc>
              <a:defRPr sz="1400">
                <a:solidFill>
                  <a:srgbClr val="F2F2F2"/>
                </a:solidFill>
                <a:latin typeface="JetBrains Mono Regular"/>
                <a:ea typeface="JetBrains Mono Regular"/>
                <a:cs typeface="JetBrains Mono Regular"/>
                <a:sym typeface="JetBrains Mono Regular"/>
              </a:defRPr>
            </a:pPr>
            <a:r>
              <a:t>features/auth/</a:t>
            </a:r>
          </a:p>
          <a:p>
            <a:pPr>
              <a:lnSpc>
                <a:spcPts val="1600"/>
              </a:lnSpc>
              <a:defRPr sz="1400">
                <a:solidFill>
                  <a:srgbClr val="FFFFFF"/>
                </a:solidFill>
                <a:latin typeface="JetBrains Mono Regular"/>
                <a:ea typeface="JetBrains Mono Regular"/>
                <a:cs typeface="JetBrains Mono Regular"/>
                <a:sym typeface="JetBrains Mono Regular"/>
              </a:defRPr>
            </a:pPr>
            <a:r>
              <a:t>  </a:t>
            </a:r>
            <a:r>
              <a:rPr>
                <a:solidFill>
                  <a:srgbClr val="00D4FF"/>
                </a:solidFill>
              </a:rPr>
              <a:t>ui/</a:t>
            </a:r>
            <a:r>
              <a:t>       </a:t>
            </a:r>
            <a:r>
              <a:rPr>
                <a:solidFill>
                  <a:srgbClr val="666666"/>
                </a:solidFill>
              </a:rPr>
              <a:t>← komponente, stilovi</a:t>
            </a:r>
            <a:endParaRPr>
              <a:solidFill>
                <a:srgbClr val="666666"/>
              </a:solidFill>
            </a:endParaRPr>
          </a:p>
          <a:p>
            <a:pPr>
              <a:lnSpc>
                <a:spcPts val="1600"/>
              </a:lnSpc>
              <a:defRPr sz="1400">
                <a:solidFill>
                  <a:srgbClr val="FFFFFF"/>
                </a:solidFill>
                <a:latin typeface="JetBrains Mono Regular"/>
                <a:ea typeface="JetBrains Mono Regular"/>
                <a:cs typeface="JetBrains Mono Regular"/>
                <a:sym typeface="JetBrains Mono Regular"/>
              </a:defRPr>
            </a:pPr>
            <a:r>
              <a:t>  </a:t>
            </a:r>
            <a:r>
              <a:rPr>
                <a:solidFill>
                  <a:srgbClr val="00D4FF"/>
                </a:solidFill>
              </a:rPr>
              <a:t>model/</a:t>
            </a:r>
            <a:r>
              <a:t>    </a:t>
            </a:r>
            <a:r>
              <a:rPr>
                <a:solidFill>
                  <a:srgbClr val="666666"/>
                </a:solidFill>
              </a:rPr>
              <a:t>← state, validacija</a:t>
            </a:r>
            <a:endParaRPr>
              <a:solidFill>
                <a:srgbClr val="666666"/>
              </a:solidFill>
            </a:endParaRPr>
          </a:p>
          <a:p>
            <a:pPr>
              <a:lnSpc>
                <a:spcPts val="1600"/>
              </a:lnSpc>
              <a:defRPr sz="1400">
                <a:solidFill>
                  <a:srgbClr val="FFFFFF"/>
                </a:solidFill>
                <a:latin typeface="JetBrains Mono Regular"/>
                <a:ea typeface="JetBrains Mono Regular"/>
                <a:cs typeface="JetBrains Mono Regular"/>
                <a:sym typeface="JetBrains Mono Regular"/>
              </a:defRPr>
            </a:pPr>
            <a:r>
              <a:t>  </a:t>
            </a:r>
            <a:r>
              <a:rPr>
                <a:solidFill>
                  <a:srgbClr val="00D4FF"/>
                </a:solidFill>
              </a:rPr>
              <a:t>api/</a:t>
            </a:r>
            <a:r>
              <a:t>      </a:t>
            </a:r>
            <a:r>
              <a:rPr>
                <a:solidFill>
                  <a:srgbClr val="666666"/>
                </a:solidFill>
              </a:rPr>
              <a:t>← backend pozivi</a:t>
            </a:r>
            <a:endParaRPr>
              <a:solidFill>
                <a:srgbClr val="666666"/>
              </a:solidFill>
            </a:endParaRPr>
          </a:p>
          <a:p>
            <a:pPr>
              <a:lnSpc>
                <a:spcPts val="1600"/>
              </a:lnSpc>
              <a:defRPr sz="1400">
                <a:solidFill>
                  <a:srgbClr val="FFFFFF"/>
                </a:solidFill>
                <a:latin typeface="JetBrains Mono Regular"/>
                <a:ea typeface="JetBrains Mono Regular"/>
                <a:cs typeface="JetBrains Mono Regular"/>
                <a:sym typeface="JetBrains Mono Regular"/>
              </a:defRPr>
            </a:pPr>
            <a:r>
              <a:t>  </a:t>
            </a:r>
            <a:r>
              <a:rPr>
                <a:solidFill>
                  <a:srgbClr val="00D4FF"/>
                </a:solidFill>
              </a:rPr>
              <a:t>lib/</a:t>
            </a:r>
            <a:r>
              <a:t>      </a:t>
            </a:r>
            <a:r>
              <a:rPr>
                <a:solidFill>
                  <a:srgbClr val="666666"/>
                </a:solidFill>
              </a:rPr>
              <a:t>← utility funkcije</a:t>
            </a:r>
          </a:p>
        </p:txBody>
      </p:sp>
      <p:sp>
        <p:nvSpPr>
          <p:cNvPr id="492" name="TextBox 11"/>
          <p:cNvSpPr txBox="1"/>
          <p:nvPr/>
        </p:nvSpPr>
        <p:spPr>
          <a:xfrm>
            <a:off x="6400800" y="4206240"/>
            <a:ext cx="54864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300">
                <a:solidFill>
                  <a:srgbClr val="FFFFFF"/>
                </a:solidFill>
                <a:latin typeface="Inter Regular"/>
                <a:ea typeface="Inter Regular"/>
                <a:cs typeface="Inter Regular"/>
                <a:sym typeface="Inter Regular"/>
              </a:defRPr>
            </a:pPr>
            <a:r>
              <a:t>Standardizirana imena segmenata </a:t>
            </a:r>
            <a:r>
              <a:rPr>
                <a:solidFill>
                  <a:srgbClr val="00D4FF"/>
                </a:solidFill>
                <a:latin typeface="Inter Bold"/>
                <a:ea typeface="Inter Bold"/>
                <a:cs typeface="Inter Bold"/>
                <a:sym typeface="Inter Bold"/>
              </a:rPr>
              <a:t>u svakom slice-u</a:t>
            </a:r>
            <a:r>
              <a:t>.</a:t>
            </a:r>
          </a:p>
        </p:txBody>
      </p:sp>
      <p:sp>
        <p:nvSpPr>
          <p:cNvPr id="493" name="Rounded Rectangle 12"/>
          <p:cNvSpPr/>
          <p:nvPr/>
        </p:nvSpPr>
        <p:spPr>
          <a:xfrm>
            <a:off x="640080" y="5074920"/>
            <a:ext cx="10972801" cy="1188721"/>
          </a:xfrm>
          <a:prstGeom prst="roundRect">
            <a:avLst>
              <a:gd name="adj" fmla="val 8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494" name="Rectangle 13"/>
          <p:cNvSpPr/>
          <p:nvPr/>
        </p:nvSpPr>
        <p:spPr>
          <a:xfrm>
            <a:off x="640080" y="5074920"/>
            <a:ext cx="54865" cy="1188721"/>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495" name="TextBox 14"/>
          <p:cNvSpPr txBox="1"/>
          <p:nvPr/>
        </p:nvSpPr>
        <p:spPr>
          <a:xfrm>
            <a:off x="914400" y="5257800"/>
            <a:ext cx="105156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FFFFF"/>
                </a:solidFill>
                <a:latin typeface="Inter Regular"/>
                <a:ea typeface="Inter Regular"/>
                <a:cs typeface="Inter Regular"/>
                <a:sym typeface="Inter Regular"/>
              </a:defRPr>
            </a:pPr>
            <a:r>
              <a:t>AI pomoć: granice slica = manje context pollutiona, segmenti = </a:t>
            </a:r>
            <a:r>
              <a:rPr>
                <a:solidFill>
                  <a:srgbClr val="00D4FF"/>
                </a:solidFill>
                <a:latin typeface="Inter Bold"/>
                <a:ea typeface="Inter Bold"/>
                <a:cs typeface="Inter Bold"/>
                <a:sym typeface="Inter Bold"/>
              </a:rPr>
              <a:t>pattern matching</a:t>
            </a:r>
            <a:r>
              <a:t> kroz cijeli projekt. „Trebam fetch korisnika?“ → entities/user/api/. Bez pretrage.</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9"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3600">
                <a:solidFill>
                  <a:srgbClr val="FFFFFF"/>
                </a:solidFill>
                <a:latin typeface="Inter Bold"/>
                <a:ea typeface="Inter Bold"/>
                <a:cs typeface="Inter Bold"/>
                <a:sym typeface="Inter Bold"/>
              </a:defRPr>
            </a:pPr>
            <a:r>
              <a:t>Pravilo #3: </a:t>
            </a:r>
            <a:r>
              <a:rPr>
                <a:solidFill>
                  <a:srgbClr val="00D4FF"/>
                </a:solidFill>
              </a:rPr>
              <a:t>Public API</a:t>
            </a:r>
          </a:p>
        </p:txBody>
      </p:sp>
      <p:sp>
        <p:nvSpPr>
          <p:cNvPr id="500" name="TextBox 2"/>
          <p:cNvSpPr txBox="1"/>
          <p:nvPr/>
        </p:nvSpPr>
        <p:spPr>
          <a:xfrm>
            <a:off x="640079" y="1371600"/>
            <a:ext cx="10908794"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888888"/>
                </a:solidFill>
                <a:latin typeface="Inter Regular"/>
                <a:ea typeface="Inter Regular"/>
                <a:cs typeface="Inter Regular"/>
                <a:sym typeface="Inter Regular"/>
              </a:defRPr>
            </a:pPr>
            <a:r>
              <a:t>Svaki slice eksponira </a:t>
            </a:r>
            <a:r>
              <a:rPr>
                <a:solidFill>
                  <a:srgbClr val="00D4FF"/>
                </a:solidFill>
                <a:latin typeface="JetBrains Mono Regular"/>
                <a:ea typeface="JetBrains Mono Regular"/>
                <a:cs typeface="JetBrains Mono Regular"/>
                <a:sym typeface="JetBrains Mono Regular"/>
              </a:rPr>
              <a:t>index.ts</a:t>
            </a:r>
            <a:r>
              <a:t> kao ugovor</a:t>
            </a:r>
          </a:p>
        </p:txBody>
      </p:sp>
      <p:sp>
        <p:nvSpPr>
          <p:cNvPr id="501" name="Rectangle 3"/>
          <p:cNvSpPr/>
          <p:nvPr/>
        </p:nvSpPr>
        <p:spPr>
          <a:xfrm>
            <a:off x="640080" y="1691639"/>
            <a:ext cx="548641" cy="36577"/>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502" name="Rectangle 4"/>
          <p:cNvSpPr/>
          <p:nvPr/>
        </p:nvSpPr>
        <p:spPr>
          <a:xfrm>
            <a:off x="640079" y="2194560"/>
            <a:ext cx="5303522" cy="3017521"/>
          </a:xfrm>
          <a:prstGeom prst="rect">
            <a:avLst/>
          </a:prstGeom>
          <a:solidFill>
            <a:srgbClr val="1A1A2E"/>
          </a:solidFill>
          <a:ln w="12700">
            <a:miter lim="400000"/>
          </a:ln>
        </p:spPr>
        <p:txBody>
          <a:bodyPr lIns="45718" tIns="45718" rIns="45718" bIns="45718" anchor="ctr"/>
          <a:lstStyle/>
          <a:p>
            <a:pPr algn="ctr">
              <a:defRPr>
                <a:solidFill>
                  <a:srgbClr val="FFFFFF"/>
                </a:solidFill>
              </a:defRPr>
            </a:pPr>
          </a:p>
        </p:txBody>
      </p:sp>
      <p:sp>
        <p:nvSpPr>
          <p:cNvPr id="503" name="TextBox 5"/>
          <p:cNvSpPr txBox="1"/>
          <p:nvPr/>
        </p:nvSpPr>
        <p:spPr>
          <a:xfrm>
            <a:off x="822958" y="2359152"/>
            <a:ext cx="2390141" cy="183388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600"/>
              </a:lnSpc>
              <a:defRPr sz="1200">
                <a:solidFill>
                  <a:srgbClr val="F2F2F2"/>
                </a:solidFill>
                <a:latin typeface="JetBrains Mono Regular"/>
                <a:ea typeface="JetBrains Mono Regular"/>
                <a:cs typeface="JetBrains Mono Regular"/>
                <a:sym typeface="JetBrains Mono Regular"/>
              </a:defRPr>
            </a:pPr>
            <a:r>
              <a:t>features/auth/</a:t>
            </a:r>
          </a:p>
          <a:p>
            <a:pPr>
              <a:lnSpc>
                <a:spcPts val="1600"/>
              </a:lnSpc>
              <a:defRPr sz="1200">
                <a:solidFill>
                  <a:srgbClr val="F2F2F2"/>
                </a:solidFill>
                <a:latin typeface="JetBrains Mono Regular"/>
                <a:ea typeface="JetBrains Mono Regular"/>
                <a:cs typeface="JetBrains Mono Regular"/>
                <a:sym typeface="JetBrains Mono Regular"/>
              </a:defRPr>
            </a:pPr>
            <a:r>
              <a:t>  ui/</a:t>
            </a:r>
          </a:p>
          <a:p>
            <a:pPr>
              <a:lnSpc>
                <a:spcPts val="1600"/>
              </a:lnSpc>
              <a:defRPr sz="1200">
                <a:solidFill>
                  <a:srgbClr val="F2F2F2"/>
                </a:solidFill>
                <a:latin typeface="JetBrains Mono Regular"/>
                <a:ea typeface="JetBrains Mono Regular"/>
                <a:cs typeface="JetBrains Mono Regular"/>
                <a:sym typeface="JetBrains Mono Regular"/>
              </a:defRPr>
            </a:pPr>
            <a:r>
              <a:t>    LoginForm.tsx</a:t>
            </a:r>
          </a:p>
          <a:p>
            <a:pPr>
              <a:lnSpc>
                <a:spcPts val="1600"/>
              </a:lnSpc>
              <a:defRPr sz="1200">
                <a:solidFill>
                  <a:srgbClr val="F2F2F2"/>
                </a:solidFill>
                <a:latin typeface="JetBrains Mono Regular"/>
                <a:ea typeface="JetBrains Mono Regular"/>
                <a:cs typeface="JetBrains Mono Regular"/>
                <a:sym typeface="JetBrains Mono Regular"/>
              </a:defRPr>
            </a:pPr>
            <a:r>
              <a:t>    LogoutButton.tsx</a:t>
            </a:r>
          </a:p>
          <a:p>
            <a:pPr>
              <a:lnSpc>
                <a:spcPts val="1600"/>
              </a:lnSpc>
              <a:defRPr sz="1200">
                <a:solidFill>
                  <a:srgbClr val="F2F2F2"/>
                </a:solidFill>
                <a:latin typeface="JetBrains Mono Regular"/>
                <a:ea typeface="JetBrains Mono Regular"/>
                <a:cs typeface="JetBrains Mono Regular"/>
                <a:sym typeface="JetBrains Mono Regular"/>
              </a:defRPr>
            </a:pPr>
            <a:r>
              <a:t>  model/</a:t>
            </a:r>
          </a:p>
          <a:p>
            <a:pPr>
              <a:lnSpc>
                <a:spcPts val="1600"/>
              </a:lnSpc>
              <a:defRPr sz="1200">
                <a:solidFill>
                  <a:srgbClr val="F2F2F2"/>
                </a:solidFill>
                <a:latin typeface="JetBrains Mono Regular"/>
                <a:ea typeface="JetBrains Mono Regular"/>
                <a:cs typeface="JetBrains Mono Regular"/>
                <a:sym typeface="JetBrains Mono Regular"/>
              </a:defRPr>
            </a:pPr>
            <a:r>
              <a:t>    auth-store.ts</a:t>
            </a:r>
          </a:p>
          <a:p>
            <a:pPr>
              <a:lnSpc>
                <a:spcPts val="1600"/>
              </a:lnSpc>
              <a:defRPr sz="1200">
                <a:solidFill>
                  <a:srgbClr val="F2F2F2"/>
                </a:solidFill>
                <a:latin typeface="JetBrains Mono Regular"/>
                <a:ea typeface="JetBrains Mono Regular"/>
                <a:cs typeface="JetBrains Mono Regular"/>
                <a:sym typeface="JetBrains Mono Regular"/>
              </a:defRPr>
            </a:pPr>
            <a:r>
              <a:t>  api/</a:t>
            </a:r>
          </a:p>
          <a:p>
            <a:pPr>
              <a:lnSpc>
                <a:spcPts val="1600"/>
              </a:lnSpc>
              <a:defRPr sz="1200">
                <a:solidFill>
                  <a:srgbClr val="F2F2F2"/>
                </a:solidFill>
                <a:latin typeface="JetBrains Mono Regular"/>
                <a:ea typeface="JetBrains Mono Regular"/>
                <a:cs typeface="JetBrains Mono Regular"/>
                <a:sym typeface="JetBrains Mono Regular"/>
              </a:defRPr>
            </a:pPr>
            <a:r>
              <a:t>    login.ts</a:t>
            </a:r>
          </a:p>
          <a:p>
            <a:pPr>
              <a:lnSpc>
                <a:spcPts val="1600"/>
              </a:lnSpc>
              <a:defRPr sz="1200">
                <a:solidFill>
                  <a:srgbClr val="FFFFFF"/>
                </a:solidFill>
                <a:latin typeface="JetBrains Mono Regular"/>
                <a:ea typeface="JetBrains Mono Regular"/>
                <a:cs typeface="JetBrains Mono Regular"/>
                <a:sym typeface="JetBrains Mono Regular"/>
              </a:defRPr>
            </a:pPr>
            <a:r>
              <a:t>  </a:t>
            </a:r>
            <a:r>
              <a:rPr>
                <a:solidFill>
                  <a:srgbClr val="00D4FF"/>
                </a:solidFill>
              </a:rPr>
              <a:t>index.ts</a:t>
            </a:r>
            <a:r>
              <a:t>   </a:t>
            </a:r>
            <a:r>
              <a:rPr>
                <a:solidFill>
                  <a:srgbClr val="666666"/>
                </a:solidFill>
              </a:rPr>
              <a:t>← jedini ulaz</a:t>
            </a:r>
          </a:p>
        </p:txBody>
      </p:sp>
      <p:sp>
        <p:nvSpPr>
          <p:cNvPr id="504" name="Rectangle 6"/>
          <p:cNvSpPr/>
          <p:nvPr/>
        </p:nvSpPr>
        <p:spPr>
          <a:xfrm>
            <a:off x="6217920" y="2194560"/>
            <a:ext cx="5669280" cy="3017521"/>
          </a:xfrm>
          <a:prstGeom prst="rect">
            <a:avLst/>
          </a:prstGeom>
          <a:solidFill>
            <a:srgbClr val="1A1A2E"/>
          </a:solidFill>
          <a:ln w="12700">
            <a:miter lim="400000"/>
          </a:ln>
        </p:spPr>
        <p:txBody>
          <a:bodyPr lIns="45718" tIns="45718" rIns="45718" bIns="45718" anchor="ctr"/>
          <a:lstStyle/>
          <a:p>
            <a:pPr algn="ctr">
              <a:defRPr>
                <a:solidFill>
                  <a:srgbClr val="FFFFFF"/>
                </a:solidFill>
              </a:defRPr>
            </a:pPr>
          </a:p>
        </p:txBody>
      </p:sp>
      <p:sp>
        <p:nvSpPr>
          <p:cNvPr id="505" name="TextBox 7"/>
          <p:cNvSpPr txBox="1"/>
          <p:nvPr/>
        </p:nvSpPr>
        <p:spPr>
          <a:xfrm>
            <a:off x="6400800" y="2359152"/>
            <a:ext cx="4706621" cy="183007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600"/>
              </a:lnSpc>
              <a:defRPr sz="1100">
                <a:solidFill>
                  <a:srgbClr val="888888"/>
                </a:solidFill>
                <a:latin typeface="JetBrains Mono Regular"/>
                <a:ea typeface="JetBrains Mono Regular"/>
                <a:cs typeface="JetBrains Mono Regular"/>
                <a:sym typeface="JetBrains Mono Regular"/>
              </a:defRPr>
            </a:pPr>
            <a:r>
              <a:t>// features/auth/index.ts</a:t>
            </a:r>
          </a:p>
          <a:p>
            <a:pPr>
              <a:lnSpc>
                <a:spcPts val="1600"/>
              </a:lnSpc>
              <a:defRPr sz="1100">
                <a:solidFill>
                  <a:srgbClr val="00D4FF"/>
                </a:solidFill>
                <a:latin typeface="JetBrains Mono Regular"/>
                <a:ea typeface="JetBrains Mono Regular"/>
                <a:cs typeface="JetBrains Mono Regular"/>
                <a:sym typeface="JetBrains Mono Regular"/>
              </a:defRPr>
            </a:pPr>
            <a:r>
              <a:t>export </a:t>
            </a:r>
            <a:r>
              <a:rPr>
                <a:solidFill>
                  <a:srgbClr val="F2F2F2"/>
                </a:solidFill>
              </a:rPr>
              <a:t>{ LoginForm } from './ui/LoginForm'</a:t>
            </a:r>
            <a:endParaRPr>
              <a:solidFill>
                <a:srgbClr val="F2F2F2"/>
              </a:solidFill>
            </a:endParaRPr>
          </a:p>
          <a:p>
            <a:pPr>
              <a:lnSpc>
                <a:spcPts val="1600"/>
              </a:lnSpc>
              <a:defRPr sz="1100">
                <a:solidFill>
                  <a:srgbClr val="00D4FF"/>
                </a:solidFill>
                <a:latin typeface="JetBrains Mono Regular"/>
                <a:ea typeface="JetBrains Mono Regular"/>
                <a:cs typeface="JetBrains Mono Regular"/>
                <a:sym typeface="JetBrains Mono Regular"/>
              </a:defRPr>
            </a:pPr>
            <a:r>
              <a:t>export </a:t>
            </a:r>
            <a:r>
              <a:rPr>
                <a:solidFill>
                  <a:srgbClr val="F2F2F2"/>
                </a:solidFill>
              </a:rPr>
              <a:t>{ useAuth } from './model/auth-store'</a:t>
            </a:r>
            <a:endParaRPr>
              <a:solidFill>
                <a:srgbClr val="F2F2F2"/>
              </a:solidFill>
            </a:endParaRPr>
          </a:p>
          <a:p>
            <a:pPr>
              <a:lnSpc>
                <a:spcPts val="1600"/>
              </a:lnSpc>
              <a:defRPr sz="1100">
                <a:solidFill>
                  <a:srgbClr val="FFFFFF"/>
                </a:solidFill>
                <a:latin typeface="JetBrains Mono Regular"/>
                <a:ea typeface="JetBrains Mono Regular"/>
                <a:cs typeface="JetBrains Mono Regular"/>
                <a:sym typeface="JetBrains Mono Regular"/>
              </a:defRPr>
            </a:pPr>
            <a:r>
              <a:t> </a:t>
            </a:r>
          </a:p>
          <a:p>
            <a:pPr>
              <a:lnSpc>
                <a:spcPts val="1600"/>
              </a:lnSpc>
              <a:defRPr sz="1100">
                <a:solidFill>
                  <a:srgbClr val="888888"/>
                </a:solidFill>
                <a:latin typeface="JetBrains Mono Regular"/>
                <a:ea typeface="JetBrains Mono Regular"/>
                <a:cs typeface="JetBrains Mono Regular"/>
                <a:sym typeface="JetBrains Mono Regular"/>
              </a:defRPr>
            </a:pPr>
            <a:r>
              <a:t>// Svugdje drugdje:</a:t>
            </a:r>
          </a:p>
          <a:p>
            <a:pPr>
              <a:lnSpc>
                <a:spcPts val="1600"/>
              </a:lnSpc>
              <a:defRPr sz="1100">
                <a:solidFill>
                  <a:srgbClr val="2ED573"/>
                </a:solidFill>
                <a:latin typeface="JetBrains Mono Regular"/>
                <a:ea typeface="JetBrains Mono Regular"/>
                <a:cs typeface="JetBrains Mono Regular"/>
                <a:sym typeface="JetBrains Mono Regular"/>
              </a:defRPr>
            </a:pPr>
            <a:r>
              <a:t>import { LoginForm } from '@/features/auth'</a:t>
            </a:r>
          </a:p>
          <a:p>
            <a:pPr>
              <a:lnSpc>
                <a:spcPts val="1600"/>
              </a:lnSpc>
              <a:defRPr sz="1100">
                <a:solidFill>
                  <a:srgbClr val="FFFFFF"/>
                </a:solidFill>
                <a:latin typeface="JetBrains Mono Regular"/>
                <a:ea typeface="JetBrains Mono Regular"/>
                <a:cs typeface="JetBrains Mono Regular"/>
                <a:sym typeface="JetBrains Mono Regular"/>
              </a:defRPr>
            </a:pPr>
            <a:r>
              <a:t> </a:t>
            </a:r>
          </a:p>
          <a:p>
            <a:pPr>
              <a:lnSpc>
                <a:spcPts val="1600"/>
              </a:lnSpc>
              <a:defRPr sz="1100">
                <a:solidFill>
                  <a:srgbClr val="FF6B81"/>
                </a:solidFill>
                <a:latin typeface="JetBrains Mono Regular"/>
                <a:ea typeface="JetBrains Mono Regular"/>
                <a:cs typeface="JetBrains Mono Regular"/>
                <a:sym typeface="JetBrains Mono Regular"/>
              </a:defRPr>
            </a:pPr>
            <a:r>
              <a:t>// Zabranjeno:</a:t>
            </a:r>
          </a:p>
          <a:p>
            <a:pPr>
              <a:lnSpc>
                <a:spcPts val="1600"/>
              </a:lnSpc>
              <a:defRPr sz="1100">
                <a:solidFill>
                  <a:srgbClr val="FF6B81"/>
                </a:solidFill>
                <a:latin typeface="JetBrains Mono Regular"/>
                <a:ea typeface="JetBrains Mono Regular"/>
                <a:cs typeface="JetBrains Mono Regular"/>
                <a:sym typeface="JetBrains Mono Regular"/>
              </a:defRPr>
            </a:pPr>
            <a:r>
              <a:t>import { LoginForm } from '@/features/auth/ui/LoginForm'</a:t>
            </a:r>
          </a:p>
        </p:txBody>
      </p:sp>
      <p:sp>
        <p:nvSpPr>
          <p:cNvPr id="506" name="Rounded Rectangle 8"/>
          <p:cNvSpPr/>
          <p:nvPr/>
        </p:nvSpPr>
        <p:spPr>
          <a:xfrm>
            <a:off x="640080" y="5440679"/>
            <a:ext cx="10972801" cy="1005841"/>
          </a:xfrm>
          <a:prstGeom prst="roundRect">
            <a:avLst>
              <a:gd name="adj" fmla="val 8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507" name="Rectangle 9"/>
          <p:cNvSpPr/>
          <p:nvPr/>
        </p:nvSpPr>
        <p:spPr>
          <a:xfrm>
            <a:off x="640080" y="5440679"/>
            <a:ext cx="54865" cy="1005840"/>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508" name="TextBox 10"/>
          <p:cNvSpPr txBox="1"/>
          <p:nvPr/>
        </p:nvSpPr>
        <p:spPr>
          <a:xfrm>
            <a:off x="914400" y="5623559"/>
            <a:ext cx="10515600" cy="495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FFFFFF"/>
                </a:solidFill>
                <a:latin typeface="Inter Regular"/>
                <a:ea typeface="Inter Regular"/>
                <a:cs typeface="Inter Regular"/>
                <a:sym typeface="Inter Regular"/>
              </a:defRPr>
            </a:pPr>
            <a:r>
              <a:t>AI pročita </a:t>
            </a:r>
            <a:r>
              <a:rPr>
                <a:solidFill>
                  <a:srgbClr val="00D4FF"/>
                </a:solidFill>
                <a:latin typeface="JetBrains Mono Regular"/>
                <a:ea typeface="JetBrains Mono Regular"/>
                <a:cs typeface="JetBrains Mono Regular"/>
                <a:sym typeface="JetBrains Mono Regular"/>
              </a:rPr>
              <a:t>index.ts</a:t>
            </a:r>
            <a:r>
              <a:t> (8 redova) i zna kompletno sučelje slice-a — umjesto da učita 400+ linija interne implementacije. </a:t>
            </a:r>
            <a:r>
              <a:rPr>
                <a:solidFill>
                  <a:srgbClr val="00D4FF"/>
                </a:solidFill>
                <a:latin typeface="Inter Bold"/>
                <a:ea typeface="Inter Bold"/>
                <a:cs typeface="Inter Bold"/>
                <a:sym typeface="Inter Bold"/>
              </a:rPr>
              <a:t>Štedi tokene, stabilan ugovor.</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2"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3600">
                <a:solidFill>
                  <a:srgbClr val="FFFFFF"/>
                </a:solidFill>
                <a:latin typeface="Inter Bold"/>
                <a:ea typeface="Inter Bold"/>
                <a:cs typeface="Inter Bold"/>
                <a:sym typeface="Inter Bold"/>
              </a:defRPr>
            </a:pPr>
            <a:r>
              <a:t>AI alati </a:t>
            </a:r>
            <a:r>
              <a:rPr>
                <a:solidFill>
                  <a:srgbClr val="00D4FF"/>
                </a:solidFill>
              </a:rPr>
              <a:t>za FSD</a:t>
            </a:r>
          </a:p>
        </p:txBody>
      </p:sp>
      <p:sp>
        <p:nvSpPr>
          <p:cNvPr id="513"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Daj AI-u FSD dokumentaciju kao kontekst — ne mora pogađati pravila.</a:t>
            </a:r>
          </a:p>
        </p:txBody>
      </p:sp>
      <p:sp>
        <p:nvSpPr>
          <p:cNvPr id="514" name="Rectangle 3"/>
          <p:cNvSpPr/>
          <p:nvPr/>
        </p:nvSpPr>
        <p:spPr>
          <a:xfrm>
            <a:off x="640080" y="1691639"/>
            <a:ext cx="548641" cy="36577"/>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515" name="TextBox 4"/>
          <p:cNvSpPr txBox="1"/>
          <p:nvPr/>
        </p:nvSpPr>
        <p:spPr>
          <a:xfrm>
            <a:off x="640080" y="2194560"/>
            <a:ext cx="54864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0D4FF"/>
                </a:solidFill>
                <a:latin typeface="Inter Bold"/>
                <a:ea typeface="Inter Bold"/>
                <a:cs typeface="Inter Bold"/>
                <a:sym typeface="Inter Bold"/>
              </a:defRPr>
            </a:lvl1pPr>
          </a:lstStyle>
          <a:p>
            <a:pPr/>
            <a:r>
              <a:t>LLMs.txt</a:t>
            </a:r>
          </a:p>
        </p:txBody>
      </p:sp>
      <p:sp>
        <p:nvSpPr>
          <p:cNvPr id="516" name="TextBox 5"/>
          <p:cNvSpPr txBox="1"/>
          <p:nvPr/>
        </p:nvSpPr>
        <p:spPr>
          <a:xfrm>
            <a:off x="640080" y="2606039"/>
            <a:ext cx="548640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2F2F2"/>
                </a:solidFill>
                <a:latin typeface="JetBrains Mono Regular"/>
                <a:ea typeface="JetBrains Mono Regular"/>
                <a:cs typeface="JetBrains Mono Regular"/>
                <a:sym typeface="JetBrains Mono Regular"/>
              </a:defRPr>
            </a:lvl1pPr>
          </a:lstStyle>
          <a:p>
            <a:pPr/>
            <a:r>
              <a:t>fsd.how/llms-full.txt</a:t>
            </a:r>
          </a:p>
        </p:txBody>
      </p:sp>
      <p:sp>
        <p:nvSpPr>
          <p:cNvPr id="517" name="TextBox 6"/>
          <p:cNvSpPr txBox="1"/>
          <p:nvPr/>
        </p:nvSpPr>
        <p:spPr>
          <a:xfrm>
            <a:off x="640080" y="3154679"/>
            <a:ext cx="5486401" cy="977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FFFFF"/>
                </a:solidFill>
                <a:latin typeface="Inter Regular"/>
                <a:ea typeface="Inter Regular"/>
                <a:cs typeface="Inter Regular"/>
                <a:sym typeface="Inter Regular"/>
              </a:defRPr>
            </a:pPr>
            <a:r>
              <a:t>Cijela FSD specifikacija u jednom plain-text fileu — formatirana baš tako da je AI agenti mogu lako progutati.</a:t>
            </a:r>
          </a:p>
          <a:p>
            <a:pPr>
              <a:spcBef>
                <a:spcPts val="800"/>
              </a:spcBef>
              <a:defRPr sz="1400">
                <a:solidFill>
                  <a:srgbClr val="FFFFFF"/>
                </a:solidFill>
                <a:latin typeface="Inter Regular"/>
                <a:ea typeface="Inter Regular"/>
                <a:cs typeface="Inter Regular"/>
                <a:sym typeface="Inter Regular"/>
              </a:defRPr>
            </a:pPr>
            <a:r>
              <a:t>Doda se u </a:t>
            </a:r>
            <a:r>
              <a:rPr>
                <a:solidFill>
                  <a:srgbClr val="00D4FF"/>
                </a:solidFill>
                <a:latin typeface="JetBrains Mono Regular"/>
                <a:ea typeface="JetBrains Mono Regular"/>
                <a:cs typeface="JetBrains Mono Regular"/>
                <a:sym typeface="JetBrains Mono Regular"/>
              </a:rPr>
              <a:t>CLAUDE.md</a:t>
            </a:r>
            <a:r>
              <a:t> / </a:t>
            </a:r>
            <a:r>
              <a:rPr>
                <a:solidFill>
                  <a:srgbClr val="00D4FF"/>
                </a:solidFill>
                <a:latin typeface="JetBrains Mono Regular"/>
                <a:ea typeface="JetBrains Mono Regular"/>
                <a:cs typeface="JetBrains Mono Regular"/>
                <a:sym typeface="JetBrains Mono Regular"/>
              </a:rPr>
              <a:t>AGENTS.md</a:t>
            </a:r>
            <a:r>
              <a:t> ili kao referenca u promptu — AI dobiva pravila prije nego napiše ijednu liniju.</a:t>
            </a:r>
          </a:p>
        </p:txBody>
      </p:sp>
      <p:sp>
        <p:nvSpPr>
          <p:cNvPr id="518" name="TextBox 7"/>
          <p:cNvSpPr txBox="1"/>
          <p:nvPr/>
        </p:nvSpPr>
        <p:spPr>
          <a:xfrm>
            <a:off x="6400800" y="2194560"/>
            <a:ext cx="548640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00D4FF"/>
                </a:solidFill>
                <a:latin typeface="Inter Bold"/>
                <a:ea typeface="Inter Bold"/>
                <a:cs typeface="Inter Bold"/>
                <a:sym typeface="Inter Bold"/>
              </a:defRPr>
            </a:lvl1pPr>
          </a:lstStyle>
          <a:p>
            <a:pPr/>
            <a:r>
              <a:t>feature-sliced-design Skill</a:t>
            </a:r>
          </a:p>
        </p:txBody>
      </p:sp>
      <p:sp>
        <p:nvSpPr>
          <p:cNvPr id="519" name="TextBox 8"/>
          <p:cNvSpPr txBox="1"/>
          <p:nvPr/>
        </p:nvSpPr>
        <p:spPr>
          <a:xfrm>
            <a:off x="6400800" y="2606039"/>
            <a:ext cx="54864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2F2F2"/>
                </a:solidFill>
                <a:latin typeface="JetBrains Mono Regular"/>
                <a:ea typeface="JetBrains Mono Regular"/>
                <a:cs typeface="JetBrains Mono Regular"/>
                <a:sym typeface="JetBrains Mono Regular"/>
              </a:defRPr>
            </a:lvl1pPr>
          </a:lstStyle>
          <a:p>
            <a:pPr/>
            <a:r>
              <a:t>/feature-sliced-design</a:t>
            </a:r>
          </a:p>
        </p:txBody>
      </p:sp>
      <p:sp>
        <p:nvSpPr>
          <p:cNvPr id="520" name="TextBox 9"/>
          <p:cNvSpPr txBox="1"/>
          <p:nvPr/>
        </p:nvSpPr>
        <p:spPr>
          <a:xfrm>
            <a:off x="6400800" y="3154679"/>
            <a:ext cx="5486400" cy="1181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FFFFF"/>
                </a:solidFill>
                <a:latin typeface="Inter Regular"/>
                <a:ea typeface="Inter Regular"/>
                <a:cs typeface="Inter Regular"/>
                <a:sym typeface="Inter Regular"/>
              </a:defRPr>
            </a:pPr>
            <a:r>
              <a:t>Službeni Claude Code skill — aktivira se automatski kad se radi o FSD strukturi (gdje datoteku staviti, public API, cross-import, segmenti).</a:t>
            </a:r>
          </a:p>
          <a:p>
            <a:pPr>
              <a:spcBef>
                <a:spcPts val="800"/>
              </a:spcBef>
              <a:defRPr sz="1400">
                <a:solidFill>
                  <a:srgbClr val="FFFFFF"/>
                </a:solidFill>
                <a:latin typeface="Inter Regular"/>
                <a:ea typeface="Inter Regular"/>
                <a:cs typeface="Inter Regular"/>
                <a:sym typeface="Inter Regular"/>
              </a:defRPr>
            </a:pPr>
            <a:r>
              <a:t>Sadrži decision tree, anti-patterne i conditional reference fileove </a:t>
            </a:r>
            <a:r>
              <a:rPr>
                <a:solidFill>
                  <a:srgbClr val="00D4FF"/>
                </a:solidFill>
                <a:latin typeface="Inter Bold"/>
                <a:ea typeface="Inter Bold"/>
                <a:cs typeface="Inter Bold"/>
                <a:sym typeface="Inter Bold"/>
              </a:rPr>
              <a:t>— zna kada koje znanje učitati u kontekst.</a:t>
            </a:r>
          </a:p>
        </p:txBody>
      </p:sp>
      <p:sp>
        <p:nvSpPr>
          <p:cNvPr id="521" name="Rounded Rectangle 10"/>
          <p:cNvSpPr/>
          <p:nvPr/>
        </p:nvSpPr>
        <p:spPr>
          <a:xfrm>
            <a:off x="640080" y="5074920"/>
            <a:ext cx="10972801" cy="1188721"/>
          </a:xfrm>
          <a:prstGeom prst="roundRect">
            <a:avLst>
              <a:gd name="adj" fmla="val 8000"/>
            </a:avLst>
          </a:prstGeom>
          <a:solidFill>
            <a:srgbClr val="0E3A47"/>
          </a:solidFill>
          <a:ln w="12700">
            <a:miter lim="400000"/>
          </a:ln>
        </p:spPr>
        <p:txBody>
          <a:bodyPr lIns="45718" tIns="45718" rIns="45718" bIns="45718" anchor="ctr"/>
          <a:lstStyle/>
          <a:p>
            <a:pPr algn="ctr">
              <a:defRPr>
                <a:solidFill>
                  <a:srgbClr val="FFFFFF"/>
                </a:solidFill>
              </a:defRPr>
            </a:pPr>
          </a:p>
        </p:txBody>
      </p:sp>
      <p:sp>
        <p:nvSpPr>
          <p:cNvPr id="522" name="Rectangle 11"/>
          <p:cNvSpPr/>
          <p:nvPr/>
        </p:nvSpPr>
        <p:spPr>
          <a:xfrm>
            <a:off x="640080" y="5074920"/>
            <a:ext cx="54865" cy="1188721"/>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523" name="TextBox 12"/>
          <p:cNvSpPr txBox="1"/>
          <p:nvPr/>
        </p:nvSpPr>
        <p:spPr>
          <a:xfrm>
            <a:off x="914400" y="5257800"/>
            <a:ext cx="10515600" cy="533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FFFFFF"/>
                </a:solidFill>
                <a:latin typeface="Inter Regular"/>
                <a:ea typeface="Inter Regular"/>
                <a:cs typeface="Inter Regular"/>
                <a:sym typeface="Inter Regular"/>
              </a:defRPr>
            </a:pPr>
            <a:r>
              <a:t>Dobra arhitektura + dobra dokumentacija u kontekstu = AI prestaje halucinirati i počinje pisati kod </a:t>
            </a:r>
            <a:r>
              <a:rPr>
                <a:solidFill>
                  <a:srgbClr val="00D4FF"/>
                </a:solidFill>
                <a:latin typeface="Inter Bold"/>
                <a:ea typeface="Inter Bold"/>
                <a:cs typeface="Inter Bold"/>
                <a:sym typeface="Inter Bold"/>
              </a:rPr>
              <a:t>po pravilima projekta</a:t>
            </a:r>
            <a:r>
              <a:t>.</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0A0A"/>
        </a:solidFill>
      </p:bgPr>
    </p:bg>
    <p:spTree>
      <p:nvGrpSpPr>
        <p:cNvPr id="1" name=""/>
        <p:cNvGrpSpPr/>
        <p:nvPr/>
      </p:nvGrpSpPr>
      <p:grpSpPr>
        <a:xfrm>
          <a:off x="0" y="0"/>
          <a:ext cx="0" cy="0"/>
          <a:chOff x="0" y="0"/>
          <a:chExt cx="0" cy="0"/>
        </a:xfrm>
      </p:grpSpPr>
      <p:sp>
        <p:nvSpPr>
          <p:cNvPr id="527" name="TextBox 1"/>
          <p:cNvSpPr txBox="1"/>
          <p:nvPr/>
        </p:nvSpPr>
        <p:spPr>
          <a:xfrm>
            <a:off x="640079" y="502919"/>
            <a:ext cx="10908794"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3600">
                <a:solidFill>
                  <a:srgbClr val="F2F2F2"/>
                </a:solidFill>
                <a:latin typeface="Inter Bold"/>
                <a:ea typeface="Inter Bold"/>
                <a:cs typeface="Inter Bold"/>
                <a:sym typeface="Inter Bold"/>
              </a:defRPr>
            </a:pPr>
            <a:r>
              <a:t>FSD </a:t>
            </a:r>
            <a:r>
              <a:rPr>
                <a:solidFill>
                  <a:srgbClr val="888888"/>
                </a:solidFill>
              </a:rPr>
              <a:t>×</a:t>
            </a:r>
            <a:r>
              <a:t> AI</a:t>
            </a:r>
          </a:p>
        </p:txBody>
      </p:sp>
      <p:sp>
        <p:nvSpPr>
          <p:cNvPr id="528" name="TextBox 2"/>
          <p:cNvSpPr txBox="1"/>
          <p:nvPr/>
        </p:nvSpPr>
        <p:spPr>
          <a:xfrm>
            <a:off x="640079" y="1371600"/>
            <a:ext cx="10908794"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88888"/>
                </a:solidFill>
                <a:latin typeface="Inter Regular"/>
                <a:ea typeface="Inter Regular"/>
                <a:cs typeface="Inter Regular"/>
                <a:sym typeface="Inter Regular"/>
              </a:defRPr>
            </a:lvl1pPr>
          </a:lstStyle>
          <a:p>
            <a:pPr/>
            <a:r>
              <a:t>Why Feature-Sliced Design is AI-friendly by nature</a:t>
            </a:r>
          </a:p>
        </p:txBody>
      </p:sp>
      <p:sp>
        <p:nvSpPr>
          <p:cNvPr id="529" name="Rectangle 3"/>
          <p:cNvSpPr/>
          <p:nvPr/>
        </p:nvSpPr>
        <p:spPr>
          <a:xfrm>
            <a:off x="640080" y="1691638"/>
            <a:ext cx="548641" cy="36578"/>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530" name="Rectangle 4"/>
          <p:cNvSpPr/>
          <p:nvPr/>
        </p:nvSpPr>
        <p:spPr>
          <a:xfrm>
            <a:off x="640080" y="2194560"/>
            <a:ext cx="10972801" cy="457202"/>
          </a:xfrm>
          <a:prstGeom prst="rect">
            <a:avLst/>
          </a:prstGeom>
          <a:solidFill>
            <a:srgbClr val="00D4FF"/>
          </a:solidFill>
          <a:ln w="12700">
            <a:miter lim="400000"/>
          </a:ln>
        </p:spPr>
        <p:txBody>
          <a:bodyPr lIns="45718" tIns="45718" rIns="45718" bIns="45718" anchor="ctr"/>
          <a:lstStyle/>
          <a:p>
            <a:pPr algn="ctr">
              <a:defRPr>
                <a:solidFill>
                  <a:srgbClr val="FFFFFF"/>
                </a:solidFill>
              </a:defRPr>
            </a:pPr>
          </a:p>
        </p:txBody>
      </p:sp>
      <p:sp>
        <p:nvSpPr>
          <p:cNvPr id="531" name="TextBox 5"/>
          <p:cNvSpPr txBox="1"/>
          <p:nvPr/>
        </p:nvSpPr>
        <p:spPr>
          <a:xfrm>
            <a:off x="822958" y="2240277"/>
            <a:ext cx="347472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0A0A0A"/>
                </a:solidFill>
                <a:latin typeface="Inter Bold"/>
                <a:ea typeface="Inter Bold"/>
                <a:cs typeface="Inter Bold"/>
                <a:sym typeface="Inter Bold"/>
              </a:defRPr>
            </a:lvl1pPr>
          </a:lstStyle>
          <a:p>
            <a:pPr/>
            <a:r>
              <a:t>FSD Concept</a:t>
            </a:r>
          </a:p>
        </p:txBody>
      </p:sp>
      <p:sp>
        <p:nvSpPr>
          <p:cNvPr id="532" name="TextBox 6"/>
          <p:cNvSpPr txBox="1"/>
          <p:nvPr/>
        </p:nvSpPr>
        <p:spPr>
          <a:xfrm>
            <a:off x="4480559" y="2240277"/>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0A0A0A"/>
                </a:solidFill>
                <a:latin typeface="Inter Bold"/>
                <a:ea typeface="Inter Bold"/>
                <a:cs typeface="Inter Bold"/>
                <a:sym typeface="Inter Bold"/>
              </a:defRPr>
            </a:lvl1pPr>
          </a:lstStyle>
          <a:p>
            <a:pPr/>
            <a:r>
              <a:t>AI Benefit</a:t>
            </a:r>
          </a:p>
        </p:txBody>
      </p:sp>
      <p:sp>
        <p:nvSpPr>
          <p:cNvPr id="533" name="Rectangle 7"/>
          <p:cNvSpPr/>
          <p:nvPr/>
        </p:nvSpPr>
        <p:spPr>
          <a:xfrm>
            <a:off x="640080" y="3418077"/>
            <a:ext cx="10972801" cy="12702"/>
          </a:xfrm>
          <a:prstGeom prst="rect">
            <a:avLst/>
          </a:prstGeom>
          <a:solidFill>
            <a:srgbClr val="333333"/>
          </a:solidFill>
          <a:ln w="12700">
            <a:miter lim="400000"/>
          </a:ln>
        </p:spPr>
        <p:txBody>
          <a:bodyPr lIns="45718" tIns="45718" rIns="45718" bIns="45718" anchor="ctr"/>
          <a:lstStyle/>
          <a:p>
            <a:pPr algn="ctr">
              <a:defRPr>
                <a:solidFill>
                  <a:srgbClr val="FFFFFF"/>
                </a:solidFill>
              </a:defRPr>
            </a:pPr>
          </a:p>
        </p:txBody>
      </p:sp>
      <p:sp>
        <p:nvSpPr>
          <p:cNvPr id="534" name="TextBox 8"/>
          <p:cNvSpPr txBox="1"/>
          <p:nvPr/>
        </p:nvSpPr>
        <p:spPr>
          <a:xfrm>
            <a:off x="822958" y="2743200"/>
            <a:ext cx="3383282" cy="419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2F2F2"/>
                </a:solidFill>
                <a:latin typeface="Inter Bold"/>
                <a:ea typeface="Inter Bold"/>
                <a:cs typeface="Inter Bold"/>
                <a:sym typeface="Inter Bold"/>
              </a:defRPr>
            </a:pPr>
            <a:r>
              <a:t>Layers</a:t>
            </a:r>
          </a:p>
          <a:p>
            <a:pPr>
              <a:spcBef>
                <a:spcPts val="200"/>
              </a:spcBef>
              <a:defRPr sz="1100">
                <a:solidFill>
                  <a:srgbClr val="888888"/>
                </a:solidFill>
                <a:latin typeface="Inter Regular"/>
                <a:ea typeface="Inter Regular"/>
                <a:cs typeface="Inter Regular"/>
                <a:sym typeface="Inter Regular"/>
              </a:defRPr>
            </a:pPr>
            <a:r>
              <a:t>app → shared</a:t>
            </a:r>
          </a:p>
        </p:txBody>
      </p:sp>
      <p:sp>
        <p:nvSpPr>
          <p:cNvPr id="535" name="TextBox 9"/>
          <p:cNvSpPr txBox="1"/>
          <p:nvPr/>
        </p:nvSpPr>
        <p:spPr>
          <a:xfrm>
            <a:off x="4480559" y="2932429"/>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F2F2F2"/>
                </a:solidFill>
                <a:latin typeface="Inter Regular"/>
                <a:ea typeface="Inter Regular"/>
                <a:cs typeface="Inter Regular"/>
                <a:sym typeface="Inter Regular"/>
              </a:defRPr>
            </a:pPr>
            <a:r>
              <a:t>AI reads the file tree and immediately gets a </a:t>
            </a:r>
            <a:r>
              <a:rPr>
                <a:solidFill>
                  <a:srgbClr val="00D4FF"/>
                </a:solidFill>
                <a:latin typeface="Inter Bold"/>
                <a:ea typeface="Inter Bold"/>
                <a:cs typeface="Inter Bold"/>
                <a:sym typeface="Inter Bold"/>
              </a:rPr>
              <a:t>responsibility map</a:t>
            </a:r>
            <a:r>
              <a:t>.</a:t>
            </a:r>
          </a:p>
        </p:txBody>
      </p:sp>
      <p:sp>
        <p:nvSpPr>
          <p:cNvPr id="536" name="Rectangle 10"/>
          <p:cNvSpPr/>
          <p:nvPr/>
        </p:nvSpPr>
        <p:spPr>
          <a:xfrm>
            <a:off x="640080" y="3429000"/>
            <a:ext cx="10972801" cy="777242"/>
          </a:xfrm>
          <a:prstGeom prst="rect">
            <a:avLst/>
          </a:prstGeom>
          <a:solidFill>
            <a:srgbClr val="1A1A2E"/>
          </a:solidFill>
          <a:ln w="12700">
            <a:miter lim="400000"/>
          </a:ln>
        </p:spPr>
        <p:txBody>
          <a:bodyPr lIns="45718" tIns="45718" rIns="45718" bIns="45718" anchor="ctr"/>
          <a:lstStyle/>
          <a:p>
            <a:pPr algn="ctr">
              <a:defRPr>
                <a:solidFill>
                  <a:srgbClr val="FFFFFF"/>
                </a:solidFill>
              </a:defRPr>
            </a:pPr>
          </a:p>
        </p:txBody>
      </p:sp>
      <p:sp>
        <p:nvSpPr>
          <p:cNvPr id="537" name="Rectangle 11"/>
          <p:cNvSpPr/>
          <p:nvPr/>
        </p:nvSpPr>
        <p:spPr>
          <a:xfrm>
            <a:off x="640080" y="4195317"/>
            <a:ext cx="10972801" cy="12702"/>
          </a:xfrm>
          <a:prstGeom prst="rect">
            <a:avLst/>
          </a:prstGeom>
          <a:solidFill>
            <a:srgbClr val="333333"/>
          </a:solidFill>
          <a:ln w="12700">
            <a:miter lim="400000"/>
          </a:ln>
        </p:spPr>
        <p:txBody>
          <a:bodyPr lIns="45718" tIns="45718" rIns="45718" bIns="45718" anchor="ctr"/>
          <a:lstStyle/>
          <a:p>
            <a:pPr algn="ctr">
              <a:defRPr>
                <a:solidFill>
                  <a:srgbClr val="FFFFFF"/>
                </a:solidFill>
              </a:defRPr>
            </a:pPr>
          </a:p>
        </p:txBody>
      </p:sp>
      <p:sp>
        <p:nvSpPr>
          <p:cNvPr id="538" name="TextBox 12"/>
          <p:cNvSpPr txBox="1"/>
          <p:nvPr/>
        </p:nvSpPr>
        <p:spPr>
          <a:xfrm>
            <a:off x="822958" y="3520440"/>
            <a:ext cx="338328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2F2F2"/>
                </a:solidFill>
                <a:latin typeface="Inter Bold"/>
                <a:ea typeface="Inter Bold"/>
                <a:cs typeface="Inter Bold"/>
                <a:sym typeface="Inter Bold"/>
              </a:defRPr>
            </a:pPr>
            <a:r>
              <a:t>Import rule</a:t>
            </a:r>
          </a:p>
          <a:p>
            <a:pPr>
              <a:spcBef>
                <a:spcPts val="200"/>
              </a:spcBef>
              <a:defRPr sz="1100">
                <a:solidFill>
                  <a:srgbClr val="888888"/>
                </a:solidFill>
                <a:latin typeface="Inter Regular"/>
                <a:ea typeface="Inter Regular"/>
                <a:cs typeface="Inter Regular"/>
                <a:sym typeface="Inter Regular"/>
              </a:defRPr>
            </a:pPr>
            <a:r>
              <a:t>only import from below</a:t>
            </a:r>
          </a:p>
        </p:txBody>
      </p:sp>
      <p:sp>
        <p:nvSpPr>
          <p:cNvPr id="539" name="TextBox 13"/>
          <p:cNvSpPr txBox="1"/>
          <p:nvPr/>
        </p:nvSpPr>
        <p:spPr>
          <a:xfrm>
            <a:off x="4480559" y="3709668"/>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00D4FF"/>
                </a:solidFill>
                <a:latin typeface="Inter Bold"/>
                <a:ea typeface="Inter Bold"/>
                <a:cs typeface="Inter Bold"/>
                <a:sym typeface="Inter Bold"/>
              </a:defRPr>
            </a:pPr>
            <a:r>
              <a:t>One-directional</a:t>
            </a:r>
            <a:r>
              <a:rPr>
                <a:solidFill>
                  <a:srgbClr val="F2F2F2"/>
                </a:solidFill>
                <a:latin typeface="Inter Regular"/>
                <a:ea typeface="Inter Regular"/>
                <a:cs typeface="Inter Regular"/>
                <a:sym typeface="Inter Regular"/>
              </a:rPr>
              <a:t> dependency flow = minimal context hops.</a:t>
            </a:r>
          </a:p>
        </p:txBody>
      </p:sp>
      <p:sp>
        <p:nvSpPr>
          <p:cNvPr id="540" name="Rectangle 14"/>
          <p:cNvSpPr/>
          <p:nvPr/>
        </p:nvSpPr>
        <p:spPr>
          <a:xfrm>
            <a:off x="640080" y="4972556"/>
            <a:ext cx="10972801" cy="12702"/>
          </a:xfrm>
          <a:prstGeom prst="rect">
            <a:avLst/>
          </a:prstGeom>
          <a:solidFill>
            <a:srgbClr val="333333"/>
          </a:solidFill>
          <a:ln w="12700">
            <a:miter lim="400000"/>
          </a:ln>
        </p:spPr>
        <p:txBody>
          <a:bodyPr lIns="45718" tIns="45718" rIns="45718" bIns="45718" anchor="ctr"/>
          <a:lstStyle/>
          <a:p>
            <a:pPr algn="ctr">
              <a:defRPr>
                <a:solidFill>
                  <a:srgbClr val="FFFFFF"/>
                </a:solidFill>
              </a:defRPr>
            </a:pPr>
          </a:p>
        </p:txBody>
      </p:sp>
      <p:sp>
        <p:nvSpPr>
          <p:cNvPr id="541" name="TextBox 15"/>
          <p:cNvSpPr txBox="1"/>
          <p:nvPr/>
        </p:nvSpPr>
        <p:spPr>
          <a:xfrm>
            <a:off x="822958" y="4297679"/>
            <a:ext cx="338328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2F2F2"/>
                </a:solidFill>
                <a:latin typeface="Inter Bold"/>
                <a:ea typeface="Inter Bold"/>
                <a:cs typeface="Inter Bold"/>
                <a:sym typeface="Inter Bold"/>
              </a:defRPr>
            </a:pPr>
            <a:r>
              <a:t>Slices</a:t>
            </a:r>
          </a:p>
          <a:p>
            <a:pPr>
              <a:spcBef>
                <a:spcPts val="200"/>
              </a:spcBef>
              <a:defRPr sz="1100">
                <a:solidFill>
                  <a:srgbClr val="888888"/>
                </a:solidFill>
                <a:latin typeface="Inter Regular"/>
                <a:ea typeface="Inter Regular"/>
                <a:cs typeface="Inter Regular"/>
                <a:sym typeface="Inter Regular"/>
              </a:defRPr>
            </a:pPr>
            <a:r>
              <a:t>zero coupling</a:t>
            </a:r>
          </a:p>
        </p:txBody>
      </p:sp>
      <p:sp>
        <p:nvSpPr>
          <p:cNvPr id="542" name="TextBox 16"/>
          <p:cNvSpPr txBox="1"/>
          <p:nvPr/>
        </p:nvSpPr>
        <p:spPr>
          <a:xfrm>
            <a:off x="4480559" y="4486907"/>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F2F2F2"/>
                </a:solidFill>
                <a:latin typeface="Inter Regular"/>
                <a:ea typeface="Inter Regular"/>
                <a:cs typeface="Inter Regular"/>
                <a:sym typeface="Inter Regular"/>
              </a:defRPr>
            </a:pPr>
            <a:r>
              <a:t>AI stays within feature boundaries — </a:t>
            </a:r>
            <a:r>
              <a:rPr>
                <a:solidFill>
                  <a:srgbClr val="00D4FF"/>
                </a:solidFill>
                <a:latin typeface="Inter Bold"/>
                <a:ea typeface="Inter Bold"/>
                <a:cs typeface="Inter Bold"/>
                <a:sym typeface="Inter Bold"/>
              </a:rPr>
              <a:t>no context pollution</a:t>
            </a:r>
            <a:r>
              <a:t>.</a:t>
            </a:r>
          </a:p>
        </p:txBody>
      </p:sp>
      <p:sp>
        <p:nvSpPr>
          <p:cNvPr id="543" name="Rectangle 17"/>
          <p:cNvSpPr/>
          <p:nvPr/>
        </p:nvSpPr>
        <p:spPr>
          <a:xfrm>
            <a:off x="640080" y="4983479"/>
            <a:ext cx="10972801" cy="777242"/>
          </a:xfrm>
          <a:prstGeom prst="rect">
            <a:avLst/>
          </a:prstGeom>
          <a:solidFill>
            <a:srgbClr val="1A1A2E"/>
          </a:solidFill>
          <a:ln w="12700">
            <a:miter lim="400000"/>
          </a:ln>
        </p:spPr>
        <p:txBody>
          <a:bodyPr lIns="45718" tIns="45718" rIns="45718" bIns="45718" anchor="ctr"/>
          <a:lstStyle/>
          <a:p>
            <a:pPr algn="ctr">
              <a:defRPr>
                <a:solidFill>
                  <a:srgbClr val="FFFFFF"/>
                </a:solidFill>
              </a:defRPr>
            </a:pPr>
          </a:p>
        </p:txBody>
      </p:sp>
      <p:sp>
        <p:nvSpPr>
          <p:cNvPr id="544" name="Rectangle 18"/>
          <p:cNvSpPr/>
          <p:nvPr/>
        </p:nvSpPr>
        <p:spPr>
          <a:xfrm>
            <a:off x="640080" y="5749795"/>
            <a:ext cx="10972801" cy="12702"/>
          </a:xfrm>
          <a:prstGeom prst="rect">
            <a:avLst/>
          </a:prstGeom>
          <a:solidFill>
            <a:srgbClr val="333333"/>
          </a:solidFill>
          <a:ln w="12700">
            <a:miter lim="400000"/>
          </a:ln>
        </p:spPr>
        <p:txBody>
          <a:bodyPr lIns="45718" tIns="45718" rIns="45718" bIns="45718" anchor="ctr"/>
          <a:lstStyle/>
          <a:p>
            <a:pPr algn="ctr">
              <a:defRPr>
                <a:solidFill>
                  <a:srgbClr val="FFFFFF"/>
                </a:solidFill>
              </a:defRPr>
            </a:pPr>
          </a:p>
        </p:txBody>
      </p:sp>
      <p:sp>
        <p:nvSpPr>
          <p:cNvPr id="545" name="TextBox 19"/>
          <p:cNvSpPr txBox="1"/>
          <p:nvPr/>
        </p:nvSpPr>
        <p:spPr>
          <a:xfrm>
            <a:off x="822958" y="5074918"/>
            <a:ext cx="338328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2F2F2"/>
                </a:solidFill>
                <a:latin typeface="Inter Bold"/>
                <a:ea typeface="Inter Bold"/>
                <a:cs typeface="Inter Bold"/>
                <a:sym typeface="Inter Bold"/>
              </a:defRPr>
            </a:pPr>
            <a:r>
              <a:t>Public API</a:t>
            </a:r>
          </a:p>
          <a:p>
            <a:pPr>
              <a:spcBef>
                <a:spcPts val="200"/>
              </a:spcBef>
              <a:defRPr sz="1100">
                <a:solidFill>
                  <a:srgbClr val="888888"/>
                </a:solidFill>
                <a:latin typeface="Inter Regular"/>
                <a:ea typeface="Inter Regular"/>
                <a:cs typeface="Inter Regular"/>
                <a:sym typeface="Inter Regular"/>
              </a:defRPr>
            </a:pPr>
            <a:r>
              <a:t>index.ts contracts</a:t>
            </a:r>
          </a:p>
        </p:txBody>
      </p:sp>
      <p:sp>
        <p:nvSpPr>
          <p:cNvPr id="546" name="TextBox 20"/>
          <p:cNvSpPr txBox="1"/>
          <p:nvPr/>
        </p:nvSpPr>
        <p:spPr>
          <a:xfrm>
            <a:off x="4480559" y="5264147"/>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F2F2F2"/>
                </a:solidFill>
                <a:latin typeface="Inter Regular"/>
                <a:ea typeface="Inter Regular"/>
                <a:cs typeface="Inter Regular"/>
                <a:sym typeface="Inter Regular"/>
              </a:defRPr>
            </a:pPr>
            <a:r>
              <a:t>AI reads the interface, </a:t>
            </a:r>
            <a:r>
              <a:rPr>
                <a:solidFill>
                  <a:srgbClr val="00D4FF"/>
                </a:solidFill>
                <a:latin typeface="Inter Bold"/>
                <a:ea typeface="Inter Bold"/>
                <a:cs typeface="Inter Bold"/>
                <a:sym typeface="Inter Bold"/>
              </a:rPr>
              <a:t>doesn't crawl internals</a:t>
            </a:r>
            <a:r>
              <a:t> — saves tokens.</a:t>
            </a:r>
          </a:p>
        </p:txBody>
      </p:sp>
      <p:sp>
        <p:nvSpPr>
          <p:cNvPr id="547" name="Rectangle 21"/>
          <p:cNvSpPr/>
          <p:nvPr/>
        </p:nvSpPr>
        <p:spPr>
          <a:xfrm>
            <a:off x="640080" y="6527035"/>
            <a:ext cx="10972801" cy="12702"/>
          </a:xfrm>
          <a:prstGeom prst="rect">
            <a:avLst/>
          </a:prstGeom>
          <a:solidFill>
            <a:srgbClr val="333333"/>
          </a:solidFill>
          <a:ln w="12700">
            <a:miter lim="400000"/>
          </a:ln>
        </p:spPr>
        <p:txBody>
          <a:bodyPr lIns="45718" tIns="45718" rIns="45718" bIns="45718" anchor="ctr"/>
          <a:lstStyle/>
          <a:p>
            <a:pPr algn="ctr">
              <a:defRPr>
                <a:solidFill>
                  <a:srgbClr val="FFFFFF"/>
                </a:solidFill>
              </a:defRPr>
            </a:pPr>
          </a:p>
        </p:txBody>
      </p:sp>
      <p:sp>
        <p:nvSpPr>
          <p:cNvPr id="548" name="TextBox 22"/>
          <p:cNvSpPr txBox="1"/>
          <p:nvPr/>
        </p:nvSpPr>
        <p:spPr>
          <a:xfrm>
            <a:off x="822958" y="5852159"/>
            <a:ext cx="338328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2F2F2"/>
                </a:solidFill>
                <a:latin typeface="Inter Bold"/>
                <a:ea typeface="Inter Bold"/>
                <a:cs typeface="Inter Bold"/>
                <a:sym typeface="Inter Bold"/>
              </a:defRPr>
            </a:pPr>
            <a:r>
              <a:t>Segments</a:t>
            </a:r>
          </a:p>
          <a:p>
            <a:pPr>
              <a:spcBef>
                <a:spcPts val="200"/>
              </a:spcBef>
              <a:defRPr sz="1100">
                <a:solidFill>
                  <a:srgbClr val="888888"/>
                </a:solidFill>
                <a:latin typeface="Inter Regular"/>
                <a:ea typeface="Inter Regular"/>
                <a:cs typeface="Inter Regular"/>
                <a:sym typeface="Inter Regular"/>
              </a:defRPr>
            </a:pPr>
            <a:r>
              <a:t>ui / api / model / lib</a:t>
            </a:r>
          </a:p>
        </p:txBody>
      </p:sp>
      <p:sp>
        <p:nvSpPr>
          <p:cNvPr id="549" name="TextBox 23"/>
          <p:cNvSpPr txBox="1"/>
          <p:nvPr/>
        </p:nvSpPr>
        <p:spPr>
          <a:xfrm>
            <a:off x="4480559" y="6041387"/>
            <a:ext cx="694944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F2F2F2"/>
                </a:solidFill>
                <a:latin typeface="Inter Regular"/>
                <a:ea typeface="Inter Regular"/>
                <a:cs typeface="Inter Regular"/>
                <a:sym typeface="Inter Regular"/>
              </a:defRPr>
            </a:pPr>
            <a:r>
              <a:t>Standardized grouping = AI </a:t>
            </a:r>
            <a:r>
              <a:rPr>
                <a:solidFill>
                  <a:srgbClr val="00D4FF"/>
                </a:solidFill>
                <a:latin typeface="Inter Bold"/>
                <a:ea typeface="Inter Bold"/>
                <a:cs typeface="Inter Bold"/>
                <a:sym typeface="Inter Bold"/>
              </a:rPr>
              <a:t>pattern-matches</a:t>
            </a:r>
            <a:r>
              <a:t> across all slices.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F172A"/>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