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457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914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n-lt"/>
        <a:ea typeface="+mn-ea"/>
        <a:cs typeface="+mn-cs"/>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2" name="Shape 102"/>
          <p:cNvSpPr/>
          <p:nvPr>
            <p:ph type="sldImg"/>
          </p:nvPr>
        </p:nvSpPr>
        <p:spPr>
          <a:prstGeom prst="rect">
            <a:avLst/>
          </a:prstGeom>
        </p:spPr>
        <p:txBody>
          <a:bodyPr/>
          <a:lstStyle/>
          <a:p>
            <a:pPr/>
          </a:p>
        </p:txBody>
      </p:sp>
      <p:sp>
        <p:nvSpPr>
          <p:cNvPr id="103" name="Shape 103"/>
          <p:cNvSpPr/>
          <p:nvPr>
            <p:ph type="body" sz="quarter" idx="1"/>
          </p:nvPr>
        </p:nvSpPr>
        <p:spPr>
          <a:prstGeom prst="rect">
            <a:avLst/>
          </a:prstGeom>
        </p:spPr>
        <p:txBody>
          <a:bodyPr/>
          <a:lstStyle>
            <a:lvl1pPr>
              <a:defRPr sz="1600"/>
            </a:lvl1pPr>
          </a:lstStyle>
          <a:p>
            <a:pPr/>
            <a:r>
              <a:t>Koliko puta ste čuli ovu rečenicu? Na twitteru, redditu ili pak svojem radnom mjestu. Jedan programer je raspisao detaljni plan implementacije za neki feature. Claude krene sa izvršavanjem plana, prvih par koraka implementira super, ali nakon toga počne halucinirati - importat funkcije koje ne postoje, duplicirati ih, radit promjene koje uzrokuju kršenje na drugim mjestima.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lvl1pPr>
              <a:defRPr sz="1600"/>
            </a:lvl1pPr>
          </a:lstStyle>
          <a:p>
            <a:pPr/>
            <a:r>
              <a:t>Ili pak ovu rečenicu, gdje programer tvrdi da mu AI agent radi super na njegovom manjem projektu sa strane, ali kada ga pokuša koristiti u većem, produkcijskom kodu, on jednostavno ne performa dobro.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 name="Shape 115"/>
          <p:cNvSpPr/>
          <p:nvPr>
            <p:ph type="sldImg"/>
          </p:nvPr>
        </p:nvSpPr>
        <p:spPr>
          <a:prstGeom prst="rect">
            <a:avLst/>
          </a:prstGeom>
        </p:spPr>
        <p:txBody>
          <a:bodyPr/>
          <a:lstStyle/>
          <a:p>
            <a:pPr/>
          </a:p>
        </p:txBody>
      </p:sp>
      <p:sp>
        <p:nvSpPr>
          <p:cNvPr id="116" name="Shape 116"/>
          <p:cNvSpPr/>
          <p:nvPr>
            <p:ph type="body" sz="quarter" idx="1"/>
          </p:nvPr>
        </p:nvSpPr>
        <p:spPr>
          <a:prstGeom prst="rect">
            <a:avLst/>
          </a:prstGeom>
        </p:spPr>
        <p:txBody>
          <a:bodyPr/>
          <a:lstStyle>
            <a:lvl1pPr>
              <a:defRPr sz="1600"/>
            </a:lvl1pPr>
          </a:lstStyle>
          <a:p>
            <a:pPr/>
            <a:r>
              <a:t>Realno gledajući, AI asistenti briljiraju u manjim, specifičnim ili repetitivnim zadacima: generiranju funkcija, pisanju kompleksnih regexa, postavljanju boilerplateai slično.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Shape 121"/>
          <p:cNvSpPr/>
          <p:nvPr>
            <p:ph type="sldImg"/>
          </p:nvPr>
        </p:nvSpPr>
        <p:spPr>
          <a:prstGeom prst="rect">
            <a:avLst/>
          </a:prstGeom>
        </p:spPr>
        <p:txBody>
          <a:bodyPr/>
          <a:lstStyle/>
          <a:p>
            <a:pPr/>
          </a:p>
        </p:txBody>
      </p:sp>
      <p:sp>
        <p:nvSpPr>
          <p:cNvPr id="122" name="Shape 122"/>
          <p:cNvSpPr/>
          <p:nvPr>
            <p:ph type="body" sz="quarter" idx="1"/>
          </p:nvPr>
        </p:nvSpPr>
        <p:spPr>
          <a:prstGeom prst="rect">
            <a:avLst/>
          </a:prstGeom>
        </p:spPr>
        <p:txBody>
          <a:bodyPr/>
          <a:lstStyle>
            <a:lvl1pPr>
              <a:defRPr sz="1600"/>
            </a:lvl1pPr>
          </a:lstStyle>
          <a:p>
            <a:pPr/>
            <a:r>
              <a:t>No, čim ih se baci u veće okruženje s puno 'šuma', počinju se mučiti.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 name="Shape 130"/>
          <p:cNvSpPr/>
          <p:nvPr>
            <p:ph type="sldImg"/>
          </p:nvPr>
        </p:nvSpPr>
        <p:spPr>
          <a:prstGeom prst="rect">
            <a:avLst/>
          </a:prstGeom>
        </p:spPr>
        <p:txBody>
          <a:bodyPr/>
          <a:lstStyle/>
          <a:p>
            <a:pPr/>
          </a:p>
        </p:txBody>
      </p:sp>
      <p:sp>
        <p:nvSpPr>
          <p:cNvPr id="131" name="Shape 131"/>
          <p:cNvSpPr/>
          <p:nvPr>
            <p:ph type="body" sz="quarter" idx="1"/>
          </p:nvPr>
        </p:nvSpPr>
        <p:spPr>
          <a:prstGeom prst="rect">
            <a:avLst/>
          </a:prstGeom>
        </p:spPr>
        <p:txBody>
          <a:bodyPr/>
          <a:lstStyle>
            <a:lvl1pPr>
              <a:defRPr sz="1600"/>
            </a:lvl1pPr>
          </a:lstStyle>
          <a:p>
            <a:pPr/>
            <a:r>
              <a:t>A razlog za nam je svima poznat: kontekst.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Shape 136"/>
          <p:cNvSpPr/>
          <p:nvPr>
            <p:ph type="sldImg"/>
          </p:nvPr>
        </p:nvSpPr>
        <p:spPr>
          <a:prstGeom prst="rect">
            <a:avLst/>
          </a:prstGeom>
        </p:spPr>
        <p:txBody>
          <a:bodyPr/>
          <a:lstStyle/>
          <a:p>
            <a:pPr/>
          </a:p>
        </p:txBody>
      </p:sp>
      <p:sp>
        <p:nvSpPr>
          <p:cNvPr id="137" name="Shape 137"/>
          <p:cNvSpPr/>
          <p:nvPr>
            <p:ph type="body" sz="quarter" idx="1"/>
          </p:nvPr>
        </p:nvSpPr>
        <p:spPr>
          <a:prstGeom prst="rect">
            <a:avLst/>
          </a:prstGeom>
        </p:spPr>
        <p:txBody>
          <a:bodyPr/>
          <a:lstStyle>
            <a:lvl1pPr>
              <a:defRPr sz="1600"/>
            </a:lvl1pPr>
          </a:lstStyle>
          <a:p>
            <a:pPr/>
            <a:r>
              <a:t>Kontekst se zapravo odnosi na skup tokena koji su uključeni u proces generiranja (samplinga) iz LLM-a.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Shape 142"/>
          <p:cNvSpPr/>
          <p:nvPr>
            <p:ph type="sldImg"/>
          </p:nvPr>
        </p:nvSpPr>
        <p:spPr>
          <a:prstGeom prst="rect">
            <a:avLst/>
          </a:prstGeom>
        </p:spPr>
        <p:txBody>
          <a:bodyPr/>
          <a:lstStyle/>
          <a:p>
            <a:pPr/>
          </a:p>
        </p:txBody>
      </p:sp>
      <p:sp>
        <p:nvSpPr>
          <p:cNvPr id="143" name="Shape 143"/>
          <p:cNvSpPr/>
          <p:nvPr>
            <p:ph type="body" sz="quarter" idx="1"/>
          </p:nvPr>
        </p:nvSpPr>
        <p:spPr>
          <a:prstGeom prst="rect">
            <a:avLst/>
          </a:prstGeom>
        </p:spPr>
        <p:txBody>
          <a:bodyPr/>
          <a:lstStyle>
            <a:lvl1pPr>
              <a:defRPr sz="1600"/>
            </a:lvl1pPr>
          </a:lstStyle>
          <a:p>
            <a:pPr/>
            <a:r>
              <a:t>Drugim riječima, sve što model može vidjeti kada generira odgovor; tvoj prompt, otvorene datoteke, struktura projekta itd. Do prije par mjeseci nije bilo tako jer je većina AI asistenata uzimala u obzir samo vaš prompt, ništa drugo. Tada je bilo popularno na društvenim mrežama pisati o magičnim promptovima koji su mogli natjerati AI da napravi čuda. No, kako su modeli postajali veći i sofisticiraniji, počeli su uzimati u obzir i druge izvore informacija, poput otvorenih datoteka, strukture projekta i slično.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Shape 151"/>
          <p:cNvSpPr/>
          <p:nvPr>
            <p:ph type="sldImg"/>
          </p:nvPr>
        </p:nvSpPr>
        <p:spPr>
          <a:prstGeom prst="rect">
            <a:avLst/>
          </a:prstGeom>
        </p:spPr>
        <p:txBody>
          <a:bodyPr/>
          <a:lstStyle/>
          <a:p>
            <a:pPr/>
          </a:p>
        </p:txBody>
      </p:sp>
      <p:sp>
        <p:nvSpPr>
          <p:cNvPr id="152" name="Shape 152"/>
          <p:cNvSpPr/>
          <p:nvPr>
            <p:ph type="body" sz="quarter" idx="1"/>
          </p:nvPr>
        </p:nvSpPr>
        <p:spPr>
          <a:prstGeom prst="rect">
            <a:avLst/>
          </a:prstGeom>
        </p:spPr>
        <p:txBody>
          <a:bodyPr/>
          <a:lstStyle>
            <a:lvl1pPr>
              <a:defRPr sz="1600"/>
            </a:lvl1pPr>
          </a:lstStyle>
          <a:p>
            <a:pPr/>
            <a:r>
              <a:t>To je ono što se promjenilo, a ono što se nije promjenilo je činjenica da AI i dalje ne poznaje projekt već čita samo ono što mu pružite - uz razliku da sada može čitati više stvari odjednom.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9" name="Shape 159"/>
          <p:cNvSpPr/>
          <p:nvPr>
            <p:ph type="sldImg"/>
          </p:nvPr>
        </p:nvSpPr>
        <p:spPr>
          <a:prstGeom prst="rect">
            <a:avLst/>
          </a:prstGeom>
        </p:spPr>
        <p:txBody>
          <a:bodyPr/>
          <a:lstStyle/>
          <a:p>
            <a:pPr/>
          </a:p>
        </p:txBody>
      </p:sp>
      <p:sp>
        <p:nvSpPr>
          <p:cNvPr id="160" name="Shape 160"/>
          <p:cNvSpPr/>
          <p:nvPr>
            <p:ph type="body" sz="quarter" idx="1"/>
          </p:nvPr>
        </p:nvSpPr>
        <p:spPr>
          <a:prstGeom prst="rect">
            <a:avLst/>
          </a:prstGeom>
        </p:spPr>
        <p:txBody>
          <a:bodyPr/>
          <a:lstStyle>
            <a:lvl1pPr>
              <a:defRPr sz="1600"/>
            </a:lvl1pPr>
          </a:lstStyle>
          <a:p>
            <a:pPr/>
            <a:r>
              <a:t>Kao što smo već spomenuli, context engineering je još prošle godine zamijenio termin prompt engineering, a u najjednostavnijem smislu odnosi se na oblikovanje onoga što model vidi s ciljem dobivanja boljeg outputa.</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lvl1pPr>
              <a:defRPr sz="1600"/>
            </a:lvl1pPr>
          </a:lstStyle>
          <a:p>
            <a:pPr/>
            <a:r>
              <a:t>Kod dobivanja outputa od AI alata, više nije dovoljno samo napisati dobar prompt, već je potrebno obratiti pozornost i na druge stvari poput programskog koda, strukture direktorija, vanjskih paketa, konvencija i slično.</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Shape 177"/>
          <p:cNvSpPr/>
          <p:nvPr>
            <p:ph type="sldImg"/>
          </p:nvPr>
        </p:nvSpPr>
        <p:spPr>
          <a:prstGeom prst="rect">
            <a:avLst/>
          </a:prstGeom>
        </p:spPr>
        <p:txBody>
          <a:bodyPr/>
          <a:lstStyle/>
          <a:p>
            <a:pPr/>
          </a:p>
        </p:txBody>
      </p:sp>
      <p:sp>
        <p:nvSpPr>
          <p:cNvPr id="178" name="Shape 178"/>
          <p:cNvSpPr/>
          <p:nvPr>
            <p:ph type="body" sz="quarter" idx="1"/>
          </p:nvPr>
        </p:nvSpPr>
        <p:spPr>
          <a:prstGeom prst="rect">
            <a:avLst/>
          </a:prstGeom>
        </p:spPr>
        <p:txBody>
          <a:bodyPr/>
          <a:lstStyle>
            <a:lvl1pPr>
              <a:defRPr sz="1600"/>
            </a:lvl1pPr>
          </a:lstStyle>
          <a:p>
            <a:pPr/>
            <a:r>
              <a:t>Sada je moguće kontekst proširiti na više načina, a najpoznatiji je sa kreiranjem CLAUDE.md (ili AGENTS.md), dodavanjem MCP servera, skillova, rulesa itd.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lvl1pPr>
              <a:defRPr sz="1600"/>
            </a:lvl1pPr>
          </a:lstStyle>
          <a:p>
            <a:pPr/>
            <a:r>
              <a:t>Kad Cursor otvori projekt, prvo se radi indeksiranje codebasea. Podijeli programski kod u chunkove -&gt; to su funkcije, klase, blokovi. Zatim se generiraju vector (vector) embeddingsi -&gt; to su numeričke reprezentacije podataka koje se odnose na semantičko značenje. Svi ti vektori se, naravno, spremaju u vektorsku bazu podataka (turbopuffer). </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Shape 234"/>
          <p:cNvSpPr/>
          <p:nvPr>
            <p:ph type="sldImg"/>
          </p:nvPr>
        </p:nvSpPr>
        <p:spPr>
          <a:prstGeom prst="rect">
            <a:avLst/>
          </a:prstGeom>
        </p:spPr>
        <p:txBody>
          <a:bodyPr/>
          <a:lstStyle/>
          <a:p>
            <a:pPr/>
          </a:p>
        </p:txBody>
      </p:sp>
      <p:sp>
        <p:nvSpPr>
          <p:cNvPr id="235" name="Shape 235"/>
          <p:cNvSpPr/>
          <p:nvPr>
            <p:ph type="body" sz="quarter" idx="1"/>
          </p:nvPr>
        </p:nvSpPr>
        <p:spPr>
          <a:prstGeom prst="rect">
            <a:avLst/>
          </a:prstGeom>
        </p:spPr>
        <p:txBody>
          <a:bodyPr/>
          <a:lstStyle>
            <a:lvl1pPr>
              <a:defRPr sz="1600"/>
            </a:lvl1pPr>
          </a:lstStyle>
          <a:p>
            <a:pPr/>
            <a:r>
              <a:t>Nakon toga, svaki puta kada pošaljemo prompt, radi se semantičko pretraživanje -&gt; LLM (koji može vektorizirati stvari) pronalazi slične chunkove. Kada LLM pronađe rezultat, slijedi umetanje u kontekst (feeding the LLM).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9" name="Shape 269"/>
          <p:cNvSpPr/>
          <p:nvPr>
            <p:ph type="sldImg"/>
          </p:nvPr>
        </p:nvSpPr>
        <p:spPr>
          <a:prstGeom prst="rect">
            <a:avLst/>
          </a:prstGeom>
        </p:spPr>
        <p:txBody>
          <a:bodyPr/>
          <a:lstStyle/>
          <a:p>
            <a:pPr/>
          </a:p>
        </p:txBody>
      </p:sp>
      <p:sp>
        <p:nvSpPr>
          <p:cNvPr id="270" name="Shape 270"/>
          <p:cNvSpPr/>
          <p:nvPr>
            <p:ph type="body" sz="quarter" idx="1"/>
          </p:nvPr>
        </p:nvSpPr>
        <p:spPr>
          <a:prstGeom prst="rect">
            <a:avLst/>
          </a:prstGeom>
        </p:spPr>
        <p:txBody>
          <a:bodyPr/>
          <a:lstStyle>
            <a:lvl1pPr>
              <a:defRPr sz="1600"/>
            </a:lvl1pPr>
          </a:lstStyle>
          <a:p>
            <a:pPr/>
            <a:r>
              <a:t>To je vrlo moćan koncept, ali moramo biti svjesni da će kvaliteta rezultata pretraživanja odgovarat semantičkoj strukturi našeg codebasea, organizaciji komponenti, i slično. Drugim riječima, loša struktura rezultira lošim rezultatima.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Shape 280"/>
          <p:cNvSpPr/>
          <p:nvPr>
            <p:ph type="sldImg"/>
          </p:nvPr>
        </p:nvSpPr>
        <p:spPr>
          <a:prstGeom prst="rect">
            <a:avLst/>
          </a:prstGeom>
        </p:spPr>
        <p:txBody>
          <a:bodyPr/>
          <a:lstStyle/>
          <a:p>
            <a:pPr/>
          </a:p>
        </p:txBody>
      </p:sp>
      <p:sp>
        <p:nvSpPr>
          <p:cNvPr id="281" name="Shape 281"/>
          <p:cNvSpPr/>
          <p:nvPr>
            <p:ph type="body" sz="quarter" idx="1"/>
          </p:nvPr>
        </p:nvSpPr>
        <p:spPr>
          <a:prstGeom prst="rect">
            <a:avLst/>
          </a:prstGeom>
        </p:spPr>
        <p:txBody>
          <a:bodyPr/>
          <a:lstStyle>
            <a:lvl1pPr>
              <a:defRPr sz="1600"/>
            </a:lvl1pPr>
          </a:lstStyle>
          <a:p>
            <a:pPr/>
            <a:r>
              <a:t>S druge strane, Claude Code koristi malo drugačiji pristup, a to je agentic search. Tu nema indeksiranja codebasea već se sve pretražuje po potrebi, kao što to developer radi. Claude Code ima svoj “agentic loop”, dakle petlju koja se stalno izvodi i izgleda nekako ovako. Ovdje su najbitniji koraci 4. i 5. gdje LLM zapravo u kompleksnijim zadacima mora nekoliko puta ići u dubinu ne bi li došao do onog dijela koji mu je bitan. Bitno je napomenuti da može i spawnat sub-agente koji će onda paralelno istraživati.</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4" name="Shape 294"/>
          <p:cNvSpPr/>
          <p:nvPr>
            <p:ph type="sldImg"/>
          </p:nvPr>
        </p:nvSpPr>
        <p:spPr>
          <a:prstGeom prst="rect">
            <a:avLst/>
          </a:prstGeom>
        </p:spPr>
        <p:txBody>
          <a:bodyPr/>
          <a:lstStyle/>
          <a:p>
            <a:pPr/>
          </a:p>
        </p:txBody>
      </p:sp>
      <p:sp>
        <p:nvSpPr>
          <p:cNvPr id="295" name="Shape 295"/>
          <p:cNvSpPr/>
          <p:nvPr>
            <p:ph type="body" sz="quarter" idx="1"/>
          </p:nvPr>
        </p:nvSpPr>
        <p:spPr>
          <a:prstGeom prst="rect">
            <a:avLst/>
          </a:prstGeom>
        </p:spPr>
        <p:txBody>
          <a:bodyPr/>
          <a:lstStyle>
            <a:lvl1pPr>
              <a:defRPr sz="1600"/>
            </a:lvl1pPr>
          </a:lstStyle>
          <a:p>
            <a:pPr/>
            <a:r>
              <a:t>Možemo zaključiti da nista kohezija u ovom slučaju zapravo rezultira bržim punjenjem konteksta, a samim time i većom potrošnjom tokena.</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Feature-Sliced Design je arhitekturna metodologija specifično za frontend projekte. Definira točno gdje koji kod ide, kako se grupira i koje su dozvoljene ovisnosti između različitih dijelova. Cilj je da projekt bude razumljiv iz same strukture, bez da se čita svaka linija koda. To je upravo isti problem koji ima AI agent — počinje svaku sesiju s nula konteksta i mora brzo izgraditi mentalni model projekta.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FSD se svodi na tri temeljna pravila: slojevi koji definiraju hijerarhiju odgovornosti, slices i segments koji odvajaju domenu od tehničke svrhe, te public API koji definira jasan ugovor između modula. U sljedeća tri slidea ćemo proći svako od njih i vidjeti kako konkretno pomaže AI alatu.</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Slojevi su prvo i najvažnije pravilo FSD-a. Šest slojeva, uvijek u istom redoslijedu: app, pages, widgets, features, entities, shared. Pravilo importa je jednosmjerno - viši sloj smije importati iz nižeg, ali nikad obrnuto. Cross-importi između slica istog sloja su zabranjeni. Konkretni benefit za AI: file tree postaje mapa odgovornosti, AI odmah zna gdje je što. Drugi benefit: jednosmjerni tok importa znači da AI ne ulazi u beskonačne lance ovisnosti. Sjetite se onog slidea gdje je Card.tsx imao 6 importa u 6 različitih smjerova - sa slojevima, svi importi vode samo prema dolje.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Drugo pravilo razdvaja što od kako. Slice predstavlja jednu poslovnu domenu - auth, profile-edit, like-post. Unutar slica imamo segmente koji grupiraju kod po tehničkoj svrsi - ui, model, api, lib. Kako ovo pomaže AI-u? Prvo, granice slica znače da AI ostaje unutar jedne domene dok radi, ne vuče u kontekst kod iz drugih featurea. Drugo, segmenti su isti u svakom slice-u - AI nauči obrazac jednom i može ga primijeniti svugdje. Domain-based naming, user.ts a ne types.ts, daje AI-u jak semantički signal i kod tekstualne pretrage i kod embeddinga.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Treće pravilo: svaki slice mora imati index.ts koji eksponira svoj javni API. To je jedino mjesto kroz koje vanjski kod smije importati. Direktno importanje iz internih datoteka, kao auth/ui/LoginForm, strogo je zabranjeno. Public API daje dva ključna benefita za AI: prvo, drastično štedi tokene - AI pročita 8 redova index.ts-a i zna kompletno sučelje slica, umjesto da učitava 400+ linija implementacije. Drugo, Public API je stabilan ugovor - AI može refaktorirati internu implementaciju slica bez straha da će razbiti ostatak projekta. Index.ts je za AI ono što je TypeScript interface za developera.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Zadnji dio priče: kako konkretno dati AI-u FSD znanje. Dva alata. Prvi je LLMs.txt — cijela FSD specifikacija u jednom plain-text fileu, formatirana baš za AI agente. Doda se u CLAUDE.md, AGENTS.md ili kao referenca u promptu, i AI dobiva sva pravila prije nego napiše ijednu liniju. Drugi je službeni feature-sliced-design Skill u Claude Codeu — aktivira se automatski kad task uključuje FSD odluke. Sadrži decision tree, anti-patterne i conditional reference fileove, što znači da zna kada koje znanje učitati u kontekst, ne dump-a sve odjednom. Kombinacija: dobra arhitektura + dokumentacija u kontekstu = AI prestaje halucinirati i počinje pisati kod po pravilima projekta.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457200" algn="ctr">
              <a:buSzTx/>
              <a:buFontTx/>
              <a:buNone/>
              <a:defRPr>
                <a:solidFill>
                  <a:srgbClr val="888888"/>
                </a:solidFill>
              </a:defRPr>
            </a:lvl2pPr>
            <a:lvl3pPr marL="0" indent="914400" algn="ctr">
              <a:buSzTx/>
              <a:buFontTx/>
              <a:buNone/>
              <a:defRPr>
                <a:solidFill>
                  <a:srgbClr val="888888"/>
                </a:solidFill>
              </a:defRPr>
            </a:lvl3pPr>
            <a:lvl4pPr marL="0" indent="1371600" algn="ctr">
              <a:buSzTx/>
              <a:buFontTx/>
              <a:buNone/>
              <a:defRPr>
                <a:solidFill>
                  <a:srgbClr val="888888"/>
                </a:solidFill>
              </a:defRPr>
            </a:lvl4pPr>
            <a:lvl5pPr marL="0" indent="182880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8"/>
          </a:xfrm>
          <a:prstGeom prst="rect">
            <a:avLst/>
          </a:prstGeom>
        </p:spPr>
        <p:txBody>
          <a:bodyPr anchor="b"/>
          <a:lstStyle>
            <a:lvl1pPr marL="0" indent="0">
              <a:spcBef>
                <a:spcPts val="400"/>
              </a:spcBef>
              <a:buSzTx/>
              <a:buFontTx/>
              <a:buNone/>
              <a:defRPr sz="2000">
                <a:solidFill>
                  <a:srgbClr val="888888"/>
                </a:solidFill>
              </a:defRPr>
            </a:lvl1pPr>
            <a:lvl2pPr marL="0" indent="457200">
              <a:spcBef>
                <a:spcPts val="400"/>
              </a:spcBef>
              <a:buSzTx/>
              <a:buFontTx/>
              <a:buNone/>
              <a:defRPr sz="2000">
                <a:solidFill>
                  <a:srgbClr val="888888"/>
                </a:solidFill>
              </a:defRPr>
            </a:lvl2pPr>
            <a:lvl3pPr marL="0" indent="914400">
              <a:spcBef>
                <a:spcPts val="400"/>
              </a:spcBef>
              <a:buSzTx/>
              <a:buFontTx/>
              <a:buNone/>
              <a:defRPr sz="2000">
                <a:solidFill>
                  <a:srgbClr val="888888"/>
                </a:solidFill>
              </a:defRPr>
            </a:lvl3pPr>
            <a:lvl4pPr marL="0" indent="1371600">
              <a:spcBef>
                <a:spcPts val="400"/>
              </a:spcBef>
              <a:buSzTx/>
              <a:buFontTx/>
              <a:buNone/>
              <a:defRPr sz="2000">
                <a:solidFill>
                  <a:srgbClr val="888888"/>
                </a:solidFill>
              </a:defRPr>
            </a:lvl4pPr>
            <a:lvl5pPr marL="0" indent="182880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9" indent="-320039">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457200">
              <a:spcBef>
                <a:spcPts val="500"/>
              </a:spcBef>
              <a:buSzTx/>
              <a:buFontTx/>
              <a:buNone/>
              <a:defRPr b="1" sz="2400"/>
            </a:lvl2pPr>
            <a:lvl3pPr marL="0" indent="914400">
              <a:spcBef>
                <a:spcPts val="500"/>
              </a:spcBef>
              <a:buSzTx/>
              <a:buFontTx/>
              <a:buNone/>
              <a:defRPr b="1" sz="2400"/>
            </a:lvl3pPr>
            <a:lvl4pPr marL="0" indent="1371600">
              <a:spcBef>
                <a:spcPts val="500"/>
              </a:spcBef>
              <a:buSzTx/>
              <a:buFontTx/>
              <a:buNone/>
              <a:defRPr b="1" sz="2400"/>
            </a:lvl4pPr>
            <a:lvl5pPr marL="0" indent="182880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3"/>
          </a:xfrm>
          <a:prstGeom prst="rect">
            <a:avLst/>
          </a:prstGeom>
        </p:spPr>
        <p:txBody>
          <a:bodyPr anchor="b"/>
          <a:lstStyle/>
          <a:p>
            <a:pPr marL="0" indent="0">
              <a:spcBef>
                <a:spcPts val="500"/>
              </a:spcBef>
              <a:buSzTx/>
              <a:buFontTx/>
              <a:buNone/>
              <a:defRPr b="1" sz="2400"/>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4"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9" y="1435100"/>
            <a:ext cx="3008315" cy="4691063"/>
          </a:xfrm>
          <a:prstGeom prst="rect">
            <a:avLst/>
          </a:prstGeom>
        </p:spPr>
        <p:txBody>
          <a:bodyPr/>
          <a:lstStyle/>
          <a:p>
            <a:pPr marL="0" indent="0">
              <a:spcBef>
                <a:spcPts val="300"/>
              </a:spcBef>
              <a:buSzTx/>
              <a:buFontTx/>
              <a:buNone/>
              <a:defRPr sz="1400"/>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1"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1" cy="4114800"/>
          </a:xfrm>
          <a:prstGeom prst="rect">
            <a:avLst/>
          </a:prstGeom>
        </p:spPr>
        <p:txBody>
          <a:bodyPr lIns="91439" rIns="91439">
            <a:noAutofit/>
          </a:bodyPr>
          <a:lstStyle/>
          <a:p>
            <a:pPr/>
          </a:p>
        </p:txBody>
      </p:sp>
      <p:sp>
        <p:nvSpPr>
          <p:cNvPr id="84" name="Body Level One…"/>
          <p:cNvSpPr txBox="1"/>
          <p:nvPr>
            <p:ph type="body" sz="quarter" idx="1"/>
          </p:nvPr>
        </p:nvSpPr>
        <p:spPr>
          <a:xfrm>
            <a:off x="1792288" y="5367337"/>
            <a:ext cx="5486401" cy="804863"/>
          </a:xfrm>
          <a:prstGeom prst="rect">
            <a:avLst/>
          </a:prstGeom>
        </p:spPr>
        <p:txBody>
          <a:bodyPr/>
          <a:lstStyle>
            <a:lvl1pPr marL="0" indent="0">
              <a:spcBef>
                <a:spcPts val="300"/>
              </a:spcBef>
              <a:buSzTx/>
              <a:buFontTx/>
              <a:buNone/>
              <a:defRPr sz="1400"/>
            </a:lvl1pPr>
            <a:lvl2pPr marL="0" indent="457200">
              <a:spcBef>
                <a:spcPts val="300"/>
              </a:spcBef>
              <a:buSzTx/>
              <a:buFontTx/>
              <a:buNone/>
              <a:defRPr sz="1400"/>
            </a:lvl2pPr>
            <a:lvl3pPr marL="0" indent="914400">
              <a:spcBef>
                <a:spcPts val="300"/>
              </a:spcBef>
              <a:buSzTx/>
              <a:buFontTx/>
              <a:buNone/>
              <a:defRPr sz="1400"/>
            </a:lvl3pPr>
            <a:lvl4pPr marL="0" indent="1371600">
              <a:spcBef>
                <a:spcPts val="300"/>
              </a:spcBef>
              <a:buSzTx/>
              <a:buFontTx/>
              <a:buNone/>
              <a:defRPr sz="1400"/>
            </a:lvl4pPr>
            <a:lvl5pPr marL="0" indent="182880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F172A"/>
        </a:solidFill>
      </p:bgPr>
    </p:bg>
    <p:spTree>
      <p:nvGrpSpPr>
        <p:cNvPr id="1" name=""/>
        <p:cNvGrpSpPr/>
        <p:nvPr/>
      </p:nvGrpSpPr>
      <p:grpSpPr>
        <a:xfrm>
          <a:off x="0" y="0"/>
          <a:ext cx="0" cy="0"/>
          <a:chOff x="0" y="0"/>
          <a:chExt cx="0" cy="0"/>
        </a:xfrm>
      </p:grpSpPr>
      <p:sp>
        <p:nvSpPr>
          <p:cNvPr id="2" name="Title Text"/>
          <p:cNvSpPr txBox="1"/>
          <p:nvPr>
            <p:ph type="title"/>
          </p:nvPr>
        </p:nvSpPr>
        <p:spPr>
          <a:xfrm>
            <a:off x="608965" y="92074"/>
            <a:ext cx="1096137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Title Text</a:t>
            </a:r>
          </a:p>
        </p:txBody>
      </p:sp>
      <p:sp>
        <p:nvSpPr>
          <p:cNvPr id="3" name="Body Level One…"/>
          <p:cNvSpPr txBox="1"/>
          <p:nvPr>
            <p:ph type="body" idx="1"/>
          </p:nvPr>
        </p:nvSpPr>
        <p:spPr>
          <a:xfrm>
            <a:off x="608965" y="1600200"/>
            <a:ext cx="10961370" cy="5257800"/>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Rectangle 1"/>
          <p:cNvSpPr/>
          <p:nvPr/>
        </p:nvSpPr>
        <p:spPr>
          <a:xfrm>
            <a:off x="640080" y="640080"/>
            <a:ext cx="548641" cy="4572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95" name="TextBox 2"/>
          <p:cNvSpPr txBox="1"/>
          <p:nvPr/>
        </p:nvSpPr>
        <p:spPr>
          <a:xfrm>
            <a:off x="640080" y="822960"/>
            <a:ext cx="1097280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888888"/>
                </a:solidFill>
                <a:latin typeface="Inter Bold"/>
                <a:ea typeface="Inter Bold"/>
                <a:cs typeface="Inter Bold"/>
                <a:sym typeface="Inter Bold"/>
              </a:defRPr>
            </a:lvl1pPr>
          </a:lstStyle>
          <a:p>
            <a:pPr/>
            <a:r>
              <a:t>PRESENTATION</a:t>
            </a:r>
          </a:p>
        </p:txBody>
      </p:sp>
      <p:sp>
        <p:nvSpPr>
          <p:cNvPr id="96" name="TextBox 3"/>
          <p:cNvSpPr txBox="1"/>
          <p:nvPr/>
        </p:nvSpPr>
        <p:spPr>
          <a:xfrm>
            <a:off x="640080" y="2377439"/>
            <a:ext cx="10972801" cy="200469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6400">
                <a:solidFill>
                  <a:srgbClr val="F2F2F2"/>
                </a:solidFill>
                <a:latin typeface="Inter Bold"/>
                <a:ea typeface="Inter Bold"/>
                <a:cs typeface="Inter Bold"/>
                <a:sym typeface="Inter Bold"/>
              </a:defRPr>
            </a:pPr>
            <a:r>
              <a:t>Frontend arhitektura</a:t>
            </a:r>
          </a:p>
          <a:p>
            <a:pPr>
              <a:lnSpc>
                <a:spcPct val="104999"/>
              </a:lnSpc>
              <a:defRPr sz="6400">
                <a:solidFill>
                  <a:srgbClr val="F2F2F2"/>
                </a:solidFill>
                <a:latin typeface="Inter Bold"/>
                <a:ea typeface="Inter Bold"/>
                <a:cs typeface="Inter Bold"/>
                <a:sym typeface="Inter Bold"/>
              </a:defRPr>
            </a:pPr>
            <a:r>
              <a:t>kakvu </a:t>
            </a:r>
            <a:r>
              <a:rPr>
                <a:solidFill>
                  <a:srgbClr val="00D4FF"/>
                </a:solidFill>
              </a:rPr>
              <a:t>AI</a:t>
            </a:r>
            <a:r>
              <a:t> razumije</a:t>
            </a:r>
          </a:p>
        </p:txBody>
      </p:sp>
      <p:sp>
        <p:nvSpPr>
          <p:cNvPr id="97" name="Rectangle 4"/>
          <p:cNvSpPr/>
          <p:nvPr/>
        </p:nvSpPr>
        <p:spPr>
          <a:xfrm>
            <a:off x="640080" y="6035040"/>
            <a:ext cx="10972801" cy="18289"/>
          </a:xfrm>
          <a:prstGeom prst="rect">
            <a:avLst/>
          </a:prstGeom>
          <a:solidFill>
            <a:srgbClr val="333333"/>
          </a:solidFill>
          <a:ln w="12700">
            <a:miter lim="400000"/>
          </a:ln>
        </p:spPr>
        <p:txBody>
          <a:bodyPr lIns="45719" rIns="45719" anchor="ctr"/>
          <a:lstStyle/>
          <a:p>
            <a:pPr algn="ctr">
              <a:defRPr>
                <a:solidFill>
                  <a:srgbClr val="FFFFFF"/>
                </a:solidFill>
              </a:defRPr>
            </a:pPr>
          </a:p>
        </p:txBody>
      </p:sp>
      <p:sp>
        <p:nvSpPr>
          <p:cNvPr id="98" name="TextBox 5"/>
          <p:cNvSpPr txBox="1"/>
          <p:nvPr/>
        </p:nvSpPr>
        <p:spPr>
          <a:xfrm>
            <a:off x="640080" y="6126479"/>
            <a:ext cx="1097280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888888"/>
                </a:solidFill>
                <a:latin typeface="Inter Regular"/>
                <a:ea typeface="Inter Regular"/>
                <a:cs typeface="Inter Regular"/>
                <a:sym typeface="Inter Regular"/>
              </a:defRPr>
            </a:lvl1pPr>
          </a:lstStyle>
          <a:p>
            <a:pPr/>
            <a:r>
              <a:t>Dark Tech</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0" name="TextBox 1"/>
          <p:cNvSpPr txBox="1"/>
          <p:nvPr/>
        </p:nvSpPr>
        <p:spPr>
          <a:xfrm>
            <a:off x="914399" y="1828800"/>
            <a:ext cx="1036015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Koliko puta ste čuli ovu rečenicu?</a:t>
            </a:r>
          </a:p>
        </p:txBody>
      </p:sp>
      <p:sp>
        <p:nvSpPr>
          <p:cNvPr id="101" name="TextBox 2"/>
          <p:cNvSpPr txBox="1"/>
          <p:nvPr/>
        </p:nvSpPr>
        <p:spPr>
          <a:xfrm>
            <a:off x="1097279" y="2468879"/>
            <a:ext cx="9994394"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“Napisao sam detaljni plan implementacije za Claude-a. Prvih par koraka - sve divno i krasno. Nakon toga, </a:t>
            </a:r>
            <a:r>
              <a:rPr>
                <a:solidFill>
                  <a:srgbClr val="FF4757"/>
                </a:solidFill>
              </a:rPr>
              <a:t>počeo se gubiti.</a:t>
            </a:r>
            <a:r>
              <a:t>”</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05" name="top.png" descr="top.png"/>
          <p:cNvPicPr>
            <a:picLocks noChangeAspect="1"/>
          </p:cNvPicPr>
          <p:nvPr/>
        </p:nvPicPr>
        <p:blipFill>
          <a:blip r:embed="rId2">
            <a:extLst/>
          </a:blip>
          <a:stretch>
            <a:fillRect/>
          </a:stretch>
        </p:blipFill>
        <p:spPr>
          <a:xfrm>
            <a:off x="2866011" y="0"/>
            <a:ext cx="6447278" cy="68580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7" name="TextBox 1"/>
          <p:cNvSpPr txBox="1"/>
          <p:nvPr/>
        </p:nvSpPr>
        <p:spPr>
          <a:xfrm>
            <a:off x="914399" y="1828800"/>
            <a:ext cx="1036015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Ili ovu rečenicu:</a:t>
            </a:r>
          </a:p>
        </p:txBody>
      </p:sp>
      <p:sp>
        <p:nvSpPr>
          <p:cNvPr id="108" name="TextBox 2"/>
          <p:cNvSpPr txBox="1"/>
          <p:nvPr/>
        </p:nvSpPr>
        <p:spPr>
          <a:xfrm>
            <a:off x="1595832" y="2491739"/>
            <a:ext cx="8987637"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“Codex radi odlično na mojem mini projektu, ali je </a:t>
            </a:r>
            <a:r>
              <a:rPr>
                <a:solidFill>
                  <a:srgbClr val="FF4757"/>
                </a:solidFill>
              </a:rPr>
              <a:t>beskoristan</a:t>
            </a:r>
            <a:r>
              <a:t> u našem produkcijskom kodu.”</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13"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14" name="TextBox 3"/>
          <p:cNvSpPr txBox="1"/>
          <p:nvPr/>
        </p:nvSpPr>
        <p:spPr>
          <a:xfrm>
            <a:off x="640079" y="2103120"/>
            <a:ext cx="10908794" cy="7670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funkciju, napiši regex, složi boilerplate - mačji kašalj.</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19"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20" name="TextBox 3"/>
          <p:cNvSpPr txBox="1"/>
          <p:nvPr/>
        </p:nvSpPr>
        <p:spPr>
          <a:xfrm>
            <a:off x="640079" y="2103120"/>
            <a:ext cx="10908794" cy="14274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funkciju, napiši regex, složi boilerplate - mačji kašalj.</a:t>
            </a:r>
          </a:p>
          <a:p>
            <a:pPr>
              <a:lnSpc>
                <a:spcPct val="140000"/>
              </a:lnSpc>
              <a:spcBef>
                <a:spcPts val="1800"/>
              </a:spcBef>
              <a:defRPr sz="2200">
                <a:solidFill>
                  <a:srgbClr val="F2F2F2"/>
                </a:solidFill>
                <a:latin typeface="Inter Regular"/>
                <a:ea typeface="Inter Regular"/>
                <a:cs typeface="Inter Regular"/>
                <a:sym typeface="Inter Regular"/>
              </a:defRPr>
            </a:pPr>
            <a:r>
              <a:t>No, što je zadatak veći to AI-ju postaje </a:t>
            </a:r>
            <a:r>
              <a:rPr>
                <a:solidFill>
                  <a:srgbClr val="FF4757"/>
                </a:solidFill>
                <a:latin typeface="Inter Bold"/>
                <a:ea typeface="Inter Bold"/>
                <a:cs typeface="Inter Bold"/>
                <a:sym typeface="Inter Bold"/>
              </a:rPr>
              <a:t>sve teže</a:t>
            </a:r>
            <a:r>
              <a:t> pomoći:</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25"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26" name="TextBox 3"/>
          <p:cNvSpPr txBox="1"/>
          <p:nvPr/>
        </p:nvSpPr>
        <p:spPr>
          <a:xfrm>
            <a:off x="640079" y="2103120"/>
            <a:ext cx="10908794" cy="14274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funkciju, napiši regex, složi boilerplate - mačji kašalj.</a:t>
            </a:r>
          </a:p>
          <a:p>
            <a:pPr>
              <a:lnSpc>
                <a:spcPct val="140000"/>
              </a:lnSpc>
              <a:spcBef>
                <a:spcPts val="1800"/>
              </a:spcBef>
              <a:defRPr sz="2200">
                <a:solidFill>
                  <a:srgbClr val="F2F2F2"/>
                </a:solidFill>
                <a:latin typeface="Inter Regular"/>
                <a:ea typeface="Inter Regular"/>
                <a:cs typeface="Inter Regular"/>
                <a:sym typeface="Inter Regular"/>
              </a:defRPr>
            </a:pPr>
            <a:r>
              <a:t>No, što je zadatak veći to AI-ju postaje </a:t>
            </a:r>
            <a:r>
              <a:rPr>
                <a:solidFill>
                  <a:srgbClr val="FF4757"/>
                </a:solidFill>
                <a:latin typeface="Inter Bold"/>
                <a:ea typeface="Inter Bold"/>
                <a:cs typeface="Inter Bold"/>
                <a:sym typeface="Inter Bold"/>
              </a:rPr>
              <a:t>sve teže</a:t>
            </a:r>
            <a:r>
              <a:t> pomoći:</a:t>
            </a:r>
          </a:p>
        </p:txBody>
      </p:sp>
      <p:sp>
        <p:nvSpPr>
          <p:cNvPr id="127" name="Rounded Rectangle 4"/>
          <p:cNvSpPr/>
          <p:nvPr/>
        </p:nvSpPr>
        <p:spPr>
          <a:xfrm>
            <a:off x="640080" y="4937759"/>
            <a:ext cx="10972801" cy="100584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128" name="Rectangle 5"/>
          <p:cNvSpPr/>
          <p:nvPr/>
        </p:nvSpPr>
        <p:spPr>
          <a:xfrm>
            <a:off x="640080" y="4937759"/>
            <a:ext cx="54865" cy="1005840"/>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29" name="TextBox 6"/>
          <p:cNvSpPr txBox="1"/>
          <p:nvPr/>
        </p:nvSpPr>
        <p:spPr>
          <a:xfrm>
            <a:off x="868679" y="5315711"/>
            <a:ext cx="10607042"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t>Razlog za to je jednostavan: </a:t>
            </a:r>
            <a:r>
              <a:rPr>
                <a:solidFill>
                  <a:srgbClr val="00D4FF"/>
                </a:solidFill>
                <a:latin typeface="Inter Bold"/>
                <a:ea typeface="Inter Bold"/>
                <a:cs typeface="Inter Bold"/>
                <a:sym typeface="Inter Bold"/>
              </a:rPr>
              <a:t>kontekst.</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34"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35" name="TextBox 3"/>
          <p:cNvSpPr txBox="1"/>
          <p:nvPr/>
        </p:nvSpPr>
        <p:spPr>
          <a:xfrm>
            <a:off x="640079" y="2103120"/>
            <a:ext cx="9701615"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40"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41"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latin typeface="Inter Regular"/>
              <a:ea typeface="Inter Regular"/>
              <a:cs typeface="Inter Regular"/>
              <a:sym typeface="Inter Regular"/>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46"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47"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latin typeface="Inter Regular"/>
              <a:ea typeface="Inter Regular"/>
              <a:cs typeface="Inter Regular"/>
              <a:sym typeface="Inter Regular"/>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
        <p:nvSpPr>
          <p:cNvPr id="148" name="Rounded Rectangle 4"/>
          <p:cNvSpPr/>
          <p:nvPr/>
        </p:nvSpPr>
        <p:spPr>
          <a:xfrm>
            <a:off x="640080" y="5029200"/>
            <a:ext cx="10972801" cy="1188720"/>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149" name="Rectangle 5"/>
          <p:cNvSpPr/>
          <p:nvPr/>
        </p:nvSpPr>
        <p:spPr>
          <a:xfrm>
            <a:off x="640080" y="5029200"/>
            <a:ext cx="54865" cy="1188720"/>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50" name="TextBox 6"/>
          <p:cNvSpPr txBox="1"/>
          <p:nvPr/>
        </p:nvSpPr>
        <p:spPr>
          <a:xfrm>
            <a:off x="868679" y="5517641"/>
            <a:ext cx="10607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a:solidFill>
                  <a:srgbClr val="F2F2F2"/>
                </a:solidFill>
                <a:latin typeface="Inter Regular"/>
                <a:ea typeface="Inter Regular"/>
                <a:cs typeface="Inter Regular"/>
                <a:sym typeface="Inter Regular"/>
              </a:defRPr>
            </a:pPr>
            <a:r>
              <a:t>AI ne poznaje vaš projekt. On </a:t>
            </a:r>
            <a:r>
              <a:rPr>
                <a:solidFill>
                  <a:srgbClr val="00D4FF"/>
                </a:solidFill>
                <a:latin typeface="Inter Bold"/>
                <a:ea typeface="Inter Bold"/>
                <a:cs typeface="Inter Bold"/>
                <a:sym typeface="Inter Bold"/>
              </a:rPr>
              <a:t>čita samo ono što mu pružite</a:t>
            </a:r>
            <a:r>
              <a:t> - i to je sve čime raspolaže.</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55"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56" name="Rounded Rectangle 3"/>
          <p:cNvSpPr/>
          <p:nvPr/>
        </p:nvSpPr>
        <p:spPr>
          <a:xfrm>
            <a:off x="640080" y="2011679"/>
            <a:ext cx="10972801" cy="109728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157" name="Rectangle 4"/>
          <p:cNvSpPr/>
          <p:nvPr/>
        </p:nvSpPr>
        <p:spPr>
          <a:xfrm>
            <a:off x="640080" y="2011679"/>
            <a:ext cx="54865" cy="109728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58" name="TextBox 5"/>
          <p:cNvSpPr txBox="1"/>
          <p:nvPr/>
        </p:nvSpPr>
        <p:spPr>
          <a:xfrm>
            <a:off x="868679" y="2237231"/>
            <a:ext cx="10607042"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63"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64" name="Rounded Rectangle 3"/>
          <p:cNvSpPr/>
          <p:nvPr/>
        </p:nvSpPr>
        <p:spPr>
          <a:xfrm>
            <a:off x="640080" y="2011679"/>
            <a:ext cx="10972801" cy="109728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165" name="Rectangle 4"/>
          <p:cNvSpPr/>
          <p:nvPr/>
        </p:nvSpPr>
        <p:spPr>
          <a:xfrm>
            <a:off x="640080" y="2011679"/>
            <a:ext cx="54865" cy="109728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66" name="TextBox 5"/>
          <p:cNvSpPr txBox="1"/>
          <p:nvPr/>
        </p:nvSpPr>
        <p:spPr>
          <a:xfrm>
            <a:off x="868679" y="2237231"/>
            <a:ext cx="10607042"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67" name="TextBox 6"/>
          <p:cNvSpPr txBox="1"/>
          <p:nvPr/>
        </p:nvSpPr>
        <p:spPr>
          <a:xfrm>
            <a:off x="640079" y="3383279"/>
            <a:ext cx="10908794"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72"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73" name="Rounded Rectangle 3"/>
          <p:cNvSpPr/>
          <p:nvPr/>
        </p:nvSpPr>
        <p:spPr>
          <a:xfrm>
            <a:off x="640080" y="2011679"/>
            <a:ext cx="10972801" cy="109728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174" name="Rectangle 4"/>
          <p:cNvSpPr/>
          <p:nvPr/>
        </p:nvSpPr>
        <p:spPr>
          <a:xfrm>
            <a:off x="640080" y="2011679"/>
            <a:ext cx="54865" cy="109728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175" name="TextBox 5"/>
          <p:cNvSpPr txBox="1"/>
          <p:nvPr/>
        </p:nvSpPr>
        <p:spPr>
          <a:xfrm>
            <a:off x="868679" y="2237231"/>
            <a:ext cx="10607042"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76" name="TextBox 6"/>
          <p:cNvSpPr txBox="1"/>
          <p:nvPr/>
        </p:nvSpPr>
        <p:spPr>
          <a:xfrm>
            <a:off x="640079" y="3383279"/>
            <a:ext cx="10908794" cy="144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a:p>
            <a:pPr>
              <a:lnSpc>
                <a:spcPct val="150000"/>
              </a:lnSpc>
              <a:spcBef>
                <a:spcPts val="1800"/>
              </a:spcBef>
              <a:defRPr sz="2000">
                <a:solidFill>
                  <a:srgbClr val="F2F2F2"/>
                </a:solidFill>
                <a:latin typeface="Inter Regular"/>
                <a:ea typeface="Inter Regular"/>
                <a:cs typeface="Inter Regular"/>
                <a:sym typeface="Inter Regular"/>
              </a:defRPr>
            </a:pPr>
            <a:r>
              <a:t>Kvaliteta AI odgovora </a:t>
            </a:r>
            <a:r>
              <a:rPr>
                <a:solidFill>
                  <a:srgbClr val="00D4FF"/>
                </a:solidFill>
                <a:latin typeface="Inter Bold"/>
                <a:ea typeface="Inter Bold"/>
                <a:cs typeface="Inter Bold"/>
                <a:sym typeface="Inter Bold"/>
              </a:rPr>
              <a:t>ograničena je</a:t>
            </a:r>
            <a:r>
              <a:t> kvalitetom konteksta koji model prima.</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0" name="TextBox 2"/>
          <p:cNvSpPr txBox="1"/>
          <p:nvPr/>
        </p:nvSpPr>
        <p:spPr>
          <a:xfrm>
            <a:off x="1092453" y="3168650"/>
            <a:ext cx="9994394" cy="52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30000"/>
              </a:lnSpc>
              <a:defRPr sz="3400">
                <a:solidFill>
                  <a:srgbClr val="F2F2F2"/>
                </a:solidFill>
                <a:latin typeface="Inter Bold"/>
                <a:ea typeface="Inter Bold"/>
                <a:cs typeface="Inter Bold"/>
                <a:sym typeface="Inter Bold"/>
              </a:defRPr>
            </a:lvl1pPr>
          </a:lstStyle>
          <a:p>
            <a:pPr/>
            <a:r>
              <a:t>Kako točno AI “čita” naš kod? </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183"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grpSp>
        <p:nvGrpSpPr>
          <p:cNvPr id="186" name="Rounded Rectangle 4"/>
          <p:cNvGrpSpPr/>
          <p:nvPr/>
        </p:nvGrpSpPr>
        <p:grpSpPr>
          <a:xfrm>
            <a:off x="8616075" y="686815"/>
            <a:ext cx="987553" cy="292609"/>
            <a:chOff x="0" y="0"/>
            <a:chExt cx="987552" cy="292608"/>
          </a:xfrm>
        </p:grpSpPr>
        <p:sp>
          <p:nvSpPr>
            <p:cNvPr id="184" name="Rounded Rectangle"/>
            <p:cNvSpPr/>
            <p:nvPr/>
          </p:nvSpPr>
          <p:spPr>
            <a:xfrm>
              <a:off x="0" y="0"/>
              <a:ext cx="987553"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185" name="Cursor"/>
            <p:cNvSpPr txBox="1"/>
            <p:nvPr/>
          </p:nvSpPr>
          <p:spPr>
            <a:xfrm>
              <a:off x="93333" y="70104"/>
              <a:ext cx="800886"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189" name="Rounded Rectangle 5"/>
          <p:cNvGrpSpPr/>
          <p:nvPr/>
        </p:nvGrpSpPr>
        <p:grpSpPr>
          <a:xfrm>
            <a:off x="9676779" y="686815"/>
            <a:ext cx="1106425" cy="292609"/>
            <a:chOff x="0" y="0"/>
            <a:chExt cx="1106424" cy="292608"/>
          </a:xfrm>
        </p:grpSpPr>
        <p:sp>
          <p:nvSpPr>
            <p:cNvPr id="187" name="Rounded Rectangle"/>
            <p:cNvSpPr/>
            <p:nvPr/>
          </p:nvSpPr>
          <p:spPr>
            <a:xfrm>
              <a:off x="0" y="0"/>
              <a:ext cx="1106425"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188" name="Copilot"/>
            <p:cNvSpPr txBox="1"/>
            <p:nvPr/>
          </p:nvSpPr>
          <p:spPr>
            <a:xfrm>
              <a:off x="93333" y="70104"/>
              <a:ext cx="91975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192" name="Rounded Rectangle 6"/>
          <p:cNvGrpSpPr/>
          <p:nvPr/>
        </p:nvGrpSpPr>
        <p:grpSpPr>
          <a:xfrm>
            <a:off x="10856355" y="686815"/>
            <a:ext cx="749809" cy="292609"/>
            <a:chOff x="0" y="0"/>
            <a:chExt cx="749808" cy="292608"/>
          </a:xfrm>
        </p:grpSpPr>
        <p:sp>
          <p:nvSpPr>
            <p:cNvPr id="190" name="Rounded Rectangle"/>
            <p:cNvSpPr/>
            <p:nvPr/>
          </p:nvSpPr>
          <p:spPr>
            <a:xfrm>
              <a:off x="0" y="0"/>
              <a:ext cx="749809"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191" name="Cody"/>
            <p:cNvSpPr txBox="1"/>
            <p:nvPr/>
          </p:nvSpPr>
          <p:spPr>
            <a:xfrm>
              <a:off x="93333" y="70104"/>
              <a:ext cx="563142"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193" name="TextBox 7"/>
          <p:cNvSpPr txBox="1"/>
          <p:nvPr/>
        </p:nvSpPr>
        <p:spPr>
          <a:xfrm>
            <a:off x="631031" y="1691530"/>
            <a:ext cx="10908793"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194" name="Rounded Rectangle 8"/>
          <p:cNvSpPr/>
          <p:nvPr/>
        </p:nvSpPr>
        <p:spPr>
          <a:xfrm>
            <a:off x="631031"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195" name="TextBox 9"/>
          <p:cNvSpPr txBox="1"/>
          <p:nvPr/>
        </p:nvSpPr>
        <p:spPr>
          <a:xfrm>
            <a:off x="76819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196" name="TextBox 10"/>
          <p:cNvSpPr txBox="1"/>
          <p:nvPr/>
        </p:nvSpPr>
        <p:spPr>
          <a:xfrm>
            <a:off x="3785711" y="249544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197" name="Rounded Rectangle 11"/>
          <p:cNvSpPr/>
          <p:nvPr/>
        </p:nvSpPr>
        <p:spPr>
          <a:xfrm>
            <a:off x="4105751"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198" name="TextBox 12"/>
          <p:cNvSpPr txBox="1"/>
          <p:nvPr/>
        </p:nvSpPr>
        <p:spPr>
          <a:xfrm>
            <a:off x="424291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199" name="TextBox 13"/>
          <p:cNvSpPr txBox="1"/>
          <p:nvPr/>
        </p:nvSpPr>
        <p:spPr>
          <a:xfrm>
            <a:off x="7260431" y="249544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00" name="Rounded Rectangle 14"/>
          <p:cNvSpPr/>
          <p:nvPr/>
        </p:nvSpPr>
        <p:spPr>
          <a:xfrm>
            <a:off x="7580470"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01" name="TextBox 15"/>
          <p:cNvSpPr txBox="1"/>
          <p:nvPr/>
        </p:nvSpPr>
        <p:spPr>
          <a:xfrm>
            <a:off x="771763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06"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grpSp>
        <p:nvGrpSpPr>
          <p:cNvPr id="209" name="Rounded Rectangle 4"/>
          <p:cNvGrpSpPr/>
          <p:nvPr/>
        </p:nvGrpSpPr>
        <p:grpSpPr>
          <a:xfrm>
            <a:off x="8616075" y="686815"/>
            <a:ext cx="987553" cy="292609"/>
            <a:chOff x="0" y="0"/>
            <a:chExt cx="987552" cy="292608"/>
          </a:xfrm>
        </p:grpSpPr>
        <p:sp>
          <p:nvSpPr>
            <p:cNvPr id="207" name="Rounded Rectangle"/>
            <p:cNvSpPr/>
            <p:nvPr/>
          </p:nvSpPr>
          <p:spPr>
            <a:xfrm>
              <a:off x="0" y="0"/>
              <a:ext cx="987553"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08" name="Cursor"/>
            <p:cNvSpPr txBox="1"/>
            <p:nvPr/>
          </p:nvSpPr>
          <p:spPr>
            <a:xfrm>
              <a:off x="93333" y="70104"/>
              <a:ext cx="800886"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12" name="Rounded Rectangle 5"/>
          <p:cNvGrpSpPr/>
          <p:nvPr/>
        </p:nvGrpSpPr>
        <p:grpSpPr>
          <a:xfrm>
            <a:off x="9676779" y="686815"/>
            <a:ext cx="1106425" cy="292609"/>
            <a:chOff x="0" y="0"/>
            <a:chExt cx="1106424" cy="292608"/>
          </a:xfrm>
        </p:grpSpPr>
        <p:sp>
          <p:nvSpPr>
            <p:cNvPr id="210" name="Rounded Rectangle"/>
            <p:cNvSpPr/>
            <p:nvPr/>
          </p:nvSpPr>
          <p:spPr>
            <a:xfrm>
              <a:off x="0" y="0"/>
              <a:ext cx="1106425"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11" name="Copilot"/>
            <p:cNvSpPr txBox="1"/>
            <p:nvPr/>
          </p:nvSpPr>
          <p:spPr>
            <a:xfrm>
              <a:off x="93333" y="70104"/>
              <a:ext cx="91975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15" name="Rounded Rectangle 6"/>
          <p:cNvGrpSpPr/>
          <p:nvPr/>
        </p:nvGrpSpPr>
        <p:grpSpPr>
          <a:xfrm>
            <a:off x="10856355" y="686815"/>
            <a:ext cx="749809" cy="292609"/>
            <a:chOff x="0" y="0"/>
            <a:chExt cx="749808" cy="292608"/>
          </a:xfrm>
        </p:grpSpPr>
        <p:sp>
          <p:nvSpPr>
            <p:cNvPr id="213" name="Rounded Rectangle"/>
            <p:cNvSpPr/>
            <p:nvPr/>
          </p:nvSpPr>
          <p:spPr>
            <a:xfrm>
              <a:off x="0" y="0"/>
              <a:ext cx="749809"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14" name="Cody"/>
            <p:cNvSpPr txBox="1"/>
            <p:nvPr/>
          </p:nvSpPr>
          <p:spPr>
            <a:xfrm>
              <a:off x="93333" y="70104"/>
              <a:ext cx="563142"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16" name="TextBox 7"/>
          <p:cNvSpPr txBox="1"/>
          <p:nvPr/>
        </p:nvSpPr>
        <p:spPr>
          <a:xfrm>
            <a:off x="631031" y="1691530"/>
            <a:ext cx="10908793"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17" name="Rounded Rectangle 8"/>
          <p:cNvSpPr/>
          <p:nvPr/>
        </p:nvSpPr>
        <p:spPr>
          <a:xfrm>
            <a:off x="631031"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18" name="TextBox 9"/>
          <p:cNvSpPr txBox="1"/>
          <p:nvPr/>
        </p:nvSpPr>
        <p:spPr>
          <a:xfrm>
            <a:off x="76819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19" name="TextBox 10"/>
          <p:cNvSpPr txBox="1"/>
          <p:nvPr/>
        </p:nvSpPr>
        <p:spPr>
          <a:xfrm>
            <a:off x="3785711" y="249544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0" name="Rounded Rectangle 11"/>
          <p:cNvSpPr/>
          <p:nvPr/>
        </p:nvSpPr>
        <p:spPr>
          <a:xfrm>
            <a:off x="4105751"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21" name="TextBox 12"/>
          <p:cNvSpPr txBox="1"/>
          <p:nvPr/>
        </p:nvSpPr>
        <p:spPr>
          <a:xfrm>
            <a:off x="424291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22" name="TextBox 13"/>
          <p:cNvSpPr txBox="1"/>
          <p:nvPr/>
        </p:nvSpPr>
        <p:spPr>
          <a:xfrm>
            <a:off x="7260431" y="249544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3" name="Rounded Rectangle 14"/>
          <p:cNvSpPr/>
          <p:nvPr/>
        </p:nvSpPr>
        <p:spPr>
          <a:xfrm>
            <a:off x="7580470"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24" name="TextBox 15"/>
          <p:cNvSpPr txBox="1"/>
          <p:nvPr/>
        </p:nvSpPr>
        <p:spPr>
          <a:xfrm>
            <a:off x="771763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25" name="TextBox 16"/>
          <p:cNvSpPr txBox="1"/>
          <p:nvPr/>
        </p:nvSpPr>
        <p:spPr>
          <a:xfrm>
            <a:off x="631031" y="3337449"/>
            <a:ext cx="10908793"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26" name="Rounded Rectangle 17"/>
          <p:cNvSpPr/>
          <p:nvPr/>
        </p:nvSpPr>
        <p:spPr>
          <a:xfrm>
            <a:off x="631031" y="384037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27" name="TextBox 18"/>
          <p:cNvSpPr txBox="1"/>
          <p:nvPr/>
        </p:nvSpPr>
        <p:spPr>
          <a:xfrm>
            <a:off x="768191" y="418581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28" name="TextBox 19"/>
          <p:cNvSpPr txBox="1"/>
          <p:nvPr/>
        </p:nvSpPr>
        <p:spPr>
          <a:xfrm>
            <a:off x="3785711" y="414136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9" name="Rounded Rectangle 20"/>
          <p:cNvSpPr/>
          <p:nvPr/>
        </p:nvSpPr>
        <p:spPr>
          <a:xfrm>
            <a:off x="4105751" y="384037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30" name="TextBox 21"/>
          <p:cNvSpPr txBox="1"/>
          <p:nvPr/>
        </p:nvSpPr>
        <p:spPr>
          <a:xfrm>
            <a:off x="4242911" y="418581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31" name="TextBox 22"/>
          <p:cNvSpPr txBox="1"/>
          <p:nvPr/>
        </p:nvSpPr>
        <p:spPr>
          <a:xfrm>
            <a:off x="7260431" y="414136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32" name="Rounded Rectangle 23"/>
          <p:cNvSpPr/>
          <p:nvPr/>
        </p:nvSpPr>
        <p:spPr>
          <a:xfrm>
            <a:off x="7580470" y="384037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33" name="TextBox 24"/>
          <p:cNvSpPr txBox="1"/>
          <p:nvPr/>
        </p:nvSpPr>
        <p:spPr>
          <a:xfrm>
            <a:off x="7717631" y="418581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38"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grpSp>
        <p:nvGrpSpPr>
          <p:cNvPr id="241" name="Rounded Rectangle 4"/>
          <p:cNvGrpSpPr/>
          <p:nvPr/>
        </p:nvGrpSpPr>
        <p:grpSpPr>
          <a:xfrm>
            <a:off x="8616075" y="686815"/>
            <a:ext cx="987553" cy="292609"/>
            <a:chOff x="0" y="0"/>
            <a:chExt cx="987552" cy="292608"/>
          </a:xfrm>
        </p:grpSpPr>
        <p:sp>
          <p:nvSpPr>
            <p:cNvPr id="239" name="Rounded Rectangle"/>
            <p:cNvSpPr/>
            <p:nvPr/>
          </p:nvSpPr>
          <p:spPr>
            <a:xfrm>
              <a:off x="0" y="0"/>
              <a:ext cx="987553"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40" name="Cursor"/>
            <p:cNvSpPr txBox="1"/>
            <p:nvPr/>
          </p:nvSpPr>
          <p:spPr>
            <a:xfrm>
              <a:off x="93333" y="70104"/>
              <a:ext cx="800886"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44" name="Rounded Rectangle 5"/>
          <p:cNvGrpSpPr/>
          <p:nvPr/>
        </p:nvGrpSpPr>
        <p:grpSpPr>
          <a:xfrm>
            <a:off x="9676779" y="686815"/>
            <a:ext cx="1106425" cy="292609"/>
            <a:chOff x="0" y="0"/>
            <a:chExt cx="1106424" cy="292608"/>
          </a:xfrm>
        </p:grpSpPr>
        <p:sp>
          <p:nvSpPr>
            <p:cNvPr id="242" name="Rounded Rectangle"/>
            <p:cNvSpPr/>
            <p:nvPr/>
          </p:nvSpPr>
          <p:spPr>
            <a:xfrm>
              <a:off x="0" y="0"/>
              <a:ext cx="1106425"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43" name="Copilot"/>
            <p:cNvSpPr txBox="1"/>
            <p:nvPr/>
          </p:nvSpPr>
          <p:spPr>
            <a:xfrm>
              <a:off x="93333" y="70104"/>
              <a:ext cx="91975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47" name="Rounded Rectangle 6"/>
          <p:cNvGrpSpPr/>
          <p:nvPr/>
        </p:nvGrpSpPr>
        <p:grpSpPr>
          <a:xfrm>
            <a:off x="10856355" y="686815"/>
            <a:ext cx="749809" cy="292609"/>
            <a:chOff x="0" y="0"/>
            <a:chExt cx="749808" cy="292608"/>
          </a:xfrm>
        </p:grpSpPr>
        <p:sp>
          <p:nvSpPr>
            <p:cNvPr id="245" name="Rounded Rectangle"/>
            <p:cNvSpPr/>
            <p:nvPr/>
          </p:nvSpPr>
          <p:spPr>
            <a:xfrm>
              <a:off x="0" y="0"/>
              <a:ext cx="749809" cy="292609"/>
            </a:xfrm>
            <a:prstGeom prst="roundRect">
              <a:avLst>
                <a:gd name="adj" fmla="val 50000"/>
              </a:avLst>
            </a:prstGeom>
            <a:noFill/>
            <a:ln w="9525" cap="flat">
              <a:solidFill>
                <a:srgbClr val="00D4FF"/>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46" name="Cody"/>
            <p:cNvSpPr txBox="1"/>
            <p:nvPr/>
          </p:nvSpPr>
          <p:spPr>
            <a:xfrm>
              <a:off x="93333" y="70104"/>
              <a:ext cx="563142"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48" name="TextBox 7"/>
          <p:cNvSpPr txBox="1"/>
          <p:nvPr/>
        </p:nvSpPr>
        <p:spPr>
          <a:xfrm>
            <a:off x="631031" y="1692855"/>
            <a:ext cx="10908793"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49" name="Rounded Rectangle 8"/>
          <p:cNvSpPr/>
          <p:nvPr/>
        </p:nvSpPr>
        <p:spPr>
          <a:xfrm>
            <a:off x="631031"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50" name="TextBox 9"/>
          <p:cNvSpPr txBox="1"/>
          <p:nvPr/>
        </p:nvSpPr>
        <p:spPr>
          <a:xfrm>
            <a:off x="76819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51" name="TextBox 10"/>
          <p:cNvSpPr txBox="1"/>
          <p:nvPr/>
        </p:nvSpPr>
        <p:spPr>
          <a:xfrm>
            <a:off x="3785711" y="249544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2" name="Rounded Rectangle 11"/>
          <p:cNvSpPr/>
          <p:nvPr/>
        </p:nvSpPr>
        <p:spPr>
          <a:xfrm>
            <a:off x="4105751"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53" name="TextBox 12"/>
          <p:cNvSpPr txBox="1"/>
          <p:nvPr/>
        </p:nvSpPr>
        <p:spPr>
          <a:xfrm>
            <a:off x="424291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54" name="TextBox 13"/>
          <p:cNvSpPr txBox="1"/>
          <p:nvPr/>
        </p:nvSpPr>
        <p:spPr>
          <a:xfrm>
            <a:off x="7260431" y="249544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5" name="Rounded Rectangle 14"/>
          <p:cNvSpPr/>
          <p:nvPr/>
        </p:nvSpPr>
        <p:spPr>
          <a:xfrm>
            <a:off x="7580470" y="219445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56" name="TextBox 15"/>
          <p:cNvSpPr txBox="1"/>
          <p:nvPr/>
        </p:nvSpPr>
        <p:spPr>
          <a:xfrm>
            <a:off x="7717631" y="253989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57" name="TextBox 16"/>
          <p:cNvSpPr txBox="1"/>
          <p:nvPr/>
        </p:nvSpPr>
        <p:spPr>
          <a:xfrm>
            <a:off x="631031" y="3337449"/>
            <a:ext cx="10908793"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58" name="Rounded Rectangle 17"/>
          <p:cNvSpPr/>
          <p:nvPr/>
        </p:nvSpPr>
        <p:spPr>
          <a:xfrm>
            <a:off x="631031" y="384037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59" name="TextBox 18"/>
          <p:cNvSpPr txBox="1"/>
          <p:nvPr/>
        </p:nvSpPr>
        <p:spPr>
          <a:xfrm>
            <a:off x="768191" y="418581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60" name="TextBox 19"/>
          <p:cNvSpPr txBox="1"/>
          <p:nvPr/>
        </p:nvSpPr>
        <p:spPr>
          <a:xfrm>
            <a:off x="3785711" y="414136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61" name="Rounded Rectangle 20"/>
          <p:cNvSpPr/>
          <p:nvPr/>
        </p:nvSpPr>
        <p:spPr>
          <a:xfrm>
            <a:off x="4105751" y="384037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62" name="TextBox 21"/>
          <p:cNvSpPr txBox="1"/>
          <p:nvPr/>
        </p:nvSpPr>
        <p:spPr>
          <a:xfrm>
            <a:off x="4242911" y="418581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63" name="Rounded Rectangle 25"/>
          <p:cNvSpPr/>
          <p:nvPr/>
        </p:nvSpPr>
        <p:spPr>
          <a:xfrm>
            <a:off x="631031" y="5029090"/>
            <a:ext cx="10972801" cy="91440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264" name="Rectangle 26"/>
          <p:cNvSpPr/>
          <p:nvPr/>
        </p:nvSpPr>
        <p:spPr>
          <a:xfrm>
            <a:off x="631031" y="5029090"/>
            <a:ext cx="54865" cy="91440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265" name="TextBox 27"/>
          <p:cNvSpPr txBox="1"/>
          <p:nvPr/>
        </p:nvSpPr>
        <p:spPr>
          <a:xfrm>
            <a:off x="888583" y="5365640"/>
            <a:ext cx="1060704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Loša struktura -&gt; loši rezultati pretraživanja -&gt; loš output</a:t>
            </a:r>
          </a:p>
        </p:txBody>
      </p:sp>
      <p:sp>
        <p:nvSpPr>
          <p:cNvPr id="266" name="TextBox 22"/>
          <p:cNvSpPr txBox="1"/>
          <p:nvPr/>
        </p:nvSpPr>
        <p:spPr>
          <a:xfrm>
            <a:off x="7260431" y="4141360"/>
            <a:ext cx="3200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67" name="Rounded Rectangle 23"/>
          <p:cNvSpPr/>
          <p:nvPr/>
        </p:nvSpPr>
        <p:spPr>
          <a:xfrm>
            <a:off x="7580470" y="3840370"/>
            <a:ext cx="3154681" cy="868681"/>
          </a:xfrm>
          <a:prstGeom prst="roundRect">
            <a:avLst>
              <a:gd name="adj" fmla="val 12000"/>
            </a:avLst>
          </a:prstGeom>
          <a:solidFill>
            <a:srgbClr val="1A1A2E"/>
          </a:solidFill>
          <a:ln>
            <a:solidFill>
              <a:srgbClr val="00D4FF"/>
            </a:solidFill>
          </a:ln>
        </p:spPr>
        <p:txBody>
          <a:bodyPr lIns="45719" rIns="45719" anchor="ctr"/>
          <a:lstStyle/>
          <a:p>
            <a:pPr algn="ctr">
              <a:defRPr>
                <a:solidFill>
                  <a:srgbClr val="FFFFFF"/>
                </a:solidFill>
              </a:defRPr>
            </a:pPr>
          </a:p>
        </p:txBody>
      </p:sp>
      <p:sp>
        <p:nvSpPr>
          <p:cNvPr id="268" name="TextBox 24"/>
          <p:cNvSpPr txBox="1"/>
          <p:nvPr/>
        </p:nvSpPr>
        <p:spPr>
          <a:xfrm>
            <a:off x="7717631" y="4185810"/>
            <a:ext cx="288036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73"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grpSp>
        <p:nvGrpSpPr>
          <p:cNvPr id="276" name="Rounded Rectangle 4"/>
          <p:cNvGrpSpPr/>
          <p:nvPr/>
        </p:nvGrpSpPr>
        <p:grpSpPr>
          <a:xfrm>
            <a:off x="8610600" y="686815"/>
            <a:ext cx="1581912" cy="292609"/>
            <a:chOff x="0" y="0"/>
            <a:chExt cx="1581911" cy="292608"/>
          </a:xfrm>
        </p:grpSpPr>
        <p:sp>
          <p:nvSpPr>
            <p:cNvPr id="274" name="Rounded Rectangle"/>
            <p:cNvSpPr/>
            <p:nvPr/>
          </p:nvSpPr>
          <p:spPr>
            <a:xfrm>
              <a:off x="0" y="0"/>
              <a:ext cx="1581912" cy="292609"/>
            </a:xfrm>
            <a:prstGeom prst="roundRect">
              <a:avLst>
                <a:gd name="adj" fmla="val 50000"/>
              </a:avLst>
            </a:prstGeom>
            <a:noFill/>
            <a:ln w="9525" cap="flat">
              <a:solidFill>
                <a:srgbClr val="2ED573"/>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75" name="Claude Code"/>
            <p:cNvSpPr txBox="1"/>
            <p:nvPr/>
          </p:nvSpPr>
          <p:spPr>
            <a:xfrm>
              <a:off x="93333" y="70104"/>
              <a:ext cx="1395246"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277" name="TextBox 5"/>
          <p:cNvSpPr txBox="1"/>
          <p:nvPr/>
        </p:nvSpPr>
        <p:spPr>
          <a:xfrm>
            <a:off x="640079" y="1691639"/>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278" name="Rounded Rectangle 6"/>
          <p:cNvSpPr/>
          <p:nvPr/>
        </p:nvSpPr>
        <p:spPr>
          <a:xfrm>
            <a:off x="640080" y="2202179"/>
            <a:ext cx="10972801" cy="2468881"/>
          </a:xfrm>
          <a:prstGeom prst="roundRect">
            <a:avLst>
              <a:gd name="adj" fmla="val 4000"/>
            </a:avLst>
          </a:prstGeom>
          <a:solidFill>
            <a:srgbClr val="1A1A2E"/>
          </a:solidFill>
          <a:ln>
            <a:solidFill>
              <a:srgbClr val="333333"/>
            </a:solidFill>
          </a:ln>
        </p:spPr>
        <p:txBody>
          <a:bodyPr lIns="45719" rIns="45719" anchor="ctr"/>
          <a:lstStyle/>
          <a:p>
            <a:pPr algn="ctr">
              <a:defRPr>
                <a:solidFill>
                  <a:srgbClr val="FFFFFF"/>
                </a:solidFill>
              </a:defRPr>
            </a:pPr>
          </a:p>
        </p:txBody>
      </p:sp>
      <p:sp>
        <p:nvSpPr>
          <p:cNvPr id="279" name="TextBox 7"/>
          <p:cNvSpPr txBox="1"/>
          <p:nvPr/>
        </p:nvSpPr>
        <p:spPr>
          <a:xfrm>
            <a:off x="868680" y="2430779"/>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11729"/>
        </a:solidFill>
      </p:bgPr>
    </p:bg>
    <p:spTree>
      <p:nvGrpSpPr>
        <p:cNvPr id="1" name=""/>
        <p:cNvGrpSpPr/>
        <p:nvPr/>
      </p:nvGrpSpPr>
      <p:grpSpPr>
        <a:xfrm>
          <a:off x="0" y="0"/>
          <a:ext cx="0" cy="0"/>
          <a:chOff x="0" y="0"/>
          <a:chExt cx="0" cy="0"/>
        </a:xfrm>
      </p:grpSpPr>
      <p:sp>
        <p:nvSpPr>
          <p:cNvPr id="283"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84"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grpSp>
        <p:nvGrpSpPr>
          <p:cNvPr id="287" name="Rounded Rectangle 4"/>
          <p:cNvGrpSpPr/>
          <p:nvPr/>
        </p:nvGrpSpPr>
        <p:grpSpPr>
          <a:xfrm>
            <a:off x="8610600" y="686815"/>
            <a:ext cx="1581912" cy="292609"/>
            <a:chOff x="0" y="0"/>
            <a:chExt cx="1581911" cy="292608"/>
          </a:xfrm>
        </p:grpSpPr>
        <p:sp>
          <p:nvSpPr>
            <p:cNvPr id="285" name="Rounded Rectangle"/>
            <p:cNvSpPr/>
            <p:nvPr/>
          </p:nvSpPr>
          <p:spPr>
            <a:xfrm>
              <a:off x="0" y="0"/>
              <a:ext cx="1581912" cy="292609"/>
            </a:xfrm>
            <a:prstGeom prst="roundRect">
              <a:avLst>
                <a:gd name="adj" fmla="val 50000"/>
              </a:avLst>
            </a:prstGeom>
            <a:noFill/>
            <a:ln w="9525" cap="flat">
              <a:solidFill>
                <a:srgbClr val="2ED573"/>
              </a:solidFill>
              <a:prstDash val="solid"/>
              <a:round/>
            </a:ln>
            <a:effectLst/>
          </p:spPr>
          <p:txBody>
            <a:bodyPr wrap="square" lIns="45719" tIns="45719" rIns="45719" bIns="45719" numCol="1" anchor="ctr">
              <a:noAutofit/>
            </a:bodyPr>
            <a:lstStyle/>
            <a:p>
              <a:pPr algn="ctr">
                <a:defRPr>
                  <a:solidFill>
                    <a:srgbClr val="FFFFFF"/>
                  </a:solidFill>
                </a:defRPr>
              </a:pPr>
            </a:p>
          </p:txBody>
        </p:sp>
        <p:sp>
          <p:nvSpPr>
            <p:cNvPr id="286" name="Claude Code"/>
            <p:cNvSpPr txBox="1"/>
            <p:nvPr/>
          </p:nvSpPr>
          <p:spPr>
            <a:xfrm>
              <a:off x="93333" y="70104"/>
              <a:ext cx="1395246"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288" name="TextBox 5"/>
          <p:cNvSpPr txBox="1"/>
          <p:nvPr/>
        </p:nvSpPr>
        <p:spPr>
          <a:xfrm>
            <a:off x="640079" y="1691639"/>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289" name="Rounded Rectangle 6"/>
          <p:cNvSpPr/>
          <p:nvPr/>
        </p:nvSpPr>
        <p:spPr>
          <a:xfrm>
            <a:off x="640080" y="2202179"/>
            <a:ext cx="10972801" cy="2468881"/>
          </a:xfrm>
          <a:prstGeom prst="roundRect">
            <a:avLst>
              <a:gd name="adj" fmla="val 4000"/>
            </a:avLst>
          </a:prstGeom>
          <a:solidFill>
            <a:srgbClr val="1A1A2E"/>
          </a:solidFill>
          <a:ln>
            <a:solidFill>
              <a:srgbClr val="333333"/>
            </a:solidFill>
          </a:ln>
        </p:spPr>
        <p:txBody>
          <a:bodyPr lIns="45719" rIns="45719" anchor="ctr"/>
          <a:lstStyle/>
          <a:p>
            <a:pPr algn="ctr">
              <a:defRPr>
                <a:solidFill>
                  <a:srgbClr val="FFFFFF"/>
                </a:solidFill>
              </a:defRPr>
            </a:pPr>
          </a:p>
        </p:txBody>
      </p:sp>
      <p:sp>
        <p:nvSpPr>
          <p:cNvPr id="290" name="TextBox 7"/>
          <p:cNvSpPr txBox="1"/>
          <p:nvPr/>
        </p:nvSpPr>
        <p:spPr>
          <a:xfrm>
            <a:off x="868680" y="2430779"/>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
        <p:nvSpPr>
          <p:cNvPr id="291" name="Rounded Rectangle 9"/>
          <p:cNvSpPr/>
          <p:nvPr/>
        </p:nvSpPr>
        <p:spPr>
          <a:xfrm>
            <a:off x="640080" y="5031740"/>
            <a:ext cx="10972801" cy="919481"/>
          </a:xfrm>
          <a:prstGeom prst="roundRect">
            <a:avLst>
              <a:gd name="adj" fmla="val 5669"/>
            </a:avLst>
          </a:prstGeom>
          <a:solidFill>
            <a:srgbClr val="0E3A47"/>
          </a:solidFill>
          <a:ln w="12700">
            <a:miter lim="400000"/>
          </a:ln>
        </p:spPr>
        <p:txBody>
          <a:bodyPr lIns="45719" rIns="45719" anchor="ctr"/>
          <a:lstStyle/>
          <a:p>
            <a:pPr algn="ctr">
              <a:defRPr>
                <a:solidFill>
                  <a:srgbClr val="FFFFFF"/>
                </a:solidFill>
              </a:defRPr>
            </a:pPr>
          </a:p>
        </p:txBody>
      </p:sp>
      <p:sp>
        <p:nvSpPr>
          <p:cNvPr id="292" name="Rectangle 10"/>
          <p:cNvSpPr/>
          <p:nvPr/>
        </p:nvSpPr>
        <p:spPr>
          <a:xfrm>
            <a:off x="640080" y="5031740"/>
            <a:ext cx="54865" cy="91948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293" name="TextBox 11"/>
          <p:cNvSpPr txBox="1"/>
          <p:nvPr/>
        </p:nvSpPr>
        <p:spPr>
          <a:xfrm>
            <a:off x="890012" y="5373623"/>
            <a:ext cx="1060704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Niska kohezija -&gt; brže punjenje konteksta -&gt; veća potrošnja tokena</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Što je zajedničko?</a:t>
            </a:r>
          </a:p>
        </p:txBody>
      </p:sp>
      <p:sp>
        <p:nvSpPr>
          <p:cNvPr id="298"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299" name="TextBox 5"/>
          <p:cNvSpPr txBox="1"/>
          <p:nvPr/>
        </p:nvSpPr>
        <p:spPr>
          <a:xfrm>
            <a:off x="635000" y="1689100"/>
            <a:ext cx="7773728" cy="1296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500">
                <a:solidFill>
                  <a:srgbClr val="F2F2F2"/>
                </a:solidFill>
                <a:latin typeface="Inter Regular"/>
                <a:ea typeface="Inter Regular"/>
                <a:cs typeface="Inter Regular"/>
                <a:sym typeface="Inter Regular"/>
              </a:defRPr>
            </a:pPr>
            <a:r>
              <a:t>•  AI mora </a:t>
            </a:r>
            <a:r>
              <a:rPr>
                <a:solidFill>
                  <a:srgbClr val="00D4FF"/>
                </a:solidFill>
                <a:latin typeface="Inter Bold"/>
                <a:ea typeface="Inter Bold"/>
                <a:cs typeface="Inter Bold"/>
                <a:sym typeface="Inter Bold"/>
              </a:rPr>
              <a:t>odabrati</a:t>
            </a:r>
            <a:r>
              <a:t> što će uključiti u kontekst</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Imenovanje je bitno </a:t>
            </a:r>
            <a:r>
              <a:t>- bolji embeddingsi, pattern matching</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Jasne granice </a:t>
            </a:r>
            <a:r>
              <a:t>= manje šuma, manje uzalud potrošenih tokena, bolji output</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Što je zajedničko?</a:t>
            </a:r>
          </a:p>
        </p:txBody>
      </p:sp>
      <p:sp>
        <p:nvSpPr>
          <p:cNvPr id="302"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03" name="TextBox 5"/>
          <p:cNvSpPr txBox="1"/>
          <p:nvPr/>
        </p:nvSpPr>
        <p:spPr>
          <a:xfrm>
            <a:off x="635000" y="1689100"/>
            <a:ext cx="7773728" cy="1296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500">
                <a:solidFill>
                  <a:srgbClr val="F2F2F2"/>
                </a:solidFill>
                <a:latin typeface="Inter Regular"/>
                <a:ea typeface="Inter Regular"/>
                <a:cs typeface="Inter Regular"/>
                <a:sym typeface="Inter Regular"/>
              </a:defRPr>
            </a:pPr>
            <a:r>
              <a:t>•  AI mora </a:t>
            </a:r>
            <a:r>
              <a:rPr>
                <a:solidFill>
                  <a:srgbClr val="00D4FF"/>
                </a:solidFill>
                <a:latin typeface="Inter Bold"/>
                <a:ea typeface="Inter Bold"/>
                <a:cs typeface="Inter Bold"/>
                <a:sym typeface="Inter Bold"/>
              </a:rPr>
              <a:t>odabrati</a:t>
            </a:r>
            <a:r>
              <a:t> što će uključiti u kontekst</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Imenovanje je bitno </a:t>
            </a:r>
            <a:r>
              <a:t>- bolji embeddingsi, pattern matching</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Jasne granice </a:t>
            </a:r>
            <a:r>
              <a:t>= manje šuma, manje uzalud potrošenih tokena, bolji output</a:t>
            </a:r>
          </a:p>
        </p:txBody>
      </p:sp>
      <p:sp>
        <p:nvSpPr>
          <p:cNvPr id="304" name="Rounded Rectangle 6"/>
          <p:cNvSpPr/>
          <p:nvPr/>
        </p:nvSpPr>
        <p:spPr>
          <a:xfrm>
            <a:off x="635000" y="4687189"/>
            <a:ext cx="5486400" cy="77724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305" name="Rectangle 7"/>
          <p:cNvSpPr/>
          <p:nvPr/>
        </p:nvSpPr>
        <p:spPr>
          <a:xfrm>
            <a:off x="635000" y="4687189"/>
            <a:ext cx="54864" cy="77724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06" name="TextBox 8"/>
          <p:cNvSpPr txBox="1"/>
          <p:nvPr/>
        </p:nvSpPr>
        <p:spPr>
          <a:xfrm>
            <a:off x="863600" y="4969890"/>
            <a:ext cx="51206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a:solidFill>
                  <a:srgbClr val="F2F2F2"/>
                </a:solidFill>
                <a:latin typeface="Inter Regular"/>
                <a:ea typeface="Inter Regular"/>
                <a:cs typeface="Inter Regular"/>
                <a:sym typeface="Inter Regular"/>
              </a:defRPr>
            </a:pPr>
            <a:r>
              <a:rPr>
                <a:solidFill>
                  <a:srgbClr val="00D4FF"/>
                </a:solidFill>
                <a:latin typeface="Inter Bold"/>
                <a:ea typeface="Inter Bold"/>
                <a:cs typeface="Inter Bold"/>
                <a:sym typeface="Inter Bold"/>
              </a:rPr>
              <a:t>Arhitektura</a:t>
            </a:r>
            <a:r>
              <a:t> = kontekst.</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bg>
      <p:bgPr>
        <a:solidFill>
          <a:srgbClr val="0A0A0A"/>
        </a:solidFill>
      </p:bgPr>
    </p:bg>
    <p:spTree>
      <p:nvGrpSpPr>
        <p:cNvPr id="1" name=""/>
        <p:cNvGrpSpPr/>
        <p:nvPr/>
      </p:nvGrpSpPr>
      <p:grpSpPr>
        <a:xfrm>
          <a:off x="0" y="0"/>
          <a:ext cx="0" cy="0"/>
          <a:chOff x="0" y="0"/>
          <a:chExt cx="0" cy="0"/>
        </a:xfrm>
      </p:grpSpPr>
      <p:sp>
        <p:nvSpPr>
          <p:cNvPr id="30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What Goes Wrong</a:t>
            </a:r>
          </a:p>
        </p:txBody>
      </p:sp>
      <p:sp>
        <p:nvSpPr>
          <p:cNvPr id="309"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Task: “Add a delete button to the user profile card”</a:t>
            </a:r>
          </a:p>
        </p:txBody>
      </p:sp>
      <p:sp>
        <p:nvSpPr>
          <p:cNvPr id="310" name="Rectangle 3"/>
          <p:cNvSpPr/>
          <p:nvPr/>
        </p:nvSpPr>
        <p:spPr>
          <a:xfrm>
            <a:off x="640080" y="1691638"/>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11" name="TextBox 4"/>
          <p:cNvSpPr txBox="1"/>
          <p:nvPr/>
        </p:nvSpPr>
        <p:spPr>
          <a:xfrm>
            <a:off x="640079" y="2011679"/>
            <a:ext cx="10908794"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Inter Regular"/>
                <a:ea typeface="Inter Regular"/>
                <a:cs typeface="Inter Regular"/>
                <a:sym typeface="Inter Regular"/>
              </a:defRPr>
            </a:lvl1pPr>
          </a:lstStyle>
          <a:p>
            <a:pPr/>
            <a:r>
              <a:t>The AI reads the file tree and sees:</a:t>
            </a:r>
          </a:p>
        </p:txBody>
      </p:sp>
      <p:sp>
        <p:nvSpPr>
          <p:cNvPr id="312" name="Rounded Rectangle 5"/>
          <p:cNvSpPr/>
          <p:nvPr/>
        </p:nvSpPr>
        <p:spPr>
          <a:xfrm>
            <a:off x="640080" y="2468879"/>
            <a:ext cx="6583681" cy="4023361"/>
          </a:xfrm>
          <a:prstGeom prst="roundRect">
            <a:avLst>
              <a:gd name="adj" fmla="val 4000"/>
            </a:avLst>
          </a:prstGeom>
          <a:solidFill>
            <a:srgbClr val="1A1A2E"/>
          </a:solidFill>
          <a:ln>
            <a:solidFill>
              <a:srgbClr val="333333"/>
            </a:solidFill>
          </a:ln>
        </p:spPr>
        <p:txBody>
          <a:bodyPr lIns="45719" rIns="45719" anchor="ctr"/>
          <a:lstStyle/>
          <a:p>
            <a:pPr algn="ctr">
              <a:defRPr>
                <a:solidFill>
                  <a:srgbClr val="FFFFFF"/>
                </a:solidFill>
              </a:defRPr>
            </a:pPr>
          </a:p>
        </p:txBody>
      </p:sp>
      <p:sp>
        <p:nvSpPr>
          <p:cNvPr id="313" name="TextBox 6"/>
          <p:cNvSpPr txBox="1"/>
          <p:nvPr/>
        </p:nvSpPr>
        <p:spPr>
          <a:xfrm>
            <a:off x="868680" y="2697479"/>
            <a:ext cx="6126480" cy="351663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components/</a:t>
            </a:r>
          </a:p>
          <a:p>
            <a:pPr>
              <a:lnSpc>
                <a:spcPct val="145000"/>
              </a:lnSpc>
              <a:defRPr sz="1000">
                <a:solidFill>
                  <a:srgbClr val="FF4757"/>
                </a:solidFill>
                <a:latin typeface="JetBrains Mono Regular"/>
                <a:ea typeface="JetBrains Mono Regular"/>
                <a:cs typeface="JetBrains Mono Regular"/>
                <a:sym typeface="JetBrains Mono Regular"/>
              </a:defRPr>
            </a:pPr>
            <a:r>
              <a:t>    Card.tsx</a:t>
            </a:r>
            <a:r>
              <a:rPr>
                <a:solidFill>
                  <a:srgbClr val="888888"/>
                </a:solidFill>
              </a:rPr>
              <a:t>            ← which card? user? product? post?</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CardSmall.tsx</a:t>
            </a:r>
            <a:r>
              <a:rPr>
                <a:solidFill>
                  <a:srgbClr val="888888"/>
                </a:solidFill>
              </a:rPr>
              <a:t>       ← is this the same card?</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CardList.tsx</a:t>
            </a:r>
            <a:r>
              <a:rPr>
                <a:solidFill>
                  <a:srgbClr val="888888"/>
                </a:solidFill>
              </a:rPr>
              <a:t>        ← or maybe this one?</a:t>
            </a:r>
            <a:endParaRPr>
              <a:solidFill>
                <a:srgbClr val="888888"/>
              </a:solidFill>
            </a:endParaRPr>
          </a:p>
          <a:p>
            <a:pPr>
              <a:lnSpc>
                <a:spcPct val="145000"/>
              </a:lnSpc>
              <a:defRPr sz="1000">
                <a:solidFill>
                  <a:srgbClr val="888888"/>
                </a:solidFill>
                <a:latin typeface="JetBrains Mono Regular"/>
                <a:ea typeface="JetBrains Mono Regular"/>
                <a:cs typeface="JetBrains Mono Regular"/>
                <a:sym typeface="JetBrains Mono Regular"/>
              </a:defRPr>
            </a:pPr>
            <a:r>
              <a:t>    Button.tsx</a:t>
            </a:r>
          </a:p>
          <a:p>
            <a:pPr>
              <a:lnSpc>
                <a:spcPct val="145000"/>
              </a:lnSpc>
              <a:defRPr sz="1000">
                <a:solidFill>
                  <a:srgbClr val="888888"/>
                </a:solidFill>
                <a:latin typeface="JetBrains Mono Regular"/>
                <a:ea typeface="JetBrains Mono Regular"/>
                <a:cs typeface="JetBrains Mono Regular"/>
                <a:sym typeface="JetBrains Mono Regular"/>
              </a:defRPr>
            </a:pPr>
            <a:r>
              <a:t>    Modal.tsx</a:t>
            </a:r>
          </a:p>
          <a:p>
            <a:pPr>
              <a:lnSpc>
                <a:spcPct val="145000"/>
              </a:lnSpc>
              <a:defRPr sz="1000">
                <a:solidFill>
                  <a:srgbClr val="888888"/>
                </a:solidFill>
                <a:latin typeface="JetBrains Mono Regular"/>
                <a:ea typeface="JetBrains Mono Regular"/>
                <a:cs typeface="JetBrains Mono Regular"/>
                <a:sym typeface="JetBrains Mono Regular"/>
              </a:defRPr>
            </a:pPr>
            <a:r>
              <a:t>    Header.tsx</a:t>
            </a:r>
          </a:p>
          <a:p>
            <a:pPr>
              <a:lnSpc>
                <a:spcPct val="145000"/>
              </a:lnSpc>
              <a:defRPr sz="1000">
                <a:solidFill>
                  <a:srgbClr val="888888"/>
                </a:solidFill>
                <a:latin typeface="JetBrains Mono Regular"/>
                <a:ea typeface="JetBrains Mono Regular"/>
                <a:cs typeface="JetBrains Mono Regular"/>
                <a:sym typeface="JetBrains Mono Regular"/>
              </a:defRPr>
            </a:pPr>
            <a:r>
              <a:t>    ... 194 more files</a:t>
            </a:r>
          </a:p>
          <a:p>
            <a:pPr>
              <a:lnSpc>
                <a:spcPct val="145000"/>
              </a:lnSpc>
              <a:defRPr sz="1000">
                <a:solidFill>
                  <a:srgbClr val="F2F2F2"/>
                </a:solidFill>
                <a:latin typeface="JetBrains Mono Regular"/>
                <a:ea typeface="JetBrains Mono Regular"/>
                <a:cs typeface="JetBrains Mono Regular"/>
                <a:sym typeface="JetBrains Mono Regular"/>
              </a:defRPr>
            </a:pPr>
            <a:r>
              <a:t>  utils/</a:t>
            </a:r>
          </a:p>
          <a:p>
            <a:pPr>
              <a:lnSpc>
                <a:spcPct val="145000"/>
              </a:lnSpc>
              <a:defRPr sz="1000">
                <a:solidFill>
                  <a:srgbClr val="FF4757"/>
                </a:solidFill>
                <a:latin typeface="JetBrains Mono Regular"/>
                <a:ea typeface="JetBrains Mono Regular"/>
                <a:cs typeface="JetBrains Mono Regular"/>
                <a:sym typeface="JetBrains Mono Regular"/>
              </a:defRPr>
            </a:pPr>
            <a:r>
              <a:t>    helpers.ts</a:t>
            </a:r>
            <a:r>
              <a:rPr>
                <a:solidFill>
                  <a:srgbClr val="888888"/>
                </a:solidFill>
              </a:rPr>
              <a:t>          ← 800 lines, 40 exports, no grouping</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hooks/</a:t>
            </a:r>
          </a:p>
          <a:p>
            <a:pPr>
              <a:lnSpc>
                <a:spcPct val="145000"/>
              </a:lnSpc>
              <a:defRPr sz="1000">
                <a:solidFill>
                  <a:srgbClr val="FF4757"/>
                </a:solidFill>
                <a:latin typeface="JetBrains Mono Regular"/>
                <a:ea typeface="JetBrains Mono Regular"/>
                <a:cs typeface="JetBrains Mono Regular"/>
                <a:sym typeface="JetBrains Mono Regular"/>
              </a:defRPr>
            </a:pPr>
            <a:r>
              <a:t>    useData.ts</a:t>
            </a:r>
            <a:r>
              <a:rPr>
                <a:solidFill>
                  <a:srgbClr val="888888"/>
                </a:solidFill>
              </a:rPr>
              <a:t>          ← fetches users? products? both?</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services/</a:t>
            </a:r>
          </a:p>
          <a:p>
            <a:pPr>
              <a:lnSpc>
                <a:spcPct val="145000"/>
              </a:lnSpc>
              <a:defRPr sz="1000">
                <a:solidFill>
                  <a:srgbClr val="FF4757"/>
                </a:solidFill>
                <a:latin typeface="JetBrains Mono Regular"/>
                <a:ea typeface="JetBrains Mono Regular"/>
                <a:cs typeface="JetBrains Mono Regular"/>
                <a:sym typeface="JetBrains Mono Regular"/>
              </a:defRPr>
            </a:pPr>
            <a:r>
              <a:t>    api.ts</a:t>
            </a:r>
            <a:r>
              <a:rPr>
                <a:solidFill>
                  <a:srgbClr val="888888"/>
                </a:solidFill>
              </a:rPr>
              <a:t>              ← 3000 lines, every endpoint in one file</a:t>
            </a:r>
          </a:p>
        </p:txBody>
      </p:sp>
      <p:sp>
        <p:nvSpPr>
          <p:cNvPr id="314" name="TextBox 7"/>
          <p:cNvSpPr txBox="1"/>
          <p:nvPr/>
        </p:nvSpPr>
        <p:spPr>
          <a:xfrm>
            <a:off x="7406640" y="2468879"/>
            <a:ext cx="4114801" cy="20523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Problem 1: </a:t>
            </a:r>
            <a:r>
              <a:rPr>
                <a:solidFill>
                  <a:srgbClr val="F2F2F2"/>
                </a:solidFill>
                <a:latin typeface="Inter Regular"/>
                <a:ea typeface="Inter Regular"/>
                <a:cs typeface="Inter Regular"/>
                <a:sym typeface="Inter Regular"/>
              </a:rPr>
              <a:t>No semantic grouping. AI has to open multiple files just to find the right </a:t>
            </a:r>
            <a:r>
              <a:rPr>
                <a:solidFill>
                  <a:srgbClr val="F2F2F2"/>
                </a:solidFill>
                <a:latin typeface="JetBrains Mono Regular"/>
                <a:ea typeface="JetBrains Mono Regular"/>
                <a:cs typeface="JetBrains Mono Regular"/>
                <a:sym typeface="JetBrains Mono Regular"/>
              </a:rPr>
              <a:t>Card</a:t>
            </a:r>
            <a:r>
              <a:rPr>
                <a:solidFill>
                  <a:srgbClr val="F2F2F2"/>
                </a:solidFill>
                <a:latin typeface="Inter Regular"/>
                <a:ea typeface="Inter Regular"/>
                <a:cs typeface="Inter Regular"/>
                <a:sym typeface="Inter Regular"/>
              </a:rPr>
              <a:t>.</a:t>
            </a:r>
            <a:endParaRPr>
              <a:solidFill>
                <a:srgbClr val="F2F2F2"/>
              </a:solidFill>
              <a:latin typeface="Inter Regular"/>
              <a:ea typeface="Inter Regular"/>
              <a:cs typeface="Inter Regular"/>
              <a:sym typeface="Inter Regular"/>
            </a:endParaRPr>
          </a:p>
          <a:p>
            <a:pPr>
              <a:lnSpc>
                <a:spcPct val="140000"/>
              </a:lnSpc>
              <a:spcBef>
                <a:spcPts val="1400"/>
              </a:spcBef>
              <a:defRPr sz="1300">
                <a:solidFill>
                  <a:srgbClr val="FF4757"/>
                </a:solidFill>
                <a:latin typeface="Inter Bold"/>
                <a:ea typeface="Inter Bold"/>
                <a:cs typeface="Inter Bold"/>
                <a:sym typeface="Inter Bold"/>
              </a:defRPr>
            </a:pPr>
            <a:r>
              <a:t>Problem 2: </a:t>
            </a:r>
            <a:r>
              <a:rPr>
                <a:solidFill>
                  <a:srgbClr val="F2F2F2"/>
                </a:solidFill>
                <a:latin typeface="Inter Regular"/>
                <a:ea typeface="Inter Regular"/>
                <a:cs typeface="Inter Regular"/>
                <a:sym typeface="Inter Regular"/>
              </a:rPr>
              <a:t>Generic names like </a:t>
            </a:r>
            <a:r>
              <a:rPr>
                <a:solidFill>
                  <a:srgbClr val="F2F2F2"/>
                </a:solidFill>
                <a:latin typeface="JetBrains Mono Regular"/>
                <a:ea typeface="JetBrains Mono Regular"/>
                <a:cs typeface="JetBrains Mono Regular"/>
                <a:sym typeface="JetBrains Mono Regular"/>
              </a:rPr>
              <a:t>helpers.ts</a:t>
            </a:r>
            <a:r>
              <a:rPr>
                <a:solidFill>
                  <a:srgbClr val="F2F2F2"/>
                </a:solidFill>
                <a:latin typeface="Inter Regular"/>
                <a:ea typeface="Inter Regular"/>
                <a:cs typeface="Inter Regular"/>
                <a:sym typeface="Inter Regular"/>
              </a:rPr>
              <a:t> and </a:t>
            </a:r>
            <a:r>
              <a:rPr>
                <a:solidFill>
                  <a:srgbClr val="F2F2F2"/>
                </a:solidFill>
                <a:latin typeface="JetBrains Mono Regular"/>
                <a:ea typeface="JetBrains Mono Regular"/>
                <a:cs typeface="JetBrains Mono Regular"/>
                <a:sym typeface="JetBrains Mono Regular"/>
              </a:rPr>
              <a:t>useData.ts</a:t>
            </a:r>
            <a:r>
              <a:rPr>
                <a:solidFill>
                  <a:srgbClr val="F2F2F2"/>
                </a:solidFill>
                <a:latin typeface="Inter Regular"/>
                <a:ea typeface="Inter Regular"/>
                <a:cs typeface="Inter Regular"/>
                <a:sym typeface="Inter Regular"/>
              </a:rPr>
              <a:t> give zero signal to search.</a:t>
            </a:r>
            <a:endParaRPr>
              <a:solidFill>
                <a:srgbClr val="F2F2F2"/>
              </a:solidFill>
              <a:latin typeface="Inter Regular"/>
              <a:ea typeface="Inter Regular"/>
              <a:cs typeface="Inter Regular"/>
              <a:sym typeface="Inter Regular"/>
            </a:endParaRPr>
          </a:p>
          <a:p>
            <a:pPr>
              <a:lnSpc>
                <a:spcPct val="140000"/>
              </a:lnSpc>
              <a:spcBef>
                <a:spcPts val="1400"/>
              </a:spcBef>
              <a:defRPr sz="1300">
                <a:solidFill>
                  <a:srgbClr val="FF4757"/>
                </a:solidFill>
                <a:latin typeface="Inter Bold"/>
                <a:ea typeface="Inter Bold"/>
                <a:cs typeface="Inter Bold"/>
                <a:sym typeface="Inter Bold"/>
              </a:defRPr>
            </a:pPr>
            <a:r>
              <a:t>Problem 3: </a:t>
            </a:r>
            <a:r>
              <a:rPr>
                <a:solidFill>
                  <a:srgbClr val="F2F2F2"/>
                </a:solidFill>
                <a:latin typeface="Inter Regular"/>
                <a:ea typeface="Inter Regular"/>
                <a:cs typeface="Inter Regular"/>
                <a:sym typeface="Inter Regular"/>
              </a:rPr>
              <a:t>Monolith files (</a:t>
            </a:r>
            <a:r>
              <a:rPr>
                <a:solidFill>
                  <a:srgbClr val="F2F2F2"/>
                </a:solidFill>
                <a:latin typeface="JetBrains Mono Regular"/>
                <a:ea typeface="JetBrains Mono Regular"/>
                <a:cs typeface="JetBrains Mono Regular"/>
                <a:sym typeface="JetBrains Mono Regular"/>
              </a:rPr>
              <a:t>api.ts</a:t>
            </a:r>
            <a:r>
              <a:rPr>
                <a:solidFill>
                  <a:srgbClr val="F2F2F2"/>
                </a:solidFill>
                <a:latin typeface="Inter Regular"/>
                <a:ea typeface="Inter Regular"/>
                <a:cs typeface="Inter Regular"/>
                <a:sym typeface="Inter Regular"/>
              </a:rPr>
              <a:t>) force AI to load thousands of irrelevant lines into context.</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bg>
      <p:bgPr>
        <a:solidFill>
          <a:srgbClr val="0A0A0A"/>
        </a:solidFill>
      </p:bgPr>
    </p:bg>
    <p:spTree>
      <p:nvGrpSpPr>
        <p:cNvPr id="1" name=""/>
        <p:cNvGrpSpPr/>
        <p:nvPr/>
      </p:nvGrpSpPr>
      <p:grpSpPr>
        <a:xfrm>
          <a:off x="0" y="0"/>
          <a:ext cx="0" cy="0"/>
          <a:chOff x="0" y="0"/>
          <a:chExt cx="0" cy="0"/>
        </a:xfrm>
      </p:grpSpPr>
      <p:sp>
        <p:nvSpPr>
          <p:cNvPr id="31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What Goes Wrong</a:t>
            </a:r>
          </a:p>
        </p:txBody>
      </p:sp>
      <p:sp>
        <p:nvSpPr>
          <p:cNvPr id="317"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Now the AI follows imports...</a:t>
            </a:r>
          </a:p>
        </p:txBody>
      </p:sp>
      <p:sp>
        <p:nvSpPr>
          <p:cNvPr id="318" name="Rectangle 3"/>
          <p:cNvSpPr/>
          <p:nvPr/>
        </p:nvSpPr>
        <p:spPr>
          <a:xfrm>
            <a:off x="640080" y="1691638"/>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19" name="Rounded Rectangle 4"/>
          <p:cNvSpPr/>
          <p:nvPr/>
        </p:nvSpPr>
        <p:spPr>
          <a:xfrm>
            <a:off x="640080" y="2194560"/>
            <a:ext cx="10972801" cy="2651761"/>
          </a:xfrm>
          <a:prstGeom prst="roundRect">
            <a:avLst>
              <a:gd name="adj" fmla="val 4000"/>
            </a:avLst>
          </a:prstGeom>
          <a:solidFill>
            <a:srgbClr val="1A1A2E"/>
          </a:solidFill>
          <a:ln>
            <a:solidFill>
              <a:srgbClr val="333333"/>
            </a:solidFill>
          </a:ln>
        </p:spPr>
        <p:txBody>
          <a:bodyPr lIns="45719" rIns="45719" anchor="ctr"/>
          <a:lstStyle/>
          <a:p>
            <a:pPr algn="ctr">
              <a:defRPr>
                <a:solidFill>
                  <a:srgbClr val="FFFFFF"/>
                </a:solidFill>
              </a:defRPr>
            </a:pPr>
          </a:p>
        </p:txBody>
      </p:sp>
      <p:sp>
        <p:nvSpPr>
          <p:cNvPr id="320" name="TextBox 5"/>
          <p:cNvSpPr txBox="1"/>
          <p:nvPr/>
        </p:nvSpPr>
        <p:spPr>
          <a:xfrm>
            <a:off x="868680" y="2423160"/>
            <a:ext cx="10515601" cy="170053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5000"/>
              </a:lnSpc>
              <a:defRPr sz="1000">
                <a:solidFill>
                  <a:srgbClr val="00D4FF"/>
                </a:solidFill>
                <a:latin typeface="JetBrains Mono Bold"/>
                <a:ea typeface="JetBrains Mono Bold"/>
                <a:cs typeface="JetBrains Mono Bold"/>
                <a:sym typeface="JetBrains Mono Bold"/>
              </a:defRPr>
            </a:pPr>
            <a:r>
              <a:t>Card.tsx</a:t>
            </a:r>
          </a:p>
          <a:p>
            <a:pPr>
              <a:lnSpc>
                <a:spcPct val="155000"/>
              </a:lnSpc>
              <a:defRPr sz="1000">
                <a:solidFill>
                  <a:srgbClr val="888888"/>
                </a:solidFill>
                <a:latin typeface="JetBrains Mono Regular"/>
                <a:ea typeface="JetBrains Mono Regular"/>
                <a:cs typeface="JetBrains Mono Regular"/>
                <a:sym typeface="JetBrains Mono Regular"/>
              </a:defRPr>
            </a:pPr>
            <a:r>
              <a:t>  import</a:t>
            </a:r>
            <a:r>
              <a:rPr>
                <a:solidFill>
                  <a:srgbClr val="F2F2F2"/>
                </a:solidFill>
              </a:rPr>
              <a:t> { formatDate }      </a:t>
            </a:r>
            <a:r>
              <a:t>from</a:t>
            </a:r>
            <a:r>
              <a:rPr>
                <a:solidFill>
                  <a:srgbClr val="FF4757"/>
                </a:solidFill>
              </a:rPr>
              <a:t> "../../utils/helpers"        </a:t>
            </a:r>
            <a:r>
              <a:t>← loads 800-line file</a:t>
            </a:r>
          </a:p>
          <a:p>
            <a:pPr>
              <a:lnSpc>
                <a:spcPct val="155000"/>
              </a:lnSpc>
              <a:defRPr sz="1000">
                <a:solidFill>
                  <a:srgbClr val="888888"/>
                </a:solidFill>
                <a:latin typeface="JetBrains Mono Regular"/>
                <a:ea typeface="JetBrains Mono Regular"/>
                <a:cs typeface="JetBrains Mono Regular"/>
                <a:sym typeface="JetBrains Mono Regular"/>
              </a:defRPr>
            </a:pPr>
            <a:r>
              <a:t>  import</a:t>
            </a:r>
            <a:r>
              <a:rPr>
                <a:solidFill>
                  <a:srgbClr val="F2F2F2"/>
                </a:solidFill>
              </a:rPr>
              <a:t> { useData }          </a:t>
            </a:r>
            <a:r>
              <a:t>from</a:t>
            </a:r>
            <a:r>
              <a:rPr>
                <a:solidFill>
                  <a:srgbClr val="FF4757"/>
                </a:solidFill>
              </a:rPr>
              <a:t> "../../hooks/useData"         </a:t>
            </a:r>
            <a:r>
              <a:t>← fetches users AND products</a:t>
            </a:r>
          </a:p>
          <a:p>
            <a:pPr>
              <a:lnSpc>
                <a:spcPct val="155000"/>
              </a:lnSpc>
              <a:defRPr sz="1000">
                <a:solidFill>
                  <a:srgbClr val="888888"/>
                </a:solidFill>
                <a:latin typeface="JetBrains Mono Regular"/>
                <a:ea typeface="JetBrains Mono Regular"/>
                <a:cs typeface="JetBrains Mono Regular"/>
                <a:sym typeface="JetBrains Mono Regular"/>
              </a:defRPr>
            </a:pPr>
            <a:r>
              <a:t>  import</a:t>
            </a:r>
            <a:r>
              <a:rPr>
                <a:solidFill>
                  <a:srgbClr val="F2F2F2"/>
                </a:solidFill>
              </a:rPr>
              <a:t> { deleteUser }       </a:t>
            </a:r>
            <a:r>
              <a:t>from</a:t>
            </a:r>
            <a:r>
              <a:rPr>
                <a:solidFill>
                  <a:srgbClr val="FF4757"/>
                </a:solidFill>
              </a:rPr>
              <a:t> "../../services/api"          </a:t>
            </a:r>
            <a:r>
              <a:t>← loads 3000-line file</a:t>
            </a:r>
          </a:p>
          <a:p>
            <a:pPr>
              <a:lnSpc>
                <a:spcPct val="155000"/>
              </a:lnSpc>
              <a:defRPr sz="1000">
                <a:solidFill>
                  <a:srgbClr val="888888"/>
                </a:solidFill>
                <a:latin typeface="JetBrains Mono Regular"/>
                <a:ea typeface="JetBrains Mono Regular"/>
                <a:cs typeface="JetBrains Mono Regular"/>
                <a:sym typeface="JetBrains Mono Regular"/>
              </a:defRPr>
            </a:pPr>
            <a:r>
              <a:t>  import</a:t>
            </a:r>
            <a:r>
              <a:rPr>
                <a:solidFill>
                  <a:srgbClr val="F2F2F2"/>
                </a:solidFill>
              </a:rPr>
              <a:t> { Modal }            </a:t>
            </a:r>
            <a:r>
              <a:t>from</a:t>
            </a:r>
            <a:r>
              <a:rPr>
                <a:solidFill>
                  <a:srgbClr val="FF4757"/>
                </a:solidFill>
              </a:rPr>
              <a:t> "../Modal"                    </a:t>
            </a:r>
            <a:r>
              <a:t>← unrelated UI component</a:t>
            </a:r>
          </a:p>
          <a:p>
            <a:pPr>
              <a:lnSpc>
                <a:spcPct val="155000"/>
              </a:lnSpc>
              <a:defRPr sz="1000">
                <a:solidFill>
                  <a:srgbClr val="888888"/>
                </a:solidFill>
                <a:latin typeface="JetBrains Mono Regular"/>
                <a:ea typeface="JetBrains Mono Regular"/>
                <a:cs typeface="JetBrains Mono Regular"/>
                <a:sym typeface="JetBrains Mono Regular"/>
              </a:defRPr>
            </a:pPr>
            <a:r>
              <a:t>  import</a:t>
            </a:r>
            <a:r>
              <a:rPr>
                <a:solidFill>
                  <a:srgbClr val="F2F2F2"/>
                </a:solidFill>
              </a:rPr>
              <a:t> { useNavigate }      </a:t>
            </a:r>
            <a:r>
              <a:t>from</a:t>
            </a:r>
            <a:r>
              <a:rPr>
                <a:solidFill>
                  <a:srgbClr val="FF4757"/>
                </a:solidFill>
              </a:rPr>
              <a:t> "react-router-dom"           </a:t>
            </a:r>
            <a:r>
              <a:t>← routing in a card component?</a:t>
            </a:r>
          </a:p>
          <a:p>
            <a:pPr>
              <a:lnSpc>
                <a:spcPct val="155000"/>
              </a:lnSpc>
              <a:defRPr sz="1000">
                <a:solidFill>
                  <a:srgbClr val="888888"/>
                </a:solidFill>
                <a:latin typeface="JetBrains Mono Regular"/>
                <a:ea typeface="JetBrains Mono Regular"/>
                <a:cs typeface="JetBrains Mono Regular"/>
                <a:sym typeface="JetBrains Mono Regular"/>
              </a:defRPr>
            </a:pPr>
            <a:r>
              <a:t>  import</a:t>
            </a:r>
            <a:r>
              <a:rPr>
                <a:solidFill>
                  <a:srgbClr val="F2F2F2"/>
                </a:solidFill>
              </a:rPr>
              <a:t> { trackAnalytics }   </a:t>
            </a:r>
            <a:r>
              <a:t>from</a:t>
            </a:r>
            <a:r>
              <a:rPr>
                <a:solidFill>
                  <a:srgbClr val="FF4757"/>
                </a:solidFill>
              </a:rPr>
              <a:t> "../../utils/analytics"       </a:t>
            </a:r>
            <a:r>
              <a:t>← yet another util</a:t>
            </a:r>
          </a:p>
        </p:txBody>
      </p:sp>
      <p:sp>
        <p:nvSpPr>
          <p:cNvPr id="321" name="TextBox 6"/>
          <p:cNvSpPr txBox="1"/>
          <p:nvPr/>
        </p:nvSpPr>
        <p:spPr>
          <a:xfrm>
            <a:off x="640079" y="5029200"/>
            <a:ext cx="5303522" cy="4876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6 imports</a:t>
            </a:r>
            <a:r>
              <a:rPr>
                <a:solidFill>
                  <a:srgbClr val="F2F2F2"/>
                </a:solidFill>
                <a:latin typeface="Inter Regular"/>
                <a:ea typeface="Inter Regular"/>
                <a:cs typeface="Inter Regular"/>
                <a:sym typeface="Inter Regular"/>
              </a:rPr>
              <a:t> across </a:t>
            </a:r>
            <a:r>
              <a:t>6 different locations</a:t>
            </a:r>
            <a:r>
              <a:rPr>
                <a:solidFill>
                  <a:srgbClr val="F2F2F2"/>
                </a:solidFill>
                <a:latin typeface="Inter Regular"/>
                <a:ea typeface="Inter Regular"/>
                <a:cs typeface="Inter Regular"/>
                <a:sym typeface="Inter Regular"/>
              </a:rPr>
              <a:t>. AI must load each to understand what's available.</a:t>
            </a:r>
          </a:p>
        </p:txBody>
      </p:sp>
      <p:sp>
        <p:nvSpPr>
          <p:cNvPr id="322" name="TextBox 7"/>
          <p:cNvSpPr txBox="1"/>
          <p:nvPr/>
        </p:nvSpPr>
        <p:spPr>
          <a:xfrm>
            <a:off x="6263640" y="5029200"/>
            <a:ext cx="5303521" cy="4876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2F2F2"/>
                </a:solidFill>
                <a:latin typeface="Inter Regular"/>
                <a:ea typeface="Inter Regular"/>
                <a:cs typeface="Inter Regular"/>
                <a:sym typeface="Inter Regular"/>
              </a:defRPr>
            </a:pPr>
            <a:r>
              <a:t>One component mixes </a:t>
            </a:r>
            <a:r>
              <a:rPr>
                <a:solidFill>
                  <a:srgbClr val="FF4757"/>
                </a:solidFill>
                <a:latin typeface="Inter Bold"/>
                <a:ea typeface="Inter Bold"/>
                <a:cs typeface="Inter Bold"/>
                <a:sym typeface="Inter Bold"/>
              </a:rPr>
              <a:t>UI + API + routing + analytics</a:t>
            </a:r>
            <a:r>
              <a:t>. The AI has no boundaries — everything bleeds into everything.</a:t>
            </a:r>
          </a:p>
        </p:txBody>
      </p:sp>
      <p:sp>
        <p:nvSpPr>
          <p:cNvPr id="323" name="Rounded Rectangle 8"/>
          <p:cNvSpPr/>
          <p:nvPr/>
        </p:nvSpPr>
        <p:spPr>
          <a:xfrm>
            <a:off x="640080" y="6035040"/>
            <a:ext cx="10972801" cy="59436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324" name="Rectangle 9"/>
          <p:cNvSpPr/>
          <p:nvPr/>
        </p:nvSpPr>
        <p:spPr>
          <a:xfrm>
            <a:off x="640080" y="6035040"/>
            <a:ext cx="54865" cy="59436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25" name="TextBox 10"/>
          <p:cNvSpPr txBox="1"/>
          <p:nvPr/>
        </p:nvSpPr>
        <p:spPr>
          <a:xfrm>
            <a:off x="868679" y="6258050"/>
            <a:ext cx="1060704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1300">
                <a:solidFill>
                  <a:srgbClr val="F2F2F2"/>
                </a:solidFill>
                <a:latin typeface="Inter Regular"/>
                <a:ea typeface="Inter Regular"/>
                <a:cs typeface="Inter Regular"/>
                <a:sym typeface="Inter Regular"/>
              </a:defRPr>
            </a:pPr>
            <a:r>
              <a:t>Result: the AI burns through context tokens on irrelevant code, and </a:t>
            </a:r>
            <a:r>
              <a:rPr>
                <a:solidFill>
                  <a:srgbClr val="FF4757"/>
                </a:solidFill>
                <a:latin typeface="Inter Bold"/>
                <a:ea typeface="Inter Bold"/>
                <a:cs typeface="Inter Bold"/>
                <a:sym typeface="Inter Bold"/>
              </a:rPr>
              <a:t>still</a:t>
            </a:r>
            <a:r>
              <a:t> might not find what it needs.</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bg>
      <p:bgPr>
        <a:solidFill>
          <a:srgbClr val="0A0A0A"/>
        </a:solidFill>
      </p:bgPr>
    </p:bg>
    <p:spTree>
      <p:nvGrpSpPr>
        <p:cNvPr id="1" name=""/>
        <p:cNvGrpSpPr/>
        <p:nvPr/>
      </p:nvGrpSpPr>
      <p:grpSpPr>
        <a:xfrm>
          <a:off x="0" y="0"/>
          <a:ext cx="0" cy="0"/>
          <a:chOff x="0" y="0"/>
          <a:chExt cx="0" cy="0"/>
        </a:xfrm>
      </p:grpSpPr>
      <p:sp>
        <p:nvSpPr>
          <p:cNvPr id="32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28" name="Rectangle 2"/>
          <p:cNvSpPr/>
          <p:nvPr/>
        </p:nvSpPr>
        <p:spPr>
          <a:xfrm>
            <a:off x="640080" y="1280160"/>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29" name="Rounded Rectangle 3"/>
          <p:cNvSpPr/>
          <p:nvPr/>
        </p:nvSpPr>
        <p:spPr>
          <a:xfrm>
            <a:off x="640080" y="2194560"/>
            <a:ext cx="10972801" cy="1097281"/>
          </a:xfrm>
          <a:prstGeom prst="roundRect">
            <a:avLst>
              <a:gd name="adj" fmla="val 6000"/>
            </a:avLst>
          </a:prstGeom>
          <a:solidFill>
            <a:srgbClr val="0E3A47"/>
          </a:solidFill>
          <a:ln w="12700">
            <a:miter lim="400000"/>
          </a:ln>
        </p:spPr>
        <p:txBody>
          <a:bodyPr lIns="45719" rIns="45719" anchor="ctr"/>
          <a:lstStyle/>
          <a:p>
            <a:pPr algn="ctr">
              <a:defRPr>
                <a:solidFill>
                  <a:srgbClr val="FFFFFF"/>
                </a:solidFill>
              </a:defRPr>
            </a:pPr>
          </a:p>
        </p:txBody>
      </p:sp>
      <p:sp>
        <p:nvSpPr>
          <p:cNvPr id="330" name="Rectangle 4"/>
          <p:cNvSpPr/>
          <p:nvPr/>
        </p:nvSpPr>
        <p:spPr>
          <a:xfrm>
            <a:off x="640080" y="2194560"/>
            <a:ext cx="54865" cy="109728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31" name="TextBox 5"/>
          <p:cNvSpPr txBox="1"/>
          <p:nvPr/>
        </p:nvSpPr>
        <p:spPr>
          <a:xfrm>
            <a:off x="868679" y="2618231"/>
            <a:ext cx="10607042"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t>Good architecture </a:t>
            </a:r>
            <a:r>
              <a:rPr>
                <a:solidFill>
                  <a:srgbClr val="00D4FF"/>
                </a:solidFill>
                <a:latin typeface="Inter Bold"/>
                <a:ea typeface="Inter Bold"/>
                <a:cs typeface="Inter Bold"/>
                <a:sym typeface="Inter Bold"/>
              </a:rPr>
              <a:t>reduces</a:t>
            </a:r>
            <a:r>
              <a:t> the amount of context AI needs to do its job correctly.</a:t>
            </a:r>
          </a:p>
        </p:txBody>
      </p:sp>
      <p:sp>
        <p:nvSpPr>
          <p:cNvPr id="332" name="TextBox 6"/>
          <p:cNvSpPr txBox="1"/>
          <p:nvPr/>
        </p:nvSpPr>
        <p:spPr>
          <a:xfrm>
            <a:off x="640079" y="3657600"/>
            <a:ext cx="10908794" cy="13970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Your folder structure, naming conventions, and import rules are the </a:t>
            </a:r>
            <a:r>
              <a:rPr>
                <a:solidFill>
                  <a:srgbClr val="00D4FF"/>
                </a:solidFill>
                <a:latin typeface="Inter Bold"/>
                <a:ea typeface="Inter Bold"/>
                <a:cs typeface="Inter Bold"/>
                <a:sym typeface="Inter Bold"/>
              </a:rPr>
              <a:t>“prompt”</a:t>
            </a:r>
            <a:r>
              <a:t> AI reads before every task.</a:t>
            </a:r>
          </a:p>
          <a:p>
            <a:pPr>
              <a:lnSpc>
                <a:spcPct val="150000"/>
              </a:lnSpc>
              <a:spcBef>
                <a:spcPts val="1400"/>
              </a:spcBef>
              <a:defRPr sz="2000">
                <a:solidFill>
                  <a:srgbClr val="F2F2F2"/>
                </a:solidFill>
                <a:latin typeface="Inter Regular"/>
                <a:ea typeface="Inter Regular"/>
                <a:cs typeface="Inter Regular"/>
                <a:sym typeface="Inter Regular"/>
              </a:defRPr>
            </a:pPr>
            <a:r>
              <a:t>What if there was a methodology designed for this?</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0" showMasterSp="1" showMasterPhAnim="1">
  <p:cSld>
    <p:bg>
      <p:bgPr>
        <a:solidFill>
          <a:srgbClr val="0A0A0A"/>
        </a:solidFill>
      </p:bgPr>
    </p:bg>
    <p:spTree>
      <p:nvGrpSpPr>
        <p:cNvPr id="1" name=""/>
        <p:cNvGrpSpPr/>
        <p:nvPr/>
      </p:nvGrpSpPr>
      <p:grpSpPr>
        <a:xfrm>
          <a:off x="0" y="0"/>
          <a:ext cx="0" cy="0"/>
          <a:chOff x="0" y="0"/>
          <a:chExt cx="0" cy="0"/>
        </a:xfrm>
      </p:grpSpPr>
      <p:sp>
        <p:nvSpPr>
          <p:cNvPr id="33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FSD </a:t>
            </a:r>
            <a:r>
              <a:rPr>
                <a:solidFill>
                  <a:srgbClr val="888888"/>
                </a:solidFill>
              </a:rPr>
              <a:t>×</a:t>
            </a:r>
            <a:r>
              <a:t> AI</a:t>
            </a:r>
          </a:p>
        </p:txBody>
      </p:sp>
      <p:sp>
        <p:nvSpPr>
          <p:cNvPr id="335"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Why Feature-Sliced Design is AI-friendly by nature</a:t>
            </a:r>
          </a:p>
        </p:txBody>
      </p:sp>
      <p:sp>
        <p:nvSpPr>
          <p:cNvPr id="336" name="Rectangle 3"/>
          <p:cNvSpPr/>
          <p:nvPr/>
        </p:nvSpPr>
        <p:spPr>
          <a:xfrm>
            <a:off x="640080" y="1691638"/>
            <a:ext cx="548641" cy="36577"/>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37" name="Rectangle 4"/>
          <p:cNvSpPr/>
          <p:nvPr/>
        </p:nvSpPr>
        <p:spPr>
          <a:xfrm>
            <a:off x="640080" y="2194560"/>
            <a:ext cx="10972801" cy="457201"/>
          </a:xfrm>
          <a:prstGeom prst="rect">
            <a:avLst/>
          </a:prstGeom>
          <a:solidFill>
            <a:srgbClr val="00D4FF"/>
          </a:solidFill>
          <a:ln w="12700">
            <a:miter lim="400000"/>
          </a:ln>
        </p:spPr>
        <p:txBody>
          <a:bodyPr lIns="45719" rIns="45719" anchor="ctr"/>
          <a:lstStyle/>
          <a:p>
            <a:pPr algn="ctr">
              <a:defRPr>
                <a:solidFill>
                  <a:srgbClr val="FFFFFF"/>
                </a:solidFill>
              </a:defRPr>
            </a:pPr>
          </a:p>
        </p:txBody>
      </p:sp>
      <p:sp>
        <p:nvSpPr>
          <p:cNvPr id="338" name="TextBox 5"/>
          <p:cNvSpPr txBox="1"/>
          <p:nvPr/>
        </p:nvSpPr>
        <p:spPr>
          <a:xfrm>
            <a:off x="822958" y="2240278"/>
            <a:ext cx="3474722"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0A0A0A"/>
                </a:solidFill>
                <a:latin typeface="Inter Bold"/>
                <a:ea typeface="Inter Bold"/>
                <a:cs typeface="Inter Bold"/>
                <a:sym typeface="Inter Bold"/>
              </a:defRPr>
            </a:lvl1pPr>
          </a:lstStyle>
          <a:p>
            <a:pPr/>
            <a:r>
              <a:t>FSD Concept</a:t>
            </a:r>
          </a:p>
        </p:txBody>
      </p:sp>
      <p:sp>
        <p:nvSpPr>
          <p:cNvPr id="339" name="TextBox 6"/>
          <p:cNvSpPr txBox="1"/>
          <p:nvPr/>
        </p:nvSpPr>
        <p:spPr>
          <a:xfrm>
            <a:off x="4480559" y="2240278"/>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0A0A0A"/>
                </a:solidFill>
                <a:latin typeface="Inter Bold"/>
                <a:ea typeface="Inter Bold"/>
                <a:cs typeface="Inter Bold"/>
                <a:sym typeface="Inter Bold"/>
              </a:defRPr>
            </a:lvl1pPr>
          </a:lstStyle>
          <a:p>
            <a:pPr/>
            <a:r>
              <a:t>AI Benefit</a:t>
            </a:r>
          </a:p>
        </p:txBody>
      </p:sp>
      <p:sp>
        <p:nvSpPr>
          <p:cNvPr id="340" name="Rectangle 7"/>
          <p:cNvSpPr/>
          <p:nvPr/>
        </p:nvSpPr>
        <p:spPr>
          <a:xfrm>
            <a:off x="640080" y="3418077"/>
            <a:ext cx="10972801" cy="12701"/>
          </a:xfrm>
          <a:prstGeom prst="rect">
            <a:avLst/>
          </a:prstGeom>
          <a:solidFill>
            <a:srgbClr val="333333"/>
          </a:solidFill>
          <a:ln w="12700">
            <a:miter lim="400000"/>
          </a:ln>
        </p:spPr>
        <p:txBody>
          <a:bodyPr lIns="45719" rIns="45719" anchor="ctr"/>
          <a:lstStyle/>
          <a:p>
            <a:pPr algn="ctr">
              <a:defRPr>
                <a:solidFill>
                  <a:srgbClr val="FFFFFF"/>
                </a:solidFill>
              </a:defRPr>
            </a:pPr>
          </a:p>
        </p:txBody>
      </p:sp>
      <p:sp>
        <p:nvSpPr>
          <p:cNvPr id="341" name="TextBox 8"/>
          <p:cNvSpPr txBox="1"/>
          <p:nvPr/>
        </p:nvSpPr>
        <p:spPr>
          <a:xfrm>
            <a:off x="822958" y="2743200"/>
            <a:ext cx="3383281" cy="4191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Layers</a:t>
            </a:r>
          </a:p>
          <a:p>
            <a:pPr>
              <a:spcBef>
                <a:spcPts val="200"/>
              </a:spcBef>
              <a:defRPr sz="1100">
                <a:solidFill>
                  <a:srgbClr val="888888"/>
                </a:solidFill>
                <a:latin typeface="Inter Regular"/>
                <a:ea typeface="Inter Regular"/>
                <a:cs typeface="Inter Regular"/>
                <a:sym typeface="Inter Regular"/>
              </a:defRPr>
            </a:pPr>
            <a:r>
              <a:t>app → shared</a:t>
            </a:r>
          </a:p>
        </p:txBody>
      </p:sp>
      <p:sp>
        <p:nvSpPr>
          <p:cNvPr id="342" name="TextBox 9"/>
          <p:cNvSpPr txBox="1"/>
          <p:nvPr/>
        </p:nvSpPr>
        <p:spPr>
          <a:xfrm>
            <a:off x="4480559" y="2932429"/>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reads the file tree and immediately gets a </a:t>
            </a:r>
            <a:r>
              <a:rPr>
                <a:solidFill>
                  <a:srgbClr val="00D4FF"/>
                </a:solidFill>
                <a:latin typeface="Inter Bold"/>
                <a:ea typeface="Inter Bold"/>
                <a:cs typeface="Inter Bold"/>
                <a:sym typeface="Inter Bold"/>
              </a:rPr>
              <a:t>responsibility map</a:t>
            </a:r>
            <a:r>
              <a:t>.</a:t>
            </a:r>
          </a:p>
        </p:txBody>
      </p:sp>
      <p:sp>
        <p:nvSpPr>
          <p:cNvPr id="343" name="Rectangle 10"/>
          <p:cNvSpPr/>
          <p:nvPr/>
        </p:nvSpPr>
        <p:spPr>
          <a:xfrm>
            <a:off x="640080" y="3429000"/>
            <a:ext cx="10972801" cy="777241"/>
          </a:xfrm>
          <a:prstGeom prst="rect">
            <a:avLst/>
          </a:prstGeom>
          <a:solidFill>
            <a:srgbClr val="1A1A2E"/>
          </a:solidFill>
          <a:ln w="12700">
            <a:miter lim="400000"/>
          </a:ln>
        </p:spPr>
        <p:txBody>
          <a:bodyPr lIns="45719" rIns="45719" anchor="ctr"/>
          <a:lstStyle/>
          <a:p>
            <a:pPr algn="ctr">
              <a:defRPr>
                <a:solidFill>
                  <a:srgbClr val="FFFFFF"/>
                </a:solidFill>
              </a:defRPr>
            </a:pPr>
          </a:p>
        </p:txBody>
      </p:sp>
      <p:sp>
        <p:nvSpPr>
          <p:cNvPr id="344" name="Rectangle 11"/>
          <p:cNvSpPr/>
          <p:nvPr/>
        </p:nvSpPr>
        <p:spPr>
          <a:xfrm>
            <a:off x="640080" y="4195317"/>
            <a:ext cx="10972801" cy="12701"/>
          </a:xfrm>
          <a:prstGeom prst="rect">
            <a:avLst/>
          </a:prstGeom>
          <a:solidFill>
            <a:srgbClr val="333333"/>
          </a:solidFill>
          <a:ln w="12700">
            <a:miter lim="400000"/>
          </a:ln>
        </p:spPr>
        <p:txBody>
          <a:bodyPr lIns="45719" rIns="45719" anchor="ctr"/>
          <a:lstStyle/>
          <a:p>
            <a:pPr algn="ctr">
              <a:defRPr>
                <a:solidFill>
                  <a:srgbClr val="FFFFFF"/>
                </a:solidFill>
              </a:defRPr>
            </a:pPr>
          </a:p>
        </p:txBody>
      </p:sp>
      <p:sp>
        <p:nvSpPr>
          <p:cNvPr id="345" name="TextBox 12"/>
          <p:cNvSpPr txBox="1"/>
          <p:nvPr/>
        </p:nvSpPr>
        <p:spPr>
          <a:xfrm>
            <a:off x="822958" y="3520440"/>
            <a:ext cx="3383281"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Import rule</a:t>
            </a:r>
          </a:p>
          <a:p>
            <a:pPr>
              <a:spcBef>
                <a:spcPts val="200"/>
              </a:spcBef>
              <a:defRPr sz="1100">
                <a:solidFill>
                  <a:srgbClr val="888888"/>
                </a:solidFill>
                <a:latin typeface="Inter Regular"/>
                <a:ea typeface="Inter Regular"/>
                <a:cs typeface="Inter Regular"/>
                <a:sym typeface="Inter Regular"/>
              </a:defRPr>
            </a:pPr>
            <a:r>
              <a:t>only import from below</a:t>
            </a:r>
          </a:p>
        </p:txBody>
      </p:sp>
      <p:sp>
        <p:nvSpPr>
          <p:cNvPr id="346" name="TextBox 13"/>
          <p:cNvSpPr txBox="1"/>
          <p:nvPr/>
        </p:nvSpPr>
        <p:spPr>
          <a:xfrm>
            <a:off x="4480559" y="3709669"/>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00D4FF"/>
                </a:solidFill>
                <a:latin typeface="Inter Bold"/>
                <a:ea typeface="Inter Bold"/>
                <a:cs typeface="Inter Bold"/>
                <a:sym typeface="Inter Bold"/>
              </a:defRPr>
            </a:pPr>
            <a:r>
              <a:t>One-directional</a:t>
            </a:r>
            <a:r>
              <a:rPr>
                <a:solidFill>
                  <a:srgbClr val="F2F2F2"/>
                </a:solidFill>
                <a:latin typeface="Inter Regular"/>
                <a:ea typeface="Inter Regular"/>
                <a:cs typeface="Inter Regular"/>
                <a:sym typeface="Inter Regular"/>
              </a:rPr>
              <a:t> dependency flow = minimal context hops.</a:t>
            </a:r>
          </a:p>
        </p:txBody>
      </p:sp>
      <p:sp>
        <p:nvSpPr>
          <p:cNvPr id="347" name="Rectangle 14"/>
          <p:cNvSpPr/>
          <p:nvPr/>
        </p:nvSpPr>
        <p:spPr>
          <a:xfrm>
            <a:off x="640080" y="4972557"/>
            <a:ext cx="10972801" cy="12701"/>
          </a:xfrm>
          <a:prstGeom prst="rect">
            <a:avLst/>
          </a:prstGeom>
          <a:solidFill>
            <a:srgbClr val="333333"/>
          </a:solidFill>
          <a:ln w="12700">
            <a:miter lim="400000"/>
          </a:ln>
        </p:spPr>
        <p:txBody>
          <a:bodyPr lIns="45719" rIns="45719" anchor="ctr"/>
          <a:lstStyle/>
          <a:p>
            <a:pPr algn="ctr">
              <a:defRPr>
                <a:solidFill>
                  <a:srgbClr val="FFFFFF"/>
                </a:solidFill>
              </a:defRPr>
            </a:pPr>
          </a:p>
        </p:txBody>
      </p:sp>
      <p:sp>
        <p:nvSpPr>
          <p:cNvPr id="348" name="TextBox 15"/>
          <p:cNvSpPr txBox="1"/>
          <p:nvPr/>
        </p:nvSpPr>
        <p:spPr>
          <a:xfrm>
            <a:off x="822958" y="4297679"/>
            <a:ext cx="3383281"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Slices</a:t>
            </a:r>
          </a:p>
          <a:p>
            <a:pPr>
              <a:spcBef>
                <a:spcPts val="200"/>
              </a:spcBef>
              <a:defRPr sz="1100">
                <a:solidFill>
                  <a:srgbClr val="888888"/>
                </a:solidFill>
                <a:latin typeface="Inter Regular"/>
                <a:ea typeface="Inter Regular"/>
                <a:cs typeface="Inter Regular"/>
                <a:sym typeface="Inter Regular"/>
              </a:defRPr>
            </a:pPr>
            <a:r>
              <a:t>zero coupling</a:t>
            </a:r>
          </a:p>
        </p:txBody>
      </p:sp>
      <p:sp>
        <p:nvSpPr>
          <p:cNvPr id="349" name="TextBox 16"/>
          <p:cNvSpPr txBox="1"/>
          <p:nvPr/>
        </p:nvSpPr>
        <p:spPr>
          <a:xfrm>
            <a:off x="4480559" y="4486908"/>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stays within feature boundaries — </a:t>
            </a:r>
            <a:r>
              <a:rPr>
                <a:solidFill>
                  <a:srgbClr val="00D4FF"/>
                </a:solidFill>
                <a:latin typeface="Inter Bold"/>
                <a:ea typeface="Inter Bold"/>
                <a:cs typeface="Inter Bold"/>
                <a:sym typeface="Inter Bold"/>
              </a:rPr>
              <a:t>no context pollution</a:t>
            </a:r>
            <a:r>
              <a:t>.</a:t>
            </a:r>
          </a:p>
        </p:txBody>
      </p:sp>
      <p:sp>
        <p:nvSpPr>
          <p:cNvPr id="350" name="Rectangle 17"/>
          <p:cNvSpPr/>
          <p:nvPr/>
        </p:nvSpPr>
        <p:spPr>
          <a:xfrm>
            <a:off x="640080" y="4983479"/>
            <a:ext cx="10972801" cy="777241"/>
          </a:xfrm>
          <a:prstGeom prst="rect">
            <a:avLst/>
          </a:prstGeom>
          <a:solidFill>
            <a:srgbClr val="1A1A2E"/>
          </a:solidFill>
          <a:ln w="12700">
            <a:miter lim="400000"/>
          </a:ln>
        </p:spPr>
        <p:txBody>
          <a:bodyPr lIns="45719" rIns="45719" anchor="ctr"/>
          <a:lstStyle/>
          <a:p>
            <a:pPr algn="ctr">
              <a:defRPr>
                <a:solidFill>
                  <a:srgbClr val="FFFFFF"/>
                </a:solidFill>
              </a:defRPr>
            </a:pPr>
          </a:p>
        </p:txBody>
      </p:sp>
      <p:sp>
        <p:nvSpPr>
          <p:cNvPr id="351" name="Rectangle 18"/>
          <p:cNvSpPr/>
          <p:nvPr/>
        </p:nvSpPr>
        <p:spPr>
          <a:xfrm>
            <a:off x="640080" y="5749796"/>
            <a:ext cx="10972801" cy="12701"/>
          </a:xfrm>
          <a:prstGeom prst="rect">
            <a:avLst/>
          </a:prstGeom>
          <a:solidFill>
            <a:srgbClr val="333333"/>
          </a:solidFill>
          <a:ln w="12700">
            <a:miter lim="400000"/>
          </a:ln>
        </p:spPr>
        <p:txBody>
          <a:bodyPr lIns="45719" rIns="45719" anchor="ctr"/>
          <a:lstStyle/>
          <a:p>
            <a:pPr algn="ctr">
              <a:defRPr>
                <a:solidFill>
                  <a:srgbClr val="FFFFFF"/>
                </a:solidFill>
              </a:defRPr>
            </a:pPr>
          </a:p>
        </p:txBody>
      </p:sp>
      <p:sp>
        <p:nvSpPr>
          <p:cNvPr id="352" name="TextBox 19"/>
          <p:cNvSpPr txBox="1"/>
          <p:nvPr/>
        </p:nvSpPr>
        <p:spPr>
          <a:xfrm>
            <a:off x="822958" y="5074918"/>
            <a:ext cx="3383281"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Public API</a:t>
            </a:r>
          </a:p>
          <a:p>
            <a:pPr>
              <a:spcBef>
                <a:spcPts val="200"/>
              </a:spcBef>
              <a:defRPr sz="1100">
                <a:solidFill>
                  <a:srgbClr val="888888"/>
                </a:solidFill>
                <a:latin typeface="Inter Regular"/>
                <a:ea typeface="Inter Regular"/>
                <a:cs typeface="Inter Regular"/>
                <a:sym typeface="Inter Regular"/>
              </a:defRPr>
            </a:pPr>
            <a:r>
              <a:t>index.ts contracts</a:t>
            </a:r>
          </a:p>
        </p:txBody>
      </p:sp>
      <p:sp>
        <p:nvSpPr>
          <p:cNvPr id="353" name="TextBox 20"/>
          <p:cNvSpPr txBox="1"/>
          <p:nvPr/>
        </p:nvSpPr>
        <p:spPr>
          <a:xfrm>
            <a:off x="4480559" y="5264148"/>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reads the interface, </a:t>
            </a:r>
            <a:r>
              <a:rPr>
                <a:solidFill>
                  <a:srgbClr val="00D4FF"/>
                </a:solidFill>
                <a:latin typeface="Inter Bold"/>
                <a:ea typeface="Inter Bold"/>
                <a:cs typeface="Inter Bold"/>
                <a:sym typeface="Inter Bold"/>
              </a:rPr>
              <a:t>doesn't crawl internals</a:t>
            </a:r>
            <a:r>
              <a:t> — saves tokens.</a:t>
            </a:r>
          </a:p>
        </p:txBody>
      </p:sp>
      <p:sp>
        <p:nvSpPr>
          <p:cNvPr id="354" name="Rectangle 21"/>
          <p:cNvSpPr/>
          <p:nvPr/>
        </p:nvSpPr>
        <p:spPr>
          <a:xfrm>
            <a:off x="640080" y="6527036"/>
            <a:ext cx="10972801" cy="12701"/>
          </a:xfrm>
          <a:prstGeom prst="rect">
            <a:avLst/>
          </a:prstGeom>
          <a:solidFill>
            <a:srgbClr val="333333"/>
          </a:solidFill>
          <a:ln w="12700">
            <a:miter lim="400000"/>
          </a:ln>
        </p:spPr>
        <p:txBody>
          <a:bodyPr lIns="45719" rIns="45719" anchor="ctr"/>
          <a:lstStyle/>
          <a:p>
            <a:pPr algn="ctr">
              <a:defRPr>
                <a:solidFill>
                  <a:srgbClr val="FFFFFF"/>
                </a:solidFill>
              </a:defRPr>
            </a:pPr>
          </a:p>
        </p:txBody>
      </p:sp>
      <p:sp>
        <p:nvSpPr>
          <p:cNvPr id="355" name="TextBox 22"/>
          <p:cNvSpPr txBox="1"/>
          <p:nvPr/>
        </p:nvSpPr>
        <p:spPr>
          <a:xfrm>
            <a:off x="822958" y="5852159"/>
            <a:ext cx="3383281"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Segments</a:t>
            </a:r>
          </a:p>
          <a:p>
            <a:pPr>
              <a:spcBef>
                <a:spcPts val="200"/>
              </a:spcBef>
              <a:defRPr sz="1100">
                <a:solidFill>
                  <a:srgbClr val="888888"/>
                </a:solidFill>
                <a:latin typeface="Inter Regular"/>
                <a:ea typeface="Inter Regular"/>
                <a:cs typeface="Inter Regular"/>
                <a:sym typeface="Inter Regular"/>
              </a:defRPr>
            </a:pPr>
            <a:r>
              <a:t>ui / api / model / lib</a:t>
            </a:r>
          </a:p>
        </p:txBody>
      </p:sp>
      <p:sp>
        <p:nvSpPr>
          <p:cNvPr id="356" name="TextBox 23"/>
          <p:cNvSpPr txBox="1"/>
          <p:nvPr/>
        </p:nvSpPr>
        <p:spPr>
          <a:xfrm>
            <a:off x="4480559" y="6041388"/>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Standardized grouping = AI </a:t>
            </a:r>
            <a:r>
              <a:rPr>
                <a:solidFill>
                  <a:srgbClr val="00D4FF"/>
                </a:solidFill>
                <a:latin typeface="Inter Bold"/>
                <a:ea typeface="Inter Bold"/>
                <a:cs typeface="Inter Bold"/>
                <a:sym typeface="Inter Bold"/>
              </a:rPr>
              <a:t>pattern-matches</a:t>
            </a:r>
            <a:r>
              <a:t> across all slices.</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A0A0A"/>
        </a:solidFill>
      </p:bgPr>
    </p:bg>
    <p:spTree>
      <p:nvGrpSpPr>
        <p:cNvPr id="1" name=""/>
        <p:cNvGrpSpPr/>
        <p:nvPr/>
      </p:nvGrpSpPr>
      <p:grpSpPr>
        <a:xfrm>
          <a:off x="0" y="0"/>
          <a:ext cx="0" cy="0"/>
          <a:chOff x="0" y="0"/>
          <a:chExt cx="0" cy="0"/>
        </a:xfrm>
      </p:grpSpPr>
      <p:sp>
        <p:nvSpPr>
          <p:cNvPr id="358" name="TextBox 1"/>
          <p:cNvSpPr txBox="1"/>
          <p:nvPr/>
        </p:nvSpPr>
        <p:spPr>
          <a:xfrm>
            <a:off x="635253" y="3086100"/>
            <a:ext cx="10908794" cy="685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20000"/>
              </a:lnSpc>
              <a:defRPr sz="4400">
                <a:solidFill>
                  <a:srgbClr val="F2F2F2"/>
                </a:solidFill>
                <a:latin typeface="Inter Bold"/>
                <a:ea typeface="Inter Bold"/>
                <a:cs typeface="Inter Bold"/>
                <a:sym typeface="Inter Bold"/>
              </a:defRPr>
            </a:lvl1pPr>
          </a:lstStyle>
          <a:p>
            <a:pPr/>
            <a:r>
              <a:t>Koje je onda rješenje?</a:t>
            </a:r>
          </a:p>
        </p:txBody>
      </p:sp>
      <p:sp>
        <p:nvSpPr>
          <p:cNvPr id="359" name="TextBox 2"/>
          <p:cNvSpPr txBox="1"/>
          <p:nvPr/>
        </p:nvSpPr>
        <p:spPr>
          <a:xfrm>
            <a:off x="635253" y="3915746"/>
            <a:ext cx="10908794"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600">
                <a:solidFill>
                  <a:srgbClr val="888888"/>
                </a:solidFill>
                <a:latin typeface="Inter Regular"/>
                <a:ea typeface="Inter Regular"/>
                <a:cs typeface="Inter Regular"/>
                <a:sym typeface="Inter Regular"/>
              </a:defRPr>
            </a:lvl1pPr>
          </a:lstStyle>
          <a:p>
            <a:pPr/>
            <a:r>
              <a:t>Feature-Sliced Design</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502920"/>
            <a:ext cx="10908792" cy="594360"/>
          </a:xfrm>
          <a:prstGeom prst="rect">
            <a:avLst/>
          </a:prstGeom>
          <a:noFill/>
        </p:spPr>
        <p:txBody>
          <a:bodyPr wrap="square" lIns="0" rIns="0" tIns="0" bIns="0">
            <a:spAutoFit/>
          </a:bodyPr>
          <a:lstStyle/>
          <a:p>
            <a:r>
              <a:rPr sz="3600" b="0">
                <a:solidFill>
                  <a:srgbClr val="FFFFFF"/>
                </a:solidFill>
                <a:latin typeface="Inter Bold"/>
              </a:rPr>
              <a:t>Što je </a:t>
            </a:r>
            <a:r>
              <a:rPr sz="3600" b="0">
                <a:solidFill>
                  <a:srgbClr val="00D4FF"/>
                </a:solidFill>
                <a:latin typeface="Inter Bold"/>
              </a:rPr>
              <a:t>Feature-Sliced Design</a:t>
            </a:r>
            <a:r>
              <a:rPr sz="3600" b="0">
                <a:solidFill>
                  <a:srgbClr val="FFFFFF"/>
                </a:solidFill>
                <a:latin typeface="Inter Bold"/>
              </a:rPr>
              <a:t>?</a:t>
            </a:r>
          </a:p>
        </p:txBody>
      </p:sp>
      <p:sp>
        <p:nvSpPr>
          <p:cNvPr id="3" name="TextBox 2"/>
          <p:cNvSpPr txBox="1"/>
          <p:nvPr/>
        </p:nvSpPr>
        <p:spPr>
          <a:xfrm>
            <a:off x="640080" y="1371600"/>
            <a:ext cx="10908792" cy="274320"/>
          </a:xfrm>
          <a:prstGeom prst="rect">
            <a:avLst/>
          </a:prstGeom>
          <a:noFill/>
        </p:spPr>
        <p:txBody>
          <a:bodyPr wrap="square" lIns="0" rIns="0" tIns="0" bIns="0">
            <a:spAutoFit/>
          </a:bodyPr>
          <a:lstStyle/>
          <a:p>
            <a:r>
              <a:rPr sz="1400" b="0">
                <a:solidFill>
                  <a:srgbClr val="888888"/>
                </a:solidFill>
                <a:latin typeface="Inter"/>
              </a:rPr>
              <a:t>Arhitekturna metodologija za frontend projekte</a:t>
            </a:r>
          </a:p>
        </p:txBody>
      </p:sp>
      <p:sp>
        <p:nvSpPr>
          <p:cNvPr id="4" name="Rectangle 3"/>
          <p:cNvSpPr/>
          <p:nvPr/>
        </p:nvSpPr>
        <p:spPr>
          <a:xfrm>
            <a:off x="640080" y="1691640"/>
            <a:ext cx="548640" cy="3657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10908792" cy="731520"/>
          </a:xfrm>
          <a:prstGeom prst="rect">
            <a:avLst/>
          </a:prstGeom>
          <a:noFill/>
        </p:spPr>
        <p:txBody>
          <a:bodyPr wrap="square" lIns="0" rIns="0" tIns="0" bIns="0">
            <a:spAutoFit/>
          </a:bodyPr>
          <a:lstStyle/>
          <a:p>
            <a:r>
              <a:rPr sz="1800" b="0">
                <a:solidFill>
                  <a:srgbClr val="FFFFFF"/>
                </a:solidFill>
                <a:latin typeface="Inter"/>
              </a:rPr>
              <a:t>FSD propisuje </a:t>
            </a:r>
            <a:r>
              <a:rPr sz="1800" b="1">
                <a:solidFill>
                  <a:srgbClr val="00D4FF"/>
                </a:solidFill>
                <a:latin typeface="Inter Bold"/>
              </a:rPr>
              <a:t>kako organizirati kod</a:t>
            </a:r>
            <a:r>
              <a:rPr sz="1800" b="0">
                <a:solidFill>
                  <a:srgbClr val="FFFFFF"/>
                </a:solidFill>
                <a:latin typeface="Inter"/>
              </a:rPr>
              <a:t> u projektu — gdje stavljati datoteke, kako ih grupirati i kako smiju ovisiti jedni o drugima.</a:t>
            </a:r>
          </a:p>
        </p:txBody>
      </p:sp>
      <p:sp>
        <p:nvSpPr>
          <p:cNvPr id="6" name="TextBox 5"/>
          <p:cNvSpPr txBox="1"/>
          <p:nvPr/>
        </p:nvSpPr>
        <p:spPr>
          <a:xfrm>
            <a:off x="640080" y="3108960"/>
            <a:ext cx="10908792" cy="731520"/>
          </a:xfrm>
          <a:prstGeom prst="rect">
            <a:avLst/>
          </a:prstGeom>
          <a:noFill/>
        </p:spPr>
        <p:txBody>
          <a:bodyPr wrap="square" lIns="0" rIns="0" tIns="0" bIns="0">
            <a:spAutoFit/>
          </a:bodyPr>
          <a:lstStyle/>
          <a:p>
            <a:r>
              <a:rPr sz="1800" b="0">
                <a:solidFill>
                  <a:srgbClr val="FFFFFF"/>
                </a:solidFill>
                <a:latin typeface="Inter"/>
              </a:rPr>
              <a:t>Cilj: kod koji je </a:t>
            </a:r>
            <a:r>
              <a:rPr sz="1800" b="1">
                <a:solidFill>
                  <a:srgbClr val="00D4FF"/>
                </a:solidFill>
                <a:latin typeface="Inter Bold"/>
              </a:rPr>
              <a:t>predvidljiv</a:t>
            </a:r>
            <a:r>
              <a:rPr sz="1800" b="0">
                <a:solidFill>
                  <a:srgbClr val="FFFFFF"/>
                </a:solidFill>
                <a:latin typeface="Inter"/>
              </a:rPr>
              <a:t>, </a:t>
            </a:r>
            <a:r>
              <a:rPr sz="1800" b="1">
                <a:solidFill>
                  <a:srgbClr val="00D4FF"/>
                </a:solidFill>
                <a:latin typeface="Inter Bold"/>
              </a:rPr>
              <a:t>izoliran</a:t>
            </a:r>
            <a:r>
              <a:rPr sz="1800" b="0">
                <a:solidFill>
                  <a:srgbClr val="FFFFFF"/>
                </a:solidFill>
                <a:latin typeface="Inter"/>
              </a:rPr>
              <a:t> i </a:t>
            </a:r>
            <a:r>
              <a:rPr sz="1800" b="1">
                <a:solidFill>
                  <a:srgbClr val="00D4FF"/>
                </a:solidFill>
                <a:latin typeface="Inter Bold"/>
              </a:rPr>
              <a:t>razumljiv iz strukture</a:t>
            </a:r>
            <a:r>
              <a:rPr sz="1800" b="0">
                <a:solidFill>
                  <a:srgbClr val="FFFFFF"/>
                </a:solidFill>
                <a:latin typeface="Inter"/>
              </a:rPr>
              <a:t> — bez čitanja svake datoteke.</a:t>
            </a:r>
          </a:p>
        </p:txBody>
      </p:sp>
      <p:sp>
        <p:nvSpPr>
          <p:cNvPr id="7" name="Rounded Rectangle 6"/>
          <p:cNvSpPr/>
          <p:nvPr/>
        </p:nvSpPr>
        <p:spPr>
          <a:xfrm>
            <a:off x="640080" y="4389120"/>
            <a:ext cx="10972800" cy="1645920"/>
          </a:xfrm>
          <a:prstGeom prst="roundRect">
            <a:avLst>
              <a:gd name="adj" fmla="val 8000"/>
            </a:avLst>
          </a:prstGeom>
          <a:solidFill>
            <a:srgbClr val="0E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389120"/>
            <a:ext cx="54864" cy="164592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0515600" cy="1280160"/>
          </a:xfrm>
          <a:prstGeom prst="rect">
            <a:avLst/>
          </a:prstGeom>
          <a:noFill/>
        </p:spPr>
        <p:txBody>
          <a:bodyPr wrap="square" lIns="0" rIns="0" tIns="0" bIns="0">
            <a:spAutoFit/>
          </a:bodyPr>
          <a:lstStyle/>
          <a:p>
            <a:r>
              <a:rPr sz="1800" b="0">
                <a:solidFill>
                  <a:srgbClr val="FFFFFF"/>
                </a:solidFill>
                <a:latin typeface="Inter"/>
              </a:rPr>
              <a:t>Drugim riječima — metodologija dizajnirana za isti problem koji AI ima: </a:t>
            </a:r>
            <a:r>
              <a:rPr sz="1800" b="1">
                <a:solidFill>
                  <a:srgbClr val="00D4FF"/>
                </a:solidFill>
                <a:latin typeface="Inter Bold"/>
              </a:rPr>
              <a:t>izgraditi mentalni model projekta brzo i bez prethodnog konteksta.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502920"/>
            <a:ext cx="10908792" cy="594360"/>
          </a:xfrm>
          <a:prstGeom prst="rect">
            <a:avLst/>
          </a:prstGeom>
          <a:noFill/>
        </p:spPr>
        <p:txBody>
          <a:bodyPr wrap="square" lIns="0" rIns="0" tIns="0" bIns="0">
            <a:spAutoFit/>
          </a:bodyPr>
          <a:lstStyle/>
          <a:p>
            <a:r>
              <a:rPr sz="3600" b="0">
                <a:solidFill>
                  <a:srgbClr val="FFFFFF"/>
                </a:solidFill>
                <a:latin typeface="Inter Bold"/>
              </a:rPr>
              <a:t>Tri stupa FSD-a</a:t>
            </a:r>
          </a:p>
        </p:txBody>
      </p:sp>
      <p:sp>
        <p:nvSpPr>
          <p:cNvPr id="3" name="TextBox 2"/>
          <p:cNvSpPr txBox="1"/>
          <p:nvPr/>
        </p:nvSpPr>
        <p:spPr>
          <a:xfrm>
            <a:off x="640080" y="1371600"/>
            <a:ext cx="10908792" cy="274320"/>
          </a:xfrm>
          <a:prstGeom prst="rect">
            <a:avLst/>
          </a:prstGeom>
          <a:noFill/>
        </p:spPr>
        <p:txBody>
          <a:bodyPr wrap="square" lIns="0" rIns="0" tIns="0" bIns="0">
            <a:spAutoFit/>
          </a:bodyPr>
          <a:lstStyle/>
          <a:p>
            <a:r>
              <a:rPr sz="1400" b="0">
                <a:solidFill>
                  <a:srgbClr val="888888"/>
                </a:solidFill>
                <a:latin typeface="Inter"/>
              </a:rPr>
              <a:t>Sve se svodi na tri pravila</a:t>
            </a:r>
          </a:p>
        </p:txBody>
      </p:sp>
      <p:sp>
        <p:nvSpPr>
          <p:cNvPr id="4" name="Rectangle 3"/>
          <p:cNvSpPr/>
          <p:nvPr/>
        </p:nvSpPr>
        <p:spPr>
          <a:xfrm>
            <a:off x="640080" y="1691640"/>
            <a:ext cx="548640" cy="3657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560320"/>
            <a:ext cx="3474720" cy="155448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Slojevi</a:t>
            </a:r>
          </a:p>
          <a:p>
            <a:pPr algn="ctr"/>
            <a:r>
              <a:rPr sz="1100" b="0">
                <a:solidFill>
                  <a:srgbClr val="888888"/>
                </a:solidFill>
                <a:latin typeface="Inter"/>
              </a:rPr>
              <a:t>hijerarhija odgovornosti</a:t>
            </a:r>
          </a:p>
        </p:txBody>
      </p:sp>
      <p:sp>
        <p:nvSpPr>
          <p:cNvPr id="6" name="TextBox 5"/>
          <p:cNvSpPr txBox="1"/>
          <p:nvPr/>
        </p:nvSpPr>
        <p:spPr>
          <a:xfrm>
            <a:off x="4114800" y="3017520"/>
            <a:ext cx="274320" cy="640080"/>
          </a:xfrm>
          <a:prstGeom prst="rect">
            <a:avLst/>
          </a:prstGeom>
          <a:noFill/>
        </p:spPr>
        <p:txBody>
          <a:bodyPr wrap="square" lIns="0" rIns="0" tIns="0" bIns="0">
            <a:spAutoFit/>
          </a:bodyPr>
          <a:lstStyle/>
          <a:p>
            <a:pPr algn="ctr"/>
            <a:r>
              <a:rPr sz="2400" b="1">
                <a:solidFill>
                  <a:srgbClr val="00D4FF"/>
                </a:solidFill>
                <a:latin typeface="Inter Bold"/>
              </a:rPr>
              <a:t>+</a:t>
            </a:r>
          </a:p>
        </p:txBody>
      </p:sp>
      <p:sp>
        <p:nvSpPr>
          <p:cNvPr id="7" name="Rounded Rectangle 6"/>
          <p:cNvSpPr/>
          <p:nvPr/>
        </p:nvSpPr>
        <p:spPr>
          <a:xfrm>
            <a:off x="4389120" y="2560320"/>
            <a:ext cx="3474720" cy="155448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Slices &amp; Segments</a:t>
            </a:r>
          </a:p>
          <a:p>
            <a:pPr algn="ctr"/>
            <a:r>
              <a:rPr sz="1100" b="0">
                <a:solidFill>
                  <a:srgbClr val="888888"/>
                </a:solidFill>
                <a:latin typeface="Inter"/>
              </a:rPr>
              <a:t>domena × tehnička svrha</a:t>
            </a:r>
          </a:p>
        </p:txBody>
      </p:sp>
      <p:sp>
        <p:nvSpPr>
          <p:cNvPr id="8" name="TextBox 7"/>
          <p:cNvSpPr txBox="1"/>
          <p:nvPr/>
        </p:nvSpPr>
        <p:spPr>
          <a:xfrm>
            <a:off x="7863840" y="3017520"/>
            <a:ext cx="274320" cy="640080"/>
          </a:xfrm>
          <a:prstGeom prst="rect">
            <a:avLst/>
          </a:prstGeom>
          <a:noFill/>
        </p:spPr>
        <p:txBody>
          <a:bodyPr wrap="square" lIns="0" rIns="0" tIns="0" bIns="0">
            <a:spAutoFit/>
          </a:bodyPr>
          <a:lstStyle/>
          <a:p>
            <a:pPr algn="ctr"/>
            <a:r>
              <a:rPr sz="2400" b="1">
                <a:solidFill>
                  <a:srgbClr val="00D4FF"/>
                </a:solidFill>
                <a:latin typeface="Inter Bold"/>
              </a:rPr>
              <a:t>+</a:t>
            </a:r>
          </a:p>
        </p:txBody>
      </p:sp>
      <p:sp>
        <p:nvSpPr>
          <p:cNvPr id="9" name="Rounded Rectangle 8"/>
          <p:cNvSpPr/>
          <p:nvPr/>
        </p:nvSpPr>
        <p:spPr>
          <a:xfrm>
            <a:off x="8138160" y="2560320"/>
            <a:ext cx="3474720" cy="155448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Public API</a:t>
            </a:r>
          </a:p>
          <a:p>
            <a:pPr algn="ctr"/>
            <a:r>
              <a:rPr sz="1100" b="0">
                <a:solidFill>
                  <a:srgbClr val="888888"/>
                </a:solidFill>
                <a:latin typeface="Inter"/>
              </a:rPr>
              <a:t>jasan ugovor (index.ts)</a:t>
            </a:r>
          </a:p>
        </p:txBody>
      </p:sp>
      <p:sp>
        <p:nvSpPr>
          <p:cNvPr id="10" name="TextBox 9"/>
          <p:cNvSpPr txBox="1"/>
          <p:nvPr/>
        </p:nvSpPr>
        <p:spPr>
          <a:xfrm>
            <a:off x="640080" y="4754880"/>
            <a:ext cx="10908792" cy="914400"/>
          </a:xfrm>
          <a:prstGeom prst="rect">
            <a:avLst/>
          </a:prstGeom>
          <a:noFill/>
        </p:spPr>
        <p:txBody>
          <a:bodyPr wrap="square" lIns="0" rIns="0" tIns="0" bIns="0">
            <a:spAutoFit/>
          </a:bodyPr>
          <a:lstStyle/>
          <a:p>
            <a:pPr algn="ctr"/>
            <a:r>
              <a:rPr sz="1800" b="0">
                <a:solidFill>
                  <a:srgbClr val="FFFFFF"/>
                </a:solidFill>
                <a:latin typeface="Inter"/>
              </a:rPr>
              <a:t>Svako od ova tri pravila </a:t>
            </a:r>
            <a:r>
              <a:rPr sz="1800" b="1">
                <a:solidFill>
                  <a:srgbClr val="00D4FF"/>
                </a:solidFill>
                <a:latin typeface="Inter Bold"/>
              </a:rPr>
              <a:t>izravno smanjuje</a:t>
            </a:r>
            <a:r>
              <a:rPr sz="1800" b="0">
                <a:solidFill>
                  <a:srgbClr val="FFFFFF"/>
                </a:solidFill>
                <a:latin typeface="Inter"/>
              </a:rPr>
              <a:t> količinu konteksta koji AI mora učitati da bi razumio projekt.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502920"/>
            <a:ext cx="10908792" cy="594360"/>
          </a:xfrm>
          <a:prstGeom prst="rect">
            <a:avLst/>
          </a:prstGeom>
          <a:noFill/>
        </p:spPr>
        <p:txBody>
          <a:bodyPr wrap="square" lIns="0" rIns="0" tIns="0" bIns="0">
            <a:spAutoFit/>
          </a:bodyPr>
          <a:lstStyle/>
          <a:p>
            <a:r>
              <a:rPr sz="3600" b="0">
                <a:solidFill>
                  <a:srgbClr val="FFFFFF"/>
                </a:solidFill>
                <a:latin typeface="Inter Bold"/>
              </a:rPr>
              <a:t>Pravilo #1: </a:t>
            </a:r>
            <a:r>
              <a:rPr sz="3600" b="0">
                <a:solidFill>
                  <a:srgbClr val="00D4FF"/>
                </a:solidFill>
                <a:latin typeface="Inter Bold"/>
              </a:rPr>
              <a:t>Slojevi</a:t>
            </a:r>
          </a:p>
        </p:txBody>
      </p:sp>
      <p:sp>
        <p:nvSpPr>
          <p:cNvPr id="3" name="TextBox 2"/>
          <p:cNvSpPr txBox="1"/>
          <p:nvPr/>
        </p:nvSpPr>
        <p:spPr>
          <a:xfrm>
            <a:off x="640080" y="1371600"/>
            <a:ext cx="10908792" cy="274320"/>
          </a:xfrm>
          <a:prstGeom prst="rect">
            <a:avLst/>
          </a:prstGeom>
          <a:noFill/>
        </p:spPr>
        <p:txBody>
          <a:bodyPr wrap="square" lIns="0" rIns="0" tIns="0" bIns="0">
            <a:spAutoFit/>
          </a:bodyPr>
          <a:lstStyle/>
          <a:p>
            <a:r>
              <a:rPr sz="1400" b="0">
                <a:solidFill>
                  <a:srgbClr val="888888"/>
                </a:solidFill>
                <a:latin typeface="Inter"/>
              </a:rPr>
              <a:t>Hijerarhija odgovornosti, fiksni redoslijed</a:t>
            </a:r>
          </a:p>
        </p:txBody>
      </p:sp>
      <p:sp>
        <p:nvSpPr>
          <p:cNvPr id="4" name="Rectangle 3"/>
          <p:cNvSpPr/>
          <p:nvPr/>
        </p:nvSpPr>
        <p:spPr>
          <a:xfrm>
            <a:off x="640080" y="1691640"/>
            <a:ext cx="548640" cy="3657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194560"/>
            <a:ext cx="5852160" cy="27432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59152"/>
            <a:ext cx="5486400" cy="2414016"/>
          </a:xfrm>
          <a:prstGeom prst="rect">
            <a:avLst/>
          </a:prstGeom>
          <a:noFill/>
        </p:spPr>
        <p:txBody>
          <a:bodyPr wrap="none" lIns="0" rIns="0" tIns="0" bIns="0">
            <a:spAutoFit/>
          </a:bodyPr>
          <a:lstStyle/>
          <a:p>
            <a:pPr>
              <a:lnSpc>
                <a:spcPts val="1600"/>
              </a:lnSpc>
            </a:pPr>
            <a:r>
              <a:rPr sz="1400" b="0">
                <a:solidFill>
                  <a:srgbClr val="F2F2F2"/>
                </a:solidFill>
                <a:latin typeface="JetBrains Mono"/>
              </a:rPr>
              <a:t>src/</a:t>
            </a:r>
          </a:p>
          <a:p>
            <a:pPr>
              <a:lnSpc>
                <a:spcPts val="1600"/>
              </a:lnSpc>
            </a:pPr>
            <a:r>
              <a:rPr sz="1400" b="0">
                <a:solidFill>
                  <a:srgbClr val="FFFFFF"/>
                </a:solidFill>
                <a:latin typeface="JetBrains Mono"/>
              </a:rPr>
              <a:t>  </a:t>
            </a:r>
            <a:r>
              <a:rPr sz="1400" b="0">
                <a:solidFill>
                  <a:srgbClr val="00D4FF"/>
                </a:solidFill>
                <a:latin typeface="JetBrains Mono"/>
              </a:rPr>
              <a:t>app/</a:t>
            </a:r>
            <a:r>
              <a:rPr sz="1400" b="0">
                <a:solidFill>
                  <a:srgbClr val="FFFFFF"/>
                </a:solidFill>
                <a:latin typeface="JetBrains Mono"/>
              </a:rPr>
              <a:t>        </a:t>
            </a:r>
            <a:r>
              <a:rPr sz="1400" b="0">
                <a:solidFill>
                  <a:srgbClr val="666666"/>
                </a:solidFill>
                <a:latin typeface="JetBrains Mono"/>
              </a:rPr>
              <a:t>← inicijalizacija, providers</a:t>
            </a:r>
          </a:p>
          <a:p>
            <a:pPr>
              <a:lnSpc>
                <a:spcPts val="1600"/>
              </a:lnSpc>
            </a:pPr>
            <a:r>
              <a:rPr sz="1400" b="0">
                <a:solidFill>
                  <a:srgbClr val="FFFFFF"/>
                </a:solidFill>
                <a:latin typeface="JetBrains Mono"/>
              </a:rPr>
              <a:t>  </a:t>
            </a:r>
            <a:r>
              <a:rPr sz="1400" b="0">
                <a:solidFill>
                  <a:srgbClr val="00D4FF"/>
                </a:solidFill>
                <a:latin typeface="JetBrains Mono"/>
              </a:rPr>
              <a:t>pages/</a:t>
            </a:r>
            <a:r>
              <a:rPr sz="1400" b="0">
                <a:solidFill>
                  <a:srgbClr val="FFFFFF"/>
                </a:solidFill>
                <a:latin typeface="JetBrains Mono"/>
              </a:rPr>
              <a:t>      </a:t>
            </a:r>
            <a:r>
              <a:rPr sz="1400" b="0">
                <a:solidFill>
                  <a:srgbClr val="666666"/>
                </a:solidFill>
                <a:latin typeface="JetBrains Mono"/>
              </a:rPr>
              <a:t>← route-level kompozicija</a:t>
            </a:r>
          </a:p>
          <a:p>
            <a:pPr>
              <a:lnSpc>
                <a:spcPts val="1600"/>
              </a:lnSpc>
            </a:pPr>
            <a:r>
              <a:rPr sz="1400" b="0">
                <a:solidFill>
                  <a:srgbClr val="FFFFFF"/>
                </a:solidFill>
                <a:latin typeface="JetBrains Mono"/>
              </a:rPr>
              <a:t>  </a:t>
            </a:r>
            <a:r>
              <a:rPr sz="1400" b="0">
                <a:solidFill>
                  <a:srgbClr val="00D4FF"/>
                </a:solidFill>
                <a:latin typeface="JetBrains Mono"/>
              </a:rPr>
              <a:t>widgets/</a:t>
            </a:r>
            <a:r>
              <a:rPr sz="1400" b="0">
                <a:solidFill>
                  <a:srgbClr val="FFFFFF"/>
                </a:solidFill>
                <a:latin typeface="JetBrains Mono"/>
              </a:rPr>
              <a:t>    </a:t>
            </a:r>
            <a:r>
              <a:rPr sz="1400" b="0">
                <a:solidFill>
                  <a:srgbClr val="666666"/>
                </a:solidFill>
                <a:latin typeface="JetBrains Mono"/>
              </a:rPr>
              <a:t>← veliki UI blokovi</a:t>
            </a:r>
          </a:p>
          <a:p>
            <a:pPr>
              <a:lnSpc>
                <a:spcPts val="1600"/>
              </a:lnSpc>
            </a:pPr>
            <a:r>
              <a:rPr sz="1400" b="0">
                <a:solidFill>
                  <a:srgbClr val="FFFFFF"/>
                </a:solidFill>
                <a:latin typeface="JetBrains Mono"/>
              </a:rPr>
              <a:t>  </a:t>
            </a:r>
            <a:r>
              <a:rPr sz="1400" b="0">
                <a:solidFill>
                  <a:srgbClr val="00D4FF"/>
                </a:solidFill>
                <a:latin typeface="JetBrains Mono"/>
              </a:rPr>
              <a:t>features/</a:t>
            </a:r>
            <a:r>
              <a:rPr sz="1400" b="0">
                <a:solidFill>
                  <a:srgbClr val="FFFFFF"/>
                </a:solidFill>
                <a:latin typeface="JetBrains Mono"/>
              </a:rPr>
              <a:t>   </a:t>
            </a:r>
            <a:r>
              <a:rPr sz="1400" b="0">
                <a:solidFill>
                  <a:srgbClr val="666666"/>
                </a:solidFill>
                <a:latin typeface="JetBrains Mono"/>
              </a:rPr>
              <a:t>← korisničke akcije</a:t>
            </a:r>
          </a:p>
          <a:p>
            <a:pPr>
              <a:lnSpc>
                <a:spcPts val="1600"/>
              </a:lnSpc>
            </a:pPr>
            <a:r>
              <a:rPr sz="1400" b="0">
                <a:solidFill>
                  <a:srgbClr val="FFFFFF"/>
                </a:solidFill>
                <a:latin typeface="JetBrains Mono"/>
              </a:rPr>
              <a:t>  </a:t>
            </a:r>
            <a:r>
              <a:rPr sz="1400" b="0">
                <a:solidFill>
                  <a:srgbClr val="00D4FF"/>
                </a:solidFill>
                <a:latin typeface="JetBrains Mono"/>
              </a:rPr>
              <a:t>entities/</a:t>
            </a:r>
            <a:r>
              <a:rPr sz="1400" b="0">
                <a:solidFill>
                  <a:srgbClr val="FFFFFF"/>
                </a:solidFill>
                <a:latin typeface="JetBrains Mono"/>
              </a:rPr>
              <a:t>   </a:t>
            </a:r>
            <a:r>
              <a:rPr sz="1400" b="0">
                <a:solidFill>
                  <a:srgbClr val="666666"/>
                </a:solidFill>
                <a:latin typeface="JetBrains Mono"/>
              </a:rPr>
              <a:t>← poslovne domene</a:t>
            </a:r>
          </a:p>
          <a:p>
            <a:pPr>
              <a:lnSpc>
                <a:spcPts val="1600"/>
              </a:lnSpc>
            </a:pPr>
            <a:r>
              <a:rPr sz="1400" b="0">
                <a:solidFill>
                  <a:srgbClr val="FFFFFF"/>
                </a:solidFill>
                <a:latin typeface="JetBrains Mono"/>
              </a:rPr>
              <a:t>  </a:t>
            </a:r>
            <a:r>
              <a:rPr sz="1400" b="0">
                <a:solidFill>
                  <a:srgbClr val="00D4FF"/>
                </a:solidFill>
                <a:latin typeface="JetBrains Mono"/>
              </a:rPr>
              <a:t>shared/</a:t>
            </a:r>
            <a:r>
              <a:rPr sz="1400" b="0">
                <a:solidFill>
                  <a:srgbClr val="FFFFFF"/>
                </a:solidFill>
                <a:latin typeface="JetBrains Mono"/>
              </a:rPr>
              <a:t>     </a:t>
            </a:r>
            <a:r>
              <a:rPr sz="1400" b="0">
                <a:solidFill>
                  <a:srgbClr val="666666"/>
                </a:solidFill>
                <a:latin typeface="JetBrains Mono"/>
              </a:rPr>
              <a:t>← UI kit, utils, API klijent</a:t>
            </a:r>
          </a:p>
        </p:txBody>
      </p:sp>
      <p:sp>
        <p:nvSpPr>
          <p:cNvPr id="7" name="TextBox 6"/>
          <p:cNvSpPr txBox="1"/>
          <p:nvPr/>
        </p:nvSpPr>
        <p:spPr>
          <a:xfrm>
            <a:off x="6766560" y="2194560"/>
            <a:ext cx="5120640" cy="274320"/>
          </a:xfrm>
          <a:prstGeom prst="rect">
            <a:avLst/>
          </a:prstGeom>
          <a:noFill/>
        </p:spPr>
        <p:txBody>
          <a:bodyPr wrap="square" lIns="0" rIns="0" tIns="0" bIns="0">
            <a:spAutoFit/>
          </a:bodyPr>
          <a:lstStyle/>
          <a:p>
            <a:r>
              <a:rPr sz="1800" b="1">
                <a:solidFill>
                  <a:srgbClr val="00D4FF"/>
                </a:solidFill>
                <a:latin typeface="Inter Bold"/>
              </a:rPr>
              <a:t>Pravilo importa</a:t>
            </a:r>
          </a:p>
        </p:txBody>
      </p:sp>
      <p:sp>
        <p:nvSpPr>
          <p:cNvPr id="8" name="TextBox 7"/>
          <p:cNvSpPr txBox="1"/>
          <p:nvPr/>
        </p:nvSpPr>
        <p:spPr>
          <a:xfrm>
            <a:off x="6766560" y="2560320"/>
            <a:ext cx="5120640" cy="914400"/>
          </a:xfrm>
          <a:prstGeom prst="rect">
            <a:avLst/>
          </a:prstGeom>
          <a:noFill/>
        </p:spPr>
        <p:txBody>
          <a:bodyPr wrap="square" lIns="0" rIns="0" tIns="0" bIns="0">
            <a:spAutoFit/>
          </a:bodyPr>
          <a:lstStyle/>
          <a:p>
            <a:r>
              <a:rPr sz="1400" b="0">
                <a:solidFill>
                  <a:srgbClr val="FFFFFF"/>
                </a:solidFill>
                <a:latin typeface="Inter"/>
              </a:rPr>
              <a:t>Sloj smije importati </a:t>
            </a:r>
            <a:r>
              <a:rPr sz="1400" b="1">
                <a:solidFill>
                  <a:srgbClr val="2ED573"/>
                </a:solidFill>
                <a:latin typeface="Inter Bold"/>
              </a:rPr>
              <a:t>samo iz slojeva ispod sebe.</a:t>
            </a:r>
          </a:p>
          <a:p>
            <a:r>
              <a:rPr sz="1400" b="0">
                <a:solidFill>
                  <a:srgbClr val="FFFFFF"/>
                </a:solidFill>
                <a:latin typeface="Inter"/>
              </a:rPr>
              <a:t>Cross-importi između slica istog sloja su </a:t>
            </a:r>
            <a:r>
              <a:rPr sz="1400" b="1">
                <a:solidFill>
                  <a:srgbClr val="FF4757"/>
                </a:solidFill>
                <a:latin typeface="Inter Bold"/>
              </a:rPr>
              <a:t>zabranjeni.</a:t>
            </a:r>
          </a:p>
        </p:txBody>
      </p:sp>
      <p:sp>
        <p:nvSpPr>
          <p:cNvPr id="9" name="Rounded Rectangle 8"/>
          <p:cNvSpPr/>
          <p:nvPr/>
        </p:nvSpPr>
        <p:spPr>
          <a:xfrm>
            <a:off x="6766560" y="3931920"/>
            <a:ext cx="868680" cy="45720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app</a:t>
            </a:r>
          </a:p>
          <a:p>
            <a:pPr algn="ctr"/>
            <a:r>
              <a:rPr sz="1100" b="0">
                <a:solidFill>
                  <a:srgbClr val="888888"/>
                </a:solidFill>
                <a:latin typeface="Inter"/>
              </a:rPr>
              <a:t/>
            </a:r>
          </a:p>
        </p:txBody>
      </p:sp>
      <p:sp>
        <p:nvSpPr>
          <p:cNvPr id="10" name="TextBox 9"/>
          <p:cNvSpPr txBox="1"/>
          <p:nvPr/>
        </p:nvSpPr>
        <p:spPr>
          <a:xfrm>
            <a:off x="7635240" y="3977639"/>
            <a:ext cx="274320" cy="457200"/>
          </a:xfrm>
          <a:prstGeom prst="rect">
            <a:avLst/>
          </a:prstGeom>
          <a:noFill/>
        </p:spPr>
        <p:txBody>
          <a:bodyPr wrap="square" lIns="0" rIns="0" tIns="0" bIns="0">
            <a:spAutoFit/>
          </a:bodyPr>
          <a:lstStyle/>
          <a:p>
            <a:pPr algn="ctr"/>
            <a:r>
              <a:rPr sz="2400" b="1">
                <a:solidFill>
                  <a:srgbClr val="00D4FF"/>
                </a:solidFill>
                <a:latin typeface="Inter Bold"/>
              </a:rPr>
              <a:t>→</a:t>
            </a:r>
          </a:p>
        </p:txBody>
      </p:sp>
      <p:sp>
        <p:nvSpPr>
          <p:cNvPr id="11" name="Rounded Rectangle 10"/>
          <p:cNvSpPr/>
          <p:nvPr/>
        </p:nvSpPr>
        <p:spPr>
          <a:xfrm>
            <a:off x="7909560" y="3931920"/>
            <a:ext cx="868680" cy="45720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pages</a:t>
            </a:r>
          </a:p>
          <a:p>
            <a:pPr algn="ctr"/>
            <a:r>
              <a:rPr sz="1100" b="0">
                <a:solidFill>
                  <a:srgbClr val="888888"/>
                </a:solidFill>
                <a:latin typeface="Inter"/>
              </a:rPr>
              <a:t/>
            </a:r>
          </a:p>
        </p:txBody>
      </p:sp>
      <p:sp>
        <p:nvSpPr>
          <p:cNvPr id="12" name="TextBox 11"/>
          <p:cNvSpPr txBox="1"/>
          <p:nvPr/>
        </p:nvSpPr>
        <p:spPr>
          <a:xfrm>
            <a:off x="8778240" y="3977639"/>
            <a:ext cx="274320" cy="457200"/>
          </a:xfrm>
          <a:prstGeom prst="rect">
            <a:avLst/>
          </a:prstGeom>
          <a:noFill/>
        </p:spPr>
        <p:txBody>
          <a:bodyPr wrap="square" lIns="0" rIns="0" tIns="0" bIns="0">
            <a:spAutoFit/>
          </a:bodyPr>
          <a:lstStyle/>
          <a:p>
            <a:pPr algn="ctr"/>
            <a:r>
              <a:rPr sz="2400" b="1">
                <a:solidFill>
                  <a:srgbClr val="00D4FF"/>
                </a:solidFill>
                <a:latin typeface="Inter Bold"/>
              </a:rPr>
              <a:t>→</a:t>
            </a:r>
          </a:p>
        </p:txBody>
      </p:sp>
      <p:sp>
        <p:nvSpPr>
          <p:cNvPr id="13" name="Rounded Rectangle 12"/>
          <p:cNvSpPr/>
          <p:nvPr/>
        </p:nvSpPr>
        <p:spPr>
          <a:xfrm>
            <a:off x="9052560" y="3931920"/>
            <a:ext cx="868680" cy="45720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a:t>
            </a:r>
          </a:p>
          <a:p>
            <a:pPr algn="ctr"/>
            <a:r>
              <a:rPr sz="1100" b="0">
                <a:solidFill>
                  <a:srgbClr val="888888"/>
                </a:solidFill>
                <a:latin typeface="Inter"/>
              </a:rPr>
              <a:t/>
            </a:r>
          </a:p>
        </p:txBody>
      </p:sp>
      <p:sp>
        <p:nvSpPr>
          <p:cNvPr id="14" name="TextBox 13"/>
          <p:cNvSpPr txBox="1"/>
          <p:nvPr/>
        </p:nvSpPr>
        <p:spPr>
          <a:xfrm>
            <a:off x="9921240" y="3977639"/>
            <a:ext cx="274320" cy="457200"/>
          </a:xfrm>
          <a:prstGeom prst="rect">
            <a:avLst/>
          </a:prstGeom>
          <a:noFill/>
        </p:spPr>
        <p:txBody>
          <a:bodyPr wrap="square" lIns="0" rIns="0" tIns="0" bIns="0">
            <a:spAutoFit/>
          </a:bodyPr>
          <a:lstStyle/>
          <a:p>
            <a:pPr algn="ctr"/>
            <a:r>
              <a:rPr sz="2400" b="1">
                <a:solidFill>
                  <a:srgbClr val="00D4FF"/>
                </a:solidFill>
                <a:latin typeface="Inter Bold"/>
              </a:rPr>
              <a:t>→</a:t>
            </a:r>
          </a:p>
        </p:txBody>
      </p:sp>
      <p:sp>
        <p:nvSpPr>
          <p:cNvPr id="15" name="Rounded Rectangle 14"/>
          <p:cNvSpPr/>
          <p:nvPr/>
        </p:nvSpPr>
        <p:spPr>
          <a:xfrm>
            <a:off x="10195560" y="3931920"/>
            <a:ext cx="868680" cy="457200"/>
          </a:xfrm>
          <a:prstGeom prst="roundRect">
            <a:avLst>
              <a:gd name="adj" fmla="val 18000"/>
            </a:avLst>
          </a:prstGeom>
          <a:solidFill>
            <a:srgbClr val="1A1A2E"/>
          </a:solidFill>
          <a:ln w="15875">
            <a:solidFill>
              <a:srgbClr val="00D4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800" b="1">
                <a:solidFill>
                  <a:srgbClr val="FFFFFF"/>
                </a:solidFill>
                <a:latin typeface="Inter Bold"/>
              </a:rPr>
              <a:t>shared</a:t>
            </a:r>
          </a:p>
          <a:p>
            <a:pPr algn="ctr"/>
            <a:r>
              <a:rPr sz="1100" b="0">
                <a:solidFill>
                  <a:srgbClr val="888888"/>
                </a:solidFill>
                <a:latin typeface="Inter"/>
              </a:rPr>
              <a:t/>
            </a:r>
          </a:p>
        </p:txBody>
      </p:sp>
      <p:sp>
        <p:nvSpPr>
          <p:cNvPr id="16" name="TextBox 15"/>
          <p:cNvSpPr txBox="1"/>
          <p:nvPr/>
        </p:nvSpPr>
        <p:spPr>
          <a:xfrm>
            <a:off x="640080" y="5212080"/>
            <a:ext cx="5486400" cy="274320"/>
          </a:xfrm>
          <a:prstGeom prst="rect">
            <a:avLst/>
          </a:prstGeom>
          <a:noFill/>
        </p:spPr>
        <p:txBody>
          <a:bodyPr wrap="square" lIns="0" rIns="0" tIns="0" bIns="0">
            <a:spAutoFit/>
          </a:bodyPr>
          <a:lstStyle/>
          <a:p>
            <a:r>
              <a:rPr sz="1800" b="1">
                <a:solidFill>
                  <a:srgbClr val="00D4FF"/>
                </a:solidFill>
                <a:latin typeface="Inter Bold"/>
              </a:rPr>
              <a:t>Mapa odgovornosti</a:t>
            </a:r>
          </a:p>
        </p:txBody>
      </p:sp>
      <p:sp>
        <p:nvSpPr>
          <p:cNvPr id="17" name="TextBox 16"/>
          <p:cNvSpPr txBox="1"/>
          <p:nvPr/>
        </p:nvSpPr>
        <p:spPr>
          <a:xfrm>
            <a:off x="640080" y="5532120"/>
            <a:ext cx="5486400" cy="914400"/>
          </a:xfrm>
          <a:prstGeom prst="rect">
            <a:avLst/>
          </a:prstGeom>
          <a:noFill/>
        </p:spPr>
        <p:txBody>
          <a:bodyPr wrap="square" lIns="0" rIns="0" tIns="0" bIns="0">
            <a:spAutoFit/>
          </a:bodyPr>
          <a:lstStyle/>
          <a:p>
            <a:r>
              <a:rPr sz="1300" b="0">
                <a:solidFill>
                  <a:srgbClr val="FFFFFF"/>
                </a:solidFill>
                <a:latin typeface="Inter"/>
              </a:rPr>
              <a:t>AI pročita file tree i </a:t>
            </a:r>
            <a:r>
              <a:rPr sz="1300" b="1">
                <a:solidFill>
                  <a:srgbClr val="00D4FF"/>
                </a:solidFill>
                <a:latin typeface="Inter Bold"/>
              </a:rPr>
              <a:t>odmah zna</a:t>
            </a:r>
            <a:r>
              <a:rPr sz="1300" b="0">
                <a:solidFill>
                  <a:srgbClr val="FFFFFF"/>
                </a:solidFill>
                <a:latin typeface="Inter"/>
              </a:rPr>
              <a:t> gdje je poslovna logika, gdje akcije, a gdje infrastruktura.</a:t>
            </a:r>
          </a:p>
        </p:txBody>
      </p:sp>
      <p:sp>
        <p:nvSpPr>
          <p:cNvPr id="18" name="TextBox 17"/>
          <p:cNvSpPr txBox="1"/>
          <p:nvPr/>
        </p:nvSpPr>
        <p:spPr>
          <a:xfrm>
            <a:off x="6400800" y="5212080"/>
            <a:ext cx="5486400" cy="274320"/>
          </a:xfrm>
          <a:prstGeom prst="rect">
            <a:avLst/>
          </a:prstGeom>
          <a:noFill/>
        </p:spPr>
        <p:txBody>
          <a:bodyPr wrap="square" lIns="0" rIns="0" tIns="0" bIns="0">
            <a:spAutoFit/>
          </a:bodyPr>
          <a:lstStyle/>
          <a:p>
            <a:r>
              <a:rPr sz="1800" b="1">
                <a:solidFill>
                  <a:srgbClr val="00D4FF"/>
                </a:solidFill>
                <a:latin typeface="Inter Bold"/>
              </a:rPr>
              <a:t>Manje context-hopova</a:t>
            </a:r>
          </a:p>
        </p:txBody>
      </p:sp>
      <p:sp>
        <p:nvSpPr>
          <p:cNvPr id="19" name="TextBox 18"/>
          <p:cNvSpPr txBox="1"/>
          <p:nvPr/>
        </p:nvSpPr>
        <p:spPr>
          <a:xfrm>
            <a:off x="6400800" y="5532120"/>
            <a:ext cx="5486400" cy="914400"/>
          </a:xfrm>
          <a:prstGeom prst="rect">
            <a:avLst/>
          </a:prstGeom>
          <a:noFill/>
        </p:spPr>
        <p:txBody>
          <a:bodyPr wrap="square" lIns="0" rIns="0" tIns="0" bIns="0">
            <a:spAutoFit/>
          </a:bodyPr>
          <a:lstStyle/>
          <a:p>
            <a:r>
              <a:rPr sz="1300" b="0">
                <a:solidFill>
                  <a:srgbClr val="FFFFFF"/>
                </a:solidFill>
                <a:latin typeface="Inter"/>
              </a:rPr>
              <a:t>Jednosmjerni tok importa = </a:t>
            </a:r>
            <a:r>
              <a:rPr sz="1300" b="1">
                <a:solidFill>
                  <a:srgbClr val="00D4FF"/>
                </a:solidFill>
                <a:latin typeface="Inter Bold"/>
              </a:rPr>
              <a:t>konačan put kroz ovisnosti</a:t>
            </a:r>
            <a:r>
              <a:rPr sz="1300" b="0">
                <a:solidFill>
                  <a:srgbClr val="FFFFFF"/>
                </a:solidFill>
                <a:latin typeface="Inter"/>
              </a:rPr>
              <a:t>. Manje koraka, manje potrošenih tokena.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502920"/>
            <a:ext cx="10908792" cy="594360"/>
          </a:xfrm>
          <a:prstGeom prst="rect">
            <a:avLst/>
          </a:prstGeom>
          <a:noFill/>
        </p:spPr>
        <p:txBody>
          <a:bodyPr wrap="square" lIns="0" rIns="0" tIns="0" bIns="0">
            <a:spAutoFit/>
          </a:bodyPr>
          <a:lstStyle/>
          <a:p>
            <a:r>
              <a:rPr sz="3600" b="0">
                <a:solidFill>
                  <a:srgbClr val="FFFFFF"/>
                </a:solidFill>
                <a:latin typeface="Inter Bold"/>
              </a:rPr>
              <a:t>Pravilo #2: </a:t>
            </a:r>
            <a:r>
              <a:rPr sz="3600" b="0">
                <a:solidFill>
                  <a:srgbClr val="00D4FF"/>
                </a:solidFill>
                <a:latin typeface="Inter Bold"/>
              </a:rPr>
              <a:t>Slices &amp; Segments</a:t>
            </a:r>
          </a:p>
        </p:txBody>
      </p:sp>
      <p:sp>
        <p:nvSpPr>
          <p:cNvPr id="3" name="TextBox 2"/>
          <p:cNvSpPr txBox="1"/>
          <p:nvPr/>
        </p:nvSpPr>
        <p:spPr>
          <a:xfrm>
            <a:off x="640080" y="1371600"/>
            <a:ext cx="10908792" cy="274320"/>
          </a:xfrm>
          <a:prstGeom prst="rect">
            <a:avLst/>
          </a:prstGeom>
          <a:noFill/>
        </p:spPr>
        <p:txBody>
          <a:bodyPr wrap="square" lIns="0" rIns="0" tIns="0" bIns="0">
            <a:spAutoFit/>
          </a:bodyPr>
          <a:lstStyle/>
          <a:p>
            <a:r>
              <a:rPr sz="1400" b="0">
                <a:solidFill>
                  <a:srgbClr val="888888"/>
                </a:solidFill>
                <a:latin typeface="Inter"/>
              </a:rPr>
              <a:t>Domena (slice) × tehnička svrha (segment)</a:t>
            </a:r>
          </a:p>
        </p:txBody>
      </p:sp>
      <p:sp>
        <p:nvSpPr>
          <p:cNvPr id="4" name="Rectangle 3"/>
          <p:cNvSpPr/>
          <p:nvPr/>
        </p:nvSpPr>
        <p:spPr>
          <a:xfrm>
            <a:off x="640080" y="1691640"/>
            <a:ext cx="548640" cy="3657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194560"/>
            <a:ext cx="5486400" cy="274320"/>
          </a:xfrm>
          <a:prstGeom prst="rect">
            <a:avLst/>
          </a:prstGeom>
          <a:noFill/>
        </p:spPr>
        <p:txBody>
          <a:bodyPr wrap="square" lIns="0" rIns="0" tIns="0" bIns="0">
            <a:spAutoFit/>
          </a:bodyPr>
          <a:lstStyle/>
          <a:p>
            <a:r>
              <a:rPr sz="1800" b="1">
                <a:solidFill>
                  <a:srgbClr val="00D4FF"/>
                </a:solidFill>
                <a:latin typeface="Inter Bold"/>
              </a:rPr>
              <a:t>Slice = poslovna domena</a:t>
            </a:r>
          </a:p>
        </p:txBody>
      </p:sp>
      <p:sp>
        <p:nvSpPr>
          <p:cNvPr id="6" name="Rectangle 5"/>
          <p:cNvSpPr/>
          <p:nvPr/>
        </p:nvSpPr>
        <p:spPr>
          <a:xfrm>
            <a:off x="640080" y="2560320"/>
            <a:ext cx="5486400" cy="155448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724912"/>
            <a:ext cx="5120640" cy="1225295"/>
          </a:xfrm>
          <a:prstGeom prst="rect">
            <a:avLst/>
          </a:prstGeom>
          <a:noFill/>
        </p:spPr>
        <p:txBody>
          <a:bodyPr wrap="none" lIns="0" rIns="0" tIns="0" bIns="0">
            <a:spAutoFit/>
          </a:bodyPr>
          <a:lstStyle/>
          <a:p>
            <a:pPr>
              <a:lnSpc>
                <a:spcPts val="1600"/>
              </a:lnSpc>
            </a:pPr>
            <a:r>
              <a:rPr sz="1400" b="0">
                <a:solidFill>
                  <a:srgbClr val="F2F2F2"/>
                </a:solidFill>
                <a:latin typeface="JetBrains Mono"/>
              </a:rPr>
              <a:t>features/</a:t>
            </a:r>
          </a:p>
          <a:p>
            <a:pPr>
              <a:lnSpc>
                <a:spcPts val="1600"/>
              </a:lnSpc>
            </a:pPr>
            <a:r>
              <a:rPr sz="1400" b="0">
                <a:solidFill>
                  <a:srgbClr val="FFFFFF"/>
                </a:solidFill>
                <a:latin typeface="JetBrains Mono"/>
              </a:rPr>
              <a:t>  </a:t>
            </a:r>
            <a:r>
              <a:rPr sz="1400" b="0">
                <a:solidFill>
                  <a:srgbClr val="00D4FF"/>
                </a:solidFill>
                <a:latin typeface="JetBrains Mono"/>
              </a:rPr>
              <a:t>auth/</a:t>
            </a:r>
            <a:r>
              <a:rPr sz="1400" b="0">
                <a:solidFill>
                  <a:srgbClr val="FFFFFF"/>
                </a:solidFill>
                <a:latin typeface="JetBrains Mono"/>
              </a:rPr>
              <a:t>           </a:t>
            </a:r>
            <a:r>
              <a:rPr sz="1400" b="0">
                <a:solidFill>
                  <a:srgbClr val="666666"/>
                </a:solidFill>
                <a:latin typeface="JetBrains Mono"/>
              </a:rPr>
              <a:t>← jedan slice</a:t>
            </a:r>
          </a:p>
          <a:p>
            <a:pPr>
              <a:lnSpc>
                <a:spcPts val="1600"/>
              </a:lnSpc>
            </a:pPr>
            <a:r>
              <a:rPr sz="1400" b="0">
                <a:solidFill>
                  <a:srgbClr val="FFFFFF"/>
                </a:solidFill>
                <a:latin typeface="JetBrains Mono"/>
              </a:rPr>
              <a:t>  </a:t>
            </a:r>
            <a:r>
              <a:rPr sz="1400" b="0">
                <a:solidFill>
                  <a:srgbClr val="00D4FF"/>
                </a:solidFill>
                <a:latin typeface="JetBrains Mono"/>
              </a:rPr>
              <a:t>profile-edit/</a:t>
            </a:r>
            <a:r>
              <a:rPr sz="1400" b="0">
                <a:solidFill>
                  <a:srgbClr val="FFFFFF"/>
                </a:solidFill>
                <a:latin typeface="JetBrains Mono"/>
              </a:rPr>
              <a:t>   </a:t>
            </a:r>
            <a:r>
              <a:rPr sz="1400" b="0">
                <a:solidFill>
                  <a:srgbClr val="666666"/>
                </a:solidFill>
                <a:latin typeface="JetBrains Mono"/>
              </a:rPr>
              <a:t>← drugi slice</a:t>
            </a:r>
          </a:p>
          <a:p>
            <a:pPr>
              <a:lnSpc>
                <a:spcPts val="1600"/>
              </a:lnSpc>
            </a:pPr>
            <a:r>
              <a:rPr sz="1400" b="0">
                <a:solidFill>
                  <a:srgbClr val="FFFFFF"/>
                </a:solidFill>
                <a:latin typeface="JetBrains Mono"/>
              </a:rPr>
              <a:t>  </a:t>
            </a:r>
            <a:r>
              <a:rPr sz="1400" b="0">
                <a:solidFill>
                  <a:srgbClr val="00D4FF"/>
                </a:solidFill>
                <a:latin typeface="JetBrains Mono"/>
              </a:rPr>
              <a:t>like-post/</a:t>
            </a:r>
            <a:r>
              <a:rPr sz="1400" b="0">
                <a:solidFill>
                  <a:srgbClr val="FFFFFF"/>
                </a:solidFill>
                <a:latin typeface="JetBrains Mono"/>
              </a:rPr>
              <a:t>      </a:t>
            </a:r>
            <a:r>
              <a:rPr sz="1400" b="0">
                <a:solidFill>
                  <a:srgbClr val="666666"/>
                </a:solidFill>
                <a:latin typeface="JetBrains Mono"/>
              </a:rPr>
              <a:t>← treći slice</a:t>
            </a:r>
          </a:p>
        </p:txBody>
      </p:sp>
      <p:sp>
        <p:nvSpPr>
          <p:cNvPr id="8" name="TextBox 7"/>
          <p:cNvSpPr txBox="1"/>
          <p:nvPr/>
        </p:nvSpPr>
        <p:spPr>
          <a:xfrm>
            <a:off x="640080" y="4206240"/>
            <a:ext cx="5486400" cy="731520"/>
          </a:xfrm>
          <a:prstGeom prst="rect">
            <a:avLst/>
          </a:prstGeom>
          <a:noFill/>
        </p:spPr>
        <p:txBody>
          <a:bodyPr wrap="square" lIns="0" rIns="0" tIns="0" bIns="0">
            <a:spAutoFit/>
          </a:bodyPr>
          <a:lstStyle/>
          <a:p>
            <a:r>
              <a:rPr sz="1300" b="0">
                <a:solidFill>
                  <a:srgbClr val="FFFFFF"/>
                </a:solidFill>
                <a:latin typeface="Inter"/>
              </a:rPr>
              <a:t>Slice grupira sve što pripada </a:t>
            </a:r>
            <a:r>
              <a:rPr sz="1300" b="1">
                <a:solidFill>
                  <a:srgbClr val="00D4FF"/>
                </a:solidFill>
                <a:latin typeface="Inter Bold"/>
              </a:rPr>
              <a:t>jednoj domeni</a:t>
            </a:r>
            <a:r>
              <a:rPr sz="1300" b="0">
                <a:solidFill>
                  <a:srgbClr val="FFFFFF"/>
                </a:solidFill>
                <a:latin typeface="Inter"/>
              </a:rPr>
              <a:t> — bez couplinga sa susjedima.</a:t>
            </a:r>
          </a:p>
        </p:txBody>
      </p:sp>
      <p:sp>
        <p:nvSpPr>
          <p:cNvPr id="9" name="TextBox 8"/>
          <p:cNvSpPr txBox="1"/>
          <p:nvPr/>
        </p:nvSpPr>
        <p:spPr>
          <a:xfrm>
            <a:off x="6400800" y="2194560"/>
            <a:ext cx="5486400" cy="274320"/>
          </a:xfrm>
          <a:prstGeom prst="rect">
            <a:avLst/>
          </a:prstGeom>
          <a:noFill/>
        </p:spPr>
        <p:txBody>
          <a:bodyPr wrap="square" lIns="0" rIns="0" tIns="0" bIns="0">
            <a:spAutoFit/>
          </a:bodyPr>
          <a:lstStyle/>
          <a:p>
            <a:r>
              <a:rPr sz="1800" b="1">
                <a:solidFill>
                  <a:srgbClr val="00D4FF"/>
                </a:solidFill>
                <a:latin typeface="Inter Bold"/>
              </a:rPr>
              <a:t>Segment = tehnička svrha</a:t>
            </a:r>
          </a:p>
        </p:txBody>
      </p:sp>
      <p:sp>
        <p:nvSpPr>
          <p:cNvPr id="10" name="Rectangle 9"/>
          <p:cNvSpPr/>
          <p:nvPr/>
        </p:nvSpPr>
        <p:spPr>
          <a:xfrm>
            <a:off x="6400800" y="2560320"/>
            <a:ext cx="5486400" cy="155448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724912"/>
            <a:ext cx="5120640" cy="1225295"/>
          </a:xfrm>
          <a:prstGeom prst="rect">
            <a:avLst/>
          </a:prstGeom>
          <a:noFill/>
        </p:spPr>
        <p:txBody>
          <a:bodyPr wrap="none" lIns="0" rIns="0" tIns="0" bIns="0">
            <a:spAutoFit/>
          </a:bodyPr>
          <a:lstStyle/>
          <a:p>
            <a:pPr>
              <a:lnSpc>
                <a:spcPts val="1600"/>
              </a:lnSpc>
            </a:pPr>
            <a:r>
              <a:rPr sz="1400" b="0">
                <a:solidFill>
                  <a:srgbClr val="F2F2F2"/>
                </a:solidFill>
                <a:latin typeface="JetBrains Mono"/>
              </a:rPr>
              <a:t>features/auth/</a:t>
            </a:r>
          </a:p>
          <a:p>
            <a:pPr>
              <a:lnSpc>
                <a:spcPts val="1600"/>
              </a:lnSpc>
            </a:pPr>
            <a:r>
              <a:rPr sz="1400" b="0">
                <a:solidFill>
                  <a:srgbClr val="FFFFFF"/>
                </a:solidFill>
                <a:latin typeface="JetBrains Mono"/>
              </a:rPr>
              <a:t>  </a:t>
            </a:r>
            <a:r>
              <a:rPr sz="1400" b="0">
                <a:solidFill>
                  <a:srgbClr val="00D4FF"/>
                </a:solidFill>
                <a:latin typeface="JetBrains Mono"/>
              </a:rPr>
              <a:t>ui/</a:t>
            </a:r>
            <a:r>
              <a:rPr sz="1400" b="0">
                <a:solidFill>
                  <a:srgbClr val="FFFFFF"/>
                </a:solidFill>
                <a:latin typeface="JetBrains Mono"/>
              </a:rPr>
              <a:t>       </a:t>
            </a:r>
            <a:r>
              <a:rPr sz="1400" b="0">
                <a:solidFill>
                  <a:srgbClr val="666666"/>
                </a:solidFill>
                <a:latin typeface="JetBrains Mono"/>
              </a:rPr>
              <a:t>← komponente, stilovi</a:t>
            </a:r>
          </a:p>
          <a:p>
            <a:pPr>
              <a:lnSpc>
                <a:spcPts val="1600"/>
              </a:lnSpc>
            </a:pPr>
            <a:r>
              <a:rPr sz="1400" b="0">
                <a:solidFill>
                  <a:srgbClr val="FFFFFF"/>
                </a:solidFill>
                <a:latin typeface="JetBrains Mono"/>
              </a:rPr>
              <a:t>  </a:t>
            </a:r>
            <a:r>
              <a:rPr sz="1400" b="0">
                <a:solidFill>
                  <a:srgbClr val="00D4FF"/>
                </a:solidFill>
                <a:latin typeface="JetBrains Mono"/>
              </a:rPr>
              <a:t>model/</a:t>
            </a:r>
            <a:r>
              <a:rPr sz="1400" b="0">
                <a:solidFill>
                  <a:srgbClr val="FFFFFF"/>
                </a:solidFill>
                <a:latin typeface="JetBrains Mono"/>
              </a:rPr>
              <a:t>    </a:t>
            </a:r>
            <a:r>
              <a:rPr sz="1400" b="0">
                <a:solidFill>
                  <a:srgbClr val="666666"/>
                </a:solidFill>
                <a:latin typeface="JetBrains Mono"/>
              </a:rPr>
              <a:t>← state, validacija</a:t>
            </a:r>
          </a:p>
          <a:p>
            <a:pPr>
              <a:lnSpc>
                <a:spcPts val="1600"/>
              </a:lnSpc>
            </a:pPr>
            <a:r>
              <a:rPr sz="1400" b="0">
                <a:solidFill>
                  <a:srgbClr val="FFFFFF"/>
                </a:solidFill>
                <a:latin typeface="JetBrains Mono"/>
              </a:rPr>
              <a:t>  </a:t>
            </a:r>
            <a:r>
              <a:rPr sz="1400" b="0">
                <a:solidFill>
                  <a:srgbClr val="00D4FF"/>
                </a:solidFill>
                <a:latin typeface="JetBrains Mono"/>
              </a:rPr>
              <a:t>api/</a:t>
            </a:r>
            <a:r>
              <a:rPr sz="1400" b="0">
                <a:solidFill>
                  <a:srgbClr val="FFFFFF"/>
                </a:solidFill>
                <a:latin typeface="JetBrains Mono"/>
              </a:rPr>
              <a:t>      </a:t>
            </a:r>
            <a:r>
              <a:rPr sz="1400" b="0">
                <a:solidFill>
                  <a:srgbClr val="666666"/>
                </a:solidFill>
                <a:latin typeface="JetBrains Mono"/>
              </a:rPr>
              <a:t>← backend pozivi</a:t>
            </a:r>
          </a:p>
          <a:p>
            <a:pPr>
              <a:lnSpc>
                <a:spcPts val="1600"/>
              </a:lnSpc>
            </a:pPr>
            <a:r>
              <a:rPr sz="1400" b="0">
                <a:solidFill>
                  <a:srgbClr val="FFFFFF"/>
                </a:solidFill>
                <a:latin typeface="JetBrains Mono"/>
              </a:rPr>
              <a:t>  </a:t>
            </a:r>
            <a:r>
              <a:rPr sz="1400" b="0">
                <a:solidFill>
                  <a:srgbClr val="00D4FF"/>
                </a:solidFill>
                <a:latin typeface="JetBrains Mono"/>
              </a:rPr>
              <a:t>lib/</a:t>
            </a:r>
            <a:r>
              <a:rPr sz="1400" b="0">
                <a:solidFill>
                  <a:srgbClr val="FFFFFF"/>
                </a:solidFill>
                <a:latin typeface="JetBrains Mono"/>
              </a:rPr>
              <a:t>      </a:t>
            </a:r>
            <a:r>
              <a:rPr sz="1400" b="0">
                <a:solidFill>
                  <a:srgbClr val="666666"/>
                </a:solidFill>
                <a:latin typeface="JetBrains Mono"/>
              </a:rPr>
              <a:t>← utility funkcije</a:t>
            </a:r>
          </a:p>
        </p:txBody>
      </p:sp>
      <p:sp>
        <p:nvSpPr>
          <p:cNvPr id="12" name="TextBox 11"/>
          <p:cNvSpPr txBox="1"/>
          <p:nvPr/>
        </p:nvSpPr>
        <p:spPr>
          <a:xfrm>
            <a:off x="6400800" y="4206240"/>
            <a:ext cx="5486400" cy="731520"/>
          </a:xfrm>
          <a:prstGeom prst="rect">
            <a:avLst/>
          </a:prstGeom>
          <a:noFill/>
        </p:spPr>
        <p:txBody>
          <a:bodyPr wrap="square" lIns="0" rIns="0" tIns="0" bIns="0">
            <a:spAutoFit/>
          </a:bodyPr>
          <a:lstStyle/>
          <a:p>
            <a:r>
              <a:rPr sz="1300" b="0">
                <a:solidFill>
                  <a:srgbClr val="FFFFFF"/>
                </a:solidFill>
                <a:latin typeface="Inter"/>
              </a:rPr>
              <a:t>Standardizirana imena segmenata </a:t>
            </a:r>
            <a:r>
              <a:rPr sz="1300" b="1">
                <a:solidFill>
                  <a:srgbClr val="00D4FF"/>
                </a:solidFill>
                <a:latin typeface="Inter Bold"/>
              </a:rPr>
              <a:t>u svakom slice-u</a:t>
            </a:r>
            <a:r>
              <a:rPr sz="1300" b="0">
                <a:solidFill>
                  <a:srgbClr val="FFFFFF"/>
                </a:solidFill>
                <a:latin typeface="Inter"/>
              </a:rPr>
              <a:t>.</a:t>
            </a:r>
          </a:p>
        </p:txBody>
      </p:sp>
      <p:sp>
        <p:nvSpPr>
          <p:cNvPr id="13" name="Rounded Rectangle 12"/>
          <p:cNvSpPr/>
          <p:nvPr/>
        </p:nvSpPr>
        <p:spPr>
          <a:xfrm>
            <a:off x="640080" y="5074920"/>
            <a:ext cx="10972800" cy="1188720"/>
          </a:xfrm>
          <a:prstGeom prst="roundRect">
            <a:avLst>
              <a:gd name="adj" fmla="val 8000"/>
            </a:avLst>
          </a:prstGeom>
          <a:solidFill>
            <a:srgbClr val="0E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5074920"/>
            <a:ext cx="54864" cy="118872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10515600" cy="822960"/>
          </a:xfrm>
          <a:prstGeom prst="rect">
            <a:avLst/>
          </a:prstGeom>
          <a:noFill/>
        </p:spPr>
        <p:txBody>
          <a:bodyPr wrap="square" lIns="0" rIns="0" tIns="0" bIns="0">
            <a:spAutoFit/>
          </a:bodyPr>
          <a:lstStyle/>
          <a:p>
            <a:r>
              <a:rPr sz="1500" b="0">
                <a:solidFill>
                  <a:srgbClr val="FFFFFF"/>
                </a:solidFill>
                <a:latin typeface="Inter"/>
              </a:rPr>
              <a:t>AI pomoć: granice slica = manje context pollutiona, segmenti = </a:t>
            </a:r>
            <a:r>
              <a:rPr sz="1500" b="1">
                <a:solidFill>
                  <a:srgbClr val="00D4FF"/>
                </a:solidFill>
                <a:latin typeface="Inter Bold"/>
              </a:rPr>
              <a:t>pattern matching</a:t>
            </a:r>
            <a:r>
              <a:rPr sz="1500" b="0">
                <a:solidFill>
                  <a:srgbClr val="FFFFFF"/>
                </a:solidFill>
                <a:latin typeface="Inter"/>
              </a:rPr>
              <a:t> kroz cijeli projekt. „Trebam fetch korisnika?“ → entities/user/api/. Bez pretrage.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502920"/>
            <a:ext cx="10908792" cy="594360"/>
          </a:xfrm>
          <a:prstGeom prst="rect">
            <a:avLst/>
          </a:prstGeom>
          <a:noFill/>
        </p:spPr>
        <p:txBody>
          <a:bodyPr wrap="square" lIns="0" rIns="0" tIns="0" bIns="0">
            <a:spAutoFit/>
          </a:bodyPr>
          <a:lstStyle/>
          <a:p>
            <a:r>
              <a:rPr sz="3600" b="0">
                <a:solidFill>
                  <a:srgbClr val="FFFFFF"/>
                </a:solidFill>
                <a:latin typeface="Inter Bold"/>
              </a:rPr>
              <a:t>Pravilo #3: </a:t>
            </a:r>
            <a:r>
              <a:rPr sz="3600" b="0">
                <a:solidFill>
                  <a:srgbClr val="00D4FF"/>
                </a:solidFill>
                <a:latin typeface="Inter Bold"/>
              </a:rPr>
              <a:t>Public API</a:t>
            </a:r>
          </a:p>
        </p:txBody>
      </p:sp>
      <p:sp>
        <p:nvSpPr>
          <p:cNvPr id="3" name="TextBox 2"/>
          <p:cNvSpPr txBox="1"/>
          <p:nvPr/>
        </p:nvSpPr>
        <p:spPr>
          <a:xfrm>
            <a:off x="640080" y="1371600"/>
            <a:ext cx="10908792" cy="274320"/>
          </a:xfrm>
          <a:prstGeom prst="rect">
            <a:avLst/>
          </a:prstGeom>
          <a:noFill/>
        </p:spPr>
        <p:txBody>
          <a:bodyPr wrap="square" lIns="0" rIns="0" tIns="0" bIns="0">
            <a:spAutoFit/>
          </a:bodyPr>
          <a:lstStyle/>
          <a:p>
            <a:r>
              <a:rPr sz="1400" b="0">
                <a:solidFill>
                  <a:srgbClr val="888888"/>
                </a:solidFill>
                <a:latin typeface="Inter"/>
              </a:rPr>
              <a:t>Svaki slice eksponira </a:t>
            </a:r>
            <a:r>
              <a:rPr sz="1400" b="0">
                <a:solidFill>
                  <a:srgbClr val="00D4FF"/>
                </a:solidFill>
                <a:latin typeface="JetBrains Mono"/>
              </a:rPr>
              <a:t>index.ts</a:t>
            </a:r>
            <a:r>
              <a:rPr sz="1400" b="0">
                <a:solidFill>
                  <a:srgbClr val="888888"/>
                </a:solidFill>
                <a:latin typeface="Inter"/>
              </a:rPr>
              <a:t> kao ugovor</a:t>
            </a:r>
          </a:p>
        </p:txBody>
      </p:sp>
      <p:sp>
        <p:nvSpPr>
          <p:cNvPr id="4" name="Rectangle 3"/>
          <p:cNvSpPr/>
          <p:nvPr/>
        </p:nvSpPr>
        <p:spPr>
          <a:xfrm>
            <a:off x="640080" y="1691640"/>
            <a:ext cx="548640" cy="3657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194560"/>
            <a:ext cx="5303520" cy="301752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59152"/>
            <a:ext cx="4937759" cy="2688336"/>
          </a:xfrm>
          <a:prstGeom prst="rect">
            <a:avLst/>
          </a:prstGeom>
          <a:noFill/>
        </p:spPr>
        <p:txBody>
          <a:bodyPr wrap="none" lIns="0" rIns="0" tIns="0" bIns="0">
            <a:spAutoFit/>
          </a:bodyPr>
          <a:lstStyle/>
          <a:p>
            <a:pPr>
              <a:lnSpc>
                <a:spcPts val="1600"/>
              </a:lnSpc>
            </a:pPr>
            <a:r>
              <a:rPr sz="1200" b="0">
                <a:solidFill>
                  <a:srgbClr val="F2F2F2"/>
                </a:solidFill>
                <a:latin typeface="JetBrains Mono"/>
              </a:rPr>
              <a:t>features/auth/</a:t>
            </a:r>
          </a:p>
          <a:p>
            <a:pPr>
              <a:lnSpc>
                <a:spcPts val="1600"/>
              </a:lnSpc>
            </a:pPr>
            <a:r>
              <a:rPr sz="1200" b="0">
                <a:solidFill>
                  <a:srgbClr val="F2F2F2"/>
                </a:solidFill>
                <a:latin typeface="JetBrains Mono"/>
              </a:rPr>
              <a:t>  ui/</a:t>
            </a:r>
          </a:p>
          <a:p>
            <a:pPr>
              <a:lnSpc>
                <a:spcPts val="1600"/>
              </a:lnSpc>
            </a:pPr>
            <a:r>
              <a:rPr sz="1200" b="0">
                <a:solidFill>
                  <a:srgbClr val="F2F2F2"/>
                </a:solidFill>
                <a:latin typeface="JetBrains Mono"/>
              </a:rPr>
              <a:t>    LoginForm.tsx</a:t>
            </a:r>
          </a:p>
          <a:p>
            <a:pPr>
              <a:lnSpc>
                <a:spcPts val="1600"/>
              </a:lnSpc>
            </a:pPr>
            <a:r>
              <a:rPr sz="1200" b="0">
                <a:solidFill>
                  <a:srgbClr val="F2F2F2"/>
                </a:solidFill>
                <a:latin typeface="JetBrains Mono"/>
              </a:rPr>
              <a:t>    LogoutButton.tsx</a:t>
            </a:r>
          </a:p>
          <a:p>
            <a:pPr>
              <a:lnSpc>
                <a:spcPts val="1600"/>
              </a:lnSpc>
            </a:pPr>
            <a:r>
              <a:rPr sz="1200" b="0">
                <a:solidFill>
                  <a:srgbClr val="F2F2F2"/>
                </a:solidFill>
                <a:latin typeface="JetBrains Mono"/>
              </a:rPr>
              <a:t>  model/</a:t>
            </a:r>
          </a:p>
          <a:p>
            <a:pPr>
              <a:lnSpc>
                <a:spcPts val="1600"/>
              </a:lnSpc>
            </a:pPr>
            <a:r>
              <a:rPr sz="1200" b="0">
                <a:solidFill>
                  <a:srgbClr val="F2F2F2"/>
                </a:solidFill>
                <a:latin typeface="JetBrains Mono"/>
              </a:rPr>
              <a:t>    auth-store.ts</a:t>
            </a:r>
          </a:p>
          <a:p>
            <a:pPr>
              <a:lnSpc>
                <a:spcPts val="1600"/>
              </a:lnSpc>
            </a:pPr>
            <a:r>
              <a:rPr sz="1200" b="0">
                <a:solidFill>
                  <a:srgbClr val="F2F2F2"/>
                </a:solidFill>
                <a:latin typeface="JetBrains Mono"/>
              </a:rPr>
              <a:t>  api/</a:t>
            </a:r>
          </a:p>
          <a:p>
            <a:pPr>
              <a:lnSpc>
                <a:spcPts val="1600"/>
              </a:lnSpc>
            </a:pPr>
            <a:r>
              <a:rPr sz="1200" b="0">
                <a:solidFill>
                  <a:srgbClr val="F2F2F2"/>
                </a:solidFill>
                <a:latin typeface="JetBrains Mono"/>
              </a:rPr>
              <a:t>    login.ts</a:t>
            </a:r>
          </a:p>
          <a:p>
            <a:pPr>
              <a:lnSpc>
                <a:spcPts val="1600"/>
              </a:lnSpc>
            </a:pPr>
            <a:r>
              <a:rPr sz="1200" b="0">
                <a:solidFill>
                  <a:srgbClr val="FFFFFF"/>
                </a:solidFill>
                <a:latin typeface="JetBrains Mono"/>
              </a:rPr>
              <a:t>  </a:t>
            </a:r>
            <a:r>
              <a:rPr sz="1200" b="0">
                <a:solidFill>
                  <a:srgbClr val="00D4FF"/>
                </a:solidFill>
                <a:latin typeface="JetBrains Mono"/>
              </a:rPr>
              <a:t>index.ts</a:t>
            </a:r>
            <a:r>
              <a:rPr sz="1200" b="0">
                <a:solidFill>
                  <a:srgbClr val="FFFFFF"/>
                </a:solidFill>
                <a:latin typeface="JetBrains Mono"/>
              </a:rPr>
              <a:t>   </a:t>
            </a:r>
            <a:r>
              <a:rPr sz="1200" b="0">
                <a:solidFill>
                  <a:srgbClr val="666666"/>
                </a:solidFill>
                <a:latin typeface="JetBrains Mono"/>
              </a:rPr>
              <a:t>← jedini ulaz</a:t>
            </a:r>
          </a:p>
        </p:txBody>
      </p:sp>
      <p:sp>
        <p:nvSpPr>
          <p:cNvPr id="7" name="Rectangle 6"/>
          <p:cNvSpPr/>
          <p:nvPr/>
        </p:nvSpPr>
        <p:spPr>
          <a:xfrm>
            <a:off x="6217920" y="2194560"/>
            <a:ext cx="5669280" cy="301752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359152"/>
            <a:ext cx="5303520" cy="2688336"/>
          </a:xfrm>
          <a:prstGeom prst="rect">
            <a:avLst/>
          </a:prstGeom>
          <a:noFill/>
        </p:spPr>
        <p:txBody>
          <a:bodyPr wrap="none" lIns="0" rIns="0" tIns="0" bIns="0">
            <a:spAutoFit/>
          </a:bodyPr>
          <a:lstStyle/>
          <a:p>
            <a:pPr>
              <a:lnSpc>
                <a:spcPts val="1600"/>
              </a:lnSpc>
            </a:pPr>
            <a:r>
              <a:rPr sz="1100" b="0">
                <a:solidFill>
                  <a:srgbClr val="888888"/>
                </a:solidFill>
                <a:latin typeface="JetBrains Mono"/>
              </a:rPr>
              <a:t>// features/auth/index.ts</a:t>
            </a:r>
          </a:p>
          <a:p>
            <a:pPr>
              <a:lnSpc>
                <a:spcPts val="1600"/>
              </a:lnSpc>
            </a:pPr>
            <a:r>
              <a:rPr sz="1100" b="0">
                <a:solidFill>
                  <a:srgbClr val="00D4FF"/>
                </a:solidFill>
                <a:latin typeface="JetBrains Mono"/>
              </a:rPr>
              <a:t>export </a:t>
            </a:r>
            <a:r>
              <a:rPr sz="1100" b="0">
                <a:solidFill>
                  <a:srgbClr val="F2F2F2"/>
                </a:solidFill>
                <a:latin typeface="JetBrains Mono"/>
              </a:rPr>
              <a:t>{ LoginForm } from './ui/LoginForm'</a:t>
            </a:r>
          </a:p>
          <a:p>
            <a:pPr>
              <a:lnSpc>
                <a:spcPts val="1600"/>
              </a:lnSpc>
            </a:pPr>
            <a:r>
              <a:rPr sz="1100" b="0">
                <a:solidFill>
                  <a:srgbClr val="00D4FF"/>
                </a:solidFill>
                <a:latin typeface="JetBrains Mono"/>
              </a:rPr>
              <a:t>export </a:t>
            </a:r>
            <a:r>
              <a:rPr sz="1100" b="0">
                <a:solidFill>
                  <a:srgbClr val="F2F2F2"/>
                </a:solidFill>
                <a:latin typeface="JetBrains Mono"/>
              </a:rPr>
              <a:t>{ useAuth } from './model/auth-store'</a:t>
            </a:r>
          </a:p>
          <a:p>
            <a:pPr>
              <a:lnSpc>
                <a:spcPts val="1600"/>
              </a:lnSpc>
            </a:pPr>
            <a:r>
              <a:rPr sz="1100" b="0">
                <a:solidFill>
                  <a:srgbClr val="FFFFFF"/>
                </a:solidFill>
                <a:latin typeface="JetBrains Mono"/>
              </a:rPr>
              <a:t> </a:t>
            </a:r>
          </a:p>
          <a:p>
            <a:pPr>
              <a:lnSpc>
                <a:spcPts val="1600"/>
              </a:lnSpc>
            </a:pPr>
            <a:r>
              <a:rPr sz="1100" b="0">
                <a:solidFill>
                  <a:srgbClr val="888888"/>
                </a:solidFill>
                <a:latin typeface="JetBrains Mono"/>
              </a:rPr>
              <a:t>// Svugdje drugdje:</a:t>
            </a:r>
          </a:p>
          <a:p>
            <a:pPr>
              <a:lnSpc>
                <a:spcPts val="1600"/>
              </a:lnSpc>
            </a:pPr>
            <a:r>
              <a:rPr sz="1100" b="0">
                <a:solidFill>
                  <a:srgbClr val="2ED573"/>
                </a:solidFill>
                <a:latin typeface="JetBrains Mono"/>
              </a:rPr>
              <a:t>import </a:t>
            </a:r>
            <a:r>
              <a:rPr sz="1100" b="0">
                <a:solidFill>
                  <a:srgbClr val="2ED573"/>
                </a:solidFill>
                <a:latin typeface="JetBrains Mono"/>
              </a:rPr>
              <a:t>{ LoginForm } from '@/features/auth'</a:t>
            </a:r>
          </a:p>
          <a:p>
            <a:pPr>
              <a:lnSpc>
                <a:spcPts val="1600"/>
              </a:lnSpc>
            </a:pPr>
            <a:r>
              <a:rPr sz="1100" b="0">
                <a:solidFill>
                  <a:srgbClr val="FFFFFF"/>
                </a:solidFill>
                <a:latin typeface="JetBrains Mono"/>
              </a:rPr>
              <a:t> </a:t>
            </a:r>
          </a:p>
          <a:p>
            <a:pPr>
              <a:lnSpc>
                <a:spcPts val="1600"/>
              </a:lnSpc>
            </a:pPr>
            <a:r>
              <a:rPr sz="1100" b="0">
                <a:solidFill>
                  <a:srgbClr val="FF6B81"/>
                </a:solidFill>
                <a:latin typeface="JetBrains Mono"/>
              </a:rPr>
              <a:t>// Zabranjeno:</a:t>
            </a:r>
          </a:p>
          <a:p>
            <a:pPr>
              <a:lnSpc>
                <a:spcPts val="1600"/>
              </a:lnSpc>
            </a:pPr>
            <a:r>
              <a:rPr sz="1100" b="0">
                <a:solidFill>
                  <a:srgbClr val="FF6B81"/>
                </a:solidFill>
                <a:latin typeface="JetBrains Mono"/>
              </a:rPr>
              <a:t>import { LoginForm } from '@/features/auth/ui/LoginForm'</a:t>
            </a:r>
          </a:p>
        </p:txBody>
      </p:sp>
      <p:sp>
        <p:nvSpPr>
          <p:cNvPr id="9" name="Rounded Rectangle 8"/>
          <p:cNvSpPr/>
          <p:nvPr/>
        </p:nvSpPr>
        <p:spPr>
          <a:xfrm>
            <a:off x="640080" y="5440680"/>
            <a:ext cx="10972800" cy="1005840"/>
          </a:xfrm>
          <a:prstGeom prst="roundRect">
            <a:avLst>
              <a:gd name="adj" fmla="val 8000"/>
            </a:avLst>
          </a:prstGeom>
          <a:solidFill>
            <a:srgbClr val="0E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54864" cy="100584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623560"/>
            <a:ext cx="10515600" cy="640080"/>
          </a:xfrm>
          <a:prstGeom prst="rect">
            <a:avLst/>
          </a:prstGeom>
          <a:noFill/>
        </p:spPr>
        <p:txBody>
          <a:bodyPr wrap="square" lIns="0" rIns="0" tIns="0" bIns="0">
            <a:spAutoFit/>
          </a:bodyPr>
          <a:lstStyle/>
          <a:p>
            <a:r>
              <a:rPr sz="1500" b="0">
                <a:solidFill>
                  <a:srgbClr val="FFFFFF"/>
                </a:solidFill>
                <a:latin typeface="Inter"/>
              </a:rPr>
              <a:t>AI pročita </a:t>
            </a:r>
            <a:r>
              <a:rPr sz="1500" b="0">
                <a:solidFill>
                  <a:srgbClr val="00D4FF"/>
                </a:solidFill>
                <a:latin typeface="JetBrains Mono"/>
              </a:rPr>
              <a:t>index.ts</a:t>
            </a:r>
            <a:r>
              <a:rPr sz="1500" b="0">
                <a:solidFill>
                  <a:srgbClr val="FFFFFF"/>
                </a:solidFill>
                <a:latin typeface="Inter"/>
              </a:rPr>
              <a:t> (8 redova) i zna kompletno sučelje slice-a — umjesto da učita 400+ linija interne implementacije. </a:t>
            </a:r>
            <a:r>
              <a:rPr sz="1500" b="1">
                <a:solidFill>
                  <a:srgbClr val="00D4FF"/>
                </a:solidFill>
                <a:latin typeface="Inter Bold"/>
              </a:rPr>
              <a:t>Štedi tokene, stabilan ugovor.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502920"/>
            <a:ext cx="10908792" cy="594360"/>
          </a:xfrm>
          <a:prstGeom prst="rect">
            <a:avLst/>
          </a:prstGeom>
          <a:noFill/>
        </p:spPr>
        <p:txBody>
          <a:bodyPr wrap="square" lIns="0" rIns="0" tIns="0" bIns="0">
            <a:spAutoFit/>
          </a:bodyPr>
          <a:lstStyle/>
          <a:p>
            <a:r>
              <a:rPr sz="3600" b="0">
                <a:solidFill>
                  <a:srgbClr val="FFFFFF"/>
                </a:solidFill>
                <a:latin typeface="Inter Bold"/>
              </a:rPr>
              <a:t>AI alati </a:t>
            </a:r>
            <a:r>
              <a:rPr sz="3600" b="0">
                <a:solidFill>
                  <a:srgbClr val="00D4FF"/>
                </a:solidFill>
                <a:latin typeface="Inter Bold"/>
              </a:rPr>
              <a:t>za FSD</a:t>
            </a:r>
          </a:p>
        </p:txBody>
      </p:sp>
      <p:sp>
        <p:nvSpPr>
          <p:cNvPr id="3" name="TextBox 2"/>
          <p:cNvSpPr txBox="1"/>
          <p:nvPr/>
        </p:nvSpPr>
        <p:spPr>
          <a:xfrm>
            <a:off x="640080" y="1371600"/>
            <a:ext cx="10908792" cy="274320"/>
          </a:xfrm>
          <a:prstGeom prst="rect">
            <a:avLst/>
          </a:prstGeom>
          <a:noFill/>
        </p:spPr>
        <p:txBody>
          <a:bodyPr wrap="square" lIns="0" rIns="0" tIns="0" bIns="0">
            <a:spAutoFit/>
          </a:bodyPr>
          <a:lstStyle/>
          <a:p>
            <a:r>
              <a:rPr sz="1400" b="0">
                <a:solidFill>
                  <a:srgbClr val="888888"/>
                </a:solidFill>
                <a:latin typeface="Inter"/>
              </a:rPr>
              <a:t>Daj AI-u FSD dokumentaciju kao kontekst — ne mora pogađati pravila.</a:t>
            </a:r>
          </a:p>
        </p:txBody>
      </p:sp>
      <p:sp>
        <p:nvSpPr>
          <p:cNvPr id="4" name="Rectangle 3"/>
          <p:cNvSpPr/>
          <p:nvPr/>
        </p:nvSpPr>
        <p:spPr>
          <a:xfrm>
            <a:off x="640080" y="1691640"/>
            <a:ext cx="548640" cy="36576"/>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194560"/>
            <a:ext cx="5486400" cy="274320"/>
          </a:xfrm>
          <a:prstGeom prst="rect">
            <a:avLst/>
          </a:prstGeom>
          <a:noFill/>
        </p:spPr>
        <p:txBody>
          <a:bodyPr wrap="square" lIns="0" rIns="0" tIns="0" bIns="0">
            <a:spAutoFit/>
          </a:bodyPr>
          <a:lstStyle/>
          <a:p>
            <a:r>
              <a:rPr sz="1800" b="1">
                <a:solidFill>
                  <a:srgbClr val="00D4FF"/>
                </a:solidFill>
                <a:latin typeface="Inter Bold"/>
              </a:rPr>
              <a:t>LLMs.txt</a:t>
            </a:r>
          </a:p>
        </p:txBody>
      </p:sp>
      <p:sp>
        <p:nvSpPr>
          <p:cNvPr id="6" name="TextBox 5"/>
          <p:cNvSpPr txBox="1"/>
          <p:nvPr/>
        </p:nvSpPr>
        <p:spPr>
          <a:xfrm>
            <a:off x="640080" y="2606040"/>
            <a:ext cx="5486400" cy="457200"/>
          </a:xfrm>
          <a:prstGeom prst="rect">
            <a:avLst/>
          </a:prstGeom>
          <a:noFill/>
        </p:spPr>
        <p:txBody>
          <a:bodyPr wrap="square" lIns="0" rIns="0" tIns="0" bIns="0">
            <a:spAutoFit/>
          </a:bodyPr>
          <a:lstStyle/>
          <a:p>
            <a:r>
              <a:rPr sz="1400" b="0">
                <a:solidFill>
                  <a:srgbClr val="F2F2F2"/>
                </a:solidFill>
                <a:latin typeface="JetBrains Mono"/>
              </a:rPr>
              <a:t>fsd.how/llms-full.txt</a:t>
            </a:r>
          </a:p>
        </p:txBody>
      </p:sp>
      <p:sp>
        <p:nvSpPr>
          <p:cNvPr id="7" name="TextBox 6"/>
          <p:cNvSpPr txBox="1"/>
          <p:nvPr/>
        </p:nvSpPr>
        <p:spPr>
          <a:xfrm>
            <a:off x="640080" y="3154680"/>
            <a:ext cx="5486400" cy="1188720"/>
          </a:xfrm>
          <a:prstGeom prst="rect">
            <a:avLst/>
          </a:prstGeom>
          <a:noFill/>
        </p:spPr>
        <p:txBody>
          <a:bodyPr wrap="square" lIns="0" rIns="0" tIns="0" bIns="0">
            <a:spAutoFit/>
          </a:bodyPr>
          <a:lstStyle/>
          <a:p>
            <a:r>
              <a:rPr sz="1400" b="0">
                <a:solidFill>
                  <a:srgbClr val="FFFFFF"/>
                </a:solidFill>
                <a:latin typeface="Inter"/>
              </a:rPr>
              <a:t>Cijela FSD specifikacija u jednom plain-text fileu — formatirana baš tako da je AI agenti mogu lako progutati.</a:t>
            </a:r>
          </a:p>
          <a:p>
            <a:pPr>
              <a:spcBef>
                <a:spcPts val="800"/>
              </a:spcBef>
            </a:pPr>
            <a:r>
              <a:rPr sz="1400" b="0">
                <a:solidFill>
                  <a:srgbClr val="FFFFFF"/>
                </a:solidFill>
                <a:latin typeface="Inter"/>
              </a:rPr>
              <a:t>Doda se u </a:t>
            </a:r>
            <a:r>
              <a:rPr sz="1400" b="0">
                <a:solidFill>
                  <a:srgbClr val="00D4FF"/>
                </a:solidFill>
                <a:latin typeface="JetBrains Mono"/>
              </a:rPr>
              <a:t>CLAUDE.md</a:t>
            </a:r>
            <a:r>
              <a:rPr sz="1400" b="0">
                <a:solidFill>
                  <a:srgbClr val="FFFFFF"/>
                </a:solidFill>
                <a:latin typeface="Inter"/>
              </a:rPr>
              <a:t> / </a:t>
            </a:r>
            <a:r>
              <a:rPr sz="1400" b="0">
                <a:solidFill>
                  <a:srgbClr val="00D4FF"/>
                </a:solidFill>
                <a:latin typeface="JetBrains Mono"/>
              </a:rPr>
              <a:t>AGENTS.md</a:t>
            </a:r>
            <a:r>
              <a:rPr sz="1400" b="0">
                <a:solidFill>
                  <a:srgbClr val="FFFFFF"/>
                </a:solidFill>
                <a:latin typeface="Inter"/>
              </a:rPr>
              <a:t> ili kao referenca u promptu — AI dobiva pravila prije nego napiše ijednu liniju.</a:t>
            </a:r>
          </a:p>
        </p:txBody>
      </p:sp>
      <p:sp>
        <p:nvSpPr>
          <p:cNvPr id="8" name="TextBox 7"/>
          <p:cNvSpPr txBox="1"/>
          <p:nvPr/>
        </p:nvSpPr>
        <p:spPr>
          <a:xfrm>
            <a:off x="6400800" y="2194560"/>
            <a:ext cx="5486400" cy="274320"/>
          </a:xfrm>
          <a:prstGeom prst="rect">
            <a:avLst/>
          </a:prstGeom>
          <a:noFill/>
        </p:spPr>
        <p:txBody>
          <a:bodyPr wrap="square" lIns="0" rIns="0" tIns="0" bIns="0">
            <a:spAutoFit/>
          </a:bodyPr>
          <a:lstStyle/>
          <a:p>
            <a:r>
              <a:rPr sz="1800" b="1">
                <a:solidFill>
                  <a:srgbClr val="00D4FF"/>
                </a:solidFill>
                <a:latin typeface="Inter Bold"/>
              </a:rPr>
              <a:t>feature-sliced-design Skill</a:t>
            </a:r>
          </a:p>
        </p:txBody>
      </p:sp>
      <p:sp>
        <p:nvSpPr>
          <p:cNvPr id="9" name="TextBox 8"/>
          <p:cNvSpPr txBox="1"/>
          <p:nvPr/>
        </p:nvSpPr>
        <p:spPr>
          <a:xfrm>
            <a:off x="6400800" y="2606040"/>
            <a:ext cx="5486400" cy="457200"/>
          </a:xfrm>
          <a:prstGeom prst="rect">
            <a:avLst/>
          </a:prstGeom>
          <a:noFill/>
        </p:spPr>
        <p:txBody>
          <a:bodyPr wrap="square" lIns="0" rIns="0" tIns="0" bIns="0">
            <a:spAutoFit/>
          </a:bodyPr>
          <a:lstStyle/>
          <a:p>
            <a:r>
              <a:rPr sz="1400" b="0">
                <a:solidFill>
                  <a:srgbClr val="F2F2F2"/>
                </a:solidFill>
                <a:latin typeface="JetBrains Mono"/>
              </a:rPr>
              <a:t>/feature-sliced-design</a:t>
            </a:r>
          </a:p>
        </p:txBody>
      </p:sp>
      <p:sp>
        <p:nvSpPr>
          <p:cNvPr id="10" name="TextBox 9"/>
          <p:cNvSpPr txBox="1"/>
          <p:nvPr/>
        </p:nvSpPr>
        <p:spPr>
          <a:xfrm>
            <a:off x="6400800" y="3154680"/>
            <a:ext cx="5486400" cy="1188720"/>
          </a:xfrm>
          <a:prstGeom prst="rect">
            <a:avLst/>
          </a:prstGeom>
          <a:noFill/>
        </p:spPr>
        <p:txBody>
          <a:bodyPr wrap="square" lIns="0" rIns="0" tIns="0" bIns="0">
            <a:spAutoFit/>
          </a:bodyPr>
          <a:lstStyle/>
          <a:p>
            <a:r>
              <a:rPr sz="1400" b="0">
                <a:solidFill>
                  <a:srgbClr val="FFFFFF"/>
                </a:solidFill>
                <a:latin typeface="Inter"/>
              </a:rPr>
              <a:t>Službeni Claude Code skill — aktivira se automatski kad se radi o FSD strukturi (gdje datoteku staviti, public API, cross-import, segmenti).</a:t>
            </a:r>
          </a:p>
          <a:p>
            <a:pPr>
              <a:spcBef>
                <a:spcPts val="800"/>
              </a:spcBef>
            </a:pPr>
            <a:r>
              <a:rPr sz="1400" b="0">
                <a:solidFill>
                  <a:srgbClr val="FFFFFF"/>
                </a:solidFill>
                <a:latin typeface="Inter"/>
              </a:rPr>
              <a:t>Sadrži decision tree, anti-patterne i conditional reference fileove </a:t>
            </a:r>
            <a:r>
              <a:rPr sz="1400" b="1">
                <a:solidFill>
                  <a:srgbClr val="00D4FF"/>
                </a:solidFill>
                <a:latin typeface="Inter Bold"/>
              </a:rPr>
              <a:t>— zna kada koje znanje učitati u kontekst.</a:t>
            </a:r>
          </a:p>
        </p:txBody>
      </p:sp>
      <p:sp>
        <p:nvSpPr>
          <p:cNvPr id="11" name="Rounded Rectangle 10"/>
          <p:cNvSpPr/>
          <p:nvPr/>
        </p:nvSpPr>
        <p:spPr>
          <a:xfrm>
            <a:off x="640080" y="5074920"/>
            <a:ext cx="10972800" cy="1188720"/>
          </a:xfrm>
          <a:prstGeom prst="roundRect">
            <a:avLst>
              <a:gd name="adj" fmla="val 8000"/>
            </a:avLst>
          </a:prstGeom>
          <a:solidFill>
            <a:srgbClr val="0E3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074920"/>
            <a:ext cx="54864" cy="1188720"/>
          </a:xfrm>
          <a:prstGeom prst="rect">
            <a:avLst/>
          </a:prstGeom>
          <a:solidFill>
            <a:srgbClr val="00D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257800"/>
            <a:ext cx="10515600" cy="822960"/>
          </a:xfrm>
          <a:prstGeom prst="rect">
            <a:avLst/>
          </a:prstGeom>
          <a:noFill/>
        </p:spPr>
        <p:txBody>
          <a:bodyPr wrap="square" lIns="0" rIns="0" tIns="0" bIns="0">
            <a:spAutoFit/>
          </a:bodyPr>
          <a:lstStyle/>
          <a:p>
            <a:r>
              <a:rPr sz="1800" b="0">
                <a:solidFill>
                  <a:srgbClr val="FFFFFF"/>
                </a:solidFill>
                <a:latin typeface="Inter"/>
              </a:rPr>
              <a:t>Dobra arhitektura + dobra dokumentacija u kontekstu = AI prestaje halucinirati i počinje pisati kod </a:t>
            </a:r>
            <a:r>
              <a:rPr sz="1800" b="1">
                <a:solidFill>
                  <a:srgbClr val="00D4FF"/>
                </a:solidFill>
                <a:latin typeface="Inter Bold"/>
              </a:rPr>
              <a:t>po pravilima projekta</a:t>
            </a:r>
            <a:r>
              <a:rPr sz="1800" b="0">
                <a:solidFill>
                  <a:srgbClr val="FFFFFF"/>
                </a:solidFill>
                <a:latin typeface="Inter"/>
              </a:rPr>
              <a:t>.</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