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j-lt"/>
        <a:ea typeface="+mj-ea"/>
        <a:cs typeface="+mj-cs"/>
        <a:sym typeface="Calibri"/>
      </a:defRPr>
    </a:lvl1pPr>
    <a:lvl2pPr indent="228600" defTabSz="457200" latinLnBrk="0">
      <a:defRPr sz="1200">
        <a:latin typeface="+mj-lt"/>
        <a:ea typeface="+mj-ea"/>
        <a:cs typeface="+mj-cs"/>
        <a:sym typeface="Calibri"/>
      </a:defRPr>
    </a:lvl2pPr>
    <a:lvl3pPr indent="457200" defTabSz="457200" latinLnBrk="0">
      <a:defRPr sz="1200">
        <a:latin typeface="+mj-lt"/>
        <a:ea typeface="+mj-ea"/>
        <a:cs typeface="+mj-cs"/>
        <a:sym typeface="Calibri"/>
      </a:defRPr>
    </a:lvl3pPr>
    <a:lvl4pPr indent="685800" defTabSz="457200" latinLnBrk="0">
      <a:defRPr sz="1200">
        <a:latin typeface="+mj-lt"/>
        <a:ea typeface="+mj-ea"/>
        <a:cs typeface="+mj-cs"/>
        <a:sym typeface="Calibri"/>
      </a:defRPr>
    </a:lvl4pPr>
    <a:lvl5pPr indent="914400" defTabSz="457200" latinLnBrk="0">
      <a:defRPr sz="1200">
        <a:latin typeface="+mj-lt"/>
        <a:ea typeface="+mj-ea"/>
        <a:cs typeface="+mj-cs"/>
        <a:sym typeface="Calibri"/>
      </a:defRPr>
    </a:lvl5pPr>
    <a:lvl6pPr indent="1143000" defTabSz="457200" latinLnBrk="0">
      <a:defRPr sz="1200">
        <a:latin typeface="+mj-lt"/>
        <a:ea typeface="+mj-ea"/>
        <a:cs typeface="+mj-cs"/>
        <a:sym typeface="Calibri"/>
      </a:defRPr>
    </a:lvl6pPr>
    <a:lvl7pPr indent="1371600" defTabSz="457200" latinLnBrk="0">
      <a:defRPr sz="1200">
        <a:latin typeface="+mj-lt"/>
        <a:ea typeface="+mj-ea"/>
        <a:cs typeface="+mj-cs"/>
        <a:sym typeface="Calibri"/>
      </a:defRPr>
    </a:lvl7pPr>
    <a:lvl8pPr indent="1600200" defTabSz="457200" latinLnBrk="0">
      <a:defRPr sz="1200">
        <a:latin typeface="+mj-lt"/>
        <a:ea typeface="+mj-ea"/>
        <a:cs typeface="+mj-cs"/>
        <a:sym typeface="Calibri"/>
      </a:defRPr>
    </a:lvl8pPr>
    <a:lvl9pPr indent="1828800" defTabSz="4572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9" name="Shape 99"/>
          <p:cNvSpPr/>
          <p:nvPr>
            <p:ph type="sldImg"/>
          </p:nvPr>
        </p:nvSpPr>
        <p:spPr>
          <a:prstGeom prst="rect">
            <a:avLst/>
          </a:prstGeom>
        </p:spPr>
        <p:txBody>
          <a:bodyPr/>
          <a:lstStyle/>
          <a:p>
            <a:pPr/>
          </a:p>
        </p:txBody>
      </p:sp>
      <p:sp>
        <p:nvSpPr>
          <p:cNvPr id="100" name="Shape 100"/>
          <p:cNvSpPr/>
          <p:nvPr>
            <p:ph type="body" sz="quarter" idx="1"/>
          </p:nvPr>
        </p:nvSpPr>
        <p:spPr>
          <a:prstGeom prst="rect">
            <a:avLst/>
          </a:prstGeom>
        </p:spPr>
        <p:txBody>
          <a:bodyPr/>
          <a:lstStyle>
            <a:lvl1pPr>
              <a:defRPr sz="1600"/>
            </a:lvl1pPr>
          </a:lstStyle>
          <a:p>
            <a:pPr/>
            <a:r>
              <a:t>Koliko puta ste čuli ovu rečenicu? Na twitteru, redditu ili pak svojem radnom mjestu. Jedan programer je raspisao detaljni plan implementacije za neki feature. Claude krene sa izvršavanjem plana, prvih par koraka implementira super, ali nakon toga počne halucinirati - importat funkcije koje ne postoje, duplicirati ih, radit promjene koje uzrokuju kršenje na drugim mjestima.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Shape 106"/>
          <p:cNvSpPr/>
          <p:nvPr>
            <p:ph type="sldImg"/>
          </p:nvPr>
        </p:nvSpPr>
        <p:spPr>
          <a:prstGeom prst="rect">
            <a:avLst/>
          </a:prstGeom>
        </p:spPr>
        <p:txBody>
          <a:bodyPr/>
          <a:lstStyle/>
          <a:p>
            <a:pPr/>
          </a:p>
        </p:txBody>
      </p:sp>
      <p:sp>
        <p:nvSpPr>
          <p:cNvPr id="107" name="Shape 107"/>
          <p:cNvSpPr/>
          <p:nvPr>
            <p:ph type="body" sz="quarter" idx="1"/>
          </p:nvPr>
        </p:nvSpPr>
        <p:spPr>
          <a:prstGeom prst="rect">
            <a:avLst/>
          </a:prstGeom>
        </p:spPr>
        <p:txBody>
          <a:bodyPr/>
          <a:lstStyle>
            <a:lvl1pPr>
              <a:defRPr sz="1600"/>
            </a:lvl1pPr>
          </a:lstStyle>
          <a:p>
            <a:pPr/>
            <a:r>
              <a:t>Ili pak ovu rečenicu, gdje programer tvrdi da mu AI agent radi super na njegovom manjem projektu sa strane, ali kada ga pokuša koristiti u većem, produkcijskom kodu, on jednostavno ne performa dobro.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Shape 112"/>
          <p:cNvSpPr/>
          <p:nvPr>
            <p:ph type="sldImg"/>
          </p:nvPr>
        </p:nvSpPr>
        <p:spPr>
          <a:prstGeom prst="rect">
            <a:avLst/>
          </a:prstGeom>
        </p:spPr>
        <p:txBody>
          <a:bodyPr/>
          <a:lstStyle/>
          <a:p>
            <a:pPr/>
          </a:p>
        </p:txBody>
      </p:sp>
      <p:sp>
        <p:nvSpPr>
          <p:cNvPr id="113" name="Shape 113"/>
          <p:cNvSpPr/>
          <p:nvPr>
            <p:ph type="body" sz="quarter" idx="1"/>
          </p:nvPr>
        </p:nvSpPr>
        <p:spPr>
          <a:prstGeom prst="rect">
            <a:avLst/>
          </a:prstGeom>
        </p:spPr>
        <p:txBody>
          <a:bodyPr/>
          <a:lstStyle>
            <a:lvl1pPr>
              <a:defRPr sz="1600"/>
            </a:lvl1pPr>
          </a:lstStyle>
          <a:p>
            <a:pPr/>
            <a:r>
              <a:t>Realno gledajući, AI asistenti briljiraju u manjim, specifičnim ili repetitivnim zadacima: generiranju funkcija, pisanju kompleksnih regexa, postavljanju boilerplateai slično.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8" name="Shape 118"/>
          <p:cNvSpPr/>
          <p:nvPr>
            <p:ph type="sldImg"/>
          </p:nvPr>
        </p:nvSpPr>
        <p:spPr>
          <a:prstGeom prst="rect">
            <a:avLst/>
          </a:prstGeom>
        </p:spPr>
        <p:txBody>
          <a:bodyPr/>
          <a:lstStyle/>
          <a:p>
            <a:pPr/>
          </a:p>
        </p:txBody>
      </p:sp>
      <p:sp>
        <p:nvSpPr>
          <p:cNvPr id="119" name="Shape 119"/>
          <p:cNvSpPr/>
          <p:nvPr>
            <p:ph type="body" sz="quarter" idx="1"/>
          </p:nvPr>
        </p:nvSpPr>
        <p:spPr>
          <a:prstGeom prst="rect">
            <a:avLst/>
          </a:prstGeom>
        </p:spPr>
        <p:txBody>
          <a:bodyPr/>
          <a:lstStyle>
            <a:lvl1pPr>
              <a:defRPr sz="1600"/>
            </a:lvl1pPr>
          </a:lstStyle>
          <a:p>
            <a:pPr/>
            <a:r>
              <a:t>No, čim ih se baci u veće okruženje s puno 'šuma', počinju se mučiti.</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7" name="Shape 127"/>
          <p:cNvSpPr/>
          <p:nvPr>
            <p:ph type="sldImg"/>
          </p:nvPr>
        </p:nvSpPr>
        <p:spPr>
          <a:prstGeom prst="rect">
            <a:avLst/>
          </a:prstGeom>
        </p:spPr>
        <p:txBody>
          <a:bodyPr/>
          <a:lstStyle/>
          <a:p>
            <a:pPr/>
          </a:p>
        </p:txBody>
      </p:sp>
      <p:sp>
        <p:nvSpPr>
          <p:cNvPr id="128" name="Shape 128"/>
          <p:cNvSpPr/>
          <p:nvPr>
            <p:ph type="body" sz="quarter" idx="1"/>
          </p:nvPr>
        </p:nvSpPr>
        <p:spPr>
          <a:prstGeom prst="rect">
            <a:avLst/>
          </a:prstGeom>
        </p:spPr>
        <p:txBody>
          <a:bodyPr/>
          <a:lstStyle>
            <a:lvl1pPr>
              <a:defRPr sz="1600"/>
            </a:lvl1pPr>
          </a:lstStyle>
          <a:p>
            <a:pPr/>
            <a:r>
              <a:t>A razlog za nam je svima poznat: kontekst.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3" name="Shape 133"/>
          <p:cNvSpPr/>
          <p:nvPr>
            <p:ph type="sldImg"/>
          </p:nvPr>
        </p:nvSpPr>
        <p:spPr>
          <a:prstGeom prst="rect">
            <a:avLst/>
          </a:prstGeom>
        </p:spPr>
        <p:txBody>
          <a:bodyPr/>
          <a:lstStyle/>
          <a:p>
            <a:pPr/>
          </a:p>
        </p:txBody>
      </p:sp>
      <p:sp>
        <p:nvSpPr>
          <p:cNvPr id="134" name="Shape 134"/>
          <p:cNvSpPr/>
          <p:nvPr>
            <p:ph type="body" sz="quarter" idx="1"/>
          </p:nvPr>
        </p:nvSpPr>
        <p:spPr>
          <a:prstGeom prst="rect">
            <a:avLst/>
          </a:prstGeom>
        </p:spPr>
        <p:txBody>
          <a:bodyPr/>
          <a:lstStyle>
            <a:lvl1pPr>
              <a:defRPr sz="1600"/>
            </a:lvl1pPr>
          </a:lstStyle>
          <a:p>
            <a:pPr/>
            <a:r>
              <a:t>Kontekst se zapravo odnosi na skup tokena koji su uključeni u proces generiranja (samplinga) iz LLM-a.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Shape 139"/>
          <p:cNvSpPr/>
          <p:nvPr>
            <p:ph type="sldImg"/>
          </p:nvPr>
        </p:nvSpPr>
        <p:spPr>
          <a:prstGeom prst="rect">
            <a:avLst/>
          </a:prstGeom>
        </p:spPr>
        <p:txBody>
          <a:bodyPr/>
          <a:lstStyle/>
          <a:p>
            <a:pPr/>
          </a:p>
        </p:txBody>
      </p:sp>
      <p:sp>
        <p:nvSpPr>
          <p:cNvPr id="140" name="Shape 140"/>
          <p:cNvSpPr/>
          <p:nvPr>
            <p:ph type="body" sz="quarter" idx="1"/>
          </p:nvPr>
        </p:nvSpPr>
        <p:spPr>
          <a:prstGeom prst="rect">
            <a:avLst/>
          </a:prstGeom>
        </p:spPr>
        <p:txBody>
          <a:bodyPr/>
          <a:lstStyle>
            <a:lvl1pPr>
              <a:defRPr sz="1600"/>
            </a:lvl1pPr>
          </a:lstStyle>
          <a:p>
            <a:pPr/>
            <a:r>
              <a:t>Drugim riječima, sve što model može vidjeti kada generira odgovor; tvoj prompt, otvorene datoteke, struktura projekta itd. Do prije par mjeseci nije bilo tako jer je većina AI asistenata uzimala u obzir samo vaš prompt, ništa drugo. Tada je bilo popularno na društvenim mrežama pisati o magičnim promptovima koji su mogli natjerati AI da napravi čuda. No, kako su modeli postajali veći i sofisticiraniji, počeli su uzimati u obzir i druge izvore informacija, poput otvorenih datoteka, strukture projekta i slično. </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lvl1pPr>
              <a:defRPr sz="1600"/>
            </a:lvl1pPr>
          </a:lstStyle>
          <a:p>
            <a:pPr/>
            <a:r>
              <a:t>To je ono što se promjenilo, a ono što se nije promjenilo je činjenica da AI i dalje ne poznaje projekt već čita samo ono što mu pružite - uz razliku da sada može čitati više stvari odjednom.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6" name="Shape 156"/>
          <p:cNvSpPr/>
          <p:nvPr>
            <p:ph type="sldImg"/>
          </p:nvPr>
        </p:nvSpPr>
        <p:spPr>
          <a:prstGeom prst="rect">
            <a:avLst/>
          </a:prstGeom>
        </p:spPr>
        <p:txBody>
          <a:bodyPr/>
          <a:lstStyle/>
          <a:p>
            <a:pPr/>
          </a:p>
        </p:txBody>
      </p:sp>
      <p:sp>
        <p:nvSpPr>
          <p:cNvPr id="157" name="Shape 157"/>
          <p:cNvSpPr/>
          <p:nvPr>
            <p:ph type="body" sz="quarter" idx="1"/>
          </p:nvPr>
        </p:nvSpPr>
        <p:spPr>
          <a:prstGeom prst="rect">
            <a:avLst/>
          </a:prstGeom>
        </p:spPr>
        <p:txBody>
          <a:bodyPr/>
          <a:lstStyle>
            <a:lvl1pPr>
              <a:defRPr sz="1600"/>
            </a:lvl1pPr>
          </a:lstStyle>
          <a:p>
            <a:pPr/>
            <a:r>
              <a:t>Kao što smo već spomenuli, context engineering je još prošle godine zamijenio termin prompt engineering, a u najjednostavnijem smislu odnosi se na oblikovanje onoga što model vidi s ciljem dobivanja boljeg outputa.</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5" name="Shape 165"/>
          <p:cNvSpPr/>
          <p:nvPr>
            <p:ph type="sldImg"/>
          </p:nvPr>
        </p:nvSpPr>
        <p:spPr>
          <a:prstGeom prst="rect">
            <a:avLst/>
          </a:prstGeom>
        </p:spPr>
        <p:txBody>
          <a:bodyPr/>
          <a:lstStyle/>
          <a:p>
            <a:pPr/>
          </a:p>
        </p:txBody>
      </p:sp>
      <p:sp>
        <p:nvSpPr>
          <p:cNvPr id="166" name="Shape 166"/>
          <p:cNvSpPr/>
          <p:nvPr>
            <p:ph type="body" sz="quarter" idx="1"/>
          </p:nvPr>
        </p:nvSpPr>
        <p:spPr>
          <a:prstGeom prst="rect">
            <a:avLst/>
          </a:prstGeom>
        </p:spPr>
        <p:txBody>
          <a:bodyPr/>
          <a:lstStyle>
            <a:lvl1pPr>
              <a:defRPr sz="1600"/>
            </a:lvl1pPr>
          </a:lstStyle>
          <a:p>
            <a:pPr/>
            <a:r>
              <a:t>Kod dobivanja outputa od AI alata, više nije dovoljno samo napisati dobar prompt, već je potrebno obratiti pozornost i na druge stvari poput programskog koda, strukture direktorija, vanjskih paketa, konvencija i slično.</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Shape 174"/>
          <p:cNvSpPr/>
          <p:nvPr>
            <p:ph type="sldImg"/>
          </p:nvPr>
        </p:nvSpPr>
        <p:spPr>
          <a:prstGeom prst="rect">
            <a:avLst/>
          </a:prstGeom>
        </p:spPr>
        <p:txBody>
          <a:bodyPr/>
          <a:lstStyle/>
          <a:p>
            <a:pPr/>
          </a:p>
        </p:txBody>
      </p:sp>
      <p:sp>
        <p:nvSpPr>
          <p:cNvPr id="175" name="Shape 175"/>
          <p:cNvSpPr/>
          <p:nvPr>
            <p:ph type="body" sz="quarter" idx="1"/>
          </p:nvPr>
        </p:nvSpPr>
        <p:spPr>
          <a:prstGeom prst="rect">
            <a:avLst/>
          </a:prstGeom>
        </p:spPr>
        <p:txBody>
          <a:bodyPr/>
          <a:lstStyle>
            <a:lvl1pPr>
              <a:defRPr sz="1600"/>
            </a:lvl1pPr>
          </a:lstStyle>
          <a:p>
            <a:pPr/>
            <a:r>
              <a:t>Sada je moguće kontekst proširiti na više načina, a najpoznatiji je sa kreiranjem CLAUDE.md (ili AGENTS.md), dodavanjem MCP servera, skillova, rulesa itd.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8" name="Shape 178"/>
          <p:cNvSpPr/>
          <p:nvPr>
            <p:ph type="sldImg"/>
          </p:nvPr>
        </p:nvSpPr>
        <p:spPr>
          <a:prstGeom prst="rect">
            <a:avLst/>
          </a:prstGeom>
        </p:spPr>
        <p:txBody>
          <a:bodyPr/>
          <a:lstStyle/>
          <a:p>
            <a:pPr/>
          </a:p>
        </p:txBody>
      </p:sp>
      <p:sp>
        <p:nvSpPr>
          <p:cNvPr id="179" name="Shape 179"/>
          <p:cNvSpPr/>
          <p:nvPr>
            <p:ph type="body" sz="quarter" idx="1"/>
          </p:nvPr>
        </p:nvSpPr>
        <p:spPr>
          <a:prstGeom prst="rect">
            <a:avLst/>
          </a:prstGeom>
        </p:spPr>
        <p:txBody>
          <a:bodyPr/>
          <a:lstStyle>
            <a:lvl1pPr>
              <a:defRPr sz="1600"/>
            </a:lvl1pPr>
          </a:lstStyle>
          <a:p>
            <a:pPr/>
            <a:r>
              <a:t>Kako bi uopće mogli pristupiti rješavanju ovih spomenutih problema, potrebno je razumijeti kako zapravo LLM čita naš codebase.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Shape 201"/>
          <p:cNvSpPr/>
          <p:nvPr>
            <p:ph type="sldImg"/>
          </p:nvPr>
        </p:nvSpPr>
        <p:spPr>
          <a:prstGeom prst="rect">
            <a:avLst/>
          </a:prstGeom>
        </p:spPr>
        <p:txBody>
          <a:bodyPr/>
          <a:lstStyle/>
          <a:p>
            <a:pPr/>
          </a:p>
        </p:txBody>
      </p:sp>
      <p:sp>
        <p:nvSpPr>
          <p:cNvPr id="202" name="Shape 202"/>
          <p:cNvSpPr/>
          <p:nvPr>
            <p:ph type="body" sz="quarter" idx="1"/>
          </p:nvPr>
        </p:nvSpPr>
        <p:spPr>
          <a:prstGeom prst="rect">
            <a:avLst/>
          </a:prstGeom>
        </p:spPr>
        <p:txBody>
          <a:bodyPr/>
          <a:lstStyle>
            <a:lvl1pPr>
              <a:defRPr sz="1600"/>
            </a:lvl1pPr>
          </a:lstStyle>
          <a:p>
            <a:pPr/>
            <a:r>
              <a:t>Kad Cursor otvori projekt, prvo se radi indeksiranje codebasea. Podijeli programski kod u chunkove -&gt; to su funkcije, klase, blokovi. Zatim se generiraju vector (vector) embeddingsi -&gt; to su numeričke reprezentacije podataka koje se odnose na semantičko značenje. Svi ti vektori se, naravno, spremaju u vektorsku bazu podataka (turbopuffer). </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 name="Shape 233"/>
          <p:cNvSpPr/>
          <p:nvPr>
            <p:ph type="sldImg"/>
          </p:nvPr>
        </p:nvSpPr>
        <p:spPr>
          <a:prstGeom prst="rect">
            <a:avLst/>
          </a:prstGeom>
        </p:spPr>
        <p:txBody>
          <a:bodyPr/>
          <a:lstStyle/>
          <a:p>
            <a:pPr/>
          </a:p>
        </p:txBody>
      </p:sp>
      <p:sp>
        <p:nvSpPr>
          <p:cNvPr id="234" name="Shape 234"/>
          <p:cNvSpPr/>
          <p:nvPr>
            <p:ph type="body" sz="quarter" idx="1"/>
          </p:nvPr>
        </p:nvSpPr>
        <p:spPr>
          <a:prstGeom prst="rect">
            <a:avLst/>
          </a:prstGeom>
        </p:spPr>
        <p:txBody>
          <a:bodyPr/>
          <a:lstStyle>
            <a:lvl1pPr>
              <a:defRPr sz="1600"/>
            </a:lvl1pPr>
          </a:lstStyle>
          <a:p>
            <a:pPr/>
            <a:r>
              <a:t>Nakon toga, svaki puta kada pošaljemo prompt, radi se semantičko pretraživanje -&gt; LLM (koji može vektorizirati stvari) pronalazi slične chunkove. Kada LLM pronađe rezultat, slijedi umetanje u kontekst (feeding the LLM).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8" name="Shape 268"/>
          <p:cNvSpPr/>
          <p:nvPr>
            <p:ph type="sldImg"/>
          </p:nvPr>
        </p:nvSpPr>
        <p:spPr>
          <a:prstGeom prst="rect">
            <a:avLst/>
          </a:prstGeom>
        </p:spPr>
        <p:txBody>
          <a:bodyPr/>
          <a:lstStyle/>
          <a:p>
            <a:pPr/>
          </a:p>
        </p:txBody>
      </p:sp>
      <p:sp>
        <p:nvSpPr>
          <p:cNvPr id="269" name="Shape 269"/>
          <p:cNvSpPr/>
          <p:nvPr>
            <p:ph type="body" sz="quarter" idx="1"/>
          </p:nvPr>
        </p:nvSpPr>
        <p:spPr>
          <a:prstGeom prst="rect">
            <a:avLst/>
          </a:prstGeom>
        </p:spPr>
        <p:txBody>
          <a:bodyPr/>
          <a:lstStyle>
            <a:lvl1pPr>
              <a:defRPr sz="1600"/>
            </a:lvl1pPr>
          </a:lstStyle>
          <a:p>
            <a:pPr/>
            <a:r>
              <a:t>Indeksiranje codebasea i kreiranje embeddingsa radi boljeg pretraživanja je vrlo moćan koncept, ali moramo biti svjesni da će kvaliteta rezultata pretraživanja odgovarat semantičkoj strukturi našeg codebasea, organizaciji komponenti, i slično. Drugim riječima, loša struktura rezultira lošim rezultatima.</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9" name="Shape 279"/>
          <p:cNvSpPr/>
          <p:nvPr>
            <p:ph type="sldImg"/>
          </p:nvPr>
        </p:nvSpPr>
        <p:spPr>
          <a:prstGeom prst="rect">
            <a:avLst/>
          </a:prstGeom>
        </p:spPr>
        <p:txBody>
          <a:bodyPr/>
          <a:lstStyle/>
          <a:p>
            <a:pPr/>
          </a:p>
        </p:txBody>
      </p:sp>
      <p:sp>
        <p:nvSpPr>
          <p:cNvPr id="280" name="Shape 280"/>
          <p:cNvSpPr/>
          <p:nvPr>
            <p:ph type="body" sz="quarter" idx="1"/>
          </p:nvPr>
        </p:nvSpPr>
        <p:spPr>
          <a:prstGeom prst="rect">
            <a:avLst/>
          </a:prstGeom>
        </p:spPr>
        <p:txBody>
          <a:bodyPr/>
          <a:lstStyle>
            <a:lvl1pPr>
              <a:defRPr sz="1600"/>
            </a:lvl1pPr>
          </a:lstStyle>
          <a:p>
            <a:pPr/>
            <a:r>
              <a:t>S druge strane, Claude Code koristi malo drugačiji pristup, a to je agentic search. Tu nema indeksiranja codebasea već se sve pretražuje po potrebi, kao što to developer radi. Claude Code ima svoj “agentic loop”, dakle petlju koja se stalno izvodi i izgleda nekako ovako. Ovdje su najbitniji koraci 4. i 5. gdje LLM zapravo u kompleksnijim zadacima mora nekoliko puta ići u dubinu ne bi li došao do onog dijela koji mu je bitan. Bitno je napomenuti da može i spawnat sub-agente koji će onda paralelno istraživati.</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3" name="Shape 293"/>
          <p:cNvSpPr/>
          <p:nvPr>
            <p:ph type="sldImg"/>
          </p:nvPr>
        </p:nvSpPr>
        <p:spPr>
          <a:prstGeom prst="rect">
            <a:avLst/>
          </a:prstGeom>
        </p:spPr>
        <p:txBody>
          <a:bodyPr/>
          <a:lstStyle/>
          <a:p>
            <a:pPr/>
          </a:p>
        </p:txBody>
      </p:sp>
      <p:sp>
        <p:nvSpPr>
          <p:cNvPr id="294" name="Shape 294"/>
          <p:cNvSpPr/>
          <p:nvPr>
            <p:ph type="body" sz="quarter" idx="1"/>
          </p:nvPr>
        </p:nvSpPr>
        <p:spPr>
          <a:prstGeom prst="rect">
            <a:avLst/>
          </a:prstGeom>
        </p:spPr>
        <p:txBody>
          <a:bodyPr/>
          <a:lstStyle>
            <a:lvl1pPr>
              <a:defRPr sz="1600"/>
            </a:lvl1pPr>
          </a:lstStyle>
          <a:p>
            <a:pPr/>
            <a:r>
              <a:t>Možemo zaključiti da niska kohezija u ovom slučaju zapravo rezultira bržim punjenjem konteksta, a samim time i većom potrošnjom tokena.</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9" name="Shape 299"/>
          <p:cNvSpPr/>
          <p:nvPr>
            <p:ph type="sldImg"/>
          </p:nvPr>
        </p:nvSpPr>
        <p:spPr>
          <a:prstGeom prst="rect">
            <a:avLst/>
          </a:prstGeom>
        </p:spPr>
        <p:txBody>
          <a:bodyPr/>
          <a:lstStyle/>
          <a:p>
            <a:pPr/>
          </a:p>
        </p:txBody>
      </p:sp>
      <p:sp>
        <p:nvSpPr>
          <p:cNvPr id="300" name="Shape 300"/>
          <p:cNvSpPr/>
          <p:nvPr>
            <p:ph type="body" sz="quarter" idx="1"/>
          </p:nvPr>
        </p:nvSpPr>
        <p:spPr>
          <a:prstGeom prst="rect">
            <a:avLst/>
          </a:prstGeom>
        </p:spPr>
        <p:txBody>
          <a:bodyPr/>
          <a:lstStyle>
            <a:lvl1pPr>
              <a:defRPr sz="1600"/>
            </a:lvl1pPr>
          </a:lstStyle>
          <a:p>
            <a:pPr/>
            <a:r>
              <a:t>Neovisno koji alat i koji pristup koristili, 3 stvari su sigurne: AI mora odabrati što će uključiti u kontekst. Već smo zaključili da je kontekst ograničen i samim time nije moguće apsolutno sve staviti unutra. Također, imenovanje je vrlo bitno zbog generiranja boljih embeddingsa (Embedding / Indexing pristup) u Cursoru, ili zbog boljeg pattern matchinga u Claude Codeu (Agentic pristup). Konačno, definiranje jasnih granica rezultira s manjim šumom, manje potrošenih tokena i boljim outputom.</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9" name="Shape 309"/>
          <p:cNvSpPr/>
          <p:nvPr>
            <p:ph type="sldImg"/>
          </p:nvPr>
        </p:nvSpPr>
        <p:spPr>
          <a:prstGeom prst="rect">
            <a:avLst/>
          </a:prstGeom>
        </p:spPr>
        <p:txBody>
          <a:bodyPr/>
          <a:lstStyle/>
          <a:p>
            <a:pPr/>
          </a:p>
        </p:txBody>
      </p:sp>
      <p:sp>
        <p:nvSpPr>
          <p:cNvPr id="310" name="Shape 310"/>
          <p:cNvSpPr/>
          <p:nvPr>
            <p:ph type="body" sz="quarter" idx="1"/>
          </p:nvPr>
        </p:nvSpPr>
        <p:spPr>
          <a:prstGeom prst="rect">
            <a:avLst/>
          </a:prstGeom>
        </p:spPr>
        <p:txBody>
          <a:bodyPr/>
          <a:lstStyle>
            <a:lvl1pPr>
              <a:defRPr sz="1600"/>
            </a:lvl1pPr>
          </a:lstStyle>
          <a:p>
            <a:pPr/>
            <a:r>
              <a:t>Najveći dio problema možemo prikazati na jednostavnom primjeru gdje LLM-u dajemo prompt u kojem tražimo da doda delete button na profile karticu u projektu koji je organiziran u nekakvoj “standardnoj” strukturi. UI komponente nalaze u components folderu, sve utility funkcije u utils folderu, hooks folder gdje imamo dohvaćamo podatke (ovo je možda malo rijeđa pojava) i API servisi u services folderu. Cursor bi ovdje bio wildcard, jer bi inicijalno generirao vrlo slabe embeddingse zbog nepostojećeg semantičkog grupiranja pa bi output bio “random”. Claude Code bi nam potencijalno dao do znanja da ne zna odakle krenuti i tražio upute za nastavak, nakon kojeg bi nastavio samostalno istraživati dublje i dublje dok ne završi task i sprži hrpu tokena. </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7" name="Shape 317"/>
          <p:cNvSpPr/>
          <p:nvPr>
            <p:ph type="sldImg"/>
          </p:nvPr>
        </p:nvSpPr>
        <p:spPr>
          <a:prstGeom prst="rect">
            <a:avLst/>
          </a:prstGeom>
        </p:spPr>
        <p:txBody>
          <a:bodyPr/>
          <a:lstStyle/>
          <a:p>
            <a:pPr/>
          </a:p>
        </p:txBody>
      </p:sp>
      <p:sp>
        <p:nvSpPr>
          <p:cNvPr id="318" name="Shape 318"/>
          <p:cNvSpPr/>
          <p:nvPr>
            <p:ph type="body" sz="quarter" idx="1"/>
          </p:nvPr>
        </p:nvSpPr>
        <p:spPr>
          <a:prstGeom prst="rect">
            <a:avLst/>
          </a:prstGeom>
        </p:spPr>
        <p:txBody>
          <a:bodyPr/>
          <a:lstStyle>
            <a:lvl1pPr>
              <a:defRPr sz="1600"/>
            </a:lvl1pPr>
          </a:lstStyle>
          <a:p>
            <a:pPr/>
            <a:r>
              <a:t>Dakle, možemo zaključiti da dobra arhitektura smanjuje količinu konteksta potrebnog AI alatu da ispravno obavi svoj posao.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6" name="Shape 326"/>
          <p:cNvSpPr/>
          <p:nvPr>
            <p:ph type="sldImg"/>
          </p:nvPr>
        </p:nvSpPr>
        <p:spPr>
          <a:prstGeom prst="rect">
            <a:avLst/>
          </a:prstGeom>
        </p:spPr>
        <p:txBody>
          <a:bodyPr/>
          <a:lstStyle/>
          <a:p>
            <a:pPr/>
          </a:p>
        </p:txBody>
      </p:sp>
      <p:sp>
        <p:nvSpPr>
          <p:cNvPr id="327" name="Shape 327"/>
          <p:cNvSpPr/>
          <p:nvPr>
            <p:ph type="body" sz="quarter" idx="1"/>
          </p:nvPr>
        </p:nvSpPr>
        <p:spPr>
          <a:prstGeom prst="rect">
            <a:avLst/>
          </a:prstGeom>
        </p:spPr>
        <p:txBody>
          <a:bodyPr/>
          <a:lstStyle>
            <a:lvl1pPr>
              <a:defRPr sz="1600"/>
            </a:lvl1pPr>
          </a:lstStyle>
          <a:p>
            <a:pPr/>
            <a:r>
              <a:t>I konačno dolazimo do pitanja, kako zapravo možemo izgraditi dobru arhitekturu?</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Shape 335"/>
          <p:cNvSpPr/>
          <p:nvPr>
            <p:ph type="sldImg"/>
          </p:nvPr>
        </p:nvSpPr>
        <p:spPr>
          <a:prstGeom prst="rect">
            <a:avLst/>
          </a:prstGeom>
        </p:spPr>
        <p:txBody>
          <a:bodyPr/>
          <a:lstStyle/>
          <a:p>
            <a:pPr/>
          </a:p>
        </p:txBody>
      </p:sp>
      <p:sp>
        <p:nvSpPr>
          <p:cNvPr id="336" name="Shape 336"/>
          <p:cNvSpPr/>
          <p:nvPr>
            <p:ph type="body" sz="quarter" idx="1"/>
          </p:nvPr>
        </p:nvSpPr>
        <p:spPr>
          <a:prstGeom prst="rect">
            <a:avLst/>
          </a:prstGeom>
        </p:spPr>
        <p:txBody>
          <a:bodyPr/>
          <a:lstStyle>
            <a:lvl1pPr>
              <a:defRPr sz="1600"/>
            </a:lvl1pPr>
          </a:lstStyle>
          <a:p>
            <a:pPr/>
            <a:r>
              <a:t>Odgovor je: primjenom prave metodologije, a ta metodologija se naziva Feature-Sliced Design.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8" name="Shape 348"/>
          <p:cNvSpPr/>
          <p:nvPr>
            <p:ph type="sldImg"/>
          </p:nvPr>
        </p:nvSpPr>
        <p:spPr>
          <a:prstGeom prst="rect">
            <a:avLst/>
          </a:prstGeom>
        </p:spPr>
        <p:txBody>
          <a:bodyPr/>
          <a:lstStyle/>
          <a:p>
            <a:pPr/>
          </a:p>
        </p:txBody>
      </p:sp>
      <p:sp>
        <p:nvSpPr>
          <p:cNvPr id="349" name="Shape 349"/>
          <p:cNvSpPr/>
          <p:nvPr>
            <p:ph type="body" sz="quarter" idx="1"/>
          </p:nvPr>
        </p:nvSpPr>
        <p:spPr>
          <a:prstGeom prst="rect">
            <a:avLst/>
          </a:prstGeom>
        </p:spPr>
        <p:txBody>
          <a:bodyPr/>
          <a:lstStyle>
            <a:lvl1pPr>
              <a:defRPr sz="1600"/>
            </a:lvl1pPr>
          </a:lstStyle>
          <a:p>
            <a:pPr/>
            <a:r>
              <a:t>Feature-Sliced Design je arhitekturna metodologija za strukturiranje frontend aplikacija. U jednostavnom smislu - to je skup pravila i konvencija za organiziranje koda. Cilj je da projekt bude razumljiv iz same strukture, bez da se čita svaka linija koda. To je upravo isti problem koji ima AI agent - počinje svaku sesiju s nula konteksta i mora brzo izgraditi mentalni model projekta. Bitno je napomenuti da je ova metodologija namijenjena za “front-facing” aplikacije, a ne za librarye, backend i slično jer takve ne mogu puno benefita dobiti sa primjenom pravila, a u sljedećim slideovima vidjeti ćete i zašto.</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2" name="Shape 352"/>
          <p:cNvSpPr/>
          <p:nvPr>
            <p:ph type="sldImg"/>
          </p:nvPr>
        </p:nvSpPr>
        <p:spPr>
          <a:prstGeom prst="rect">
            <a:avLst/>
          </a:prstGeom>
        </p:spPr>
        <p:txBody>
          <a:bodyPr/>
          <a:lstStyle/>
          <a:p>
            <a:pPr/>
          </a:p>
        </p:txBody>
      </p:sp>
      <p:sp>
        <p:nvSpPr>
          <p:cNvPr id="353" name="Shape 353"/>
          <p:cNvSpPr/>
          <p:nvPr>
            <p:ph type="body" sz="quarter" idx="1"/>
          </p:nvPr>
        </p:nvSpPr>
        <p:spPr>
          <a:prstGeom prst="rect">
            <a:avLst/>
          </a:prstGeom>
        </p:spPr>
        <p:txBody>
          <a:bodyPr/>
          <a:lstStyle/>
          <a:p>
            <a:pPr>
              <a:defRPr sz="1600"/>
            </a:pPr>
            <a:r>
              <a:t>Prvi koncept i prva razina organizacije FSD-a su layeri koje dijele aplikaciju na grupe različite odgovornosti i razine abstrakcije. Layeri su standardizirani, znači uvijek se koriste sljedeći: app (sadrži routing, globalne stilove, providere itd. -&gt; ako npr. imamo file-based routing onda će ovdje ići rute), pages (tu se nalaze pagevi koji se importaju u rute iznad), widgeti (large self-contained chunks of functionality), features (poslovna logika -&gt; sve što donosi vrijednost korisniku), entities (poslovni entiteti specifični za aplikaciju) te shared - reusable funkcionalnosti (ili komponente) najčešće odvojeni od specifičnosti poslovne domene (ali ne nužno).</a:t>
            </a:r>
            <a:br/>
            <a:br/>
            <a:r>
              <a:t>Temeljno pravilo FSD-a je da moduli iz jednog layera smiju znati, odnosno smiju importati samo module isključivo iz layera ispod. Na primjer, modul iz pagesa smije importati samo iz widgetsa i featuresa, ali ne smije iz app-a.</a:t>
            </a:r>
            <a:br/>
            <a:b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4" name="Shape 374"/>
          <p:cNvSpPr/>
          <p:nvPr>
            <p:ph type="sldImg"/>
          </p:nvPr>
        </p:nvSpPr>
        <p:spPr>
          <a:prstGeom prst="rect">
            <a:avLst/>
          </a:prstGeom>
        </p:spPr>
        <p:txBody>
          <a:bodyPr/>
          <a:lstStyle/>
          <a:p>
            <a:pPr/>
          </a:p>
        </p:txBody>
      </p:sp>
      <p:sp>
        <p:nvSpPr>
          <p:cNvPr id="375" name="Shape 375"/>
          <p:cNvSpPr/>
          <p:nvPr>
            <p:ph type="body" sz="quarter" idx="1"/>
          </p:nvPr>
        </p:nvSpPr>
        <p:spPr>
          <a:prstGeom prst="rect">
            <a:avLst/>
          </a:prstGeom>
        </p:spPr>
        <p:txBody>
          <a:bodyPr/>
          <a:lstStyle/>
          <a:p>
            <a:pPr/>
            <a:r>
              <a:t>FSD se svodi na tri temeljna pravila: slojevi koji definiraju hijerarhiju odgovornosti, slices i segments koji odvajaju domenu od tehničke svrhe, te public API koji definira jasan ugovor između modula. U sljedeća tri slidea ćemo proći svako od njih i vidjeti kako konkretno pomaže AI alatu.</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2" name="Shape 402"/>
          <p:cNvSpPr/>
          <p:nvPr>
            <p:ph type="sldImg"/>
          </p:nvPr>
        </p:nvSpPr>
        <p:spPr>
          <a:prstGeom prst="rect">
            <a:avLst/>
          </a:prstGeom>
        </p:spPr>
        <p:txBody>
          <a:bodyPr/>
          <a:lstStyle/>
          <a:p>
            <a:pPr/>
          </a:p>
        </p:txBody>
      </p:sp>
      <p:sp>
        <p:nvSpPr>
          <p:cNvPr id="403" name="Shape 403"/>
          <p:cNvSpPr/>
          <p:nvPr>
            <p:ph type="body" sz="quarter" idx="1"/>
          </p:nvPr>
        </p:nvSpPr>
        <p:spPr>
          <a:prstGeom prst="rect">
            <a:avLst/>
          </a:prstGeom>
        </p:spPr>
        <p:txBody>
          <a:bodyPr/>
          <a:lstStyle/>
          <a:p>
            <a:pPr/>
            <a:r>
              <a:t>Slojevi su prvo i najvažnije pravilo FSD-a. Šest slojeva, uvijek u istom redoslijedu: app, pages, widgets, features, entities, shared. Pravilo importa je jednosmjerno - viši sloj smije importati iz nižeg, ali nikad obrnuto. Cross-importi između slica istog sloja su zabranjeni. Konkretni benefit za AI: file tree postaje mapa odgovornosti, AI odmah zna gdje je što. Drugi benefit: jednosmjerni tok importa znači da AI ne ulazi u beskonačne lance ovisnosti. Sjetite se onog slidea gdje je Card.tsx imao 6 importa u 6 različitih smjerova - sa slojevima, svi importi vode samo prema dolje.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9" name="Shape 419"/>
          <p:cNvSpPr/>
          <p:nvPr>
            <p:ph type="sldImg"/>
          </p:nvPr>
        </p:nvSpPr>
        <p:spPr>
          <a:prstGeom prst="rect">
            <a:avLst/>
          </a:prstGeom>
        </p:spPr>
        <p:txBody>
          <a:bodyPr/>
          <a:lstStyle/>
          <a:p>
            <a:pPr/>
          </a:p>
        </p:txBody>
      </p:sp>
      <p:sp>
        <p:nvSpPr>
          <p:cNvPr id="420" name="Shape 420"/>
          <p:cNvSpPr/>
          <p:nvPr>
            <p:ph type="body" sz="quarter" idx="1"/>
          </p:nvPr>
        </p:nvSpPr>
        <p:spPr>
          <a:prstGeom prst="rect">
            <a:avLst/>
          </a:prstGeom>
        </p:spPr>
        <p:txBody>
          <a:bodyPr/>
          <a:lstStyle/>
          <a:p>
            <a:pPr/>
            <a:r>
              <a:t>Drugo pravilo razdvaja što od kako. Slice predstavlja jednu poslovnu domenu - auth, profile-edit, like-post. Unutar slica imamo segmente koji grupiraju kod po tehničkoj svrsi - ui, model, api, lib. Kako ovo pomaže AI-u? Prvo, granice slica znače da AI ostaje unutar jedne domene dok radi, ne vuče u kontekst kod iz drugih featurea. Drugo, segmenti su isti u svakom slice-u - AI nauči obrazac jednom i može ga primijeniti svugdje. Domain-based naming, user.ts a ne types.ts, daje AI-u jak semantički signal i kod tekstualne pretrage i kod embeddinga.</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2" name="Shape 432"/>
          <p:cNvSpPr/>
          <p:nvPr>
            <p:ph type="sldImg"/>
          </p:nvPr>
        </p:nvSpPr>
        <p:spPr>
          <a:prstGeom prst="rect">
            <a:avLst/>
          </a:prstGeom>
        </p:spPr>
        <p:txBody>
          <a:bodyPr/>
          <a:lstStyle/>
          <a:p>
            <a:pPr/>
          </a:p>
        </p:txBody>
      </p:sp>
      <p:sp>
        <p:nvSpPr>
          <p:cNvPr id="433" name="Shape 433"/>
          <p:cNvSpPr/>
          <p:nvPr>
            <p:ph type="body" sz="quarter" idx="1"/>
          </p:nvPr>
        </p:nvSpPr>
        <p:spPr>
          <a:prstGeom prst="rect">
            <a:avLst/>
          </a:prstGeom>
        </p:spPr>
        <p:txBody>
          <a:bodyPr/>
          <a:lstStyle/>
          <a:p>
            <a:pPr/>
            <a:r>
              <a:t>Treće pravilo: svaki slice mora imati index.ts koji eksponira svoj javni API. To je jedino mjesto kroz koje vanjski kod smije importati. Direktno importanje iz internih datoteka, kao auth/ui/LoginForm, strogo je zabranjeno. Public API daje dva ključna benefita za AI: prvo, drastično štedi tokene - AI pročita 8 redova index.ts-a i zna kompletno sučelje slica, umjesto da učitava 400+ linija implementacije. Drugo, Public API je stabilan ugovor - AI može refaktorirati internu implementaciju slica bez straha da će razbiti ostatak projekta. Index.ts je za AI ono što je TypeScript interface za developera.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7" name="Shape 447"/>
          <p:cNvSpPr/>
          <p:nvPr>
            <p:ph type="sldImg"/>
          </p:nvPr>
        </p:nvSpPr>
        <p:spPr>
          <a:prstGeom prst="rect">
            <a:avLst/>
          </a:prstGeom>
        </p:spPr>
        <p:txBody>
          <a:bodyPr/>
          <a:lstStyle/>
          <a:p>
            <a:pPr/>
          </a:p>
        </p:txBody>
      </p:sp>
      <p:sp>
        <p:nvSpPr>
          <p:cNvPr id="448" name="Shape 448"/>
          <p:cNvSpPr/>
          <p:nvPr>
            <p:ph type="body" sz="quarter" idx="1"/>
          </p:nvPr>
        </p:nvSpPr>
        <p:spPr>
          <a:prstGeom prst="rect">
            <a:avLst/>
          </a:prstGeom>
        </p:spPr>
        <p:txBody>
          <a:bodyPr/>
          <a:lstStyle/>
          <a:p>
            <a:pPr/>
            <a:r>
              <a:t>Zadnji dio priče: kako konkretno dati AI-u FSD znanje. Dva alata. Prvi je LLMs.txt — cijela FSD specifikacija u jednom plain-text fileu, formatirana baš za AI agente. Doda se u CLAUDE.md, AGENTS.md ili kao referenca u promptu, i AI dobiva sva pravila prije nego napiše ijednu liniju. Drugi je službeni feature-sliced-design Skill u Claude Codeu — aktivira se automatski kad task uključuje FSD odluke. Sadrži decision tree, anti-patterne i conditional reference fileove, što znači da zna kada koje znanje učitati u kontekst, ne dump-a sve odjednom. Kombinacija: dobra arhitektura + dokumentacija u kontekstu = AI prestaje halucinirati i počinje pisati kod po pravilima projekta.</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0" algn="ctr">
              <a:buSzTx/>
              <a:buFontTx/>
              <a:buNone/>
              <a:defRPr>
                <a:solidFill>
                  <a:srgbClr val="888888"/>
                </a:solidFill>
              </a:defRPr>
            </a:lvl2pPr>
            <a:lvl3pPr marL="0" indent="0" algn="ctr">
              <a:buSzTx/>
              <a:buFontTx/>
              <a:buNone/>
              <a:defRPr>
                <a:solidFill>
                  <a:srgbClr val="888888"/>
                </a:solidFill>
              </a:defRPr>
            </a:lvl3pPr>
            <a:lvl4pPr marL="0" indent="0" algn="ctr">
              <a:buSzTx/>
              <a:buFontTx/>
              <a:buNone/>
              <a:defRPr>
                <a:solidFill>
                  <a:srgbClr val="888888"/>
                </a:solidFill>
              </a:defRPr>
            </a:lvl4pPr>
            <a:lvl5pPr marL="0" indent="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xfrm>
            <a:off x="457200" y="274638"/>
            <a:ext cx="8229600" cy="1143001"/>
          </a:xfrm>
          <a:prstGeom prst="rect">
            <a:avLst/>
          </a:prstGeom>
        </p:spPr>
        <p:txBody>
          <a:bodyPr/>
          <a:lstStyle/>
          <a:p>
            <a:pPr/>
            <a:r>
              <a:t>Title Text</a:t>
            </a:r>
          </a:p>
        </p:txBody>
      </p:sp>
      <p:sp>
        <p:nvSpPr>
          <p:cNvPr id="21" name="Body Level One…"/>
          <p:cNvSpPr txBox="1"/>
          <p:nvPr>
            <p:ph type="body" idx="1"/>
          </p:nvPr>
        </p:nvSpPr>
        <p:spPr>
          <a:xfrm>
            <a:off x="457200" y="1600200"/>
            <a:ext cx="8229600" cy="452596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9"/>
          </a:xfrm>
          <a:prstGeom prst="rect">
            <a:avLst/>
          </a:prstGeom>
        </p:spPr>
        <p:txBody>
          <a:bodyPr anchor="b"/>
          <a:lstStyle>
            <a:lvl1pPr marL="0" indent="0">
              <a:spcBef>
                <a:spcPts val="400"/>
              </a:spcBef>
              <a:buSzTx/>
              <a:buFontTx/>
              <a:buNone/>
              <a:defRPr sz="2000">
                <a:solidFill>
                  <a:srgbClr val="888888"/>
                </a:solidFill>
              </a:defRPr>
            </a:lvl1pPr>
            <a:lvl2pPr marL="0" indent="0">
              <a:spcBef>
                <a:spcPts val="400"/>
              </a:spcBef>
              <a:buSzTx/>
              <a:buFontTx/>
              <a:buNone/>
              <a:defRPr sz="2000">
                <a:solidFill>
                  <a:srgbClr val="888888"/>
                </a:solidFill>
              </a:defRPr>
            </a:lvl2pPr>
            <a:lvl3pPr marL="0" indent="0">
              <a:spcBef>
                <a:spcPts val="400"/>
              </a:spcBef>
              <a:buSzTx/>
              <a:buFontTx/>
              <a:buNone/>
              <a:defRPr sz="2000">
                <a:solidFill>
                  <a:srgbClr val="888888"/>
                </a:solidFill>
              </a:defRPr>
            </a:lvl3pPr>
            <a:lvl4pPr marL="0" indent="0">
              <a:spcBef>
                <a:spcPts val="400"/>
              </a:spcBef>
              <a:buSzTx/>
              <a:buFontTx/>
              <a:buNone/>
              <a:defRPr sz="2000">
                <a:solidFill>
                  <a:srgbClr val="888888"/>
                </a:solidFill>
              </a:defRPr>
            </a:lvl4pPr>
            <a:lvl5pPr marL="0" indent="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xfrm>
            <a:off x="457200" y="274638"/>
            <a:ext cx="8229600" cy="1143001"/>
          </a:xfrm>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8" indent="-320038">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xfrm>
            <a:off x="457200" y="274638"/>
            <a:ext cx="8229600" cy="1143001"/>
          </a:xfrm>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0">
              <a:spcBef>
                <a:spcPts val="500"/>
              </a:spcBef>
              <a:buSzTx/>
              <a:buFontTx/>
              <a:buNone/>
              <a:defRPr b="1" sz="2400"/>
            </a:lvl2pPr>
            <a:lvl3pPr marL="0" indent="0">
              <a:spcBef>
                <a:spcPts val="500"/>
              </a:spcBef>
              <a:buSzTx/>
              <a:buFontTx/>
              <a:buNone/>
              <a:defRPr b="1" sz="2400"/>
            </a:lvl3pPr>
            <a:lvl4pPr marL="0" indent="0">
              <a:spcBef>
                <a:spcPts val="500"/>
              </a:spcBef>
              <a:buSzTx/>
              <a:buFontTx/>
              <a:buNone/>
              <a:defRPr b="1" sz="2400"/>
            </a:lvl4pPr>
            <a:lvl5pPr marL="0" indent="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4"/>
          </a:xfrm>
          <a:prstGeom prst="rect">
            <a:avLst/>
          </a:prstGeom>
        </p:spPr>
        <p:txBody>
          <a:bodyPr anchor="b"/>
          <a:lstStyle/>
          <a:p>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xfrm>
            <a:off x="457200" y="274638"/>
            <a:ext cx="8229600" cy="1143001"/>
          </a:xfrm>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5"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8" y="1435100"/>
            <a:ext cx="3008317" cy="4691063"/>
          </a:xfrm>
          <a:prstGeom prst="rect">
            <a:avLst/>
          </a:prstGeom>
        </p:spPr>
        <p:txBody>
          <a:bodyPr/>
          <a:lstStyle/>
          <a:p>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2"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2" cy="4114800"/>
          </a:xfrm>
          <a:prstGeom prst="rect">
            <a:avLst/>
          </a:prstGeom>
        </p:spPr>
        <p:txBody>
          <a:bodyPr lIns="91439" tIns="45719" rIns="91439" bIns="45719">
            <a:noAutofit/>
          </a:bodyPr>
          <a:lstStyle/>
          <a:p>
            <a:pPr/>
          </a:p>
        </p:txBody>
      </p:sp>
      <p:sp>
        <p:nvSpPr>
          <p:cNvPr id="84" name="Body Level One…"/>
          <p:cNvSpPr txBox="1"/>
          <p:nvPr>
            <p:ph type="body" sz="quarter" idx="1"/>
          </p:nvPr>
        </p:nvSpPr>
        <p:spPr>
          <a:xfrm>
            <a:off x="1792288" y="5367337"/>
            <a:ext cx="5486402" cy="804864"/>
          </a:xfrm>
          <a:prstGeom prst="rect">
            <a:avLst/>
          </a:prstGeom>
        </p:spPr>
        <p:txBody>
          <a:bodyPr/>
          <a:lstStyle>
            <a:lvl1pPr marL="0" indent="0">
              <a:spcBef>
                <a:spcPts val="300"/>
              </a:spcBef>
              <a:buSzTx/>
              <a:buFontTx/>
              <a:buNone/>
              <a:defRPr sz="1400"/>
            </a:lvl1pPr>
            <a:lvl2pPr marL="0" indent="0">
              <a:spcBef>
                <a:spcPts val="300"/>
              </a:spcBef>
              <a:buSzTx/>
              <a:buFontTx/>
              <a:buNone/>
              <a:defRPr sz="1400"/>
            </a:lvl2pPr>
            <a:lvl3pPr marL="0" indent="0">
              <a:spcBef>
                <a:spcPts val="300"/>
              </a:spcBef>
              <a:buSzTx/>
              <a:buFontTx/>
              <a:buNone/>
              <a:defRPr sz="1400"/>
            </a:lvl3pPr>
            <a:lvl4pPr marL="0" indent="0">
              <a:spcBef>
                <a:spcPts val="300"/>
              </a:spcBef>
              <a:buSzTx/>
              <a:buFontTx/>
              <a:buNone/>
              <a:defRPr sz="1400"/>
            </a:lvl4pPr>
            <a:lvl5pPr marL="0" indent="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F172A"/>
        </a:solidFill>
      </p:bgPr>
    </p:bg>
    <p:spTree>
      <p:nvGrpSpPr>
        <p:cNvPr id="1" name=""/>
        <p:cNvGrpSpPr/>
        <p:nvPr/>
      </p:nvGrpSpPr>
      <p:grpSpPr>
        <a:xfrm>
          <a:off x="0" y="0"/>
          <a:ext cx="0" cy="0"/>
          <a:chOff x="0" y="0"/>
          <a:chExt cx="0" cy="0"/>
        </a:xfrm>
      </p:grpSpPr>
      <p:sp>
        <p:nvSpPr>
          <p:cNvPr id="2" name="Title Text"/>
          <p:cNvSpPr txBox="1"/>
          <p:nvPr>
            <p:ph type="title"/>
          </p:nvPr>
        </p:nvSpPr>
        <p:spPr>
          <a:xfrm>
            <a:off x="1824780" y="769937"/>
            <a:ext cx="974344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Title Text</a:t>
            </a:r>
          </a:p>
        </p:txBody>
      </p:sp>
      <p:sp>
        <p:nvSpPr>
          <p:cNvPr id="3" name="Body Level One…"/>
          <p:cNvSpPr txBox="1"/>
          <p:nvPr>
            <p:ph type="body" idx="1"/>
          </p:nvPr>
        </p:nvSpPr>
        <p:spPr>
          <a:xfrm>
            <a:off x="6797994" y="2438400"/>
            <a:ext cx="4770227"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8" y="6414761"/>
            <a:ext cx="258623" cy="248303"/>
          </a:xfrm>
          <a:prstGeom prst="rect">
            <a:avLst/>
          </a:prstGeom>
          <a:ln w="12700">
            <a:miter lim="400000"/>
          </a:ln>
        </p:spPr>
        <p:txBody>
          <a:bodyPr wrap="none" lIns="45718" tIns="45718" rIns="45718" bIns="45718"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 name="Rectangle 1"/>
          <p:cNvSpPr/>
          <p:nvPr/>
        </p:nvSpPr>
        <p:spPr>
          <a:xfrm>
            <a:off x="640080" y="640080"/>
            <a:ext cx="548641" cy="4572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95" name="TextBox 3"/>
          <p:cNvSpPr txBox="1"/>
          <p:nvPr/>
        </p:nvSpPr>
        <p:spPr>
          <a:xfrm>
            <a:off x="640080" y="2377438"/>
            <a:ext cx="10972801" cy="200468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6400">
                <a:solidFill>
                  <a:srgbClr val="F2F2F2"/>
                </a:solidFill>
                <a:latin typeface="Inter Bold"/>
                <a:ea typeface="Inter Bold"/>
                <a:cs typeface="Inter Bold"/>
                <a:sym typeface="Inter Bold"/>
              </a:defRPr>
            </a:pPr>
            <a:r>
              <a:t>Frontend arhitektura</a:t>
            </a:r>
          </a:p>
          <a:p>
            <a:pPr>
              <a:lnSpc>
                <a:spcPct val="104999"/>
              </a:lnSpc>
              <a:defRPr sz="6400">
                <a:solidFill>
                  <a:srgbClr val="F2F2F2"/>
                </a:solidFill>
                <a:latin typeface="Inter Bold"/>
                <a:ea typeface="Inter Bold"/>
                <a:cs typeface="Inter Bold"/>
                <a:sym typeface="Inter Bold"/>
              </a:defRPr>
            </a:pPr>
            <a:r>
              <a:t>kakvu </a:t>
            </a:r>
            <a:r>
              <a:rPr>
                <a:solidFill>
                  <a:srgbClr val="00D4FF"/>
                </a:solidFill>
              </a:rPr>
              <a:t>AI</a:t>
            </a:r>
            <a:r>
              <a:t> razumije</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TextBox 1"/>
          <p:cNvSpPr txBox="1"/>
          <p:nvPr/>
        </p:nvSpPr>
        <p:spPr>
          <a:xfrm>
            <a:off x="914398" y="1828800"/>
            <a:ext cx="10360156"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888888"/>
                </a:solidFill>
                <a:latin typeface="Inter Regular"/>
                <a:ea typeface="Inter Regular"/>
                <a:cs typeface="Inter Regular"/>
                <a:sym typeface="Inter Regular"/>
              </a:defRPr>
            </a:lvl1pPr>
          </a:lstStyle>
          <a:p>
            <a:pPr/>
            <a:r>
              <a:t>Koliko puta ste čuli ovu rečenicu?</a:t>
            </a:r>
          </a:p>
        </p:txBody>
      </p:sp>
      <p:sp>
        <p:nvSpPr>
          <p:cNvPr id="98" name="TextBox 2"/>
          <p:cNvSpPr txBox="1"/>
          <p:nvPr/>
        </p:nvSpPr>
        <p:spPr>
          <a:xfrm>
            <a:off x="1097279" y="2468878"/>
            <a:ext cx="9994394" cy="1874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“Napisao sam detaljni plan implementacije za Claude-a. Prvih par koraka - sve divno i krasno. Nakon toga, </a:t>
            </a:r>
            <a:r>
              <a:rPr>
                <a:solidFill>
                  <a:srgbClr val="FF4757"/>
                </a:solidFill>
              </a:rPr>
              <a:t>počeo se gubiti.</a:t>
            </a:r>
            <a:r>
              <a:t>”</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02" name="top.png" descr="top.png"/>
          <p:cNvPicPr>
            <a:picLocks noChangeAspect="1"/>
          </p:cNvPicPr>
          <p:nvPr/>
        </p:nvPicPr>
        <p:blipFill>
          <a:blip r:embed="rId2">
            <a:extLst/>
          </a:blip>
          <a:stretch>
            <a:fillRect/>
          </a:stretch>
        </p:blipFill>
        <p:spPr>
          <a:xfrm>
            <a:off x="2866010" y="0"/>
            <a:ext cx="6447280" cy="68580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4" name="TextBox 1"/>
          <p:cNvSpPr txBox="1"/>
          <p:nvPr/>
        </p:nvSpPr>
        <p:spPr>
          <a:xfrm>
            <a:off x="914398" y="1828800"/>
            <a:ext cx="10360156"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888888"/>
                </a:solidFill>
                <a:latin typeface="Inter Regular"/>
                <a:ea typeface="Inter Regular"/>
                <a:cs typeface="Inter Regular"/>
                <a:sym typeface="Inter Regular"/>
              </a:defRPr>
            </a:lvl1pPr>
          </a:lstStyle>
          <a:p>
            <a:pPr/>
            <a:r>
              <a:t>Ili ovu rečenicu:</a:t>
            </a:r>
          </a:p>
        </p:txBody>
      </p:sp>
      <p:sp>
        <p:nvSpPr>
          <p:cNvPr id="105" name="TextBox 2"/>
          <p:cNvSpPr txBox="1"/>
          <p:nvPr/>
        </p:nvSpPr>
        <p:spPr>
          <a:xfrm>
            <a:off x="1595832" y="2491738"/>
            <a:ext cx="8987637" cy="1874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“Codex radi odlično na mojem mini projektu, ali je </a:t>
            </a:r>
            <a:r>
              <a:rPr>
                <a:solidFill>
                  <a:srgbClr val="FF4757"/>
                </a:solidFill>
              </a:rPr>
              <a:t>beskoristan</a:t>
            </a:r>
            <a:r>
              <a:t> u našem produkcijskom kodu.”</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10"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11" name="TextBox 3"/>
          <p:cNvSpPr txBox="1"/>
          <p:nvPr/>
        </p:nvSpPr>
        <p:spPr>
          <a:xfrm>
            <a:off x="640079" y="2103120"/>
            <a:ext cx="10908794" cy="7670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testove, napiši regex, složi boilerplate - mačji kašalj.</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16"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17" name="TextBox 3"/>
          <p:cNvSpPr txBox="1"/>
          <p:nvPr/>
        </p:nvSpPr>
        <p:spPr>
          <a:xfrm>
            <a:off x="640079" y="2103120"/>
            <a:ext cx="10908794" cy="14274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testove, napiši regex, složi boilerplate - mačji kašalj.</a:t>
            </a:r>
          </a:p>
          <a:p>
            <a:pPr>
              <a:lnSpc>
                <a:spcPct val="140000"/>
              </a:lnSpc>
              <a:spcBef>
                <a:spcPts val="1800"/>
              </a:spcBef>
              <a:defRPr sz="2200">
                <a:solidFill>
                  <a:srgbClr val="F2F2F2"/>
                </a:solidFill>
                <a:latin typeface="Inter Regular"/>
                <a:ea typeface="Inter Regular"/>
                <a:cs typeface="Inter Regular"/>
                <a:sym typeface="Inter Regular"/>
              </a:defRPr>
            </a:pPr>
            <a:r>
              <a:t>No, što je zadatak veći to AI-ju postaje </a:t>
            </a:r>
            <a:r>
              <a:rPr>
                <a:solidFill>
                  <a:srgbClr val="FF4757"/>
                </a:solidFill>
                <a:latin typeface="Inter Bold"/>
                <a:ea typeface="Inter Bold"/>
                <a:cs typeface="Inter Bold"/>
                <a:sym typeface="Inter Bold"/>
              </a:rPr>
              <a:t>sve teže</a:t>
            </a:r>
            <a:r>
              <a:t> pomoći:</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2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23" name="TextBox 3"/>
          <p:cNvSpPr txBox="1"/>
          <p:nvPr/>
        </p:nvSpPr>
        <p:spPr>
          <a:xfrm>
            <a:off x="640079" y="2103120"/>
            <a:ext cx="10908794" cy="14274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testove, napiši regex, složi boilerplate - mačji kašalj.</a:t>
            </a:r>
          </a:p>
          <a:p>
            <a:pPr>
              <a:lnSpc>
                <a:spcPct val="140000"/>
              </a:lnSpc>
              <a:spcBef>
                <a:spcPts val="1800"/>
              </a:spcBef>
              <a:defRPr sz="2200">
                <a:solidFill>
                  <a:srgbClr val="F2F2F2"/>
                </a:solidFill>
                <a:latin typeface="Inter Regular"/>
                <a:ea typeface="Inter Regular"/>
                <a:cs typeface="Inter Regular"/>
                <a:sym typeface="Inter Regular"/>
              </a:defRPr>
            </a:pPr>
            <a:r>
              <a:t>No, što je zadatak veći to AI-ju postaje </a:t>
            </a:r>
            <a:r>
              <a:rPr>
                <a:solidFill>
                  <a:srgbClr val="FF4757"/>
                </a:solidFill>
                <a:latin typeface="Inter Bold"/>
                <a:ea typeface="Inter Bold"/>
                <a:cs typeface="Inter Bold"/>
                <a:sym typeface="Inter Bold"/>
              </a:rPr>
              <a:t>sve teže</a:t>
            </a:r>
            <a:r>
              <a:t> pomoći:</a:t>
            </a:r>
          </a:p>
        </p:txBody>
      </p:sp>
      <p:sp>
        <p:nvSpPr>
          <p:cNvPr id="124" name="Rounded Rectangle 4"/>
          <p:cNvSpPr/>
          <p:nvPr/>
        </p:nvSpPr>
        <p:spPr>
          <a:xfrm>
            <a:off x="640080" y="4937759"/>
            <a:ext cx="10972801" cy="100584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25" name="Rectangle 5"/>
          <p:cNvSpPr/>
          <p:nvPr/>
        </p:nvSpPr>
        <p:spPr>
          <a:xfrm>
            <a:off x="640080" y="4937759"/>
            <a:ext cx="54866" cy="100584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26" name="TextBox 6"/>
          <p:cNvSpPr txBox="1"/>
          <p:nvPr/>
        </p:nvSpPr>
        <p:spPr>
          <a:xfrm>
            <a:off x="868678" y="5315710"/>
            <a:ext cx="10607044"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t>Razlog za to je jednostavan: </a:t>
            </a:r>
            <a:r>
              <a:rPr>
                <a:solidFill>
                  <a:srgbClr val="00D4FF"/>
                </a:solidFill>
                <a:latin typeface="Inter Bold"/>
                <a:ea typeface="Inter Bold"/>
                <a:cs typeface="Inter Bold"/>
                <a:sym typeface="Inter Bold"/>
              </a:rPr>
              <a:t>kontekst.</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31"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32" name="TextBox 3"/>
          <p:cNvSpPr txBox="1"/>
          <p:nvPr/>
        </p:nvSpPr>
        <p:spPr>
          <a:xfrm>
            <a:off x="640079" y="2103120"/>
            <a:ext cx="9701615"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3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38" name="TextBox 3"/>
          <p:cNvSpPr txBox="1"/>
          <p:nvPr/>
        </p:nvSpPr>
        <p:spPr>
          <a:xfrm>
            <a:off x="640079" y="2103120"/>
            <a:ext cx="9701615" cy="185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endParaRPr>
              <a:solidFill>
                <a:srgbClr val="F2F2F2"/>
              </a:solidFill>
            </a:endParaRPr>
          </a:p>
          <a:p>
            <a:pPr>
              <a:lnSpc>
                <a:spcPct val="150000"/>
              </a:lnSpc>
              <a:spcBef>
                <a:spcPts val="1400"/>
              </a:spcBef>
              <a:defRPr sz="2000">
                <a:solidFill>
                  <a:srgbClr val="F2F2F2"/>
                </a:solidFill>
                <a:latin typeface="Inter Regular"/>
                <a:ea typeface="Inter Regular"/>
                <a:cs typeface="Inter Regular"/>
                <a:sym typeface="Inter Regular"/>
              </a:defRPr>
            </a:pPr>
            <a:r>
              <a:t>Drugim riječima, sve što model može vidjeti kada generira odgovor - tvoj prompt, otvorene datoteke, struktura projekta itd.</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4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44" name="TextBox 3"/>
          <p:cNvSpPr txBox="1"/>
          <p:nvPr/>
        </p:nvSpPr>
        <p:spPr>
          <a:xfrm>
            <a:off x="640079" y="2103120"/>
            <a:ext cx="9701615" cy="185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endParaRPr>
              <a:solidFill>
                <a:srgbClr val="F2F2F2"/>
              </a:solidFill>
            </a:endParaRPr>
          </a:p>
          <a:p>
            <a:pPr>
              <a:lnSpc>
                <a:spcPct val="150000"/>
              </a:lnSpc>
              <a:spcBef>
                <a:spcPts val="1400"/>
              </a:spcBef>
              <a:defRPr sz="2000">
                <a:solidFill>
                  <a:srgbClr val="F2F2F2"/>
                </a:solidFill>
                <a:latin typeface="Inter Regular"/>
                <a:ea typeface="Inter Regular"/>
                <a:cs typeface="Inter Regular"/>
                <a:sym typeface="Inter Regular"/>
              </a:defRPr>
            </a:pPr>
            <a:r>
              <a:t>Drugim riječima, sve što model može vidjeti kada generira odgovor - tvoj prompt, otvorene datoteke, struktura projekta itd.</a:t>
            </a:r>
          </a:p>
        </p:txBody>
      </p:sp>
      <p:sp>
        <p:nvSpPr>
          <p:cNvPr id="145" name="Rounded Rectangle 4"/>
          <p:cNvSpPr/>
          <p:nvPr/>
        </p:nvSpPr>
        <p:spPr>
          <a:xfrm>
            <a:off x="640080" y="5029200"/>
            <a:ext cx="10972801" cy="1188720"/>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46" name="Rectangle 5"/>
          <p:cNvSpPr/>
          <p:nvPr/>
        </p:nvSpPr>
        <p:spPr>
          <a:xfrm>
            <a:off x="640080" y="5029200"/>
            <a:ext cx="54866" cy="118872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47" name="TextBox 6"/>
          <p:cNvSpPr txBox="1"/>
          <p:nvPr/>
        </p:nvSpPr>
        <p:spPr>
          <a:xfrm>
            <a:off x="868678" y="5517641"/>
            <a:ext cx="1060704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a:solidFill>
                  <a:srgbClr val="F2F2F2"/>
                </a:solidFill>
                <a:latin typeface="Inter Regular"/>
                <a:ea typeface="Inter Regular"/>
                <a:cs typeface="Inter Regular"/>
                <a:sym typeface="Inter Regular"/>
              </a:defRPr>
            </a:pPr>
            <a:r>
              <a:t>AI ne poznaje vaš projekt. On </a:t>
            </a:r>
            <a:r>
              <a:rPr>
                <a:solidFill>
                  <a:srgbClr val="00D4FF"/>
                </a:solidFill>
                <a:latin typeface="Inter Bold"/>
                <a:ea typeface="Inter Bold"/>
                <a:cs typeface="Inter Bold"/>
                <a:sym typeface="Inter Bold"/>
              </a:rPr>
              <a:t>čita samo ono što mu pružite</a:t>
            </a:r>
            <a:r>
              <a:t> - i to je sve čime raspolaže.</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5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53"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54"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55"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60"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61"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62"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63"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64" name="TextBox 6"/>
          <p:cNvSpPr txBox="1"/>
          <p:nvPr/>
        </p:nvSpPr>
        <p:spPr>
          <a:xfrm>
            <a:off x="640079" y="3383279"/>
            <a:ext cx="10908794"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69"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70"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71"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72"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73" name="TextBox 6"/>
          <p:cNvSpPr txBox="1"/>
          <p:nvPr/>
        </p:nvSpPr>
        <p:spPr>
          <a:xfrm>
            <a:off x="640079" y="3383279"/>
            <a:ext cx="10908794" cy="144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a:p>
            <a:pPr>
              <a:lnSpc>
                <a:spcPct val="150000"/>
              </a:lnSpc>
              <a:spcBef>
                <a:spcPts val="1800"/>
              </a:spcBef>
              <a:defRPr sz="2000">
                <a:solidFill>
                  <a:srgbClr val="F2F2F2"/>
                </a:solidFill>
                <a:latin typeface="Inter Regular"/>
                <a:ea typeface="Inter Regular"/>
                <a:cs typeface="Inter Regular"/>
                <a:sym typeface="Inter Regular"/>
              </a:defRPr>
            </a:pPr>
            <a:r>
              <a:t>Kvaliteta odgovora </a:t>
            </a:r>
            <a:r>
              <a:rPr>
                <a:solidFill>
                  <a:srgbClr val="00D4FF"/>
                </a:solidFill>
                <a:latin typeface="Inter Bold"/>
                <a:ea typeface="Inter Bold"/>
                <a:cs typeface="Inter Bold"/>
                <a:sym typeface="Inter Bold"/>
              </a:rPr>
              <a:t>ograničena je</a:t>
            </a:r>
            <a:r>
              <a:t> kvalitetom konteksta koji model prima.</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7" name="TextBox 2"/>
          <p:cNvSpPr txBox="1"/>
          <p:nvPr/>
        </p:nvSpPr>
        <p:spPr>
          <a:xfrm>
            <a:off x="1092453" y="3168650"/>
            <a:ext cx="9994394" cy="52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30000"/>
              </a:lnSpc>
              <a:defRPr sz="3400">
                <a:solidFill>
                  <a:srgbClr val="F2F2F2"/>
                </a:solidFill>
                <a:latin typeface="Inter Bold"/>
                <a:ea typeface="Inter Bold"/>
                <a:cs typeface="Inter Bold"/>
                <a:sym typeface="Inter Bold"/>
              </a:defRPr>
            </a:lvl1pPr>
          </a:lstStyle>
          <a:p>
            <a:pPr/>
            <a:r>
              <a:t>Kako točno AI “čita” naš kod? </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18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185" name="Rounded Rectangle 4"/>
          <p:cNvGrpSpPr/>
          <p:nvPr/>
        </p:nvGrpSpPr>
        <p:grpSpPr>
          <a:xfrm>
            <a:off x="8616074" y="686815"/>
            <a:ext cx="987555" cy="292611"/>
            <a:chOff x="0" y="0"/>
            <a:chExt cx="987554" cy="292609"/>
          </a:xfrm>
        </p:grpSpPr>
        <p:sp>
          <p:nvSpPr>
            <p:cNvPr id="183"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184"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188" name="Rounded Rectangle 5"/>
          <p:cNvGrpSpPr/>
          <p:nvPr/>
        </p:nvGrpSpPr>
        <p:grpSpPr>
          <a:xfrm>
            <a:off x="9676779" y="686815"/>
            <a:ext cx="1106427" cy="292611"/>
            <a:chOff x="0" y="0"/>
            <a:chExt cx="1106426" cy="292609"/>
          </a:xfrm>
        </p:grpSpPr>
        <p:sp>
          <p:nvSpPr>
            <p:cNvPr id="186"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187"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191" name="Rounded Rectangle 6"/>
          <p:cNvGrpSpPr/>
          <p:nvPr/>
        </p:nvGrpSpPr>
        <p:grpSpPr>
          <a:xfrm>
            <a:off x="10856355" y="686815"/>
            <a:ext cx="749811" cy="292611"/>
            <a:chOff x="0" y="0"/>
            <a:chExt cx="749809" cy="292609"/>
          </a:xfrm>
        </p:grpSpPr>
        <p:sp>
          <p:nvSpPr>
            <p:cNvPr id="189"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190"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192" name="TextBox 7"/>
          <p:cNvSpPr txBox="1"/>
          <p:nvPr/>
        </p:nvSpPr>
        <p:spPr>
          <a:xfrm>
            <a:off x="631030" y="1691530"/>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193"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194"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195"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196"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197"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198"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199"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00"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05"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08" name="Rounded Rectangle 4"/>
          <p:cNvGrpSpPr/>
          <p:nvPr/>
        </p:nvGrpSpPr>
        <p:grpSpPr>
          <a:xfrm>
            <a:off x="8616074" y="686815"/>
            <a:ext cx="987555" cy="292611"/>
            <a:chOff x="0" y="0"/>
            <a:chExt cx="987554" cy="292609"/>
          </a:xfrm>
        </p:grpSpPr>
        <p:sp>
          <p:nvSpPr>
            <p:cNvPr id="206"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07"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11" name="Rounded Rectangle 5"/>
          <p:cNvGrpSpPr/>
          <p:nvPr/>
        </p:nvGrpSpPr>
        <p:grpSpPr>
          <a:xfrm>
            <a:off x="9676779" y="686815"/>
            <a:ext cx="1106427" cy="292611"/>
            <a:chOff x="0" y="0"/>
            <a:chExt cx="1106426" cy="292609"/>
          </a:xfrm>
        </p:grpSpPr>
        <p:sp>
          <p:nvSpPr>
            <p:cNvPr id="209"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10"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14" name="Rounded Rectangle 6"/>
          <p:cNvGrpSpPr/>
          <p:nvPr/>
        </p:nvGrpSpPr>
        <p:grpSpPr>
          <a:xfrm>
            <a:off x="10856355" y="686815"/>
            <a:ext cx="749811" cy="292611"/>
            <a:chOff x="0" y="0"/>
            <a:chExt cx="749809" cy="292609"/>
          </a:xfrm>
        </p:grpSpPr>
        <p:sp>
          <p:nvSpPr>
            <p:cNvPr id="212"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13"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15" name="TextBox 7"/>
          <p:cNvSpPr txBox="1"/>
          <p:nvPr/>
        </p:nvSpPr>
        <p:spPr>
          <a:xfrm>
            <a:off x="631030" y="1691530"/>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16"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17"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18"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19"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0"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21"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2"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3"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24" name="TextBox 16"/>
          <p:cNvSpPr txBox="1"/>
          <p:nvPr/>
        </p:nvSpPr>
        <p:spPr>
          <a:xfrm>
            <a:off x="631030" y="3337448"/>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25" name="Rounded Rectangle 17"/>
          <p:cNvSpPr/>
          <p:nvPr/>
        </p:nvSpPr>
        <p:spPr>
          <a:xfrm>
            <a:off x="631031"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6" name="TextBox 18"/>
          <p:cNvSpPr txBox="1"/>
          <p:nvPr/>
        </p:nvSpPr>
        <p:spPr>
          <a:xfrm>
            <a:off x="768190" y="4185809"/>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27" name="TextBox 19"/>
          <p:cNvSpPr txBox="1"/>
          <p:nvPr/>
        </p:nvSpPr>
        <p:spPr>
          <a:xfrm>
            <a:off x="378571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8" name="Rounded Rectangle 20"/>
          <p:cNvSpPr/>
          <p:nvPr/>
        </p:nvSpPr>
        <p:spPr>
          <a:xfrm>
            <a:off x="4105750" y="384036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9" name="TextBox 21"/>
          <p:cNvSpPr txBox="1"/>
          <p:nvPr/>
        </p:nvSpPr>
        <p:spPr>
          <a:xfrm>
            <a:off x="424291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30" name="TextBox 22"/>
          <p:cNvSpPr txBox="1"/>
          <p:nvPr/>
        </p:nvSpPr>
        <p:spPr>
          <a:xfrm>
            <a:off x="726043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31" name="Rounded Rectangle 23"/>
          <p:cNvSpPr/>
          <p:nvPr/>
        </p:nvSpPr>
        <p:spPr>
          <a:xfrm>
            <a:off x="7580469"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32" name="TextBox 24"/>
          <p:cNvSpPr txBox="1"/>
          <p:nvPr/>
        </p:nvSpPr>
        <p:spPr>
          <a:xfrm>
            <a:off x="771763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3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40" name="Rounded Rectangle 4"/>
          <p:cNvGrpSpPr/>
          <p:nvPr/>
        </p:nvGrpSpPr>
        <p:grpSpPr>
          <a:xfrm>
            <a:off x="8616074" y="686815"/>
            <a:ext cx="987555" cy="292611"/>
            <a:chOff x="0" y="0"/>
            <a:chExt cx="987554" cy="292609"/>
          </a:xfrm>
        </p:grpSpPr>
        <p:sp>
          <p:nvSpPr>
            <p:cNvPr id="238"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39"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43" name="Rounded Rectangle 5"/>
          <p:cNvGrpSpPr/>
          <p:nvPr/>
        </p:nvGrpSpPr>
        <p:grpSpPr>
          <a:xfrm>
            <a:off x="9676779" y="686815"/>
            <a:ext cx="1106427" cy="292611"/>
            <a:chOff x="0" y="0"/>
            <a:chExt cx="1106426" cy="292609"/>
          </a:xfrm>
        </p:grpSpPr>
        <p:sp>
          <p:nvSpPr>
            <p:cNvPr id="241"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42"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46" name="Rounded Rectangle 6"/>
          <p:cNvGrpSpPr/>
          <p:nvPr/>
        </p:nvGrpSpPr>
        <p:grpSpPr>
          <a:xfrm>
            <a:off x="10856355" y="686815"/>
            <a:ext cx="749811" cy="292611"/>
            <a:chOff x="0" y="0"/>
            <a:chExt cx="749809" cy="292609"/>
          </a:xfrm>
        </p:grpSpPr>
        <p:sp>
          <p:nvSpPr>
            <p:cNvPr id="244"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45"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47" name="TextBox 7"/>
          <p:cNvSpPr txBox="1"/>
          <p:nvPr/>
        </p:nvSpPr>
        <p:spPr>
          <a:xfrm>
            <a:off x="631030" y="1680155"/>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48"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49"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50"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1"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2"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53"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4"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5"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56" name="TextBox 16"/>
          <p:cNvSpPr txBox="1"/>
          <p:nvPr/>
        </p:nvSpPr>
        <p:spPr>
          <a:xfrm>
            <a:off x="631030" y="3337448"/>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57" name="Rounded Rectangle 17"/>
          <p:cNvSpPr/>
          <p:nvPr/>
        </p:nvSpPr>
        <p:spPr>
          <a:xfrm>
            <a:off x="631031"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8" name="TextBox 18"/>
          <p:cNvSpPr txBox="1"/>
          <p:nvPr/>
        </p:nvSpPr>
        <p:spPr>
          <a:xfrm>
            <a:off x="768190" y="4185809"/>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59" name="TextBox 19"/>
          <p:cNvSpPr txBox="1"/>
          <p:nvPr/>
        </p:nvSpPr>
        <p:spPr>
          <a:xfrm>
            <a:off x="378571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60" name="Rounded Rectangle 20"/>
          <p:cNvSpPr/>
          <p:nvPr/>
        </p:nvSpPr>
        <p:spPr>
          <a:xfrm>
            <a:off x="4105750" y="384036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61" name="TextBox 21"/>
          <p:cNvSpPr txBox="1"/>
          <p:nvPr/>
        </p:nvSpPr>
        <p:spPr>
          <a:xfrm>
            <a:off x="424291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62" name="Rounded Rectangle 25"/>
          <p:cNvSpPr/>
          <p:nvPr/>
        </p:nvSpPr>
        <p:spPr>
          <a:xfrm>
            <a:off x="631031" y="5029089"/>
            <a:ext cx="10972801" cy="91440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263" name="Rectangle 26"/>
          <p:cNvSpPr/>
          <p:nvPr/>
        </p:nvSpPr>
        <p:spPr>
          <a:xfrm>
            <a:off x="631031" y="5029089"/>
            <a:ext cx="54866" cy="91440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264" name="TextBox 27"/>
          <p:cNvSpPr txBox="1"/>
          <p:nvPr/>
        </p:nvSpPr>
        <p:spPr>
          <a:xfrm>
            <a:off x="888582" y="5365639"/>
            <a:ext cx="10607042"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Loša struktura -&gt; loši rezultati pretraživanja -&gt; loš output</a:t>
            </a:r>
          </a:p>
        </p:txBody>
      </p:sp>
      <p:sp>
        <p:nvSpPr>
          <p:cNvPr id="265" name="TextBox 22"/>
          <p:cNvSpPr txBox="1"/>
          <p:nvPr/>
        </p:nvSpPr>
        <p:spPr>
          <a:xfrm>
            <a:off x="726043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66" name="Rounded Rectangle 23"/>
          <p:cNvSpPr/>
          <p:nvPr/>
        </p:nvSpPr>
        <p:spPr>
          <a:xfrm>
            <a:off x="7580469"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67" name="TextBox 24"/>
          <p:cNvSpPr txBox="1"/>
          <p:nvPr/>
        </p:nvSpPr>
        <p:spPr>
          <a:xfrm>
            <a:off x="771763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27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75" name="Rounded Rectangle 4"/>
          <p:cNvGrpSpPr/>
          <p:nvPr/>
        </p:nvGrpSpPr>
        <p:grpSpPr>
          <a:xfrm>
            <a:off x="8610600" y="686815"/>
            <a:ext cx="1581913" cy="292611"/>
            <a:chOff x="0" y="0"/>
            <a:chExt cx="1581912" cy="292609"/>
          </a:xfrm>
        </p:grpSpPr>
        <p:sp>
          <p:nvSpPr>
            <p:cNvPr id="273" name="Rounded Rectangle"/>
            <p:cNvSpPr/>
            <p:nvPr/>
          </p:nvSpPr>
          <p:spPr>
            <a:xfrm>
              <a:off x="0" y="0"/>
              <a:ext cx="1581913" cy="292611"/>
            </a:xfrm>
            <a:prstGeom prst="roundRect">
              <a:avLst>
                <a:gd name="adj" fmla="val 50000"/>
              </a:avLst>
            </a:prstGeom>
            <a:noFill/>
            <a:ln w="9525" cap="flat">
              <a:solidFill>
                <a:srgbClr val="2ED573"/>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74" name="Claude Code"/>
            <p:cNvSpPr txBox="1"/>
            <p:nvPr/>
          </p:nvSpPr>
          <p:spPr>
            <a:xfrm>
              <a:off x="93333" y="70104"/>
              <a:ext cx="139524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276" name="TextBox 5"/>
          <p:cNvSpPr txBox="1"/>
          <p:nvPr/>
        </p:nvSpPr>
        <p:spPr>
          <a:xfrm>
            <a:off x="640079" y="1691638"/>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277" name="Rounded Rectangle 6"/>
          <p:cNvSpPr/>
          <p:nvPr/>
        </p:nvSpPr>
        <p:spPr>
          <a:xfrm>
            <a:off x="640080" y="2202178"/>
            <a:ext cx="10972801" cy="2468883"/>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278" name="TextBox 7"/>
          <p:cNvSpPr txBox="1"/>
          <p:nvPr/>
        </p:nvSpPr>
        <p:spPr>
          <a:xfrm>
            <a:off x="868680" y="2430778"/>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11729"/>
        </a:solidFill>
      </p:bgPr>
    </p:bg>
    <p:spTree>
      <p:nvGrpSpPr>
        <p:cNvPr id="1" name=""/>
        <p:cNvGrpSpPr/>
        <p:nvPr/>
      </p:nvGrpSpPr>
      <p:grpSpPr>
        <a:xfrm>
          <a:off x="0" y="0"/>
          <a:ext cx="0" cy="0"/>
          <a:chOff x="0" y="0"/>
          <a:chExt cx="0" cy="0"/>
        </a:xfrm>
      </p:grpSpPr>
      <p:sp>
        <p:nvSpPr>
          <p:cNvPr id="28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28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86" name="Rounded Rectangle 4"/>
          <p:cNvGrpSpPr/>
          <p:nvPr/>
        </p:nvGrpSpPr>
        <p:grpSpPr>
          <a:xfrm>
            <a:off x="8610600" y="686815"/>
            <a:ext cx="1581913" cy="292611"/>
            <a:chOff x="0" y="0"/>
            <a:chExt cx="1581912" cy="292609"/>
          </a:xfrm>
        </p:grpSpPr>
        <p:sp>
          <p:nvSpPr>
            <p:cNvPr id="284" name="Rounded Rectangle"/>
            <p:cNvSpPr/>
            <p:nvPr/>
          </p:nvSpPr>
          <p:spPr>
            <a:xfrm>
              <a:off x="0" y="0"/>
              <a:ext cx="1581913" cy="292611"/>
            </a:xfrm>
            <a:prstGeom prst="roundRect">
              <a:avLst>
                <a:gd name="adj" fmla="val 50000"/>
              </a:avLst>
            </a:prstGeom>
            <a:noFill/>
            <a:ln w="9525" cap="flat">
              <a:solidFill>
                <a:srgbClr val="2ED573"/>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85" name="Claude Code"/>
            <p:cNvSpPr txBox="1"/>
            <p:nvPr/>
          </p:nvSpPr>
          <p:spPr>
            <a:xfrm>
              <a:off x="93333" y="70104"/>
              <a:ext cx="139524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287" name="TextBox 5"/>
          <p:cNvSpPr txBox="1"/>
          <p:nvPr/>
        </p:nvSpPr>
        <p:spPr>
          <a:xfrm>
            <a:off x="640079" y="1691638"/>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288" name="Rounded Rectangle 6"/>
          <p:cNvSpPr/>
          <p:nvPr/>
        </p:nvSpPr>
        <p:spPr>
          <a:xfrm>
            <a:off x="640080" y="2202178"/>
            <a:ext cx="10972801" cy="2468883"/>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289" name="TextBox 7"/>
          <p:cNvSpPr txBox="1"/>
          <p:nvPr/>
        </p:nvSpPr>
        <p:spPr>
          <a:xfrm>
            <a:off x="868680" y="2430778"/>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
        <p:nvSpPr>
          <p:cNvPr id="290" name="Rounded Rectangle 9"/>
          <p:cNvSpPr/>
          <p:nvPr/>
        </p:nvSpPr>
        <p:spPr>
          <a:xfrm>
            <a:off x="640080" y="5031740"/>
            <a:ext cx="10972801" cy="919482"/>
          </a:xfrm>
          <a:prstGeom prst="roundRect">
            <a:avLst>
              <a:gd name="adj" fmla="val 5669"/>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291" name="Rectangle 10"/>
          <p:cNvSpPr/>
          <p:nvPr/>
        </p:nvSpPr>
        <p:spPr>
          <a:xfrm>
            <a:off x="640080" y="5031740"/>
            <a:ext cx="54866" cy="9194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292" name="TextBox 11"/>
          <p:cNvSpPr txBox="1"/>
          <p:nvPr/>
        </p:nvSpPr>
        <p:spPr>
          <a:xfrm>
            <a:off x="890011" y="5373623"/>
            <a:ext cx="10607042"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Niska kohezija -&gt; brže punjenje konteksta -&gt; veća potrošnja tokena</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Što je zajedničko?</a:t>
            </a:r>
          </a:p>
        </p:txBody>
      </p:sp>
      <p:sp>
        <p:nvSpPr>
          <p:cNvPr id="29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298" name="TextBox 5"/>
          <p:cNvSpPr txBox="1"/>
          <p:nvPr/>
        </p:nvSpPr>
        <p:spPr>
          <a:xfrm>
            <a:off x="635000" y="1689100"/>
            <a:ext cx="7773728" cy="1296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500">
                <a:solidFill>
                  <a:srgbClr val="F2F2F2"/>
                </a:solidFill>
                <a:latin typeface="Inter Regular"/>
                <a:ea typeface="Inter Regular"/>
                <a:cs typeface="Inter Regular"/>
                <a:sym typeface="Inter Regular"/>
              </a:defRPr>
            </a:pPr>
            <a:r>
              <a:t>•  AI mora </a:t>
            </a:r>
            <a:r>
              <a:rPr>
                <a:solidFill>
                  <a:srgbClr val="00D4FF"/>
                </a:solidFill>
                <a:latin typeface="Inter Bold"/>
                <a:ea typeface="Inter Bold"/>
                <a:cs typeface="Inter Bold"/>
                <a:sym typeface="Inter Bold"/>
              </a:rPr>
              <a:t>odabrati</a:t>
            </a:r>
            <a:r>
              <a:t> što će uključiti u kontekst</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Imenovanje je bitno </a:t>
            </a:r>
            <a:r>
              <a:t>- bolji embeddingsi, pattern matching</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Jasne granice </a:t>
            </a:r>
            <a:r>
              <a:t>= manje šuma, manje uzalud potrošenih tokena, bolji output</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nastaju problemi</a:t>
            </a:r>
          </a:p>
        </p:txBody>
      </p:sp>
      <p:sp>
        <p:nvSpPr>
          <p:cNvPr id="303"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Prompt: “Dodaj delete button na profile card”</a:t>
            </a:r>
          </a:p>
        </p:txBody>
      </p:sp>
      <p:sp>
        <p:nvSpPr>
          <p:cNvPr id="304" name="Rectangle 3"/>
          <p:cNvSpPr/>
          <p:nvPr/>
        </p:nvSpPr>
        <p:spPr>
          <a:xfrm>
            <a:off x="640080" y="1691638"/>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05" name="TextBox 4"/>
          <p:cNvSpPr txBox="1"/>
          <p:nvPr/>
        </p:nvSpPr>
        <p:spPr>
          <a:xfrm>
            <a:off x="640079" y="2011678"/>
            <a:ext cx="10908794"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Inter Regular"/>
                <a:ea typeface="Inter Regular"/>
                <a:cs typeface="Inter Regular"/>
                <a:sym typeface="Inter Regular"/>
              </a:defRPr>
            </a:lvl1pPr>
          </a:lstStyle>
          <a:p>
            <a:pPr/>
            <a:r>
              <a:t>AI čita file tree i vidi:</a:t>
            </a:r>
          </a:p>
        </p:txBody>
      </p:sp>
      <p:sp>
        <p:nvSpPr>
          <p:cNvPr id="306" name="Rounded Rectangle 5"/>
          <p:cNvSpPr/>
          <p:nvPr/>
        </p:nvSpPr>
        <p:spPr>
          <a:xfrm>
            <a:off x="640080" y="2468878"/>
            <a:ext cx="6322992" cy="4023362"/>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307" name="TextBox 6"/>
          <p:cNvSpPr txBox="1"/>
          <p:nvPr/>
        </p:nvSpPr>
        <p:spPr>
          <a:xfrm>
            <a:off x="868680" y="2697479"/>
            <a:ext cx="5865792" cy="35166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000">
                <a:solidFill>
                  <a:srgbClr val="F2F2F2"/>
                </a:solidFill>
                <a:latin typeface="JetBrains Mono Regular"/>
                <a:ea typeface="JetBrains Mono Regular"/>
                <a:cs typeface="JetBrains Mono Regular"/>
                <a:sym typeface="JetBrains Mono Regular"/>
              </a:defRPr>
            </a:pPr>
            <a:r>
              <a:t>src/</a:t>
            </a:r>
          </a:p>
          <a:p>
            <a:pPr>
              <a:lnSpc>
                <a:spcPct val="145000"/>
              </a:lnSpc>
              <a:defRPr sz="1000">
                <a:solidFill>
                  <a:srgbClr val="F2F2F2"/>
                </a:solidFill>
                <a:latin typeface="JetBrains Mono Regular"/>
                <a:ea typeface="JetBrains Mono Regular"/>
                <a:cs typeface="JetBrains Mono Regular"/>
                <a:sym typeface="JetBrains Mono Regular"/>
              </a:defRPr>
            </a:pPr>
            <a:r>
              <a:t>  components/</a:t>
            </a:r>
          </a:p>
          <a:p>
            <a:pPr>
              <a:lnSpc>
                <a:spcPct val="145000"/>
              </a:lnSpc>
              <a:defRPr sz="1000">
                <a:solidFill>
                  <a:srgbClr val="FF4757"/>
                </a:solidFill>
                <a:latin typeface="JetBrains Mono Regular"/>
                <a:ea typeface="JetBrains Mono Regular"/>
                <a:cs typeface="JetBrains Mono Regular"/>
                <a:sym typeface="JetBrains Mono Regular"/>
              </a:defRPr>
            </a:pPr>
            <a:r>
              <a:t>    Card.tsx</a:t>
            </a:r>
            <a:r>
              <a:rPr>
                <a:solidFill>
                  <a:srgbClr val="888888"/>
                </a:solidFill>
              </a:rPr>
              <a:t>            ← koji card? user? product? post?</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CardSmall.tsx</a:t>
            </a:r>
            <a:r>
              <a:rPr>
                <a:solidFill>
                  <a:srgbClr val="888888"/>
                </a:solidFill>
              </a:rPr>
              <a:t>       ← da li je ovo isti card?</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CardList.tsx</a:t>
            </a:r>
            <a:r>
              <a:rPr>
                <a:solidFill>
                  <a:srgbClr val="888888"/>
                </a:solidFill>
              </a:rPr>
              <a:t>        ← ili možda ovaj?</a:t>
            </a:r>
            <a:endParaRPr>
              <a:solidFill>
                <a:srgbClr val="888888"/>
              </a:solidFill>
            </a:endParaRPr>
          </a:p>
          <a:p>
            <a:pPr>
              <a:lnSpc>
                <a:spcPct val="145000"/>
              </a:lnSpc>
              <a:defRPr sz="1000">
                <a:solidFill>
                  <a:srgbClr val="888888"/>
                </a:solidFill>
                <a:latin typeface="JetBrains Mono Regular"/>
                <a:ea typeface="JetBrains Mono Regular"/>
                <a:cs typeface="JetBrains Mono Regular"/>
                <a:sym typeface="JetBrains Mono Regular"/>
              </a:defRPr>
            </a:pPr>
            <a:r>
              <a:t>    Button.tsx</a:t>
            </a:r>
          </a:p>
          <a:p>
            <a:pPr>
              <a:lnSpc>
                <a:spcPct val="145000"/>
              </a:lnSpc>
              <a:defRPr sz="1000">
                <a:solidFill>
                  <a:srgbClr val="888888"/>
                </a:solidFill>
                <a:latin typeface="JetBrains Mono Regular"/>
                <a:ea typeface="JetBrains Mono Regular"/>
                <a:cs typeface="JetBrains Mono Regular"/>
                <a:sym typeface="JetBrains Mono Regular"/>
              </a:defRPr>
            </a:pPr>
            <a:r>
              <a:t>    Modal.tsx</a:t>
            </a:r>
          </a:p>
          <a:p>
            <a:pPr>
              <a:lnSpc>
                <a:spcPct val="145000"/>
              </a:lnSpc>
              <a:defRPr sz="1000">
                <a:solidFill>
                  <a:srgbClr val="888888"/>
                </a:solidFill>
                <a:latin typeface="JetBrains Mono Regular"/>
                <a:ea typeface="JetBrains Mono Regular"/>
                <a:cs typeface="JetBrains Mono Regular"/>
                <a:sym typeface="JetBrains Mono Regular"/>
              </a:defRPr>
            </a:pPr>
            <a:r>
              <a:t>    Header.tsx</a:t>
            </a:r>
          </a:p>
          <a:p>
            <a:pPr>
              <a:lnSpc>
                <a:spcPct val="145000"/>
              </a:lnSpc>
              <a:defRPr sz="1000">
                <a:solidFill>
                  <a:srgbClr val="888888"/>
                </a:solidFill>
                <a:latin typeface="JetBrains Mono Regular"/>
                <a:ea typeface="JetBrains Mono Regular"/>
                <a:cs typeface="JetBrains Mono Regular"/>
                <a:sym typeface="JetBrains Mono Regular"/>
              </a:defRPr>
            </a:pPr>
            <a:r>
              <a:t>    ... 194 more files</a:t>
            </a:r>
          </a:p>
          <a:p>
            <a:pPr>
              <a:lnSpc>
                <a:spcPct val="145000"/>
              </a:lnSpc>
              <a:defRPr sz="1000">
                <a:solidFill>
                  <a:srgbClr val="F2F2F2"/>
                </a:solidFill>
                <a:latin typeface="JetBrains Mono Regular"/>
                <a:ea typeface="JetBrains Mono Regular"/>
                <a:cs typeface="JetBrains Mono Regular"/>
                <a:sym typeface="JetBrains Mono Regular"/>
              </a:defRPr>
            </a:pPr>
            <a:r>
              <a:t>  utils/</a:t>
            </a:r>
          </a:p>
          <a:p>
            <a:pPr>
              <a:lnSpc>
                <a:spcPct val="145000"/>
              </a:lnSpc>
              <a:defRPr sz="1000">
                <a:solidFill>
                  <a:srgbClr val="FF4757"/>
                </a:solidFill>
                <a:latin typeface="JetBrains Mono Regular"/>
                <a:ea typeface="JetBrains Mono Regular"/>
                <a:cs typeface="JetBrains Mono Regular"/>
                <a:sym typeface="JetBrains Mono Regular"/>
              </a:defRPr>
            </a:pPr>
            <a:r>
              <a:t>    helpers.ts</a:t>
            </a:r>
            <a:r>
              <a:rPr>
                <a:solidFill>
                  <a:srgbClr val="888888"/>
                </a:solidFill>
              </a:rPr>
              <a:t>          ← 800 linija, 40 exporta, nema grupiranja</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hooks/</a:t>
            </a:r>
          </a:p>
          <a:p>
            <a:pPr>
              <a:lnSpc>
                <a:spcPct val="145000"/>
              </a:lnSpc>
              <a:defRPr sz="1000">
                <a:solidFill>
                  <a:srgbClr val="FF4757"/>
                </a:solidFill>
                <a:latin typeface="JetBrains Mono Regular"/>
                <a:ea typeface="JetBrains Mono Regular"/>
                <a:cs typeface="JetBrains Mono Regular"/>
                <a:sym typeface="JetBrains Mono Regular"/>
              </a:defRPr>
            </a:pPr>
            <a:r>
              <a:t>    useData.ts</a:t>
            </a:r>
            <a:r>
              <a:rPr>
                <a:solidFill>
                  <a:srgbClr val="888888"/>
                </a:solidFill>
              </a:rPr>
              <a:t>          ← dohvaća users? producte? oboje?</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services/</a:t>
            </a:r>
          </a:p>
          <a:p>
            <a:pPr>
              <a:lnSpc>
                <a:spcPct val="145000"/>
              </a:lnSpc>
              <a:defRPr sz="1000">
                <a:solidFill>
                  <a:srgbClr val="FF4757"/>
                </a:solidFill>
                <a:latin typeface="JetBrains Mono Regular"/>
                <a:ea typeface="JetBrains Mono Regular"/>
                <a:cs typeface="JetBrains Mono Regular"/>
                <a:sym typeface="JetBrains Mono Regular"/>
              </a:defRPr>
            </a:pPr>
            <a:r>
              <a:t>    api.ts</a:t>
            </a:r>
            <a:r>
              <a:rPr>
                <a:solidFill>
                  <a:srgbClr val="888888"/>
                </a:solidFill>
              </a:rPr>
              <a:t>              ← 3000 linija, svaki endpoint u jednom fileu</a:t>
            </a:r>
          </a:p>
        </p:txBody>
      </p:sp>
      <p:sp>
        <p:nvSpPr>
          <p:cNvPr id="308" name="TextBox 7"/>
          <p:cNvSpPr txBox="1"/>
          <p:nvPr/>
        </p:nvSpPr>
        <p:spPr>
          <a:xfrm>
            <a:off x="7406640" y="2468878"/>
            <a:ext cx="4114802" cy="2603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F4757"/>
                </a:solidFill>
                <a:latin typeface="Inter Bold"/>
                <a:ea typeface="Inter Bold"/>
                <a:cs typeface="Inter Bold"/>
                <a:sym typeface="Inter Bold"/>
              </a:defRPr>
            </a:pPr>
            <a:r>
              <a:t>Problem 1: </a:t>
            </a:r>
            <a:r>
              <a:rPr>
                <a:solidFill>
                  <a:srgbClr val="F2F2F2"/>
                </a:solidFill>
                <a:latin typeface="Inter Regular"/>
                <a:ea typeface="Inter Regular"/>
                <a:cs typeface="Inter Regular"/>
                <a:sym typeface="Inter Regular"/>
              </a:rPr>
              <a:t>Nema semantičkog grupiranja. AI mora otvarati više različitih datoteka samo kako bi pronašao pravu karticu.</a:t>
            </a:r>
            <a:endParaRPr>
              <a:solidFill>
                <a:srgbClr val="F2F2F2"/>
              </a:solidFill>
            </a:endParaRPr>
          </a:p>
          <a:p>
            <a:pPr>
              <a:lnSpc>
                <a:spcPct val="140000"/>
              </a:lnSpc>
              <a:spcBef>
                <a:spcPts val="1400"/>
              </a:spcBef>
              <a:defRPr sz="1300">
                <a:solidFill>
                  <a:srgbClr val="FF4757"/>
                </a:solidFill>
                <a:latin typeface="Inter Bold"/>
                <a:ea typeface="Inter Bold"/>
                <a:cs typeface="Inter Bold"/>
                <a:sym typeface="Inter Bold"/>
              </a:defRPr>
            </a:pPr>
            <a:r>
              <a:t>Problem 2: </a:t>
            </a:r>
            <a:r>
              <a:rPr>
                <a:solidFill>
                  <a:srgbClr val="F2F2F2"/>
                </a:solidFill>
                <a:latin typeface="Inter Regular"/>
                <a:ea typeface="Inter Regular"/>
                <a:cs typeface="Inter Regular"/>
                <a:sym typeface="Inter Regular"/>
              </a:rPr>
              <a:t>Generički nazivi poput </a:t>
            </a:r>
            <a:r>
              <a:rPr>
                <a:solidFill>
                  <a:srgbClr val="F2F2F2"/>
                </a:solidFill>
                <a:latin typeface="JetBrains Mono Regular"/>
                <a:ea typeface="JetBrains Mono Regular"/>
                <a:cs typeface="JetBrains Mono Regular"/>
                <a:sym typeface="JetBrains Mono Regular"/>
              </a:rPr>
              <a:t>helpers.ts</a:t>
            </a:r>
            <a:r>
              <a:rPr>
                <a:solidFill>
                  <a:srgbClr val="F2F2F2"/>
                </a:solidFill>
                <a:latin typeface="Inter Regular"/>
                <a:ea typeface="Inter Regular"/>
                <a:cs typeface="Inter Regular"/>
                <a:sym typeface="Inter Regular"/>
              </a:rPr>
              <a:t> i </a:t>
            </a:r>
            <a:r>
              <a:rPr>
                <a:solidFill>
                  <a:srgbClr val="F2F2F2"/>
                </a:solidFill>
                <a:latin typeface="JetBrains Mono Regular"/>
                <a:ea typeface="JetBrains Mono Regular"/>
                <a:cs typeface="JetBrains Mono Regular"/>
                <a:sym typeface="JetBrains Mono Regular"/>
              </a:rPr>
              <a:t>useData.ts</a:t>
            </a:r>
            <a:r>
              <a:rPr>
                <a:solidFill>
                  <a:srgbClr val="F2F2F2"/>
                </a:solidFill>
                <a:latin typeface="Inter Regular"/>
                <a:ea typeface="Inter Regular"/>
                <a:cs typeface="Inter Regular"/>
                <a:sym typeface="Inter Regular"/>
              </a:rPr>
              <a:t> ne pomažu pri pretraživanju</a:t>
            </a:r>
            <a:endParaRPr>
              <a:solidFill>
                <a:srgbClr val="F2F2F2"/>
              </a:solidFill>
            </a:endParaRPr>
          </a:p>
          <a:p>
            <a:pPr>
              <a:lnSpc>
                <a:spcPct val="140000"/>
              </a:lnSpc>
              <a:spcBef>
                <a:spcPts val="1400"/>
              </a:spcBef>
              <a:defRPr sz="1300">
                <a:solidFill>
                  <a:srgbClr val="FF4757"/>
                </a:solidFill>
                <a:latin typeface="Inter Bold"/>
                <a:ea typeface="Inter Bold"/>
                <a:cs typeface="Inter Bold"/>
                <a:sym typeface="Inter Bold"/>
              </a:defRPr>
            </a:pPr>
            <a:r>
              <a:t>Problem 3: </a:t>
            </a:r>
            <a:r>
              <a:rPr>
                <a:solidFill>
                  <a:srgbClr val="F2F2F2"/>
                </a:solidFill>
                <a:latin typeface="Inter Regular"/>
                <a:ea typeface="Inter Regular"/>
                <a:cs typeface="Inter Regular"/>
                <a:sym typeface="Inter Regular"/>
              </a:rPr>
              <a:t>Monolitne datoteke (</a:t>
            </a:r>
            <a:r>
              <a:rPr>
                <a:solidFill>
                  <a:srgbClr val="F2F2F2"/>
                </a:solidFill>
                <a:latin typeface="JetBrains Mono Regular"/>
                <a:ea typeface="JetBrains Mono Regular"/>
                <a:cs typeface="JetBrains Mono Regular"/>
                <a:sym typeface="JetBrains Mono Regular"/>
              </a:rPr>
              <a:t>api.ts</a:t>
            </a:r>
            <a:r>
              <a:rPr>
                <a:solidFill>
                  <a:srgbClr val="F2F2F2"/>
                </a:solidFill>
                <a:latin typeface="Inter Regular"/>
                <a:ea typeface="Inter Regular"/>
                <a:cs typeface="Inter Regular"/>
                <a:sym typeface="Inter Regular"/>
              </a:rPr>
              <a:t>) prisiljavaju AI da učitava tisuće nepotrebnih linija koda u kontekst</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1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14"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15"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16"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21"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22"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23"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24"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
        <p:nvSpPr>
          <p:cNvPr id="325" name="TextBox 6"/>
          <p:cNvSpPr txBox="1"/>
          <p:nvPr/>
        </p:nvSpPr>
        <p:spPr>
          <a:xfrm>
            <a:off x="640079" y="3657600"/>
            <a:ext cx="10908794" cy="304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50000"/>
              </a:lnSpc>
              <a:defRPr sz="2000">
                <a:solidFill>
                  <a:srgbClr val="F2F2F2"/>
                </a:solidFill>
                <a:latin typeface="Inter Regular"/>
                <a:ea typeface="Inter Regular"/>
                <a:cs typeface="Inter Regular"/>
                <a:sym typeface="Inter Regular"/>
              </a:defRPr>
            </a:lvl1pPr>
          </a:lstStyle>
          <a:p>
            <a:pPr/>
            <a:r>
              <a:t>Kako možemo izgraditi dobru arhitekturu?</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30"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31"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32"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33"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
        <p:nvSpPr>
          <p:cNvPr id="334" name="TextBox 6"/>
          <p:cNvSpPr txBox="1"/>
          <p:nvPr/>
        </p:nvSpPr>
        <p:spPr>
          <a:xfrm>
            <a:off x="640079" y="3657600"/>
            <a:ext cx="10908794" cy="304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50000"/>
              </a:lnSpc>
              <a:defRPr sz="2000">
                <a:solidFill>
                  <a:srgbClr val="F2F2F2"/>
                </a:solidFill>
                <a:latin typeface="Inter Regular"/>
                <a:ea typeface="Inter Regular"/>
                <a:cs typeface="Inter Regular"/>
                <a:sym typeface="Inter Regular"/>
              </a:defRPr>
            </a:lvl1pPr>
          </a:lstStyle>
          <a:p>
            <a:pPr/>
            <a:r>
              <a:t>Kako možemo izgraditi dobru arhitekturu? Primjenom prave metodologije.</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8" name="TextBox 1"/>
          <p:cNvSpPr txBox="1"/>
          <p:nvPr/>
        </p:nvSpPr>
        <p:spPr>
          <a:xfrm>
            <a:off x="635253" y="3086100"/>
            <a:ext cx="10908794" cy="685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20000"/>
              </a:lnSpc>
              <a:defRPr sz="4400">
                <a:solidFill>
                  <a:srgbClr val="F2F2F2"/>
                </a:solidFill>
                <a:latin typeface="Inter Bold"/>
                <a:ea typeface="Inter Bold"/>
                <a:cs typeface="Inter Bold"/>
                <a:sym typeface="Inter Bold"/>
              </a:defRPr>
            </a:lvl1pPr>
          </a:lstStyle>
          <a:p>
            <a:pPr/>
            <a:r>
              <a:t>Feature-Sliced Design</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Što je </a:t>
            </a:r>
            <a:r>
              <a:rPr>
                <a:solidFill>
                  <a:srgbClr val="00D4FF"/>
                </a:solidFill>
              </a:rPr>
              <a:t>Feature-Sliced Design</a:t>
            </a:r>
            <a:r>
              <a:t>?</a:t>
            </a:r>
          </a:p>
        </p:txBody>
      </p:sp>
      <p:sp>
        <p:nvSpPr>
          <p:cNvPr id="341" name="Rectangle 3"/>
          <p:cNvSpPr/>
          <p:nvPr/>
        </p:nvSpPr>
        <p:spPr>
          <a:xfrm>
            <a:off x="640080" y="1282700"/>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42" name="TextBox 4"/>
          <p:cNvSpPr txBox="1"/>
          <p:nvPr/>
        </p:nvSpPr>
        <p:spPr>
          <a:xfrm>
            <a:off x="635253" y="2340101"/>
            <a:ext cx="10908794"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FSD propisuje </a:t>
            </a:r>
            <a:r>
              <a:rPr>
                <a:solidFill>
                  <a:srgbClr val="00D4FF"/>
                </a:solidFill>
                <a:latin typeface="Inter Bold"/>
                <a:ea typeface="Inter Bold"/>
                <a:cs typeface="Inter Bold"/>
                <a:sym typeface="Inter Bold"/>
              </a:rPr>
              <a:t>kako organizirati kod</a:t>
            </a:r>
            <a:r>
              <a:t> u projektu - gdje stavljati datoteke, kako ih grupirati i kako smiju ovisiti jedni o drugima.</a:t>
            </a:r>
          </a:p>
        </p:txBody>
      </p:sp>
      <p:sp>
        <p:nvSpPr>
          <p:cNvPr id="343" name="TextBox 5"/>
          <p:cNvSpPr txBox="1"/>
          <p:nvPr/>
        </p:nvSpPr>
        <p:spPr>
          <a:xfrm>
            <a:off x="635253" y="3360928"/>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Cilj: kod koji je </a:t>
            </a:r>
            <a:r>
              <a:rPr>
                <a:solidFill>
                  <a:srgbClr val="00D4FF"/>
                </a:solidFill>
                <a:latin typeface="Inter Bold"/>
                <a:ea typeface="Inter Bold"/>
                <a:cs typeface="Inter Bold"/>
                <a:sym typeface="Inter Bold"/>
              </a:rPr>
              <a:t>predvidljiv</a:t>
            </a:r>
            <a:r>
              <a:t>, </a:t>
            </a:r>
            <a:r>
              <a:rPr>
                <a:solidFill>
                  <a:srgbClr val="00D4FF"/>
                </a:solidFill>
                <a:latin typeface="Inter Bold"/>
                <a:ea typeface="Inter Bold"/>
                <a:cs typeface="Inter Bold"/>
                <a:sym typeface="Inter Bold"/>
              </a:rPr>
              <a:t>izoliran</a:t>
            </a:r>
            <a:r>
              <a:t> i </a:t>
            </a:r>
            <a:r>
              <a:rPr>
                <a:solidFill>
                  <a:srgbClr val="00D4FF"/>
                </a:solidFill>
                <a:latin typeface="Inter Bold"/>
                <a:ea typeface="Inter Bold"/>
                <a:cs typeface="Inter Bold"/>
                <a:sym typeface="Inter Bold"/>
              </a:rPr>
              <a:t>razumljiv iz strukture</a:t>
            </a:r>
            <a:r>
              <a:t> - bez čitanja svake datoteke.</a:t>
            </a:r>
          </a:p>
        </p:txBody>
      </p:sp>
      <p:sp>
        <p:nvSpPr>
          <p:cNvPr id="344" name="Rounded Rectangle 6"/>
          <p:cNvSpPr/>
          <p:nvPr/>
        </p:nvSpPr>
        <p:spPr>
          <a:xfrm>
            <a:off x="640080" y="4389120"/>
            <a:ext cx="10972801" cy="16459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45" name="Rectangle 7"/>
          <p:cNvSpPr/>
          <p:nvPr/>
        </p:nvSpPr>
        <p:spPr>
          <a:xfrm>
            <a:off x="640080" y="4389120"/>
            <a:ext cx="54865" cy="16459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46" name="TextBox 8"/>
          <p:cNvSpPr txBox="1"/>
          <p:nvPr/>
        </p:nvSpPr>
        <p:spPr>
          <a:xfrm>
            <a:off x="914400" y="4572000"/>
            <a:ext cx="10515600" cy="533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Drugim riječima - metodologija dizajnirana za isti problem koji AI ima: </a:t>
            </a:r>
            <a:r>
              <a:rPr>
                <a:solidFill>
                  <a:srgbClr val="00D4FF"/>
                </a:solidFill>
                <a:latin typeface="Inter Bold"/>
                <a:ea typeface="Inter Bold"/>
                <a:cs typeface="Inter Bold"/>
                <a:sym typeface="Inter Bold"/>
              </a:rPr>
              <a:t>izgraditi mentalni model projekta brzo i bez prethodnog konteksta.</a:t>
            </a:r>
          </a:p>
        </p:txBody>
      </p:sp>
      <p:sp>
        <p:nvSpPr>
          <p:cNvPr id="347" name="TextBox 5"/>
          <p:cNvSpPr txBox="1"/>
          <p:nvPr/>
        </p:nvSpPr>
        <p:spPr>
          <a:xfrm>
            <a:off x="635253" y="1693060"/>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FFFFFF"/>
                </a:solidFill>
                <a:latin typeface="Inter Regular"/>
                <a:ea typeface="Inter Regular"/>
                <a:cs typeface="Inter Regular"/>
                <a:sym typeface="Inter Regular"/>
              </a:defRPr>
            </a:lvl1pPr>
          </a:lstStyle>
          <a:p>
            <a:pPr/>
            <a:r>
              <a:t>Arhitekturna metodologija za frontend projekte</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1" name="FSD Diagram Dark - Layers.png" descr="FSD Diagram Dark - Layers.png"/>
          <p:cNvPicPr>
            <a:picLocks noChangeAspect="1"/>
          </p:cNvPicPr>
          <p:nvPr/>
        </p:nvPicPr>
        <p:blipFill>
          <a:blip r:embed="rId3">
            <a:extLst/>
          </a:blip>
          <a:stretch>
            <a:fillRect/>
          </a:stretch>
        </p:blipFill>
        <p:spPr>
          <a:xfrm>
            <a:off x="374649" y="0"/>
            <a:ext cx="11430001" cy="6858001"/>
          </a:xfrm>
          <a:prstGeom prst="rect">
            <a:avLst/>
          </a:prstGeom>
          <a:ln w="12700">
            <a:miter lim="400000"/>
          </a:ln>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5" name="FSD Diagram Dark - Layers - Slices.png" descr="FSD Diagram Dark - Layers - Slices.png"/>
          <p:cNvPicPr>
            <a:picLocks noChangeAspect="1"/>
          </p:cNvPicPr>
          <p:nvPr/>
        </p:nvPicPr>
        <p:blipFill>
          <a:blip r:embed="rId2">
            <a:extLst/>
          </a:blip>
          <a:stretch>
            <a:fillRect/>
          </a:stretch>
        </p:blipFill>
        <p:spPr>
          <a:xfrm>
            <a:off x="374650" y="0"/>
            <a:ext cx="11430001" cy="6858001"/>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7" name="FSD Diagram Dark.png" descr="FSD Diagram Dark.png"/>
          <p:cNvPicPr>
            <a:picLocks noChangeAspect="1"/>
          </p:cNvPicPr>
          <p:nvPr/>
        </p:nvPicPr>
        <p:blipFill>
          <a:blip r:embed="rId2">
            <a:extLst/>
          </a:blip>
          <a:stretch>
            <a:fillRect/>
          </a:stretch>
        </p:blipFill>
        <p:spPr>
          <a:xfrm>
            <a:off x="374650" y="0"/>
            <a:ext cx="11430000" cy="6858001"/>
          </a:xfrm>
          <a:prstGeom prst="rect">
            <a:avLst/>
          </a:prstGeom>
          <a:ln w="12700">
            <a:miter lim="400000"/>
          </a:ln>
        </p:spPr>
      </p:pic>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3600">
                <a:solidFill>
                  <a:srgbClr val="FFFFFF"/>
                </a:solidFill>
                <a:latin typeface="Inter Bold"/>
                <a:ea typeface="Inter Bold"/>
                <a:cs typeface="Inter Bold"/>
                <a:sym typeface="Inter Bold"/>
              </a:defRPr>
            </a:lvl1pPr>
          </a:lstStyle>
          <a:p>
            <a:pPr/>
            <a:r>
              <a:t>Tri stupa FSD-a</a:t>
            </a:r>
          </a:p>
        </p:txBody>
      </p:sp>
      <p:sp>
        <p:nvSpPr>
          <p:cNvPr id="360"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Sve se svodi na tri pravila</a:t>
            </a:r>
          </a:p>
        </p:txBody>
      </p:sp>
      <p:sp>
        <p:nvSpPr>
          <p:cNvPr id="361"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364" name="Rounded Rectangle 4"/>
          <p:cNvGrpSpPr/>
          <p:nvPr/>
        </p:nvGrpSpPr>
        <p:grpSpPr>
          <a:xfrm>
            <a:off x="640080" y="2560320"/>
            <a:ext cx="3474721" cy="1554481"/>
            <a:chOff x="0" y="0"/>
            <a:chExt cx="3474720" cy="1554480"/>
          </a:xfrm>
        </p:grpSpPr>
        <p:sp>
          <p:nvSpPr>
            <p:cNvPr id="362" name="Rounded Rectangle"/>
            <p:cNvSpPr/>
            <p:nvPr/>
          </p:nvSpPr>
          <p:spPr>
            <a:xfrm>
              <a:off x="0" y="0"/>
              <a:ext cx="3474721" cy="1554481"/>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63" name="Layers…"/>
            <p:cNvSpPr txBox="1"/>
            <p:nvPr/>
          </p:nvSpPr>
          <p:spPr>
            <a:xfrm>
              <a:off x="89889" y="554990"/>
              <a:ext cx="3294942"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gn="ctr">
                <a:defRPr>
                  <a:solidFill>
                    <a:srgbClr val="FFFFFF"/>
                  </a:solidFill>
                  <a:latin typeface="Inter Bold"/>
                  <a:ea typeface="Inter Bold"/>
                  <a:cs typeface="Inter Bold"/>
                  <a:sym typeface="Inter Bold"/>
                </a:defRPr>
              </a:pPr>
              <a:r>
                <a:t>Layers</a:t>
              </a:r>
            </a:p>
            <a:p>
              <a:pPr algn="ctr">
                <a:defRPr sz="1100">
                  <a:solidFill>
                    <a:srgbClr val="888888"/>
                  </a:solidFill>
                  <a:latin typeface="Inter Regular"/>
                  <a:ea typeface="Inter Regular"/>
                  <a:cs typeface="Inter Regular"/>
                  <a:sym typeface="Inter Regular"/>
                </a:defRPr>
              </a:pPr>
              <a:r>
                <a:t>hijerarhija odgovornosti</a:t>
              </a:r>
            </a:p>
          </p:txBody>
        </p:sp>
      </p:grpSp>
      <p:sp>
        <p:nvSpPr>
          <p:cNvPr id="365" name="TextBox 5"/>
          <p:cNvSpPr txBox="1"/>
          <p:nvPr/>
        </p:nvSpPr>
        <p:spPr>
          <a:xfrm>
            <a:off x="4114800" y="3017520"/>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68" name="Rounded Rectangle 6"/>
          <p:cNvGrpSpPr/>
          <p:nvPr/>
        </p:nvGrpSpPr>
        <p:grpSpPr>
          <a:xfrm>
            <a:off x="4389120" y="2560320"/>
            <a:ext cx="3474721" cy="1554481"/>
            <a:chOff x="0" y="0"/>
            <a:chExt cx="3474720" cy="1554480"/>
          </a:xfrm>
        </p:grpSpPr>
        <p:sp>
          <p:nvSpPr>
            <p:cNvPr id="366" name="Rounded Rectangle"/>
            <p:cNvSpPr/>
            <p:nvPr/>
          </p:nvSpPr>
          <p:spPr>
            <a:xfrm>
              <a:off x="0" y="0"/>
              <a:ext cx="3474721" cy="1554481"/>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67" name="Slices &amp; Segments…"/>
            <p:cNvSpPr txBox="1"/>
            <p:nvPr/>
          </p:nvSpPr>
          <p:spPr>
            <a:xfrm>
              <a:off x="89889" y="554990"/>
              <a:ext cx="3294942"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gn="ctr">
                <a:defRPr>
                  <a:solidFill>
                    <a:srgbClr val="FFFFFF"/>
                  </a:solidFill>
                  <a:latin typeface="Inter Bold"/>
                  <a:ea typeface="Inter Bold"/>
                  <a:cs typeface="Inter Bold"/>
                  <a:sym typeface="Inter Bold"/>
                </a:defRPr>
              </a:pPr>
              <a:r>
                <a:t>Slices &amp; Segments</a:t>
              </a:r>
            </a:p>
            <a:p>
              <a:pPr algn="ctr">
                <a:defRPr sz="1100">
                  <a:solidFill>
                    <a:srgbClr val="888888"/>
                  </a:solidFill>
                  <a:latin typeface="Inter Regular"/>
                  <a:ea typeface="Inter Regular"/>
                  <a:cs typeface="Inter Regular"/>
                  <a:sym typeface="Inter Regular"/>
                </a:defRPr>
              </a:pPr>
              <a:r>
                <a:t>domena × tehnička svrha</a:t>
              </a:r>
            </a:p>
          </p:txBody>
        </p:sp>
      </p:grpSp>
      <p:sp>
        <p:nvSpPr>
          <p:cNvPr id="369" name="TextBox 7"/>
          <p:cNvSpPr txBox="1"/>
          <p:nvPr/>
        </p:nvSpPr>
        <p:spPr>
          <a:xfrm>
            <a:off x="7863840" y="3017520"/>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72" name="Rounded Rectangle 8"/>
          <p:cNvGrpSpPr/>
          <p:nvPr/>
        </p:nvGrpSpPr>
        <p:grpSpPr>
          <a:xfrm>
            <a:off x="8138159" y="2560320"/>
            <a:ext cx="3474721" cy="1554481"/>
            <a:chOff x="0" y="0"/>
            <a:chExt cx="3474720" cy="1554480"/>
          </a:xfrm>
        </p:grpSpPr>
        <p:sp>
          <p:nvSpPr>
            <p:cNvPr id="370" name="Rounded Rectangle"/>
            <p:cNvSpPr/>
            <p:nvPr/>
          </p:nvSpPr>
          <p:spPr>
            <a:xfrm>
              <a:off x="0" y="0"/>
              <a:ext cx="3474721" cy="1554481"/>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71" name="Public API…"/>
            <p:cNvSpPr txBox="1"/>
            <p:nvPr/>
          </p:nvSpPr>
          <p:spPr>
            <a:xfrm>
              <a:off x="89889" y="554990"/>
              <a:ext cx="3294942"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gn="ctr">
                <a:defRPr>
                  <a:solidFill>
                    <a:srgbClr val="FFFFFF"/>
                  </a:solidFill>
                  <a:latin typeface="Inter Bold"/>
                  <a:ea typeface="Inter Bold"/>
                  <a:cs typeface="Inter Bold"/>
                  <a:sym typeface="Inter Bold"/>
                </a:defRPr>
              </a:pPr>
              <a:r>
                <a:t>Public API</a:t>
              </a:r>
            </a:p>
            <a:p>
              <a:pPr algn="ctr">
                <a:defRPr sz="1100">
                  <a:solidFill>
                    <a:srgbClr val="888888"/>
                  </a:solidFill>
                  <a:latin typeface="Inter Regular"/>
                  <a:ea typeface="Inter Regular"/>
                  <a:cs typeface="Inter Regular"/>
                  <a:sym typeface="Inter Regular"/>
                </a:defRPr>
              </a:pPr>
              <a:r>
                <a:t>jasan contract (index.ts)</a:t>
              </a:r>
            </a:p>
          </p:txBody>
        </p:sp>
      </p:grpSp>
      <p:sp>
        <p:nvSpPr>
          <p:cNvPr id="373" name="TextBox 9"/>
          <p:cNvSpPr txBox="1"/>
          <p:nvPr/>
        </p:nvSpPr>
        <p:spPr>
          <a:xfrm>
            <a:off x="640079" y="4754879"/>
            <a:ext cx="10908794"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defRPr>
                <a:solidFill>
                  <a:srgbClr val="FFFFFF"/>
                </a:solidFill>
                <a:latin typeface="Inter Regular"/>
                <a:ea typeface="Inter Regular"/>
                <a:cs typeface="Inter Regular"/>
                <a:sym typeface="Inter Regular"/>
              </a:defRPr>
            </a:pPr>
            <a:r>
              <a:t>Svako od ova tri pravila </a:t>
            </a:r>
            <a:r>
              <a:rPr>
                <a:solidFill>
                  <a:srgbClr val="00D4FF"/>
                </a:solidFill>
                <a:latin typeface="Inter Bold"/>
                <a:ea typeface="Inter Bold"/>
                <a:cs typeface="Inter Bold"/>
                <a:sym typeface="Inter Bold"/>
              </a:rPr>
              <a:t>izravno smanjuje</a:t>
            </a:r>
            <a:r>
              <a:t> količinu konteksta koji AI mora učitati da bi razumio projekt.</a:t>
            </a: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7"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#1: </a:t>
            </a:r>
            <a:r>
              <a:rPr>
                <a:solidFill>
                  <a:srgbClr val="00D4FF"/>
                </a:solidFill>
              </a:rPr>
              <a:t>Slojevi</a:t>
            </a:r>
          </a:p>
        </p:txBody>
      </p:sp>
      <p:sp>
        <p:nvSpPr>
          <p:cNvPr id="378"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Hijerarhija odgovornosti, fiksni redoslijed</a:t>
            </a:r>
          </a:p>
        </p:txBody>
      </p:sp>
      <p:sp>
        <p:nvSpPr>
          <p:cNvPr id="379"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80" name="TextBox 6"/>
          <p:cNvSpPr txBox="1"/>
          <p:nvPr/>
        </p:nvSpPr>
        <p:spPr>
          <a:xfrm>
            <a:off x="6766559" y="2194560"/>
            <a:ext cx="51206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Pravilo importa</a:t>
            </a:r>
          </a:p>
        </p:txBody>
      </p:sp>
      <p:sp>
        <p:nvSpPr>
          <p:cNvPr id="381" name="TextBox 7"/>
          <p:cNvSpPr txBox="1"/>
          <p:nvPr/>
        </p:nvSpPr>
        <p:spPr>
          <a:xfrm>
            <a:off x="6766559" y="2560320"/>
            <a:ext cx="5120641" cy="431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Sloj smije importati </a:t>
            </a:r>
            <a:r>
              <a:rPr>
                <a:solidFill>
                  <a:srgbClr val="2ED573"/>
                </a:solidFill>
                <a:latin typeface="Inter Bold"/>
                <a:ea typeface="Inter Bold"/>
                <a:cs typeface="Inter Bold"/>
                <a:sym typeface="Inter Bold"/>
              </a:rPr>
              <a:t>samo iz slojeva ispod sebe.</a:t>
            </a:r>
            <a:endParaRPr>
              <a:solidFill>
                <a:srgbClr val="2ED573"/>
              </a:solidFill>
              <a:latin typeface="Inter Bold"/>
              <a:ea typeface="Inter Bold"/>
              <a:cs typeface="Inter Bold"/>
              <a:sym typeface="Inter Bold"/>
            </a:endParaRPr>
          </a:p>
          <a:p>
            <a:pPr>
              <a:defRPr sz="1400">
                <a:solidFill>
                  <a:srgbClr val="FFFFFF"/>
                </a:solidFill>
                <a:latin typeface="Inter Regular"/>
                <a:ea typeface="Inter Regular"/>
                <a:cs typeface="Inter Regular"/>
                <a:sym typeface="Inter Regular"/>
              </a:defRPr>
            </a:pPr>
            <a:r>
              <a:t>Cross-importi između slica istog sloja su </a:t>
            </a:r>
            <a:r>
              <a:rPr>
                <a:solidFill>
                  <a:srgbClr val="FF4757"/>
                </a:solidFill>
                <a:latin typeface="Inter Bold"/>
                <a:ea typeface="Inter Bold"/>
                <a:cs typeface="Inter Bold"/>
                <a:sym typeface="Inter Bold"/>
              </a:rPr>
              <a:t>zabranjeni.</a:t>
            </a:r>
          </a:p>
        </p:txBody>
      </p:sp>
      <p:grpSp>
        <p:nvGrpSpPr>
          <p:cNvPr id="384" name="Rounded Rectangle 8"/>
          <p:cNvGrpSpPr/>
          <p:nvPr/>
        </p:nvGrpSpPr>
        <p:grpSpPr>
          <a:xfrm>
            <a:off x="6766559" y="3931920"/>
            <a:ext cx="868681" cy="457201"/>
            <a:chOff x="0" y="0"/>
            <a:chExt cx="868680" cy="457200"/>
          </a:xfrm>
        </p:grpSpPr>
        <p:sp>
          <p:nvSpPr>
            <p:cNvPr id="382"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83" name="app"/>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app</a:t>
              </a:r>
            </a:p>
          </p:txBody>
        </p:sp>
      </p:grpSp>
      <p:sp>
        <p:nvSpPr>
          <p:cNvPr id="385" name="TextBox 9"/>
          <p:cNvSpPr txBox="1"/>
          <p:nvPr/>
        </p:nvSpPr>
        <p:spPr>
          <a:xfrm>
            <a:off x="7635240" y="3977638"/>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88" name="Rounded Rectangle 10"/>
          <p:cNvGrpSpPr/>
          <p:nvPr/>
        </p:nvGrpSpPr>
        <p:grpSpPr>
          <a:xfrm>
            <a:off x="7909559" y="3931920"/>
            <a:ext cx="868681" cy="457201"/>
            <a:chOff x="0" y="0"/>
            <a:chExt cx="868680" cy="457200"/>
          </a:xfrm>
        </p:grpSpPr>
        <p:sp>
          <p:nvSpPr>
            <p:cNvPr id="386"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87" name="pages"/>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pages</a:t>
              </a:r>
            </a:p>
          </p:txBody>
        </p:sp>
      </p:grpSp>
      <p:sp>
        <p:nvSpPr>
          <p:cNvPr id="389" name="TextBox 11"/>
          <p:cNvSpPr txBox="1"/>
          <p:nvPr/>
        </p:nvSpPr>
        <p:spPr>
          <a:xfrm>
            <a:off x="8778240" y="3977638"/>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92" name="Rounded Rectangle 12"/>
          <p:cNvGrpSpPr/>
          <p:nvPr/>
        </p:nvGrpSpPr>
        <p:grpSpPr>
          <a:xfrm>
            <a:off x="9052559" y="3931920"/>
            <a:ext cx="868681" cy="457201"/>
            <a:chOff x="0" y="0"/>
            <a:chExt cx="868680" cy="457200"/>
          </a:xfrm>
        </p:grpSpPr>
        <p:sp>
          <p:nvSpPr>
            <p:cNvPr id="390"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91" name="..."/>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a:t>
              </a:r>
            </a:p>
          </p:txBody>
        </p:sp>
      </p:grpSp>
      <p:sp>
        <p:nvSpPr>
          <p:cNvPr id="393" name="TextBox 13"/>
          <p:cNvSpPr txBox="1"/>
          <p:nvPr/>
        </p:nvSpPr>
        <p:spPr>
          <a:xfrm>
            <a:off x="9921240" y="3977638"/>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96" name="Rounded Rectangle 14"/>
          <p:cNvGrpSpPr/>
          <p:nvPr/>
        </p:nvGrpSpPr>
        <p:grpSpPr>
          <a:xfrm>
            <a:off x="10195559" y="3931920"/>
            <a:ext cx="868681" cy="457201"/>
            <a:chOff x="0" y="0"/>
            <a:chExt cx="868680" cy="457200"/>
          </a:xfrm>
        </p:grpSpPr>
        <p:sp>
          <p:nvSpPr>
            <p:cNvPr id="394"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95" name="shared"/>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shared</a:t>
              </a:r>
            </a:p>
          </p:txBody>
        </p:sp>
      </p:grpSp>
      <p:sp>
        <p:nvSpPr>
          <p:cNvPr id="397" name="TextBox 15"/>
          <p:cNvSpPr txBox="1"/>
          <p:nvPr/>
        </p:nvSpPr>
        <p:spPr>
          <a:xfrm>
            <a:off x="640080" y="5212079"/>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Mapa odgovornosti</a:t>
            </a:r>
          </a:p>
        </p:txBody>
      </p:sp>
      <p:sp>
        <p:nvSpPr>
          <p:cNvPr id="398" name="TextBox 16"/>
          <p:cNvSpPr txBox="1"/>
          <p:nvPr/>
        </p:nvSpPr>
        <p:spPr>
          <a:xfrm>
            <a:off x="640080" y="5532120"/>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AI pročita file tree i </a:t>
            </a:r>
            <a:r>
              <a:rPr>
                <a:solidFill>
                  <a:srgbClr val="00D4FF"/>
                </a:solidFill>
                <a:latin typeface="Inter Bold"/>
                <a:ea typeface="Inter Bold"/>
                <a:cs typeface="Inter Bold"/>
                <a:sym typeface="Inter Bold"/>
              </a:rPr>
              <a:t>odmah zna</a:t>
            </a:r>
            <a:r>
              <a:t> gdje je poslovna logika, gdje akcije, a gdje infrastruktura.</a:t>
            </a:r>
          </a:p>
        </p:txBody>
      </p:sp>
      <p:sp>
        <p:nvSpPr>
          <p:cNvPr id="399" name="TextBox 17"/>
          <p:cNvSpPr txBox="1"/>
          <p:nvPr/>
        </p:nvSpPr>
        <p:spPr>
          <a:xfrm>
            <a:off x="6400800" y="5212079"/>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Manje context-hopova</a:t>
            </a:r>
          </a:p>
        </p:txBody>
      </p:sp>
      <p:sp>
        <p:nvSpPr>
          <p:cNvPr id="400" name="TextBox 18"/>
          <p:cNvSpPr txBox="1"/>
          <p:nvPr/>
        </p:nvSpPr>
        <p:spPr>
          <a:xfrm>
            <a:off x="6400800" y="5532120"/>
            <a:ext cx="5486400"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Jednosmjerni tok importa = </a:t>
            </a:r>
            <a:r>
              <a:rPr>
                <a:solidFill>
                  <a:srgbClr val="00D4FF"/>
                </a:solidFill>
                <a:latin typeface="Inter Bold"/>
                <a:ea typeface="Inter Bold"/>
                <a:cs typeface="Inter Bold"/>
                <a:sym typeface="Inter Bold"/>
              </a:rPr>
              <a:t>konačan put kroz ovisnosti</a:t>
            </a:r>
            <a:r>
              <a:t>. Manje koraka, manje potrošenih tokena.</a:t>
            </a:r>
          </a:p>
        </p:txBody>
      </p:sp>
      <p:pic>
        <p:nvPicPr>
          <p:cNvPr id="401" name="Folders Graphic.png" descr="Folders Graphic.png"/>
          <p:cNvPicPr>
            <a:picLocks noChangeAspect="1"/>
          </p:cNvPicPr>
          <p:nvPr/>
        </p:nvPicPr>
        <p:blipFill>
          <a:blip r:embed="rId3">
            <a:extLst/>
          </a:blip>
          <a:stretch>
            <a:fillRect/>
          </a:stretch>
        </p:blipFill>
        <p:spPr>
          <a:xfrm>
            <a:off x="613078" y="1977389"/>
            <a:ext cx="1566943" cy="2639061"/>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#2: </a:t>
            </a:r>
            <a:r>
              <a:rPr>
                <a:solidFill>
                  <a:srgbClr val="00D4FF"/>
                </a:solidFill>
              </a:rPr>
              <a:t>Slices &amp; Segments</a:t>
            </a:r>
          </a:p>
        </p:txBody>
      </p:sp>
      <p:sp>
        <p:nvSpPr>
          <p:cNvPr id="406"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Domena (slice) × tehnička svrha (segment)</a:t>
            </a:r>
          </a:p>
        </p:txBody>
      </p:sp>
      <p:sp>
        <p:nvSpPr>
          <p:cNvPr id="407"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08"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Slice = poslovna domena</a:t>
            </a:r>
          </a:p>
        </p:txBody>
      </p:sp>
      <p:sp>
        <p:nvSpPr>
          <p:cNvPr id="409" name="Rectangle 5"/>
          <p:cNvSpPr/>
          <p:nvPr/>
        </p:nvSpPr>
        <p:spPr>
          <a:xfrm>
            <a:off x="640080" y="2560320"/>
            <a:ext cx="5486401"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10" name="TextBox 6"/>
          <p:cNvSpPr txBox="1"/>
          <p:nvPr/>
        </p:nvSpPr>
        <p:spPr>
          <a:xfrm>
            <a:off x="822958" y="2724911"/>
            <a:ext cx="3319781" cy="8255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auth/</a:t>
            </a:r>
            <a:r>
              <a:t>           </a:t>
            </a:r>
            <a:r>
              <a:rPr>
                <a:solidFill>
                  <a:srgbClr val="666666"/>
                </a:solidFill>
              </a:rPr>
              <a:t>← jedan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profile-edit/</a:t>
            </a:r>
            <a:r>
              <a:t>   </a:t>
            </a:r>
            <a:r>
              <a:rPr>
                <a:solidFill>
                  <a:srgbClr val="666666"/>
                </a:solidFill>
              </a:rPr>
              <a:t>← drugi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like-post/</a:t>
            </a:r>
            <a:r>
              <a:t>      </a:t>
            </a:r>
            <a:r>
              <a:rPr>
                <a:solidFill>
                  <a:srgbClr val="666666"/>
                </a:solidFill>
              </a:rPr>
              <a:t>← treći slice</a:t>
            </a:r>
          </a:p>
        </p:txBody>
      </p:sp>
      <p:sp>
        <p:nvSpPr>
          <p:cNvPr id="411" name="TextBox 7"/>
          <p:cNvSpPr txBox="1"/>
          <p:nvPr/>
        </p:nvSpPr>
        <p:spPr>
          <a:xfrm>
            <a:off x="640080" y="4206240"/>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Slice grupira sve što pripada </a:t>
            </a:r>
            <a:r>
              <a:rPr>
                <a:solidFill>
                  <a:srgbClr val="00D4FF"/>
                </a:solidFill>
                <a:latin typeface="Inter Bold"/>
                <a:ea typeface="Inter Bold"/>
                <a:cs typeface="Inter Bold"/>
                <a:sym typeface="Inter Bold"/>
              </a:rPr>
              <a:t>jednoj domeni</a:t>
            </a:r>
            <a:r>
              <a:t> — bez couplinga sa susjedima.</a:t>
            </a:r>
          </a:p>
        </p:txBody>
      </p:sp>
      <p:sp>
        <p:nvSpPr>
          <p:cNvPr id="412" name="TextBox 8"/>
          <p:cNvSpPr txBox="1"/>
          <p:nvPr/>
        </p:nvSpPr>
        <p:spPr>
          <a:xfrm>
            <a:off x="6400800" y="2194560"/>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Segment = tehnička svrha</a:t>
            </a:r>
          </a:p>
        </p:txBody>
      </p:sp>
      <p:sp>
        <p:nvSpPr>
          <p:cNvPr id="413" name="Rectangle 9"/>
          <p:cNvSpPr/>
          <p:nvPr/>
        </p:nvSpPr>
        <p:spPr>
          <a:xfrm>
            <a:off x="6400800" y="2560320"/>
            <a:ext cx="5486400"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14" name="TextBox 10"/>
          <p:cNvSpPr txBox="1"/>
          <p:nvPr/>
        </p:nvSpPr>
        <p:spPr>
          <a:xfrm>
            <a:off x="6583680" y="2724911"/>
            <a:ext cx="3533141" cy="10287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features/auth/</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ui/</a:t>
            </a:r>
            <a:r>
              <a:t>       </a:t>
            </a:r>
            <a:r>
              <a:rPr>
                <a:solidFill>
                  <a:srgbClr val="666666"/>
                </a:solidFill>
              </a:rPr>
              <a:t>← komponente, stilovi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model/</a:t>
            </a:r>
            <a:r>
              <a:t>    </a:t>
            </a:r>
            <a:r>
              <a:rPr>
                <a:solidFill>
                  <a:srgbClr val="666666"/>
                </a:solidFill>
              </a:rPr>
              <a:t>← state, validacija</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api/</a:t>
            </a:r>
            <a:r>
              <a:t>      </a:t>
            </a:r>
            <a:r>
              <a:rPr>
                <a:solidFill>
                  <a:srgbClr val="666666"/>
                </a:solidFill>
              </a:rPr>
              <a:t>← backend pozivi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lib/</a:t>
            </a:r>
            <a:r>
              <a:t>      </a:t>
            </a:r>
            <a:r>
              <a:rPr>
                <a:solidFill>
                  <a:srgbClr val="666666"/>
                </a:solidFill>
              </a:rPr>
              <a:t>← utility funkcije</a:t>
            </a:r>
          </a:p>
        </p:txBody>
      </p:sp>
      <p:sp>
        <p:nvSpPr>
          <p:cNvPr id="415" name="TextBox 11"/>
          <p:cNvSpPr txBox="1"/>
          <p:nvPr/>
        </p:nvSpPr>
        <p:spPr>
          <a:xfrm>
            <a:off x="6400800" y="4206240"/>
            <a:ext cx="54864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Standardizirana imena segmenata </a:t>
            </a:r>
            <a:r>
              <a:rPr>
                <a:solidFill>
                  <a:srgbClr val="00D4FF"/>
                </a:solidFill>
                <a:latin typeface="Inter Bold"/>
                <a:ea typeface="Inter Bold"/>
                <a:cs typeface="Inter Bold"/>
                <a:sym typeface="Inter Bold"/>
              </a:rPr>
              <a:t>u svakom slice-u</a:t>
            </a:r>
            <a:r>
              <a:t>.</a:t>
            </a:r>
          </a:p>
        </p:txBody>
      </p:sp>
      <p:sp>
        <p:nvSpPr>
          <p:cNvPr id="416" name="Rounded Rectangle 12"/>
          <p:cNvSpPr/>
          <p:nvPr/>
        </p:nvSpPr>
        <p:spPr>
          <a:xfrm>
            <a:off x="640080" y="5074920"/>
            <a:ext cx="10972801" cy="11887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417" name="Rectangle 13"/>
          <p:cNvSpPr/>
          <p:nvPr/>
        </p:nvSpPr>
        <p:spPr>
          <a:xfrm>
            <a:off x="640080" y="5074920"/>
            <a:ext cx="54865" cy="11887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18" name="TextBox 14"/>
          <p:cNvSpPr txBox="1"/>
          <p:nvPr/>
        </p:nvSpPr>
        <p:spPr>
          <a:xfrm>
            <a:off x="914400" y="5257800"/>
            <a:ext cx="10515600" cy="482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FFFFF"/>
                </a:solidFill>
                <a:latin typeface="Inter Regular"/>
                <a:ea typeface="Inter Regular"/>
                <a:cs typeface="Inter Regular"/>
                <a:sym typeface="Inter Regular"/>
              </a:defRPr>
            </a:pPr>
            <a:r>
              <a:t>AI pomoć: granice slica = manje context pollutiona, segmenti = </a:t>
            </a:r>
            <a:r>
              <a:rPr>
                <a:solidFill>
                  <a:srgbClr val="00D4FF"/>
                </a:solidFill>
                <a:latin typeface="Inter Bold"/>
                <a:ea typeface="Inter Bold"/>
                <a:cs typeface="Inter Bold"/>
                <a:sym typeface="Inter Bold"/>
              </a:rPr>
              <a:t>pattern matching</a:t>
            </a:r>
            <a:r>
              <a:t> kroz cijeli projekt. „Trebam fetch korisnika?“ → entities/user/api/. Bez pretrage.</a:t>
            </a: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#3: </a:t>
            </a:r>
            <a:r>
              <a:rPr>
                <a:solidFill>
                  <a:srgbClr val="00D4FF"/>
                </a:solidFill>
              </a:rPr>
              <a:t>Public API</a:t>
            </a:r>
          </a:p>
        </p:txBody>
      </p:sp>
      <p:sp>
        <p:nvSpPr>
          <p:cNvPr id="423" name="TextBox 2"/>
          <p:cNvSpPr txBox="1"/>
          <p:nvPr/>
        </p:nvSpPr>
        <p:spPr>
          <a:xfrm>
            <a:off x="640079" y="1371600"/>
            <a:ext cx="10908794"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888888"/>
                </a:solidFill>
                <a:latin typeface="Inter Regular"/>
                <a:ea typeface="Inter Regular"/>
                <a:cs typeface="Inter Regular"/>
                <a:sym typeface="Inter Regular"/>
              </a:defRPr>
            </a:pPr>
            <a:r>
              <a:t>Svaki slice eksponira </a:t>
            </a:r>
            <a:r>
              <a:rPr>
                <a:solidFill>
                  <a:srgbClr val="00D4FF"/>
                </a:solidFill>
                <a:latin typeface="JetBrains Mono Regular"/>
                <a:ea typeface="JetBrains Mono Regular"/>
                <a:cs typeface="JetBrains Mono Regular"/>
                <a:sym typeface="JetBrains Mono Regular"/>
              </a:rPr>
              <a:t>index.ts</a:t>
            </a:r>
            <a:r>
              <a:t> kao ugovor</a:t>
            </a:r>
          </a:p>
        </p:txBody>
      </p:sp>
      <p:sp>
        <p:nvSpPr>
          <p:cNvPr id="424"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25" name="Rectangle 4"/>
          <p:cNvSpPr/>
          <p:nvPr/>
        </p:nvSpPr>
        <p:spPr>
          <a:xfrm>
            <a:off x="640079" y="2194560"/>
            <a:ext cx="5303522"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26" name="TextBox 5"/>
          <p:cNvSpPr txBox="1"/>
          <p:nvPr/>
        </p:nvSpPr>
        <p:spPr>
          <a:xfrm>
            <a:off x="822958" y="2359152"/>
            <a:ext cx="2390141" cy="183388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200">
                <a:solidFill>
                  <a:srgbClr val="F2F2F2"/>
                </a:solidFill>
                <a:latin typeface="JetBrains Mono Regular"/>
                <a:ea typeface="JetBrains Mono Regular"/>
                <a:cs typeface="JetBrains Mono Regular"/>
                <a:sym typeface="JetBrains Mono Regular"/>
              </a:defRPr>
            </a:pPr>
            <a:r>
              <a:t>features/auth/</a:t>
            </a:r>
          </a:p>
          <a:p>
            <a:pPr>
              <a:lnSpc>
                <a:spcPts val="1600"/>
              </a:lnSpc>
              <a:defRPr sz="1200">
                <a:solidFill>
                  <a:srgbClr val="F2F2F2"/>
                </a:solidFill>
                <a:latin typeface="JetBrains Mono Regular"/>
                <a:ea typeface="JetBrains Mono Regular"/>
                <a:cs typeface="JetBrains Mono Regular"/>
                <a:sym typeface="JetBrains Mono Regular"/>
              </a:defRPr>
            </a:pPr>
            <a:r>
              <a:t>  ui/</a:t>
            </a:r>
          </a:p>
          <a:p>
            <a:pPr>
              <a:lnSpc>
                <a:spcPts val="1600"/>
              </a:lnSpc>
              <a:defRPr sz="1200">
                <a:solidFill>
                  <a:srgbClr val="F2F2F2"/>
                </a:solidFill>
                <a:latin typeface="JetBrains Mono Regular"/>
                <a:ea typeface="JetBrains Mono Regular"/>
                <a:cs typeface="JetBrains Mono Regular"/>
                <a:sym typeface="JetBrains Mono Regular"/>
              </a:defRPr>
            </a:pPr>
            <a:r>
              <a:t>    LoginForm.tsx</a:t>
            </a:r>
          </a:p>
          <a:p>
            <a:pPr>
              <a:lnSpc>
                <a:spcPts val="1600"/>
              </a:lnSpc>
              <a:defRPr sz="1200">
                <a:solidFill>
                  <a:srgbClr val="F2F2F2"/>
                </a:solidFill>
                <a:latin typeface="JetBrains Mono Regular"/>
                <a:ea typeface="JetBrains Mono Regular"/>
                <a:cs typeface="JetBrains Mono Regular"/>
                <a:sym typeface="JetBrains Mono Regular"/>
              </a:defRPr>
            </a:pPr>
            <a:r>
              <a:t>    LogoutButton.tsx</a:t>
            </a:r>
          </a:p>
          <a:p>
            <a:pPr>
              <a:lnSpc>
                <a:spcPts val="1600"/>
              </a:lnSpc>
              <a:defRPr sz="1200">
                <a:solidFill>
                  <a:srgbClr val="F2F2F2"/>
                </a:solidFill>
                <a:latin typeface="JetBrains Mono Regular"/>
                <a:ea typeface="JetBrains Mono Regular"/>
                <a:cs typeface="JetBrains Mono Regular"/>
                <a:sym typeface="JetBrains Mono Regular"/>
              </a:defRPr>
            </a:pPr>
            <a:r>
              <a:t>  model/</a:t>
            </a:r>
          </a:p>
          <a:p>
            <a:pPr>
              <a:lnSpc>
                <a:spcPts val="1600"/>
              </a:lnSpc>
              <a:defRPr sz="1200">
                <a:solidFill>
                  <a:srgbClr val="F2F2F2"/>
                </a:solidFill>
                <a:latin typeface="JetBrains Mono Regular"/>
                <a:ea typeface="JetBrains Mono Regular"/>
                <a:cs typeface="JetBrains Mono Regular"/>
                <a:sym typeface="JetBrains Mono Regular"/>
              </a:defRPr>
            </a:pPr>
            <a:r>
              <a:t>    auth-store.ts</a:t>
            </a:r>
          </a:p>
          <a:p>
            <a:pPr>
              <a:lnSpc>
                <a:spcPts val="1600"/>
              </a:lnSpc>
              <a:defRPr sz="1200">
                <a:solidFill>
                  <a:srgbClr val="F2F2F2"/>
                </a:solidFill>
                <a:latin typeface="JetBrains Mono Regular"/>
                <a:ea typeface="JetBrains Mono Regular"/>
                <a:cs typeface="JetBrains Mono Regular"/>
                <a:sym typeface="JetBrains Mono Regular"/>
              </a:defRPr>
            </a:pPr>
            <a:r>
              <a:t>  api/</a:t>
            </a:r>
          </a:p>
          <a:p>
            <a:pPr>
              <a:lnSpc>
                <a:spcPts val="1600"/>
              </a:lnSpc>
              <a:defRPr sz="1200">
                <a:solidFill>
                  <a:srgbClr val="F2F2F2"/>
                </a:solidFill>
                <a:latin typeface="JetBrains Mono Regular"/>
                <a:ea typeface="JetBrains Mono Regular"/>
                <a:cs typeface="JetBrains Mono Regular"/>
                <a:sym typeface="JetBrains Mono Regular"/>
              </a:defRPr>
            </a:pPr>
            <a:r>
              <a:t>    login.ts</a:t>
            </a:r>
          </a:p>
          <a:p>
            <a:pPr>
              <a:lnSpc>
                <a:spcPts val="1600"/>
              </a:lnSpc>
              <a:defRPr sz="1200">
                <a:solidFill>
                  <a:srgbClr val="FFFFFF"/>
                </a:solidFill>
                <a:latin typeface="JetBrains Mono Regular"/>
                <a:ea typeface="JetBrains Mono Regular"/>
                <a:cs typeface="JetBrains Mono Regular"/>
                <a:sym typeface="JetBrains Mono Regular"/>
              </a:defRPr>
            </a:pPr>
            <a:r>
              <a:t>  </a:t>
            </a:r>
            <a:r>
              <a:rPr>
                <a:solidFill>
                  <a:srgbClr val="00D4FF"/>
                </a:solidFill>
              </a:rPr>
              <a:t>index.ts</a:t>
            </a:r>
            <a:r>
              <a:t>   </a:t>
            </a:r>
            <a:r>
              <a:rPr>
                <a:solidFill>
                  <a:srgbClr val="666666"/>
                </a:solidFill>
              </a:rPr>
              <a:t>← jedini ulaz</a:t>
            </a:r>
          </a:p>
        </p:txBody>
      </p:sp>
      <p:sp>
        <p:nvSpPr>
          <p:cNvPr id="427" name="Rectangle 6"/>
          <p:cNvSpPr/>
          <p:nvPr/>
        </p:nvSpPr>
        <p:spPr>
          <a:xfrm>
            <a:off x="6217920" y="2194560"/>
            <a:ext cx="5669280"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28" name="TextBox 7"/>
          <p:cNvSpPr txBox="1"/>
          <p:nvPr/>
        </p:nvSpPr>
        <p:spPr>
          <a:xfrm>
            <a:off x="6400800" y="2359152"/>
            <a:ext cx="4706621" cy="183007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100">
                <a:solidFill>
                  <a:srgbClr val="888888"/>
                </a:solidFill>
                <a:latin typeface="JetBrains Mono Regular"/>
                <a:ea typeface="JetBrains Mono Regular"/>
                <a:cs typeface="JetBrains Mono Regular"/>
                <a:sym typeface="JetBrains Mono Regular"/>
              </a:defRPr>
            </a:pPr>
            <a:r>
              <a:t>// features/auth/index.ts</a:t>
            </a: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LoginForm } from './ui/LoginForm'</a:t>
            </a:r>
            <a:endParaRPr>
              <a:solidFill>
                <a:srgbClr val="F2F2F2"/>
              </a:solidFill>
            </a:endParaRP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useAuth } from './model/auth-store'</a:t>
            </a:r>
            <a:endParaRPr>
              <a:solidFill>
                <a:srgbClr val="F2F2F2"/>
              </a:solidFill>
            </a:endParaRP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888888"/>
                </a:solidFill>
                <a:latin typeface="JetBrains Mono Regular"/>
                <a:ea typeface="JetBrains Mono Regular"/>
                <a:cs typeface="JetBrains Mono Regular"/>
                <a:sym typeface="JetBrains Mono Regular"/>
              </a:defRPr>
            </a:pPr>
            <a:r>
              <a:t>// Svugdje drugdje:</a:t>
            </a:r>
          </a:p>
          <a:p>
            <a:pPr>
              <a:lnSpc>
                <a:spcPts val="1600"/>
              </a:lnSpc>
              <a:defRPr sz="1100">
                <a:solidFill>
                  <a:srgbClr val="2ED573"/>
                </a:solidFill>
                <a:latin typeface="JetBrains Mono Regular"/>
                <a:ea typeface="JetBrains Mono Regular"/>
                <a:cs typeface="JetBrains Mono Regular"/>
                <a:sym typeface="JetBrains Mono Regular"/>
              </a:defRPr>
            </a:pPr>
            <a:r>
              <a:t>import { LoginForm } from '@/features/auth'</a:t>
            </a: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FF6B81"/>
                </a:solidFill>
                <a:latin typeface="JetBrains Mono Regular"/>
                <a:ea typeface="JetBrains Mono Regular"/>
                <a:cs typeface="JetBrains Mono Regular"/>
                <a:sym typeface="JetBrains Mono Regular"/>
              </a:defRPr>
            </a:pPr>
            <a:r>
              <a:t>// Zabranjeno:</a:t>
            </a:r>
          </a:p>
          <a:p>
            <a:pPr>
              <a:lnSpc>
                <a:spcPts val="1600"/>
              </a:lnSpc>
              <a:defRPr sz="1100">
                <a:solidFill>
                  <a:srgbClr val="FF6B81"/>
                </a:solidFill>
                <a:latin typeface="JetBrains Mono Regular"/>
                <a:ea typeface="JetBrains Mono Regular"/>
                <a:cs typeface="JetBrains Mono Regular"/>
                <a:sym typeface="JetBrains Mono Regular"/>
              </a:defRPr>
            </a:pPr>
            <a:r>
              <a:t>import { LoginForm } from '@/features/auth/ui/LoginForm'</a:t>
            </a:r>
          </a:p>
        </p:txBody>
      </p:sp>
      <p:sp>
        <p:nvSpPr>
          <p:cNvPr id="429" name="Rounded Rectangle 8"/>
          <p:cNvSpPr/>
          <p:nvPr/>
        </p:nvSpPr>
        <p:spPr>
          <a:xfrm>
            <a:off x="640080" y="5440679"/>
            <a:ext cx="10972801" cy="100584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430" name="Rectangle 9"/>
          <p:cNvSpPr/>
          <p:nvPr/>
        </p:nvSpPr>
        <p:spPr>
          <a:xfrm>
            <a:off x="640080" y="5440679"/>
            <a:ext cx="54865" cy="100584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31" name="TextBox 10"/>
          <p:cNvSpPr txBox="1"/>
          <p:nvPr/>
        </p:nvSpPr>
        <p:spPr>
          <a:xfrm>
            <a:off x="914400" y="5623559"/>
            <a:ext cx="10515600" cy="495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FFFFF"/>
                </a:solidFill>
                <a:latin typeface="Inter Regular"/>
                <a:ea typeface="Inter Regular"/>
                <a:cs typeface="Inter Regular"/>
                <a:sym typeface="Inter Regular"/>
              </a:defRPr>
            </a:pPr>
            <a:r>
              <a:t>AI pročita </a:t>
            </a:r>
            <a:r>
              <a:rPr>
                <a:solidFill>
                  <a:srgbClr val="00D4FF"/>
                </a:solidFill>
                <a:latin typeface="JetBrains Mono Regular"/>
                <a:ea typeface="JetBrains Mono Regular"/>
                <a:cs typeface="JetBrains Mono Regular"/>
                <a:sym typeface="JetBrains Mono Regular"/>
              </a:rPr>
              <a:t>index.ts</a:t>
            </a:r>
            <a:r>
              <a:t> (8 redova) i zna kompletno sučelje slice-a — umjesto da učita 400+ linija interne implementacije. </a:t>
            </a:r>
            <a:r>
              <a:rPr>
                <a:solidFill>
                  <a:srgbClr val="00D4FF"/>
                </a:solidFill>
                <a:latin typeface="Inter Bold"/>
                <a:ea typeface="Inter Bold"/>
                <a:cs typeface="Inter Bold"/>
                <a:sym typeface="Inter Bold"/>
              </a:rPr>
              <a:t>Štedi tokene, stabilan ugovor.</a:t>
            </a: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AI alati </a:t>
            </a:r>
            <a:r>
              <a:rPr>
                <a:solidFill>
                  <a:srgbClr val="00D4FF"/>
                </a:solidFill>
              </a:rPr>
              <a:t>za FSD</a:t>
            </a:r>
          </a:p>
        </p:txBody>
      </p:sp>
      <p:sp>
        <p:nvSpPr>
          <p:cNvPr id="436"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Daj AI-u FSD dokumentaciju kao kontekst — ne mora pogađati pravila.</a:t>
            </a:r>
          </a:p>
        </p:txBody>
      </p:sp>
      <p:sp>
        <p:nvSpPr>
          <p:cNvPr id="437"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38"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LLMs.txt</a:t>
            </a:r>
          </a:p>
        </p:txBody>
      </p:sp>
      <p:sp>
        <p:nvSpPr>
          <p:cNvPr id="439" name="TextBox 5"/>
          <p:cNvSpPr txBox="1"/>
          <p:nvPr/>
        </p:nvSpPr>
        <p:spPr>
          <a:xfrm>
            <a:off x="640080" y="2606039"/>
            <a:ext cx="548640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JetBrains Mono Regular"/>
                <a:ea typeface="JetBrains Mono Regular"/>
                <a:cs typeface="JetBrains Mono Regular"/>
                <a:sym typeface="JetBrains Mono Regular"/>
              </a:defRPr>
            </a:lvl1pPr>
          </a:lstStyle>
          <a:p>
            <a:pPr/>
            <a:r>
              <a:t>fsd.how/llms-full.txt</a:t>
            </a:r>
          </a:p>
        </p:txBody>
      </p:sp>
      <p:sp>
        <p:nvSpPr>
          <p:cNvPr id="440" name="TextBox 6"/>
          <p:cNvSpPr txBox="1"/>
          <p:nvPr/>
        </p:nvSpPr>
        <p:spPr>
          <a:xfrm>
            <a:off x="640080" y="3154679"/>
            <a:ext cx="5486401" cy="977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Cijela FSD specifikacija u jednom plain-text fileu — formatirana baš tako da je AI agenti mogu lako progutati.</a:t>
            </a:r>
          </a:p>
          <a:p>
            <a:pPr>
              <a:spcBef>
                <a:spcPts val="800"/>
              </a:spcBef>
              <a:defRPr sz="1400">
                <a:solidFill>
                  <a:srgbClr val="FFFFFF"/>
                </a:solidFill>
                <a:latin typeface="Inter Regular"/>
                <a:ea typeface="Inter Regular"/>
                <a:cs typeface="Inter Regular"/>
                <a:sym typeface="Inter Regular"/>
              </a:defRPr>
            </a:pPr>
            <a:r>
              <a:t>Doda se u </a:t>
            </a:r>
            <a:r>
              <a:rPr>
                <a:solidFill>
                  <a:srgbClr val="00D4FF"/>
                </a:solidFill>
                <a:latin typeface="JetBrains Mono Regular"/>
                <a:ea typeface="JetBrains Mono Regular"/>
                <a:cs typeface="JetBrains Mono Regular"/>
                <a:sym typeface="JetBrains Mono Regular"/>
              </a:rPr>
              <a:t>CLAUDE.md</a:t>
            </a:r>
            <a:r>
              <a:t> / </a:t>
            </a:r>
            <a:r>
              <a:rPr>
                <a:solidFill>
                  <a:srgbClr val="00D4FF"/>
                </a:solidFill>
                <a:latin typeface="JetBrains Mono Regular"/>
                <a:ea typeface="JetBrains Mono Regular"/>
                <a:cs typeface="JetBrains Mono Regular"/>
                <a:sym typeface="JetBrains Mono Regular"/>
              </a:rPr>
              <a:t>AGENTS.md</a:t>
            </a:r>
            <a:r>
              <a:t> ili kao referenca u promptu — AI dobiva pravila prije nego napiše ijednu liniju.</a:t>
            </a:r>
          </a:p>
        </p:txBody>
      </p:sp>
      <p:sp>
        <p:nvSpPr>
          <p:cNvPr id="441" name="TextBox 7"/>
          <p:cNvSpPr txBox="1"/>
          <p:nvPr/>
        </p:nvSpPr>
        <p:spPr>
          <a:xfrm>
            <a:off x="6400800" y="2194560"/>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feature-sliced-design Skill</a:t>
            </a:r>
          </a:p>
        </p:txBody>
      </p:sp>
      <p:sp>
        <p:nvSpPr>
          <p:cNvPr id="442" name="TextBox 8"/>
          <p:cNvSpPr txBox="1"/>
          <p:nvPr/>
        </p:nvSpPr>
        <p:spPr>
          <a:xfrm>
            <a:off x="6400800" y="2606039"/>
            <a:ext cx="5486400"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JetBrains Mono Regular"/>
                <a:ea typeface="JetBrains Mono Regular"/>
                <a:cs typeface="JetBrains Mono Regular"/>
                <a:sym typeface="JetBrains Mono Regular"/>
              </a:defRPr>
            </a:lvl1pPr>
          </a:lstStyle>
          <a:p>
            <a:pPr/>
            <a:r>
              <a:t>/feature-sliced-design</a:t>
            </a:r>
          </a:p>
        </p:txBody>
      </p:sp>
      <p:sp>
        <p:nvSpPr>
          <p:cNvPr id="443" name="TextBox 9"/>
          <p:cNvSpPr txBox="1"/>
          <p:nvPr/>
        </p:nvSpPr>
        <p:spPr>
          <a:xfrm>
            <a:off x="6400800" y="3154679"/>
            <a:ext cx="5486400" cy="1181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Službeni Claude Code skill — aktivira se automatski kad se radi o FSD strukturi (gdje datoteku staviti, public API, cross-import, segmenti).</a:t>
            </a:r>
          </a:p>
          <a:p>
            <a:pPr>
              <a:spcBef>
                <a:spcPts val="800"/>
              </a:spcBef>
              <a:defRPr sz="1400">
                <a:solidFill>
                  <a:srgbClr val="FFFFFF"/>
                </a:solidFill>
                <a:latin typeface="Inter Regular"/>
                <a:ea typeface="Inter Regular"/>
                <a:cs typeface="Inter Regular"/>
                <a:sym typeface="Inter Regular"/>
              </a:defRPr>
            </a:pPr>
            <a:r>
              <a:t>Sadrži decision tree, anti-patterne i conditional reference fileove </a:t>
            </a:r>
            <a:r>
              <a:rPr>
                <a:solidFill>
                  <a:srgbClr val="00D4FF"/>
                </a:solidFill>
                <a:latin typeface="Inter Bold"/>
                <a:ea typeface="Inter Bold"/>
                <a:cs typeface="Inter Bold"/>
                <a:sym typeface="Inter Bold"/>
              </a:rPr>
              <a:t>— zna kada koje znanje učitati u kontekst.</a:t>
            </a:r>
          </a:p>
        </p:txBody>
      </p:sp>
      <p:sp>
        <p:nvSpPr>
          <p:cNvPr id="444" name="Rounded Rectangle 10"/>
          <p:cNvSpPr/>
          <p:nvPr/>
        </p:nvSpPr>
        <p:spPr>
          <a:xfrm>
            <a:off x="640080" y="5074920"/>
            <a:ext cx="10972801" cy="11887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445" name="Rectangle 11"/>
          <p:cNvSpPr/>
          <p:nvPr/>
        </p:nvSpPr>
        <p:spPr>
          <a:xfrm>
            <a:off x="640080" y="5074920"/>
            <a:ext cx="54865" cy="11887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46" name="TextBox 12"/>
          <p:cNvSpPr txBox="1"/>
          <p:nvPr/>
        </p:nvSpPr>
        <p:spPr>
          <a:xfrm>
            <a:off x="914400" y="5257800"/>
            <a:ext cx="10515600" cy="533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Dobra arhitektura + dobra dokumentacija u kontekstu = AI prestaje halucinirati i počinje pisati kod </a:t>
            </a:r>
            <a:r>
              <a:rPr>
                <a:solidFill>
                  <a:srgbClr val="00D4FF"/>
                </a:solidFill>
                <a:latin typeface="Inter Bold"/>
                <a:ea typeface="Inter Bold"/>
                <a:cs typeface="Inter Bold"/>
                <a:sym typeface="Inter Bold"/>
              </a:rPr>
              <a:t>po pravilima projekta</a:t>
            </a:r>
            <a:r>
              <a:t>.</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A0A0A"/>
        </a:solidFill>
      </p:bgPr>
    </p:bg>
    <p:spTree>
      <p:nvGrpSpPr>
        <p:cNvPr id="1" name=""/>
        <p:cNvGrpSpPr/>
        <p:nvPr/>
      </p:nvGrpSpPr>
      <p:grpSpPr>
        <a:xfrm>
          <a:off x="0" y="0"/>
          <a:ext cx="0" cy="0"/>
          <a:chOff x="0" y="0"/>
          <a:chExt cx="0" cy="0"/>
        </a:xfrm>
      </p:grpSpPr>
      <p:sp>
        <p:nvSpPr>
          <p:cNvPr id="45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FSD </a:t>
            </a:r>
            <a:r>
              <a:rPr>
                <a:solidFill>
                  <a:srgbClr val="888888"/>
                </a:solidFill>
              </a:rPr>
              <a:t>×</a:t>
            </a:r>
            <a:r>
              <a:t> AI</a:t>
            </a:r>
          </a:p>
        </p:txBody>
      </p:sp>
      <p:sp>
        <p:nvSpPr>
          <p:cNvPr id="451"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Why Feature-Sliced Design is AI-friendly by nature</a:t>
            </a:r>
          </a:p>
        </p:txBody>
      </p:sp>
      <p:sp>
        <p:nvSpPr>
          <p:cNvPr id="452" name="Rectangle 3"/>
          <p:cNvSpPr/>
          <p:nvPr/>
        </p:nvSpPr>
        <p:spPr>
          <a:xfrm>
            <a:off x="640080" y="1691638"/>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53" name="Rectangle 4"/>
          <p:cNvSpPr/>
          <p:nvPr/>
        </p:nvSpPr>
        <p:spPr>
          <a:xfrm>
            <a:off x="640080" y="2194560"/>
            <a:ext cx="10972801" cy="45720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54" name="TextBox 5"/>
          <p:cNvSpPr txBox="1"/>
          <p:nvPr/>
        </p:nvSpPr>
        <p:spPr>
          <a:xfrm>
            <a:off x="822958" y="2240277"/>
            <a:ext cx="3474723"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0A0A0A"/>
                </a:solidFill>
                <a:latin typeface="Inter Bold"/>
                <a:ea typeface="Inter Bold"/>
                <a:cs typeface="Inter Bold"/>
                <a:sym typeface="Inter Bold"/>
              </a:defRPr>
            </a:lvl1pPr>
          </a:lstStyle>
          <a:p>
            <a:pPr/>
            <a:r>
              <a:t>FSD Concept</a:t>
            </a:r>
          </a:p>
        </p:txBody>
      </p:sp>
      <p:sp>
        <p:nvSpPr>
          <p:cNvPr id="455" name="TextBox 6"/>
          <p:cNvSpPr txBox="1"/>
          <p:nvPr/>
        </p:nvSpPr>
        <p:spPr>
          <a:xfrm>
            <a:off x="4480559" y="224027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0A0A0A"/>
                </a:solidFill>
                <a:latin typeface="Inter Bold"/>
                <a:ea typeface="Inter Bold"/>
                <a:cs typeface="Inter Bold"/>
                <a:sym typeface="Inter Bold"/>
              </a:defRPr>
            </a:lvl1pPr>
          </a:lstStyle>
          <a:p>
            <a:pPr/>
            <a:r>
              <a:t>AI Benefit</a:t>
            </a:r>
          </a:p>
        </p:txBody>
      </p:sp>
      <p:sp>
        <p:nvSpPr>
          <p:cNvPr id="456" name="Rectangle 7"/>
          <p:cNvSpPr/>
          <p:nvPr/>
        </p:nvSpPr>
        <p:spPr>
          <a:xfrm>
            <a:off x="640080" y="3418077"/>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57" name="TextBox 8"/>
          <p:cNvSpPr txBox="1"/>
          <p:nvPr/>
        </p:nvSpPr>
        <p:spPr>
          <a:xfrm>
            <a:off x="822958" y="2743200"/>
            <a:ext cx="3383282" cy="4191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Layers</a:t>
            </a:r>
          </a:p>
          <a:p>
            <a:pPr>
              <a:spcBef>
                <a:spcPts val="200"/>
              </a:spcBef>
              <a:defRPr sz="1100">
                <a:solidFill>
                  <a:srgbClr val="888888"/>
                </a:solidFill>
                <a:latin typeface="Inter Regular"/>
                <a:ea typeface="Inter Regular"/>
                <a:cs typeface="Inter Regular"/>
                <a:sym typeface="Inter Regular"/>
              </a:defRPr>
            </a:pPr>
            <a:r>
              <a:t>app → shared</a:t>
            </a:r>
          </a:p>
        </p:txBody>
      </p:sp>
      <p:sp>
        <p:nvSpPr>
          <p:cNvPr id="458" name="TextBox 9"/>
          <p:cNvSpPr txBox="1"/>
          <p:nvPr/>
        </p:nvSpPr>
        <p:spPr>
          <a:xfrm>
            <a:off x="4480559" y="2932429"/>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reads the file tree and immediately gets a </a:t>
            </a:r>
            <a:r>
              <a:rPr>
                <a:solidFill>
                  <a:srgbClr val="00D4FF"/>
                </a:solidFill>
                <a:latin typeface="Inter Bold"/>
                <a:ea typeface="Inter Bold"/>
                <a:cs typeface="Inter Bold"/>
                <a:sym typeface="Inter Bold"/>
              </a:rPr>
              <a:t>responsibility map</a:t>
            </a:r>
            <a:r>
              <a:t>.</a:t>
            </a:r>
          </a:p>
        </p:txBody>
      </p:sp>
      <p:sp>
        <p:nvSpPr>
          <p:cNvPr id="459" name="Rectangle 10"/>
          <p:cNvSpPr/>
          <p:nvPr/>
        </p:nvSpPr>
        <p:spPr>
          <a:xfrm>
            <a:off x="640080" y="3429000"/>
            <a:ext cx="10972801" cy="777242"/>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60" name="Rectangle 11"/>
          <p:cNvSpPr/>
          <p:nvPr/>
        </p:nvSpPr>
        <p:spPr>
          <a:xfrm>
            <a:off x="640080" y="4195317"/>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61" name="TextBox 12"/>
          <p:cNvSpPr txBox="1"/>
          <p:nvPr/>
        </p:nvSpPr>
        <p:spPr>
          <a:xfrm>
            <a:off x="822958" y="3520440"/>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Import rule</a:t>
            </a:r>
          </a:p>
          <a:p>
            <a:pPr>
              <a:spcBef>
                <a:spcPts val="200"/>
              </a:spcBef>
              <a:defRPr sz="1100">
                <a:solidFill>
                  <a:srgbClr val="888888"/>
                </a:solidFill>
                <a:latin typeface="Inter Regular"/>
                <a:ea typeface="Inter Regular"/>
                <a:cs typeface="Inter Regular"/>
                <a:sym typeface="Inter Regular"/>
              </a:defRPr>
            </a:pPr>
            <a:r>
              <a:t>only import from below</a:t>
            </a:r>
          </a:p>
        </p:txBody>
      </p:sp>
      <p:sp>
        <p:nvSpPr>
          <p:cNvPr id="462" name="TextBox 13"/>
          <p:cNvSpPr txBox="1"/>
          <p:nvPr/>
        </p:nvSpPr>
        <p:spPr>
          <a:xfrm>
            <a:off x="4480559" y="3709668"/>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00D4FF"/>
                </a:solidFill>
                <a:latin typeface="Inter Bold"/>
                <a:ea typeface="Inter Bold"/>
                <a:cs typeface="Inter Bold"/>
                <a:sym typeface="Inter Bold"/>
              </a:defRPr>
            </a:pPr>
            <a:r>
              <a:t>One-directional</a:t>
            </a:r>
            <a:r>
              <a:rPr>
                <a:solidFill>
                  <a:srgbClr val="F2F2F2"/>
                </a:solidFill>
                <a:latin typeface="Inter Regular"/>
                <a:ea typeface="Inter Regular"/>
                <a:cs typeface="Inter Regular"/>
                <a:sym typeface="Inter Regular"/>
              </a:rPr>
              <a:t> dependency flow = minimal context hops.</a:t>
            </a:r>
          </a:p>
        </p:txBody>
      </p:sp>
      <p:sp>
        <p:nvSpPr>
          <p:cNvPr id="463" name="Rectangle 14"/>
          <p:cNvSpPr/>
          <p:nvPr/>
        </p:nvSpPr>
        <p:spPr>
          <a:xfrm>
            <a:off x="640080" y="4972556"/>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64" name="TextBox 15"/>
          <p:cNvSpPr txBox="1"/>
          <p:nvPr/>
        </p:nvSpPr>
        <p:spPr>
          <a:xfrm>
            <a:off x="822958" y="4297679"/>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Slices</a:t>
            </a:r>
          </a:p>
          <a:p>
            <a:pPr>
              <a:spcBef>
                <a:spcPts val="200"/>
              </a:spcBef>
              <a:defRPr sz="1100">
                <a:solidFill>
                  <a:srgbClr val="888888"/>
                </a:solidFill>
                <a:latin typeface="Inter Regular"/>
                <a:ea typeface="Inter Regular"/>
                <a:cs typeface="Inter Regular"/>
                <a:sym typeface="Inter Regular"/>
              </a:defRPr>
            </a:pPr>
            <a:r>
              <a:t>zero coupling</a:t>
            </a:r>
          </a:p>
        </p:txBody>
      </p:sp>
      <p:sp>
        <p:nvSpPr>
          <p:cNvPr id="465" name="TextBox 16"/>
          <p:cNvSpPr txBox="1"/>
          <p:nvPr/>
        </p:nvSpPr>
        <p:spPr>
          <a:xfrm>
            <a:off x="4480559" y="448690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stays within feature boundaries — </a:t>
            </a:r>
            <a:r>
              <a:rPr>
                <a:solidFill>
                  <a:srgbClr val="00D4FF"/>
                </a:solidFill>
                <a:latin typeface="Inter Bold"/>
                <a:ea typeface="Inter Bold"/>
                <a:cs typeface="Inter Bold"/>
                <a:sym typeface="Inter Bold"/>
              </a:rPr>
              <a:t>no context pollution</a:t>
            </a:r>
            <a:r>
              <a:t>.</a:t>
            </a:r>
          </a:p>
        </p:txBody>
      </p:sp>
      <p:sp>
        <p:nvSpPr>
          <p:cNvPr id="466" name="Rectangle 17"/>
          <p:cNvSpPr/>
          <p:nvPr/>
        </p:nvSpPr>
        <p:spPr>
          <a:xfrm>
            <a:off x="640080" y="4983479"/>
            <a:ext cx="10972801" cy="777242"/>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67" name="Rectangle 18"/>
          <p:cNvSpPr/>
          <p:nvPr/>
        </p:nvSpPr>
        <p:spPr>
          <a:xfrm>
            <a:off x="640080" y="5749795"/>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68" name="TextBox 19"/>
          <p:cNvSpPr txBox="1"/>
          <p:nvPr/>
        </p:nvSpPr>
        <p:spPr>
          <a:xfrm>
            <a:off x="822958" y="5074918"/>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Public API</a:t>
            </a:r>
          </a:p>
          <a:p>
            <a:pPr>
              <a:spcBef>
                <a:spcPts val="200"/>
              </a:spcBef>
              <a:defRPr sz="1100">
                <a:solidFill>
                  <a:srgbClr val="888888"/>
                </a:solidFill>
                <a:latin typeface="Inter Regular"/>
                <a:ea typeface="Inter Regular"/>
                <a:cs typeface="Inter Regular"/>
                <a:sym typeface="Inter Regular"/>
              </a:defRPr>
            </a:pPr>
            <a:r>
              <a:t>index.ts contracts</a:t>
            </a:r>
          </a:p>
        </p:txBody>
      </p:sp>
      <p:sp>
        <p:nvSpPr>
          <p:cNvPr id="469" name="TextBox 20"/>
          <p:cNvSpPr txBox="1"/>
          <p:nvPr/>
        </p:nvSpPr>
        <p:spPr>
          <a:xfrm>
            <a:off x="4480559" y="526414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reads the interface, </a:t>
            </a:r>
            <a:r>
              <a:rPr>
                <a:solidFill>
                  <a:srgbClr val="00D4FF"/>
                </a:solidFill>
                <a:latin typeface="Inter Bold"/>
                <a:ea typeface="Inter Bold"/>
                <a:cs typeface="Inter Bold"/>
                <a:sym typeface="Inter Bold"/>
              </a:rPr>
              <a:t>doesn't crawl internals</a:t>
            </a:r>
            <a:r>
              <a:t> — saves tokens.</a:t>
            </a:r>
          </a:p>
        </p:txBody>
      </p:sp>
      <p:sp>
        <p:nvSpPr>
          <p:cNvPr id="470" name="Rectangle 21"/>
          <p:cNvSpPr/>
          <p:nvPr/>
        </p:nvSpPr>
        <p:spPr>
          <a:xfrm>
            <a:off x="640080" y="6527035"/>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71" name="TextBox 22"/>
          <p:cNvSpPr txBox="1"/>
          <p:nvPr/>
        </p:nvSpPr>
        <p:spPr>
          <a:xfrm>
            <a:off x="822958" y="5852159"/>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Segments</a:t>
            </a:r>
          </a:p>
          <a:p>
            <a:pPr>
              <a:spcBef>
                <a:spcPts val="200"/>
              </a:spcBef>
              <a:defRPr sz="1100">
                <a:solidFill>
                  <a:srgbClr val="888888"/>
                </a:solidFill>
                <a:latin typeface="Inter Regular"/>
                <a:ea typeface="Inter Regular"/>
                <a:cs typeface="Inter Regular"/>
                <a:sym typeface="Inter Regular"/>
              </a:defRPr>
            </a:pPr>
            <a:r>
              <a:t>ui / api / model / lib</a:t>
            </a:r>
          </a:p>
        </p:txBody>
      </p:sp>
      <p:sp>
        <p:nvSpPr>
          <p:cNvPr id="472" name="TextBox 23"/>
          <p:cNvSpPr txBox="1"/>
          <p:nvPr/>
        </p:nvSpPr>
        <p:spPr>
          <a:xfrm>
            <a:off x="4480559" y="604138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Standardized grouping = AI </a:t>
            </a:r>
            <a:r>
              <a:rPr>
                <a:solidFill>
                  <a:srgbClr val="00D4FF"/>
                </a:solidFill>
                <a:latin typeface="Inter Bold"/>
                <a:ea typeface="Inter Bold"/>
                <a:cs typeface="Inter Bold"/>
                <a:sym typeface="Inter Bold"/>
              </a:rPr>
              <a:t>pattern-matches</a:t>
            </a:r>
            <a:r>
              <a:t> across all slices.</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0F172A"/>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