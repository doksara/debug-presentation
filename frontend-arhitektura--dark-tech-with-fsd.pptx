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793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1pPr>
    <a:lvl2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2pPr>
    <a:lvl3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3pPr>
    <a:lvl4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4pPr>
    <a:lvl5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5pPr>
    <a:lvl6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6pPr>
    <a:lvl7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7pPr>
    <a:lvl8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8pPr>
    <a:lvl9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D7E7"/>
          </a:solidFill>
        </a:fill>
      </a:tcStyle>
    </a:wholeTbl>
    <a:band2H>
      <a:tcTxStyle b="def" i="def"/>
      <a:tcStyle>
        <a:tcBdr/>
        <a:fill>
          <a:solidFill>
            <a:srgbClr val="E8ECF4"/>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EE7D0"/>
          </a:solidFill>
        </a:fill>
      </a:tcStyle>
    </a:wholeTbl>
    <a:band2H>
      <a:tcTxStyle b="def" i="def"/>
      <a:tcStyle>
        <a:tcBdr/>
        <a:fill>
          <a:solidFill>
            <a:srgbClr val="EFF3E9"/>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CDCCE"/>
          </a:solidFill>
        </a:fill>
      </a:tcStyle>
    </a:wholeTbl>
    <a:band2H>
      <a:tcTxStyle b="def" i="def"/>
      <a:tcStyle>
        <a:tcBdr/>
        <a:fill>
          <a:solidFill>
            <a:srgbClr val="FDEEE8"/>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91" name="Shape 91"/>
          <p:cNvSpPr/>
          <p:nvPr>
            <p:ph type="sldImg"/>
          </p:nvPr>
        </p:nvSpPr>
        <p:spPr>
          <a:xfrm>
            <a:off x="1143000" y="685800"/>
            <a:ext cx="4572000" cy="3429000"/>
          </a:xfrm>
          <a:prstGeom prst="rect">
            <a:avLst/>
          </a:prstGeom>
        </p:spPr>
        <p:txBody>
          <a:bodyPr/>
          <a:lstStyle/>
          <a:p>
            <a:pPr/>
          </a:p>
        </p:txBody>
      </p:sp>
      <p:sp>
        <p:nvSpPr>
          <p:cNvPr id="92" name="Shape 92"/>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defRPr sz="1200">
        <a:latin typeface="+mj-lt"/>
        <a:ea typeface="+mj-ea"/>
        <a:cs typeface="+mj-cs"/>
        <a:sym typeface="Calibri"/>
      </a:defRPr>
    </a:lvl1pPr>
    <a:lvl2pPr indent="228600" defTabSz="457200" latinLnBrk="0">
      <a:defRPr sz="1200">
        <a:latin typeface="+mj-lt"/>
        <a:ea typeface="+mj-ea"/>
        <a:cs typeface="+mj-cs"/>
        <a:sym typeface="Calibri"/>
      </a:defRPr>
    </a:lvl2pPr>
    <a:lvl3pPr indent="457200" defTabSz="457200" latinLnBrk="0">
      <a:defRPr sz="1200">
        <a:latin typeface="+mj-lt"/>
        <a:ea typeface="+mj-ea"/>
        <a:cs typeface="+mj-cs"/>
        <a:sym typeface="Calibri"/>
      </a:defRPr>
    </a:lvl3pPr>
    <a:lvl4pPr indent="685800" defTabSz="457200" latinLnBrk="0">
      <a:defRPr sz="1200">
        <a:latin typeface="+mj-lt"/>
        <a:ea typeface="+mj-ea"/>
        <a:cs typeface="+mj-cs"/>
        <a:sym typeface="Calibri"/>
      </a:defRPr>
    </a:lvl4pPr>
    <a:lvl5pPr indent="914400" defTabSz="457200" latinLnBrk="0">
      <a:defRPr sz="1200">
        <a:latin typeface="+mj-lt"/>
        <a:ea typeface="+mj-ea"/>
        <a:cs typeface="+mj-cs"/>
        <a:sym typeface="Calibri"/>
      </a:defRPr>
    </a:lvl5pPr>
    <a:lvl6pPr indent="1143000" defTabSz="457200" latinLnBrk="0">
      <a:defRPr sz="1200">
        <a:latin typeface="+mj-lt"/>
        <a:ea typeface="+mj-ea"/>
        <a:cs typeface="+mj-cs"/>
        <a:sym typeface="Calibri"/>
      </a:defRPr>
    </a:lvl6pPr>
    <a:lvl7pPr indent="1371600" defTabSz="457200" latinLnBrk="0">
      <a:defRPr sz="1200">
        <a:latin typeface="+mj-lt"/>
        <a:ea typeface="+mj-ea"/>
        <a:cs typeface="+mj-cs"/>
        <a:sym typeface="Calibri"/>
      </a:defRPr>
    </a:lvl7pPr>
    <a:lvl8pPr indent="1600200" defTabSz="457200" latinLnBrk="0">
      <a:defRPr sz="1200">
        <a:latin typeface="+mj-lt"/>
        <a:ea typeface="+mj-ea"/>
        <a:cs typeface="+mj-cs"/>
        <a:sym typeface="Calibri"/>
      </a:defRPr>
    </a:lvl8pPr>
    <a:lvl9pPr indent="1828800" defTabSz="457200" latinLnBrk="0">
      <a:defRPr sz="1200">
        <a:latin typeface="+mj-lt"/>
        <a:ea typeface="+mj-ea"/>
        <a:cs typeface="+mj-cs"/>
        <a:sym typeface="Calibri"/>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2.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3.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4.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5.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6.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7.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18.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19.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0.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1.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2.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3.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4.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25.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26.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9" name="Shape 99"/>
          <p:cNvSpPr/>
          <p:nvPr>
            <p:ph type="sldImg"/>
          </p:nvPr>
        </p:nvSpPr>
        <p:spPr>
          <a:prstGeom prst="rect">
            <a:avLst/>
          </a:prstGeom>
        </p:spPr>
        <p:txBody>
          <a:bodyPr/>
          <a:lstStyle/>
          <a:p>
            <a:pPr/>
          </a:p>
        </p:txBody>
      </p:sp>
      <p:sp>
        <p:nvSpPr>
          <p:cNvPr id="100" name="Shape 100"/>
          <p:cNvSpPr/>
          <p:nvPr>
            <p:ph type="body" sz="quarter" idx="1"/>
          </p:nvPr>
        </p:nvSpPr>
        <p:spPr>
          <a:prstGeom prst="rect">
            <a:avLst/>
          </a:prstGeom>
        </p:spPr>
        <p:txBody>
          <a:bodyPr/>
          <a:lstStyle>
            <a:lvl1pPr>
              <a:defRPr sz="1600"/>
            </a:lvl1pPr>
          </a:lstStyle>
          <a:p>
            <a:pPr/>
            <a:r>
              <a:t>Koliko puta ste čuli ovu rečenicu? Na twitteru, redditu ili pak svojem radnom mjestu. Jedan programer je raspisao detaljni plan implementacije za neki feature. Claude krene sa izvršavanjem plana, prvih par koraka implementira super, ali nakon toga počne halucinirati - importat funkcije koje ne postoje, duplicirati ih, radit promjene koje uzrokuju kršenje na drugim mjestima.</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6" name="Shape 106"/>
          <p:cNvSpPr/>
          <p:nvPr>
            <p:ph type="sldImg"/>
          </p:nvPr>
        </p:nvSpPr>
        <p:spPr>
          <a:prstGeom prst="rect">
            <a:avLst/>
          </a:prstGeom>
        </p:spPr>
        <p:txBody>
          <a:bodyPr/>
          <a:lstStyle/>
          <a:p>
            <a:pPr/>
          </a:p>
        </p:txBody>
      </p:sp>
      <p:sp>
        <p:nvSpPr>
          <p:cNvPr id="107" name="Shape 107"/>
          <p:cNvSpPr/>
          <p:nvPr>
            <p:ph type="body" sz="quarter" idx="1"/>
          </p:nvPr>
        </p:nvSpPr>
        <p:spPr>
          <a:prstGeom prst="rect">
            <a:avLst/>
          </a:prstGeom>
        </p:spPr>
        <p:txBody>
          <a:bodyPr/>
          <a:lstStyle>
            <a:lvl1pPr>
              <a:defRPr sz="1600"/>
            </a:lvl1pPr>
          </a:lstStyle>
          <a:p>
            <a:pPr/>
            <a:r>
              <a:t>Ili pak ovu rečenicu, gdje programer tvrdi da mu AI agent radi super na njegovom manjem projektu sa strane, ali kada ga pokuša koristiti u većem, produkcijskom kodu, on jednostavno ne performa dobro.</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2" name="Shape 112"/>
          <p:cNvSpPr/>
          <p:nvPr>
            <p:ph type="sldImg"/>
          </p:nvPr>
        </p:nvSpPr>
        <p:spPr>
          <a:prstGeom prst="rect">
            <a:avLst/>
          </a:prstGeom>
        </p:spPr>
        <p:txBody>
          <a:bodyPr/>
          <a:lstStyle/>
          <a:p>
            <a:pPr/>
          </a:p>
        </p:txBody>
      </p:sp>
      <p:sp>
        <p:nvSpPr>
          <p:cNvPr id="113" name="Shape 113"/>
          <p:cNvSpPr/>
          <p:nvPr>
            <p:ph type="body" sz="quarter" idx="1"/>
          </p:nvPr>
        </p:nvSpPr>
        <p:spPr>
          <a:prstGeom prst="rect">
            <a:avLst/>
          </a:prstGeom>
        </p:spPr>
        <p:txBody>
          <a:bodyPr/>
          <a:lstStyle>
            <a:lvl1pPr>
              <a:defRPr sz="1600"/>
            </a:lvl1pPr>
          </a:lstStyle>
          <a:p>
            <a:pPr/>
            <a:r>
              <a:t>Realno gledajući, AI asistenti briljiraju u manjim, specifičnim ili repetitivnim zadacima: generiranju funkcija, pisanju kompleksnih regexa, postavljanju boilerplateai slično.</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8" name="Shape 118"/>
          <p:cNvSpPr/>
          <p:nvPr>
            <p:ph type="sldImg"/>
          </p:nvPr>
        </p:nvSpPr>
        <p:spPr>
          <a:prstGeom prst="rect">
            <a:avLst/>
          </a:prstGeom>
        </p:spPr>
        <p:txBody>
          <a:bodyPr/>
          <a:lstStyle/>
          <a:p>
            <a:pPr/>
          </a:p>
        </p:txBody>
      </p:sp>
      <p:sp>
        <p:nvSpPr>
          <p:cNvPr id="119" name="Shape 119"/>
          <p:cNvSpPr/>
          <p:nvPr>
            <p:ph type="body" sz="quarter" idx="1"/>
          </p:nvPr>
        </p:nvSpPr>
        <p:spPr>
          <a:prstGeom prst="rect">
            <a:avLst/>
          </a:prstGeom>
        </p:spPr>
        <p:txBody>
          <a:bodyPr/>
          <a:lstStyle>
            <a:lvl1pPr>
              <a:defRPr sz="1600"/>
            </a:lvl1pPr>
          </a:lstStyle>
          <a:p>
            <a:pPr/>
            <a:r>
              <a:t>No, čim ih se baci u veće okruženje s puno 'šuma', počinju se mučiti.</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7" name="Shape 127"/>
          <p:cNvSpPr/>
          <p:nvPr>
            <p:ph type="sldImg"/>
          </p:nvPr>
        </p:nvSpPr>
        <p:spPr>
          <a:prstGeom prst="rect">
            <a:avLst/>
          </a:prstGeom>
        </p:spPr>
        <p:txBody>
          <a:bodyPr/>
          <a:lstStyle/>
          <a:p>
            <a:pPr/>
          </a:p>
        </p:txBody>
      </p:sp>
      <p:sp>
        <p:nvSpPr>
          <p:cNvPr id="128" name="Shape 128"/>
          <p:cNvSpPr/>
          <p:nvPr>
            <p:ph type="body" sz="quarter" idx="1"/>
          </p:nvPr>
        </p:nvSpPr>
        <p:spPr>
          <a:prstGeom prst="rect">
            <a:avLst/>
          </a:prstGeom>
        </p:spPr>
        <p:txBody>
          <a:bodyPr/>
          <a:lstStyle>
            <a:lvl1pPr>
              <a:defRPr sz="1600"/>
            </a:lvl1pPr>
          </a:lstStyle>
          <a:p>
            <a:pPr/>
            <a:r>
              <a:t>A razlog za nam je svima poznat: kontekst.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3" name="Shape 133"/>
          <p:cNvSpPr/>
          <p:nvPr>
            <p:ph type="sldImg"/>
          </p:nvPr>
        </p:nvSpPr>
        <p:spPr>
          <a:prstGeom prst="rect">
            <a:avLst/>
          </a:prstGeom>
        </p:spPr>
        <p:txBody>
          <a:bodyPr/>
          <a:lstStyle/>
          <a:p>
            <a:pPr/>
          </a:p>
        </p:txBody>
      </p:sp>
      <p:sp>
        <p:nvSpPr>
          <p:cNvPr id="134" name="Shape 134"/>
          <p:cNvSpPr/>
          <p:nvPr>
            <p:ph type="body" sz="quarter" idx="1"/>
          </p:nvPr>
        </p:nvSpPr>
        <p:spPr>
          <a:prstGeom prst="rect">
            <a:avLst/>
          </a:prstGeom>
        </p:spPr>
        <p:txBody>
          <a:bodyPr/>
          <a:lstStyle>
            <a:lvl1pPr>
              <a:defRPr sz="1600"/>
            </a:lvl1pPr>
          </a:lstStyle>
          <a:p>
            <a:pPr/>
            <a:r>
              <a:t>Kontekst se zapravo odnosi na skup tokena koji su uključeni u proces generiranja (samplinga) iz LLM-a.</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9" name="Shape 139"/>
          <p:cNvSpPr/>
          <p:nvPr>
            <p:ph type="sldImg"/>
          </p:nvPr>
        </p:nvSpPr>
        <p:spPr>
          <a:prstGeom prst="rect">
            <a:avLst/>
          </a:prstGeom>
        </p:spPr>
        <p:txBody>
          <a:bodyPr/>
          <a:lstStyle/>
          <a:p>
            <a:pPr/>
          </a:p>
        </p:txBody>
      </p:sp>
      <p:sp>
        <p:nvSpPr>
          <p:cNvPr id="140" name="Shape 140"/>
          <p:cNvSpPr/>
          <p:nvPr>
            <p:ph type="body" sz="quarter" idx="1"/>
          </p:nvPr>
        </p:nvSpPr>
        <p:spPr>
          <a:prstGeom prst="rect">
            <a:avLst/>
          </a:prstGeom>
        </p:spPr>
        <p:txBody>
          <a:bodyPr/>
          <a:lstStyle>
            <a:lvl1pPr>
              <a:defRPr sz="1600"/>
            </a:lvl1pPr>
          </a:lstStyle>
          <a:p>
            <a:pPr/>
            <a:r>
              <a:t>Drugim riječima, sve što model može vidjeti kada generira odgovor; tvoj prompt, otvorene datoteke, struktura projekta itd. Do prije par mjeseci nije bilo tako jer je većina AI asistenata uzimala u obzir samo vaš prompt, ništa drugo. Tada je bilo popularno na društvenim mrežama pisati o magičnim promptovima koji su mogli natjerati AI da napravi čuda. No, kako su modeli postajali veći i sofisticiraniji, počeli su uzimati u obzir i druge izvore informacija, poput otvorenih datoteka, strukture projekta i slično. </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8" name="Shape 148"/>
          <p:cNvSpPr/>
          <p:nvPr>
            <p:ph type="sldImg"/>
          </p:nvPr>
        </p:nvSpPr>
        <p:spPr>
          <a:prstGeom prst="rect">
            <a:avLst/>
          </a:prstGeom>
        </p:spPr>
        <p:txBody>
          <a:bodyPr/>
          <a:lstStyle/>
          <a:p>
            <a:pPr/>
          </a:p>
        </p:txBody>
      </p:sp>
      <p:sp>
        <p:nvSpPr>
          <p:cNvPr id="149" name="Shape 149"/>
          <p:cNvSpPr/>
          <p:nvPr>
            <p:ph type="body" sz="quarter" idx="1"/>
          </p:nvPr>
        </p:nvSpPr>
        <p:spPr>
          <a:prstGeom prst="rect">
            <a:avLst/>
          </a:prstGeom>
        </p:spPr>
        <p:txBody>
          <a:bodyPr/>
          <a:lstStyle>
            <a:lvl1pPr>
              <a:defRPr sz="1600"/>
            </a:lvl1pPr>
          </a:lstStyle>
          <a:p>
            <a:pPr/>
            <a:r>
              <a:t>To je ono što se promjenilo, a ono što se nije promjenilo je činjenica da AI i dalje ne poznaje projekt već čita samo ono što mu pružite - uz razliku da sada može čitati više stvari odjednom.</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6" name="Shape 156"/>
          <p:cNvSpPr/>
          <p:nvPr>
            <p:ph type="sldImg"/>
          </p:nvPr>
        </p:nvSpPr>
        <p:spPr>
          <a:prstGeom prst="rect">
            <a:avLst/>
          </a:prstGeom>
        </p:spPr>
        <p:txBody>
          <a:bodyPr/>
          <a:lstStyle/>
          <a:p>
            <a:pPr/>
          </a:p>
        </p:txBody>
      </p:sp>
      <p:sp>
        <p:nvSpPr>
          <p:cNvPr id="157" name="Shape 157"/>
          <p:cNvSpPr/>
          <p:nvPr>
            <p:ph type="body" sz="quarter" idx="1"/>
          </p:nvPr>
        </p:nvSpPr>
        <p:spPr>
          <a:prstGeom prst="rect">
            <a:avLst/>
          </a:prstGeom>
        </p:spPr>
        <p:txBody>
          <a:bodyPr/>
          <a:lstStyle>
            <a:lvl1pPr>
              <a:defRPr sz="1600"/>
            </a:lvl1pPr>
          </a:lstStyle>
          <a:p>
            <a:pPr/>
            <a:r>
              <a:t>Kao što smo već spomenuli, context engineering je još prošle godine zamijenio termin prompt engineering, a u najjednostavnijem smislu odnosi se na oblikovanje onoga što model vidi s ciljem dobivanja boljeg outputa.</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5" name="Shape 165"/>
          <p:cNvSpPr/>
          <p:nvPr>
            <p:ph type="sldImg"/>
          </p:nvPr>
        </p:nvSpPr>
        <p:spPr>
          <a:prstGeom prst="rect">
            <a:avLst/>
          </a:prstGeom>
        </p:spPr>
        <p:txBody>
          <a:bodyPr/>
          <a:lstStyle/>
          <a:p>
            <a:pPr/>
          </a:p>
        </p:txBody>
      </p:sp>
      <p:sp>
        <p:nvSpPr>
          <p:cNvPr id="166" name="Shape 166"/>
          <p:cNvSpPr/>
          <p:nvPr>
            <p:ph type="body" sz="quarter" idx="1"/>
          </p:nvPr>
        </p:nvSpPr>
        <p:spPr>
          <a:prstGeom prst="rect">
            <a:avLst/>
          </a:prstGeom>
        </p:spPr>
        <p:txBody>
          <a:bodyPr/>
          <a:lstStyle>
            <a:lvl1pPr>
              <a:defRPr sz="1600"/>
            </a:lvl1pPr>
          </a:lstStyle>
          <a:p>
            <a:pPr/>
            <a:r>
              <a:t>Kod dobivanja outputa od AI alata, više nije dovoljno samo napisati dobar prompt, već je potrebno obratiti pozornost i na druge stvari poput programskog koda, strukture direktorija, vanjskih paketa, konvencija i slično.</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4" name="Shape 174"/>
          <p:cNvSpPr/>
          <p:nvPr>
            <p:ph type="sldImg"/>
          </p:nvPr>
        </p:nvSpPr>
        <p:spPr>
          <a:prstGeom prst="rect">
            <a:avLst/>
          </a:prstGeom>
        </p:spPr>
        <p:txBody>
          <a:bodyPr/>
          <a:lstStyle/>
          <a:p>
            <a:pPr/>
          </a:p>
        </p:txBody>
      </p:sp>
      <p:sp>
        <p:nvSpPr>
          <p:cNvPr id="175" name="Shape 175"/>
          <p:cNvSpPr/>
          <p:nvPr>
            <p:ph type="body" sz="quarter" idx="1"/>
          </p:nvPr>
        </p:nvSpPr>
        <p:spPr>
          <a:prstGeom prst="rect">
            <a:avLst/>
          </a:prstGeom>
        </p:spPr>
        <p:txBody>
          <a:bodyPr/>
          <a:lstStyle>
            <a:lvl1pPr>
              <a:defRPr sz="1600"/>
            </a:lvl1pPr>
          </a:lstStyle>
          <a:p>
            <a:pPr/>
            <a:r>
              <a:t>Sada je moguće kontekst proširiti na više načina, a najpoznatiji je sa kreiranjem CLAUDE.md (ili AGENTS.md), dodavanjem MCP servera, skillova, rulesa itd.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8" name="Shape 178"/>
          <p:cNvSpPr/>
          <p:nvPr>
            <p:ph type="sldImg"/>
          </p:nvPr>
        </p:nvSpPr>
        <p:spPr>
          <a:prstGeom prst="rect">
            <a:avLst/>
          </a:prstGeom>
        </p:spPr>
        <p:txBody>
          <a:bodyPr/>
          <a:lstStyle/>
          <a:p>
            <a:pPr/>
          </a:p>
        </p:txBody>
      </p:sp>
      <p:sp>
        <p:nvSpPr>
          <p:cNvPr id="179" name="Shape 179"/>
          <p:cNvSpPr/>
          <p:nvPr>
            <p:ph type="body" sz="quarter" idx="1"/>
          </p:nvPr>
        </p:nvSpPr>
        <p:spPr>
          <a:prstGeom prst="rect">
            <a:avLst/>
          </a:prstGeom>
        </p:spPr>
        <p:txBody>
          <a:bodyPr/>
          <a:lstStyle>
            <a:lvl1pPr>
              <a:defRPr sz="1600"/>
            </a:lvl1pPr>
          </a:lstStyle>
          <a:p>
            <a:pPr/>
            <a:r>
              <a:t>Kako bi uopće mogli pristupiti rješavanju ovih spomenutih problema, potrebno je razumijeti kako zapravo LLM čita naš codebase.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1" name="Shape 201"/>
          <p:cNvSpPr/>
          <p:nvPr>
            <p:ph type="sldImg"/>
          </p:nvPr>
        </p:nvSpPr>
        <p:spPr>
          <a:prstGeom prst="rect">
            <a:avLst/>
          </a:prstGeom>
        </p:spPr>
        <p:txBody>
          <a:bodyPr/>
          <a:lstStyle/>
          <a:p>
            <a:pPr/>
          </a:p>
        </p:txBody>
      </p:sp>
      <p:sp>
        <p:nvSpPr>
          <p:cNvPr id="202" name="Shape 202"/>
          <p:cNvSpPr/>
          <p:nvPr>
            <p:ph type="body" sz="quarter" idx="1"/>
          </p:nvPr>
        </p:nvSpPr>
        <p:spPr>
          <a:prstGeom prst="rect">
            <a:avLst/>
          </a:prstGeom>
        </p:spPr>
        <p:txBody>
          <a:bodyPr/>
          <a:lstStyle>
            <a:lvl1pPr>
              <a:defRPr sz="1600"/>
            </a:lvl1pPr>
          </a:lstStyle>
          <a:p>
            <a:pPr/>
            <a:r>
              <a:t>Kad Cursor otvori projekt, prvo se radi indeksiranje codebasea. Podijeli programski kod u chunkove -&gt; to su funkcije, klase, blokovi. Zatim se generiraju vector (vector) embeddingsi -&gt; to su numeričke reprezentacije podataka koje se odnose na semantičko značenje. Svi ti vektori se, naravno, spremaju u vektorsku bazu podataka (turbopuffer). </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3" name="Shape 233"/>
          <p:cNvSpPr/>
          <p:nvPr>
            <p:ph type="sldImg"/>
          </p:nvPr>
        </p:nvSpPr>
        <p:spPr>
          <a:prstGeom prst="rect">
            <a:avLst/>
          </a:prstGeom>
        </p:spPr>
        <p:txBody>
          <a:bodyPr/>
          <a:lstStyle/>
          <a:p>
            <a:pPr/>
          </a:p>
        </p:txBody>
      </p:sp>
      <p:sp>
        <p:nvSpPr>
          <p:cNvPr id="234" name="Shape 234"/>
          <p:cNvSpPr/>
          <p:nvPr>
            <p:ph type="body" sz="quarter" idx="1"/>
          </p:nvPr>
        </p:nvSpPr>
        <p:spPr>
          <a:prstGeom prst="rect">
            <a:avLst/>
          </a:prstGeom>
        </p:spPr>
        <p:txBody>
          <a:bodyPr/>
          <a:lstStyle>
            <a:lvl1pPr>
              <a:defRPr sz="1600"/>
            </a:lvl1pPr>
          </a:lstStyle>
          <a:p>
            <a:pPr/>
            <a:r>
              <a:t>Nakon toga, svaki puta kada pošaljemo prompt, radi se semantičko pretraživanje -&gt; LLM (koji može vektorizirati stvari) pronalazi slične chunkove. Kada LLM pronađe rezultat, slijedi umetanje u kontekst (feeding the LLM).</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8" name="Shape 268"/>
          <p:cNvSpPr/>
          <p:nvPr>
            <p:ph type="sldImg"/>
          </p:nvPr>
        </p:nvSpPr>
        <p:spPr>
          <a:prstGeom prst="rect">
            <a:avLst/>
          </a:prstGeom>
        </p:spPr>
        <p:txBody>
          <a:bodyPr/>
          <a:lstStyle/>
          <a:p>
            <a:pPr/>
          </a:p>
        </p:txBody>
      </p:sp>
      <p:sp>
        <p:nvSpPr>
          <p:cNvPr id="269" name="Shape 269"/>
          <p:cNvSpPr/>
          <p:nvPr>
            <p:ph type="body" sz="quarter" idx="1"/>
          </p:nvPr>
        </p:nvSpPr>
        <p:spPr>
          <a:prstGeom prst="rect">
            <a:avLst/>
          </a:prstGeom>
        </p:spPr>
        <p:txBody>
          <a:bodyPr/>
          <a:lstStyle>
            <a:lvl1pPr>
              <a:defRPr sz="1600"/>
            </a:lvl1pPr>
          </a:lstStyle>
          <a:p>
            <a:pPr/>
            <a:r>
              <a:t>Indeksiranje codebasea i kreiranje embeddingsa radi boljeg pretraživanja je vrlo moćan koncept, ali moramo biti svjesni da će kvaliteta rezultata pretraživanja odgovarat semantičkoj strukturi našeg codebasea, organizaciji komponenti, i slično. Drugim riječima, loša struktura rezultira lošim rezultatima.</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9" name="Shape 279"/>
          <p:cNvSpPr/>
          <p:nvPr>
            <p:ph type="sldImg"/>
          </p:nvPr>
        </p:nvSpPr>
        <p:spPr>
          <a:prstGeom prst="rect">
            <a:avLst/>
          </a:prstGeom>
        </p:spPr>
        <p:txBody>
          <a:bodyPr/>
          <a:lstStyle/>
          <a:p>
            <a:pPr/>
          </a:p>
        </p:txBody>
      </p:sp>
      <p:sp>
        <p:nvSpPr>
          <p:cNvPr id="280" name="Shape 280"/>
          <p:cNvSpPr/>
          <p:nvPr>
            <p:ph type="body" sz="quarter" idx="1"/>
          </p:nvPr>
        </p:nvSpPr>
        <p:spPr>
          <a:prstGeom prst="rect">
            <a:avLst/>
          </a:prstGeom>
        </p:spPr>
        <p:txBody>
          <a:bodyPr/>
          <a:lstStyle>
            <a:lvl1pPr>
              <a:defRPr sz="1600"/>
            </a:lvl1pPr>
          </a:lstStyle>
          <a:p>
            <a:pPr/>
            <a:r>
              <a:t>S druge strane, Claude Code koristi malo drugačiji pristup, a to je agentic search. Tu nema indeksiranja codebasea već se sve pretražuje po potrebi, kao što to developer radi. Claude Code ima svoj “agentic loop”, dakle petlju koja se stalno izvodi i izgleda nekako ovako. Ovdje su najbitniji koraci 4. i 5. gdje LLM zapravo u kompleksnijim zadacima mora nekoliko puta ići u dubinu ne bi li došao do onog dijela koji mu je bitan. Bitno je napomenuti da može i spawnat sub-agente koji će onda paralelno istraživati.</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3" name="Shape 293"/>
          <p:cNvSpPr/>
          <p:nvPr>
            <p:ph type="sldImg"/>
          </p:nvPr>
        </p:nvSpPr>
        <p:spPr>
          <a:prstGeom prst="rect">
            <a:avLst/>
          </a:prstGeom>
        </p:spPr>
        <p:txBody>
          <a:bodyPr/>
          <a:lstStyle/>
          <a:p>
            <a:pPr/>
          </a:p>
        </p:txBody>
      </p:sp>
      <p:sp>
        <p:nvSpPr>
          <p:cNvPr id="294" name="Shape 294"/>
          <p:cNvSpPr/>
          <p:nvPr>
            <p:ph type="body" sz="quarter" idx="1"/>
          </p:nvPr>
        </p:nvSpPr>
        <p:spPr>
          <a:prstGeom prst="rect">
            <a:avLst/>
          </a:prstGeom>
        </p:spPr>
        <p:txBody>
          <a:bodyPr/>
          <a:lstStyle>
            <a:lvl1pPr>
              <a:defRPr sz="1600"/>
            </a:lvl1pPr>
          </a:lstStyle>
          <a:p>
            <a:pPr/>
            <a:r>
              <a:t>Možemo zaključiti da niska kohezija u ovom slučaju zapravo rezultira bržim punjenjem konteksta, a samim time i većom potrošnjom tokena.</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9" name="Shape 299"/>
          <p:cNvSpPr/>
          <p:nvPr>
            <p:ph type="sldImg"/>
          </p:nvPr>
        </p:nvSpPr>
        <p:spPr>
          <a:prstGeom prst="rect">
            <a:avLst/>
          </a:prstGeom>
        </p:spPr>
        <p:txBody>
          <a:bodyPr/>
          <a:lstStyle/>
          <a:p>
            <a:pPr/>
          </a:p>
        </p:txBody>
      </p:sp>
      <p:sp>
        <p:nvSpPr>
          <p:cNvPr id="300" name="Shape 300"/>
          <p:cNvSpPr/>
          <p:nvPr>
            <p:ph type="body" sz="quarter" idx="1"/>
          </p:nvPr>
        </p:nvSpPr>
        <p:spPr>
          <a:prstGeom prst="rect">
            <a:avLst/>
          </a:prstGeom>
        </p:spPr>
        <p:txBody>
          <a:bodyPr/>
          <a:lstStyle>
            <a:lvl1pPr>
              <a:defRPr sz="1600"/>
            </a:lvl1pPr>
          </a:lstStyle>
          <a:p>
            <a:pPr/>
            <a:r>
              <a:t>Neovisno koji alat i koji pristup koristili, 3 stvari su sigurne: AI mora odabrati što će uključiti u kontekst. Već smo zaključili da je kontekst ograničen i samim time nije moguće apsolutno sve staviti unutra. Također, imenovanje je vrlo bitno zbog generiranja boljih embeddingsa (Embedding / Indexing pristup) u Cursoru, ili zbog boljeg pattern matchinga u Claude Codeu (Agentic pristup). Konačno, definiranje jasnih granica rezultira s manjim šumom, manje potrošenih tokena i boljim outputom.</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9" name="Shape 309"/>
          <p:cNvSpPr/>
          <p:nvPr>
            <p:ph type="sldImg"/>
          </p:nvPr>
        </p:nvSpPr>
        <p:spPr>
          <a:prstGeom prst="rect">
            <a:avLst/>
          </a:prstGeom>
        </p:spPr>
        <p:txBody>
          <a:bodyPr/>
          <a:lstStyle/>
          <a:p>
            <a:pPr/>
          </a:p>
        </p:txBody>
      </p:sp>
      <p:sp>
        <p:nvSpPr>
          <p:cNvPr id="310" name="Shape 310"/>
          <p:cNvSpPr/>
          <p:nvPr>
            <p:ph type="body" sz="quarter" idx="1"/>
          </p:nvPr>
        </p:nvSpPr>
        <p:spPr>
          <a:prstGeom prst="rect">
            <a:avLst/>
          </a:prstGeom>
        </p:spPr>
        <p:txBody>
          <a:bodyPr/>
          <a:lstStyle>
            <a:lvl1pPr>
              <a:defRPr sz="1600"/>
            </a:lvl1pPr>
          </a:lstStyle>
          <a:p>
            <a:pPr/>
            <a:r>
              <a:t>Najveći dio problema možemo prikazati na jednostavnom primjeru gdje LLM-u dajemo prompt u kojem tražimo da doda delete button na profile karticu u projektu koji je organiziran u nekakvoj “standardnoj” strukturi. UI komponente nalaze u components folderu, sve utility funkcije u utils folderu, hooks folder gdje imamo dohvaćamo podatke (ovo je možda malo rijeđa pojava) i API servisi u services folderu. Cursor bi ovdje bio wildcard, jer bi inicijalno generirao vrlo slabe embeddingse zbog nepostojećeg semantičkog grupiranja pa bi output bio “random”. Claude Code bi nam potencijalno dao do znanja da ne zna odakle krenuti i tražio upute za nastavak, nakon kojeg bi nastavio samostalno istraživati dublje i dublje dok ne završi task i sprži hrpu tokena. </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6" name="Shape 336"/>
          <p:cNvSpPr/>
          <p:nvPr>
            <p:ph type="sldImg"/>
          </p:nvPr>
        </p:nvSpPr>
        <p:spPr>
          <a:prstGeom prst="rect">
            <a:avLst/>
          </a:prstGeom>
        </p:spPr>
        <p:txBody>
          <a:bodyPr/>
          <a:lstStyle/>
          <a:p>
            <a:pPr/>
          </a:p>
        </p:txBody>
      </p:sp>
      <p:sp>
        <p:nvSpPr>
          <p:cNvPr id="337" name="Shape 337"/>
          <p:cNvSpPr/>
          <p:nvPr>
            <p:ph type="body" sz="quarter" idx="1"/>
          </p:nvPr>
        </p:nvSpPr>
        <p:spPr>
          <a:prstGeom prst="rect">
            <a:avLst/>
          </a:prstGeom>
        </p:spPr>
        <p:txBody>
          <a:bodyPr/>
          <a:lstStyle/>
          <a:p>
            <a:pPr/>
            <a:r>
              <a:t>Feature-Sliced Design je arhitekturna metodologija specifično za frontend projekte. Definira točno gdje koji kod ide, kako se grupira i koje su dozvoljene ovisnosti između različitih dijelova. Cilj je da projekt bude razumljiv iz same strukture, bez da se čita svaka linija koda. To je upravo isti problem koji ima AI agent — počinje svaku sesiju s nula konteksta i mora brzo izgraditi mentalni model projekta.</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0" name="Shape 340"/>
          <p:cNvSpPr/>
          <p:nvPr>
            <p:ph type="sldImg"/>
          </p:nvPr>
        </p:nvSpPr>
        <p:spPr>
          <a:prstGeom prst="rect">
            <a:avLst/>
          </a:prstGeom>
        </p:spPr>
        <p:txBody>
          <a:bodyPr/>
          <a:lstStyle/>
          <a:p>
            <a:pPr/>
          </a:p>
        </p:txBody>
      </p:sp>
      <p:sp>
        <p:nvSpPr>
          <p:cNvPr id="341" name="Shape 341"/>
          <p:cNvSpPr/>
          <p:nvPr>
            <p:ph type="body" sz="quarter" idx="1"/>
          </p:nvPr>
        </p:nvSpPr>
        <p:spPr>
          <a:prstGeom prst="rect">
            <a:avLst/>
          </a:prstGeom>
        </p:spPr>
        <p:txBody>
          <a:bodyPr/>
          <a:lstStyle/>
          <a:p>
            <a:pPr/>
            <a:r>
              <a:t>Feature-Sliced Design je arhitekturna metodologija specifično za frontend projekte. Definira točno gdje koji kod ide, kako se grupira i koje su dozvoljene ovisnosti između različitih dijelova. Cilj je da projekt bude razumljiv iz same strukture, bez da se čita svaka linija koda. To je upravo isti problem koji ima AI agent — počinje svaku sesiju s nula konteksta i mora brzo izgraditi mentalni model projekta.</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8" name="Shape 358"/>
          <p:cNvSpPr/>
          <p:nvPr>
            <p:ph type="sldImg"/>
          </p:nvPr>
        </p:nvSpPr>
        <p:spPr>
          <a:prstGeom prst="rect">
            <a:avLst/>
          </a:prstGeom>
        </p:spPr>
        <p:txBody>
          <a:bodyPr/>
          <a:lstStyle/>
          <a:p>
            <a:pPr/>
          </a:p>
        </p:txBody>
      </p:sp>
      <p:sp>
        <p:nvSpPr>
          <p:cNvPr id="359" name="Shape 359"/>
          <p:cNvSpPr/>
          <p:nvPr>
            <p:ph type="body" sz="quarter" idx="1"/>
          </p:nvPr>
        </p:nvSpPr>
        <p:spPr>
          <a:prstGeom prst="rect">
            <a:avLst/>
          </a:prstGeom>
        </p:spPr>
        <p:txBody>
          <a:bodyPr/>
          <a:lstStyle/>
          <a:p>
            <a:pPr/>
            <a:r>
              <a:t>FSD se svodi na tri temeljna pravila: slojevi koji definiraju hijerarhiju odgovornosti, slices i segments koji odvajaju domenu od tehničke svrhe, te public API koji definira jasan ugovor između modula. U sljedeća tri slidea ćemo proći svako od njih i vidjeti kako konkretno pomaže AI alatu.</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6" name="Shape 386"/>
          <p:cNvSpPr/>
          <p:nvPr>
            <p:ph type="sldImg"/>
          </p:nvPr>
        </p:nvSpPr>
        <p:spPr>
          <a:prstGeom prst="rect">
            <a:avLst/>
          </a:prstGeom>
        </p:spPr>
        <p:txBody>
          <a:bodyPr/>
          <a:lstStyle/>
          <a:p>
            <a:pPr/>
          </a:p>
        </p:txBody>
      </p:sp>
      <p:sp>
        <p:nvSpPr>
          <p:cNvPr id="387" name="Shape 387"/>
          <p:cNvSpPr/>
          <p:nvPr>
            <p:ph type="body" sz="quarter" idx="1"/>
          </p:nvPr>
        </p:nvSpPr>
        <p:spPr>
          <a:prstGeom prst="rect">
            <a:avLst/>
          </a:prstGeom>
        </p:spPr>
        <p:txBody>
          <a:bodyPr/>
          <a:lstStyle/>
          <a:p>
            <a:pPr/>
            <a:r>
              <a:t>Slojevi su prvo i najvažnije pravilo FSD-a. Šest slojeva, uvijek u istom redoslijedu: app, pages, widgets, features, entities, shared. Pravilo importa je jednosmjerno - viši sloj smije importati iz nižeg, ali nikad obrnuto. Cross-importi između slica istog sloja su zabranjeni. Konkretni benefit za AI: file tree postaje mapa odgovornosti, AI odmah zna gdje je što. Drugi benefit: jednosmjerni tok importa znači da AI ne ulazi u beskonačne lance ovisnosti. Sjetite se onog slidea gdje je Card.tsx imao 6 importa u 6 različitih smjerova - sa slojevima, svi importi vode samo prema dolje.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3" name="Shape 403"/>
          <p:cNvSpPr/>
          <p:nvPr>
            <p:ph type="sldImg"/>
          </p:nvPr>
        </p:nvSpPr>
        <p:spPr>
          <a:prstGeom prst="rect">
            <a:avLst/>
          </a:prstGeom>
        </p:spPr>
        <p:txBody>
          <a:bodyPr/>
          <a:lstStyle/>
          <a:p>
            <a:pPr/>
          </a:p>
        </p:txBody>
      </p:sp>
      <p:sp>
        <p:nvSpPr>
          <p:cNvPr id="404" name="Shape 404"/>
          <p:cNvSpPr/>
          <p:nvPr>
            <p:ph type="body" sz="quarter" idx="1"/>
          </p:nvPr>
        </p:nvSpPr>
        <p:spPr>
          <a:prstGeom prst="rect">
            <a:avLst/>
          </a:prstGeom>
        </p:spPr>
        <p:txBody>
          <a:bodyPr/>
          <a:lstStyle/>
          <a:p>
            <a:pPr/>
            <a:r>
              <a:t>Drugo pravilo razdvaja što od kako. Slice predstavlja jednu poslovnu domenu - auth, profile-edit, like-post. Unutar slica imamo segmente koji grupiraju kod po tehničkoj svrsi - ui, model, api, lib. Kako ovo pomaže AI-u? Prvo, granice slica znače da AI ostaje unutar jedne domene dok radi, ne vuče u kontekst kod iz drugih featurea. Drugo, segmenti su isti u svakom slice-u - AI nauči obrazac jednom i može ga primijeniti svugdje. Domain-based naming, user.ts a ne types.ts, daje AI-u jak semantički signal i kod tekstualne pretrage i kod embeddinga.</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6" name="Shape 416"/>
          <p:cNvSpPr/>
          <p:nvPr>
            <p:ph type="sldImg"/>
          </p:nvPr>
        </p:nvSpPr>
        <p:spPr>
          <a:prstGeom prst="rect">
            <a:avLst/>
          </a:prstGeom>
        </p:spPr>
        <p:txBody>
          <a:bodyPr/>
          <a:lstStyle/>
          <a:p>
            <a:pPr/>
          </a:p>
        </p:txBody>
      </p:sp>
      <p:sp>
        <p:nvSpPr>
          <p:cNvPr id="417" name="Shape 417"/>
          <p:cNvSpPr/>
          <p:nvPr>
            <p:ph type="body" sz="quarter" idx="1"/>
          </p:nvPr>
        </p:nvSpPr>
        <p:spPr>
          <a:prstGeom prst="rect">
            <a:avLst/>
          </a:prstGeom>
        </p:spPr>
        <p:txBody>
          <a:bodyPr/>
          <a:lstStyle/>
          <a:p>
            <a:pPr/>
            <a:r>
              <a:t>Treće pravilo: svaki slice mora imati index.ts koji eksponira svoj javni API. To je jedino mjesto kroz koje vanjski kod smije importati. Direktno importanje iz internih datoteka, kao auth/ui/LoginForm, strogo je zabranjeno. Public API daje dva ključna benefita za AI: prvo, drastično štedi tokene - AI pročita 8 redova index.ts-a i zna kompletno sučelje slica, umjesto da učitava 400+ linija implementacije. Drugo, Public API je stabilan ugovor - AI može refaktorirati internu implementaciju slica bez straha da će razbiti ostatak projekta. Index.ts je za AI ono što je TypeScript interface za developera.</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1" name="Shape 431"/>
          <p:cNvSpPr/>
          <p:nvPr>
            <p:ph type="sldImg"/>
          </p:nvPr>
        </p:nvSpPr>
        <p:spPr>
          <a:prstGeom prst="rect">
            <a:avLst/>
          </a:prstGeom>
        </p:spPr>
        <p:txBody>
          <a:bodyPr/>
          <a:lstStyle/>
          <a:p>
            <a:pPr/>
          </a:p>
        </p:txBody>
      </p:sp>
      <p:sp>
        <p:nvSpPr>
          <p:cNvPr id="432" name="Shape 432"/>
          <p:cNvSpPr/>
          <p:nvPr>
            <p:ph type="body" sz="quarter" idx="1"/>
          </p:nvPr>
        </p:nvSpPr>
        <p:spPr>
          <a:prstGeom prst="rect">
            <a:avLst/>
          </a:prstGeom>
        </p:spPr>
        <p:txBody>
          <a:bodyPr/>
          <a:lstStyle/>
          <a:p>
            <a:pPr/>
            <a:r>
              <a:t>Zadnji dio priče: kako konkretno dati AI-u FSD znanje. Dva alata. Prvi je LLMs.txt — cijela FSD specifikacija u jednom plain-text fileu, formatirana baš za AI agente. Doda se u CLAUDE.md, AGENTS.md ili kao referenca u promptu, i AI dobiva sva pravila prije nego napiše ijednu liniju. Drugi je službeni feature-sliced-design Skill u Claude Codeu — aktivira se automatski kad task uključuje FSD odluke. Sadrži decision tree, anti-patterne i conditional reference fileove, što znači da zna kada koje znanje učitati u kontekst, ne dump-a sve odjednom. Kombinacija: dobra arhitektura + dokumentacija u kontekstu = AI prestaje halucinirati i počinje pisati kod po pravilima projekta.</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Slide">
    <p:spTree>
      <p:nvGrpSpPr>
        <p:cNvPr id="1" name=""/>
        <p:cNvGrpSpPr/>
        <p:nvPr/>
      </p:nvGrpSpPr>
      <p:grpSpPr>
        <a:xfrm>
          <a:off x="0" y="0"/>
          <a:ext cx="0" cy="0"/>
          <a:chOff x="0" y="0"/>
          <a:chExt cx="0" cy="0"/>
        </a:xfrm>
      </p:grpSpPr>
      <p:sp>
        <p:nvSpPr>
          <p:cNvPr id="11" name="Title Text"/>
          <p:cNvSpPr txBox="1"/>
          <p:nvPr>
            <p:ph type="title"/>
          </p:nvPr>
        </p:nvSpPr>
        <p:spPr>
          <a:xfrm>
            <a:off x="685800" y="2130425"/>
            <a:ext cx="7772400" cy="1470025"/>
          </a:xfrm>
          <a:prstGeom prst="rect">
            <a:avLst/>
          </a:prstGeom>
        </p:spPr>
        <p:txBody>
          <a:bodyPr/>
          <a:lstStyle/>
          <a:p>
            <a:pPr/>
            <a:r>
              <a:t>Title Text</a:t>
            </a:r>
          </a:p>
        </p:txBody>
      </p:sp>
      <p:sp>
        <p:nvSpPr>
          <p:cNvPr id="12" name="Body Level One…"/>
          <p:cNvSpPr txBox="1"/>
          <p:nvPr>
            <p:ph type="body" sz="quarter" idx="1"/>
          </p:nvPr>
        </p:nvSpPr>
        <p:spPr>
          <a:xfrm>
            <a:off x="1371600" y="3886200"/>
            <a:ext cx="6400800" cy="1752600"/>
          </a:xfrm>
          <a:prstGeom prst="rect">
            <a:avLst/>
          </a:prstGeom>
        </p:spPr>
        <p:txBody>
          <a:bodyPr/>
          <a:lstStyle>
            <a:lvl1pPr marL="0" indent="0" algn="ctr">
              <a:buSzTx/>
              <a:buFontTx/>
              <a:buNone/>
              <a:defRPr>
                <a:solidFill>
                  <a:srgbClr val="888888"/>
                </a:solidFill>
              </a:defRPr>
            </a:lvl1pPr>
            <a:lvl2pPr marL="0" indent="0" algn="ctr">
              <a:buSzTx/>
              <a:buFontTx/>
              <a:buNone/>
              <a:defRPr>
                <a:solidFill>
                  <a:srgbClr val="888888"/>
                </a:solidFill>
              </a:defRPr>
            </a:lvl2pPr>
            <a:lvl3pPr marL="0" indent="0" algn="ctr">
              <a:buSzTx/>
              <a:buFontTx/>
              <a:buNone/>
              <a:defRPr>
                <a:solidFill>
                  <a:srgbClr val="888888"/>
                </a:solidFill>
              </a:defRPr>
            </a:lvl3pPr>
            <a:lvl4pPr marL="0" indent="0" algn="ctr">
              <a:buSzTx/>
              <a:buFontTx/>
              <a:buNone/>
              <a:defRPr>
                <a:solidFill>
                  <a:srgbClr val="888888"/>
                </a:solidFill>
              </a:defRPr>
            </a:lvl4pPr>
            <a:lvl5pPr marL="0" indent="0" algn="ctr">
              <a:buSzTx/>
              <a:buFontTx/>
              <a:buNone/>
              <a:defRPr>
                <a:solidFill>
                  <a:srgbClr val="888888"/>
                </a:solidFill>
              </a:defRPr>
            </a:lvl5pPr>
          </a:lstStyle>
          <a:p>
            <a:pPr/>
            <a:r>
              <a:t>Body Level One</a:t>
            </a:r>
          </a:p>
          <a:p>
            <a:pPr lvl="1"/>
            <a:r>
              <a:t>Body Level Two</a:t>
            </a:r>
          </a:p>
          <a:p>
            <a:pPr lvl="2"/>
            <a:r>
              <a:t>Body Level Three</a:t>
            </a:r>
          </a:p>
          <a:p>
            <a:pPr lvl="3"/>
            <a:r>
              <a:t>Body Level Four</a:t>
            </a:r>
          </a:p>
          <a:p>
            <a:pPr lvl="4"/>
            <a:r>
              <a:t>Body Level Five</a:t>
            </a:r>
          </a:p>
        </p:txBody>
      </p:sp>
      <p:sp>
        <p:nvSpPr>
          <p:cNvPr id="1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nd Content">
    <p:spTree>
      <p:nvGrpSpPr>
        <p:cNvPr id="1" name=""/>
        <p:cNvGrpSpPr/>
        <p:nvPr/>
      </p:nvGrpSpPr>
      <p:grpSpPr>
        <a:xfrm>
          <a:off x="0" y="0"/>
          <a:ext cx="0" cy="0"/>
          <a:chOff x="0" y="0"/>
          <a:chExt cx="0" cy="0"/>
        </a:xfrm>
      </p:grpSpPr>
      <p:sp>
        <p:nvSpPr>
          <p:cNvPr id="20" name="Title Text"/>
          <p:cNvSpPr txBox="1"/>
          <p:nvPr>
            <p:ph type="title"/>
          </p:nvPr>
        </p:nvSpPr>
        <p:spPr>
          <a:xfrm>
            <a:off x="457200" y="274638"/>
            <a:ext cx="8229600" cy="1143001"/>
          </a:xfrm>
          <a:prstGeom prst="rect">
            <a:avLst/>
          </a:prstGeom>
        </p:spPr>
        <p:txBody>
          <a:bodyPr/>
          <a:lstStyle/>
          <a:p>
            <a:pPr/>
            <a:r>
              <a:t>Title Text</a:t>
            </a:r>
          </a:p>
        </p:txBody>
      </p:sp>
      <p:sp>
        <p:nvSpPr>
          <p:cNvPr id="21" name="Body Level One…"/>
          <p:cNvSpPr txBox="1"/>
          <p:nvPr>
            <p:ph type="body" idx="1"/>
          </p:nvPr>
        </p:nvSpPr>
        <p:spPr>
          <a:xfrm>
            <a:off x="457200" y="1600200"/>
            <a:ext cx="8229600" cy="4525963"/>
          </a:xfrm>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2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Header">
    <p:spTree>
      <p:nvGrpSpPr>
        <p:cNvPr id="1" name=""/>
        <p:cNvGrpSpPr/>
        <p:nvPr/>
      </p:nvGrpSpPr>
      <p:grpSpPr>
        <a:xfrm>
          <a:off x="0" y="0"/>
          <a:ext cx="0" cy="0"/>
          <a:chOff x="0" y="0"/>
          <a:chExt cx="0" cy="0"/>
        </a:xfrm>
      </p:grpSpPr>
      <p:sp>
        <p:nvSpPr>
          <p:cNvPr id="29" name="Title Text"/>
          <p:cNvSpPr txBox="1"/>
          <p:nvPr>
            <p:ph type="title"/>
          </p:nvPr>
        </p:nvSpPr>
        <p:spPr>
          <a:xfrm>
            <a:off x="722312" y="4406900"/>
            <a:ext cx="7772401" cy="1362075"/>
          </a:xfrm>
          <a:prstGeom prst="rect">
            <a:avLst/>
          </a:prstGeom>
        </p:spPr>
        <p:txBody>
          <a:bodyPr anchor="t"/>
          <a:lstStyle>
            <a:lvl1pPr algn="l">
              <a:defRPr b="1" cap="all" sz="4000"/>
            </a:lvl1pPr>
          </a:lstStyle>
          <a:p>
            <a:pPr/>
            <a:r>
              <a:t>Title Text</a:t>
            </a:r>
          </a:p>
        </p:txBody>
      </p:sp>
      <p:sp>
        <p:nvSpPr>
          <p:cNvPr id="30" name="Body Level One…"/>
          <p:cNvSpPr txBox="1"/>
          <p:nvPr>
            <p:ph type="body" sz="quarter" idx="1"/>
          </p:nvPr>
        </p:nvSpPr>
        <p:spPr>
          <a:xfrm>
            <a:off x="722312" y="2906713"/>
            <a:ext cx="7772401" cy="1500189"/>
          </a:xfrm>
          <a:prstGeom prst="rect">
            <a:avLst/>
          </a:prstGeom>
        </p:spPr>
        <p:txBody>
          <a:bodyPr anchor="b"/>
          <a:lstStyle>
            <a:lvl1pPr marL="0" indent="0">
              <a:spcBef>
                <a:spcPts val="400"/>
              </a:spcBef>
              <a:buSzTx/>
              <a:buFontTx/>
              <a:buNone/>
              <a:defRPr sz="2000">
                <a:solidFill>
                  <a:srgbClr val="888888"/>
                </a:solidFill>
              </a:defRPr>
            </a:lvl1pPr>
            <a:lvl2pPr marL="0" indent="0">
              <a:spcBef>
                <a:spcPts val="400"/>
              </a:spcBef>
              <a:buSzTx/>
              <a:buFontTx/>
              <a:buNone/>
              <a:defRPr sz="2000">
                <a:solidFill>
                  <a:srgbClr val="888888"/>
                </a:solidFill>
              </a:defRPr>
            </a:lvl2pPr>
            <a:lvl3pPr marL="0" indent="0">
              <a:spcBef>
                <a:spcPts val="400"/>
              </a:spcBef>
              <a:buSzTx/>
              <a:buFontTx/>
              <a:buNone/>
              <a:defRPr sz="2000">
                <a:solidFill>
                  <a:srgbClr val="888888"/>
                </a:solidFill>
              </a:defRPr>
            </a:lvl3pPr>
            <a:lvl4pPr marL="0" indent="0">
              <a:spcBef>
                <a:spcPts val="400"/>
              </a:spcBef>
              <a:buSzTx/>
              <a:buFontTx/>
              <a:buNone/>
              <a:defRPr sz="2000">
                <a:solidFill>
                  <a:srgbClr val="888888"/>
                </a:solidFill>
              </a:defRPr>
            </a:lvl4pPr>
            <a:lvl5pPr marL="0" indent="0">
              <a:spcBef>
                <a:spcPts val="400"/>
              </a:spcBef>
              <a:buSzTx/>
              <a:buFontTx/>
              <a:buNone/>
              <a:defRPr sz="2000">
                <a:solidFill>
                  <a:srgbClr val="888888"/>
                </a:solidFill>
              </a:defRPr>
            </a:lvl5pPr>
          </a:lstStyle>
          <a:p>
            <a:pPr/>
            <a:r>
              <a:t>Body Level One</a:t>
            </a:r>
          </a:p>
          <a:p>
            <a:pPr lvl="1"/>
            <a:r>
              <a:t>Body Level Two</a:t>
            </a:r>
          </a:p>
          <a:p>
            <a:pPr lvl="2"/>
            <a:r>
              <a:t>Body Level Three</a:t>
            </a:r>
          </a:p>
          <a:p>
            <a:pPr lvl="3"/>
            <a:r>
              <a:t>Body Level Four</a:t>
            </a:r>
          </a:p>
          <a:p>
            <a:pPr lvl="4"/>
            <a:r>
              <a:t>Body Level Five</a:t>
            </a:r>
          </a:p>
        </p:txBody>
      </p:sp>
      <p:sp>
        <p:nvSpPr>
          <p:cNvPr id="3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wo Content">
    <p:spTree>
      <p:nvGrpSpPr>
        <p:cNvPr id="1" name=""/>
        <p:cNvGrpSpPr/>
        <p:nvPr/>
      </p:nvGrpSpPr>
      <p:grpSpPr>
        <a:xfrm>
          <a:off x="0" y="0"/>
          <a:ext cx="0" cy="0"/>
          <a:chOff x="0" y="0"/>
          <a:chExt cx="0" cy="0"/>
        </a:xfrm>
      </p:grpSpPr>
      <p:sp>
        <p:nvSpPr>
          <p:cNvPr id="38" name="Title Text"/>
          <p:cNvSpPr txBox="1"/>
          <p:nvPr>
            <p:ph type="title"/>
          </p:nvPr>
        </p:nvSpPr>
        <p:spPr>
          <a:xfrm>
            <a:off x="457200" y="274638"/>
            <a:ext cx="8229600" cy="1143001"/>
          </a:xfrm>
          <a:prstGeom prst="rect">
            <a:avLst/>
          </a:prstGeom>
        </p:spPr>
        <p:txBody>
          <a:bodyPr/>
          <a:lstStyle/>
          <a:p>
            <a:pPr/>
            <a:r>
              <a:t>Title Text</a:t>
            </a:r>
          </a:p>
        </p:txBody>
      </p:sp>
      <p:sp>
        <p:nvSpPr>
          <p:cNvPr id="39" name="Body Level One…"/>
          <p:cNvSpPr txBox="1"/>
          <p:nvPr>
            <p:ph type="body" sz="half" idx="1"/>
          </p:nvPr>
        </p:nvSpPr>
        <p:spPr>
          <a:xfrm>
            <a:off x="457200" y="1600200"/>
            <a:ext cx="4038600" cy="4525963"/>
          </a:xfrm>
          <a:prstGeom prst="rect">
            <a:avLst/>
          </a:prstGeom>
        </p:spPr>
        <p:txBody>
          <a:bodyPr/>
          <a:lstStyle>
            <a:lvl1pPr>
              <a:spcBef>
                <a:spcPts val="600"/>
              </a:spcBef>
              <a:defRPr sz="2800"/>
            </a:lvl1pPr>
            <a:lvl2pPr marL="790575" indent="-333375">
              <a:spcBef>
                <a:spcPts val="600"/>
              </a:spcBef>
              <a:defRPr sz="2800"/>
            </a:lvl2pPr>
            <a:lvl3pPr marL="1234438" indent="-320038">
              <a:spcBef>
                <a:spcPts val="600"/>
              </a:spcBef>
              <a:defRPr sz="2800"/>
            </a:lvl3pPr>
            <a:lvl4pPr marL="1727200" indent="-355600">
              <a:spcBef>
                <a:spcPts val="600"/>
              </a:spcBef>
              <a:defRPr sz="2800"/>
            </a:lvl4pPr>
            <a:lvl5pPr marL="2184400" indent="-355600">
              <a:spcBef>
                <a:spcPts val="600"/>
              </a:spcBef>
              <a:defRPr sz="2800"/>
            </a:lvl5pPr>
          </a:lstStyle>
          <a:p>
            <a:pPr/>
            <a:r>
              <a:t>Body Level One</a:t>
            </a:r>
          </a:p>
          <a:p>
            <a:pPr lvl="1"/>
            <a:r>
              <a:t>Body Level Two</a:t>
            </a:r>
          </a:p>
          <a:p>
            <a:pPr lvl="2"/>
            <a:r>
              <a:t>Body Level Three</a:t>
            </a:r>
          </a:p>
          <a:p>
            <a:pPr lvl="3"/>
            <a:r>
              <a:t>Body Level Four</a:t>
            </a:r>
          </a:p>
          <a:p>
            <a:pPr lvl="4"/>
            <a:r>
              <a:t>Body Level Five</a:t>
            </a:r>
          </a:p>
        </p:txBody>
      </p:sp>
      <p:sp>
        <p:nvSpPr>
          <p:cNvPr id="4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mparison">
    <p:spTree>
      <p:nvGrpSpPr>
        <p:cNvPr id="1" name=""/>
        <p:cNvGrpSpPr/>
        <p:nvPr/>
      </p:nvGrpSpPr>
      <p:grpSpPr>
        <a:xfrm>
          <a:off x="0" y="0"/>
          <a:ext cx="0" cy="0"/>
          <a:chOff x="0" y="0"/>
          <a:chExt cx="0" cy="0"/>
        </a:xfrm>
      </p:grpSpPr>
      <p:sp>
        <p:nvSpPr>
          <p:cNvPr id="47" name="Title Text"/>
          <p:cNvSpPr txBox="1"/>
          <p:nvPr>
            <p:ph type="title"/>
          </p:nvPr>
        </p:nvSpPr>
        <p:spPr>
          <a:xfrm>
            <a:off x="457200" y="274638"/>
            <a:ext cx="8229600" cy="1143001"/>
          </a:xfrm>
          <a:prstGeom prst="rect">
            <a:avLst/>
          </a:prstGeom>
        </p:spPr>
        <p:txBody>
          <a:bodyPr/>
          <a:lstStyle/>
          <a:p>
            <a:pPr/>
            <a:r>
              <a:t>Title Text</a:t>
            </a:r>
          </a:p>
        </p:txBody>
      </p:sp>
      <p:sp>
        <p:nvSpPr>
          <p:cNvPr id="48" name="Body Level One…"/>
          <p:cNvSpPr txBox="1"/>
          <p:nvPr>
            <p:ph type="body" sz="quarter" idx="1"/>
          </p:nvPr>
        </p:nvSpPr>
        <p:spPr>
          <a:xfrm>
            <a:off x="457200" y="1535112"/>
            <a:ext cx="4040188" cy="639763"/>
          </a:xfrm>
          <a:prstGeom prst="rect">
            <a:avLst/>
          </a:prstGeom>
        </p:spPr>
        <p:txBody>
          <a:bodyPr anchor="b"/>
          <a:lstStyle>
            <a:lvl1pPr marL="0" indent="0">
              <a:spcBef>
                <a:spcPts val="500"/>
              </a:spcBef>
              <a:buSzTx/>
              <a:buFontTx/>
              <a:buNone/>
              <a:defRPr b="1" sz="2400"/>
            </a:lvl1pPr>
            <a:lvl2pPr marL="0" indent="0">
              <a:spcBef>
                <a:spcPts val="500"/>
              </a:spcBef>
              <a:buSzTx/>
              <a:buFontTx/>
              <a:buNone/>
              <a:defRPr b="1" sz="2400"/>
            </a:lvl2pPr>
            <a:lvl3pPr marL="0" indent="0">
              <a:spcBef>
                <a:spcPts val="500"/>
              </a:spcBef>
              <a:buSzTx/>
              <a:buFontTx/>
              <a:buNone/>
              <a:defRPr b="1" sz="2400"/>
            </a:lvl3pPr>
            <a:lvl4pPr marL="0" indent="0">
              <a:spcBef>
                <a:spcPts val="500"/>
              </a:spcBef>
              <a:buSzTx/>
              <a:buFontTx/>
              <a:buNone/>
              <a:defRPr b="1" sz="2400"/>
            </a:lvl4pPr>
            <a:lvl5pPr marL="0" indent="0">
              <a:spcBef>
                <a:spcPts val="500"/>
              </a:spcBef>
              <a:buSzTx/>
              <a:buFontTx/>
              <a:buNone/>
              <a:defRPr b="1" sz="2400"/>
            </a:lvl5pPr>
          </a:lstStyle>
          <a:p>
            <a:pPr/>
            <a:r>
              <a:t>Body Level One</a:t>
            </a:r>
          </a:p>
          <a:p>
            <a:pPr lvl="1"/>
            <a:r>
              <a:t>Body Level Two</a:t>
            </a:r>
          </a:p>
          <a:p>
            <a:pPr lvl="2"/>
            <a:r>
              <a:t>Body Level Three</a:t>
            </a:r>
          </a:p>
          <a:p>
            <a:pPr lvl="3"/>
            <a:r>
              <a:t>Body Level Four</a:t>
            </a:r>
          </a:p>
          <a:p>
            <a:pPr lvl="4"/>
            <a:r>
              <a:t>Body Level Five</a:t>
            </a:r>
          </a:p>
        </p:txBody>
      </p:sp>
      <p:sp>
        <p:nvSpPr>
          <p:cNvPr id="49" name="Text Placeholder 4"/>
          <p:cNvSpPr/>
          <p:nvPr>
            <p:ph type="body" sz="quarter" idx="21"/>
          </p:nvPr>
        </p:nvSpPr>
        <p:spPr>
          <a:xfrm>
            <a:off x="4645025" y="1535112"/>
            <a:ext cx="4041775" cy="639764"/>
          </a:xfrm>
          <a:prstGeom prst="rect">
            <a:avLst/>
          </a:prstGeom>
        </p:spPr>
        <p:txBody>
          <a:bodyPr anchor="b"/>
          <a:lstStyle/>
          <a:p>
            <a:pPr/>
          </a:p>
        </p:txBody>
      </p:sp>
      <p:sp>
        <p:nvSpPr>
          <p:cNvPr id="5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57" name="Title Text"/>
          <p:cNvSpPr txBox="1"/>
          <p:nvPr>
            <p:ph type="title"/>
          </p:nvPr>
        </p:nvSpPr>
        <p:spPr>
          <a:xfrm>
            <a:off x="457200" y="274638"/>
            <a:ext cx="8229600" cy="1143001"/>
          </a:xfrm>
          <a:prstGeom prst="rect">
            <a:avLst/>
          </a:prstGeom>
        </p:spPr>
        <p:txBody>
          <a:bodyPr/>
          <a:lstStyle/>
          <a:p>
            <a:pPr/>
            <a:r>
              <a:t>Title Text</a:t>
            </a:r>
          </a:p>
        </p:txBody>
      </p:sp>
      <p:sp>
        <p:nvSpPr>
          <p:cNvPr id="5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6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ntent with Caption">
    <p:spTree>
      <p:nvGrpSpPr>
        <p:cNvPr id="1" name=""/>
        <p:cNvGrpSpPr/>
        <p:nvPr/>
      </p:nvGrpSpPr>
      <p:grpSpPr>
        <a:xfrm>
          <a:off x="0" y="0"/>
          <a:ext cx="0" cy="0"/>
          <a:chOff x="0" y="0"/>
          <a:chExt cx="0" cy="0"/>
        </a:xfrm>
      </p:grpSpPr>
      <p:sp>
        <p:nvSpPr>
          <p:cNvPr id="72" name="Title Text"/>
          <p:cNvSpPr txBox="1"/>
          <p:nvPr>
            <p:ph type="title"/>
          </p:nvPr>
        </p:nvSpPr>
        <p:spPr>
          <a:xfrm>
            <a:off x="457200" y="273050"/>
            <a:ext cx="3008315" cy="1162050"/>
          </a:xfrm>
          <a:prstGeom prst="rect">
            <a:avLst/>
          </a:prstGeom>
        </p:spPr>
        <p:txBody>
          <a:bodyPr anchor="b"/>
          <a:lstStyle>
            <a:lvl1pPr algn="l">
              <a:defRPr b="1" sz="2000"/>
            </a:lvl1pPr>
          </a:lstStyle>
          <a:p>
            <a:pPr/>
            <a:r>
              <a:t>Title Text</a:t>
            </a:r>
          </a:p>
        </p:txBody>
      </p:sp>
      <p:sp>
        <p:nvSpPr>
          <p:cNvPr id="73" name="Body Level One…"/>
          <p:cNvSpPr txBox="1"/>
          <p:nvPr>
            <p:ph type="body" sz="half" idx="1"/>
          </p:nvPr>
        </p:nvSpPr>
        <p:spPr>
          <a:xfrm>
            <a:off x="3575050" y="273050"/>
            <a:ext cx="5111750" cy="5853113"/>
          </a:xfrm>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74" name="Text Placeholder 3"/>
          <p:cNvSpPr/>
          <p:nvPr>
            <p:ph type="body" sz="quarter" idx="21"/>
          </p:nvPr>
        </p:nvSpPr>
        <p:spPr>
          <a:xfrm>
            <a:off x="457198" y="1435100"/>
            <a:ext cx="3008317" cy="4691063"/>
          </a:xfrm>
          <a:prstGeom prst="rect">
            <a:avLst/>
          </a:prstGeom>
        </p:spPr>
        <p:txBody>
          <a:bodyPr/>
          <a:lstStyle/>
          <a:p>
            <a:pPr/>
          </a:p>
        </p:txBody>
      </p:sp>
      <p:sp>
        <p:nvSpPr>
          <p:cNvPr id="7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icture with Caption">
    <p:spTree>
      <p:nvGrpSpPr>
        <p:cNvPr id="1" name=""/>
        <p:cNvGrpSpPr/>
        <p:nvPr/>
      </p:nvGrpSpPr>
      <p:grpSpPr>
        <a:xfrm>
          <a:off x="0" y="0"/>
          <a:ext cx="0" cy="0"/>
          <a:chOff x="0" y="0"/>
          <a:chExt cx="0" cy="0"/>
        </a:xfrm>
      </p:grpSpPr>
      <p:sp>
        <p:nvSpPr>
          <p:cNvPr id="82" name="Title Text"/>
          <p:cNvSpPr txBox="1"/>
          <p:nvPr>
            <p:ph type="title"/>
          </p:nvPr>
        </p:nvSpPr>
        <p:spPr>
          <a:xfrm>
            <a:off x="1792288" y="4800600"/>
            <a:ext cx="5486402" cy="566738"/>
          </a:xfrm>
          <a:prstGeom prst="rect">
            <a:avLst/>
          </a:prstGeom>
        </p:spPr>
        <p:txBody>
          <a:bodyPr anchor="b"/>
          <a:lstStyle>
            <a:lvl1pPr algn="l">
              <a:defRPr b="1" sz="2000"/>
            </a:lvl1pPr>
          </a:lstStyle>
          <a:p>
            <a:pPr/>
            <a:r>
              <a:t>Title Text</a:t>
            </a:r>
          </a:p>
        </p:txBody>
      </p:sp>
      <p:sp>
        <p:nvSpPr>
          <p:cNvPr id="83" name="Picture Placeholder 2"/>
          <p:cNvSpPr/>
          <p:nvPr>
            <p:ph type="pic" sz="half" idx="21"/>
          </p:nvPr>
        </p:nvSpPr>
        <p:spPr>
          <a:xfrm>
            <a:off x="1792288" y="612775"/>
            <a:ext cx="5486402" cy="4114800"/>
          </a:xfrm>
          <a:prstGeom prst="rect">
            <a:avLst/>
          </a:prstGeom>
        </p:spPr>
        <p:txBody>
          <a:bodyPr lIns="91439" tIns="45719" rIns="91439" bIns="45719">
            <a:noAutofit/>
          </a:bodyPr>
          <a:lstStyle/>
          <a:p>
            <a:pPr/>
          </a:p>
        </p:txBody>
      </p:sp>
      <p:sp>
        <p:nvSpPr>
          <p:cNvPr id="84" name="Body Level One…"/>
          <p:cNvSpPr txBox="1"/>
          <p:nvPr>
            <p:ph type="body" sz="quarter" idx="1"/>
          </p:nvPr>
        </p:nvSpPr>
        <p:spPr>
          <a:xfrm>
            <a:off x="1792288" y="5367337"/>
            <a:ext cx="5486402" cy="804864"/>
          </a:xfrm>
          <a:prstGeom prst="rect">
            <a:avLst/>
          </a:prstGeom>
        </p:spPr>
        <p:txBody>
          <a:bodyPr/>
          <a:lstStyle>
            <a:lvl1pPr marL="0" indent="0">
              <a:spcBef>
                <a:spcPts val="300"/>
              </a:spcBef>
              <a:buSzTx/>
              <a:buFontTx/>
              <a:buNone/>
              <a:defRPr sz="1400"/>
            </a:lvl1pPr>
            <a:lvl2pPr marL="0" indent="0">
              <a:spcBef>
                <a:spcPts val="300"/>
              </a:spcBef>
              <a:buSzTx/>
              <a:buFontTx/>
              <a:buNone/>
              <a:defRPr sz="1400"/>
            </a:lvl2pPr>
            <a:lvl3pPr marL="0" indent="0">
              <a:spcBef>
                <a:spcPts val="300"/>
              </a:spcBef>
              <a:buSzTx/>
              <a:buFontTx/>
              <a:buNone/>
              <a:defRPr sz="1400"/>
            </a:lvl3pPr>
            <a:lvl4pPr marL="0" indent="0">
              <a:spcBef>
                <a:spcPts val="300"/>
              </a:spcBef>
              <a:buSzTx/>
              <a:buFontTx/>
              <a:buNone/>
              <a:defRPr sz="1400"/>
            </a:lvl4pPr>
            <a:lvl5pPr marL="0" indent="0">
              <a:spcBef>
                <a:spcPts val="300"/>
              </a:spcBef>
              <a:buSzTx/>
              <a:buFontTx/>
              <a:buNone/>
              <a:defRPr sz="1400"/>
            </a:lvl5pPr>
          </a:lstStyle>
          <a:p>
            <a:pPr/>
            <a:r>
              <a:t>Body Level One</a:t>
            </a:r>
          </a:p>
          <a:p>
            <a:pPr lvl="1"/>
            <a:r>
              <a:t>Body Level Two</a:t>
            </a:r>
          </a:p>
          <a:p>
            <a:pPr lvl="2"/>
            <a:r>
              <a:t>Body Level Three</a:t>
            </a:r>
          </a:p>
          <a:p>
            <a:pPr lvl="3"/>
            <a:r>
              <a:t>Body Level Four</a:t>
            </a:r>
          </a:p>
          <a:p>
            <a:pPr lvl="4"/>
            <a:r>
              <a:t>Body Level Five</a:t>
            </a:r>
          </a:p>
        </p:txBody>
      </p:sp>
      <p:sp>
        <p:nvSpPr>
          <p:cNvPr id="8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0F172A"/>
        </a:solidFill>
      </p:bgPr>
    </p:bg>
    <p:spTree>
      <p:nvGrpSpPr>
        <p:cNvPr id="1" name=""/>
        <p:cNvGrpSpPr/>
        <p:nvPr/>
      </p:nvGrpSpPr>
      <p:grpSpPr>
        <a:xfrm>
          <a:off x="0" y="0"/>
          <a:ext cx="0" cy="0"/>
          <a:chOff x="0" y="0"/>
          <a:chExt cx="0" cy="0"/>
        </a:xfrm>
      </p:grpSpPr>
      <p:sp>
        <p:nvSpPr>
          <p:cNvPr id="2" name="Title Text"/>
          <p:cNvSpPr txBox="1"/>
          <p:nvPr>
            <p:ph type="title"/>
          </p:nvPr>
        </p:nvSpPr>
        <p:spPr>
          <a:xfrm>
            <a:off x="1824780" y="769937"/>
            <a:ext cx="9743441" cy="166846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normAutofit fontScale="100000" lnSpcReduction="0"/>
          </a:bodyPr>
          <a:lstStyle/>
          <a:p>
            <a:pPr/>
            <a:r>
              <a:t>Title Text</a:t>
            </a:r>
          </a:p>
        </p:txBody>
      </p:sp>
      <p:sp>
        <p:nvSpPr>
          <p:cNvPr id="3" name="Body Level One…"/>
          <p:cNvSpPr txBox="1"/>
          <p:nvPr>
            <p:ph type="body" idx="1"/>
          </p:nvPr>
        </p:nvSpPr>
        <p:spPr>
          <a:xfrm>
            <a:off x="6797994" y="2438400"/>
            <a:ext cx="4770227" cy="441960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8428178" y="6414761"/>
            <a:ext cx="258623" cy="248303"/>
          </a:xfrm>
          <a:prstGeom prst="rect">
            <a:avLst/>
          </a:prstGeom>
          <a:ln w="12700">
            <a:miter lim="400000"/>
          </a:ln>
        </p:spPr>
        <p:txBody>
          <a:bodyPr wrap="none" lIns="45718" tIns="45718" rIns="45718" bIns="45718" anchor="ctr">
            <a:spAutoFit/>
          </a:bodyPr>
          <a:lstStyle>
            <a:lvl1pPr algn="r">
              <a:defRPr sz="1200">
                <a:solidFill>
                  <a:srgbClr val="888888"/>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transition xmlns:p14="http://schemas.microsoft.com/office/powerpoint/2010/main" spd="med" advClick="1"/>
  <p:txStyles>
    <p:titleStyle>
      <a:lvl1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1pPr>
      <a:lvl2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2pPr>
      <a:lvl3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3pPr>
      <a:lvl4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4pPr>
      <a:lvl5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5pPr>
      <a:lvl6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6pPr>
      <a:lvl7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7pPr>
      <a:lvl8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8pPr>
      <a:lvl9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9pPr>
    </p:titleStyle>
    <p:bodyStyle>
      <a:lvl1pPr marL="342900" marR="0" indent="-34290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1pPr>
      <a:lvl2pPr marL="783771" marR="0" indent="-326571"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2pPr>
      <a:lvl3pPr marL="1219200" marR="0" indent="-30480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3pPr>
      <a:lvl4pPr marL="17373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4pPr>
      <a:lvl5pPr marL="21945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5pPr>
      <a:lvl6pPr marL="26517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6pPr>
      <a:lvl7pPr marL="31089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7pPr>
      <a:lvl8pPr marL="3566159" marR="0" indent="-365759"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8pPr>
      <a:lvl9pPr marL="4023359" marR="0" indent="-365759"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9pPr>
    </p:bodyStyle>
    <p:otherStyle>
      <a:lvl1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1pPr>
      <a:lvl2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2pPr>
      <a:lvl3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3pPr>
      <a:lvl4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4pPr>
      <a:lvl5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5pPr>
      <a:lvl6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6pPr>
      <a:lvl7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7pPr>
      <a:lvl8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8pPr>
      <a:lvl9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7.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9.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4" name="Rectangle 1"/>
          <p:cNvSpPr/>
          <p:nvPr/>
        </p:nvSpPr>
        <p:spPr>
          <a:xfrm>
            <a:off x="640080" y="640080"/>
            <a:ext cx="548641" cy="45722"/>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95" name="TextBox 3"/>
          <p:cNvSpPr txBox="1"/>
          <p:nvPr/>
        </p:nvSpPr>
        <p:spPr>
          <a:xfrm>
            <a:off x="640080" y="2377438"/>
            <a:ext cx="10972801" cy="200468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6400">
                <a:solidFill>
                  <a:srgbClr val="F2F2F2"/>
                </a:solidFill>
                <a:latin typeface="Inter Bold"/>
                <a:ea typeface="Inter Bold"/>
                <a:cs typeface="Inter Bold"/>
                <a:sym typeface="Inter Bold"/>
              </a:defRPr>
            </a:pPr>
            <a:r>
              <a:t>Frontend arhitektura</a:t>
            </a:r>
          </a:p>
          <a:p>
            <a:pPr>
              <a:lnSpc>
                <a:spcPct val="104999"/>
              </a:lnSpc>
              <a:defRPr sz="6400">
                <a:solidFill>
                  <a:srgbClr val="F2F2F2"/>
                </a:solidFill>
                <a:latin typeface="Inter Bold"/>
                <a:ea typeface="Inter Bold"/>
                <a:cs typeface="Inter Bold"/>
                <a:sym typeface="Inter Bold"/>
              </a:defRPr>
            </a:pPr>
            <a:r>
              <a:t>kakvu </a:t>
            </a:r>
            <a:r>
              <a:rPr>
                <a:solidFill>
                  <a:srgbClr val="00D4FF"/>
                </a:solidFill>
              </a:rPr>
              <a:t>AI</a:t>
            </a:r>
            <a:r>
              <a:t> razumije</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7" name="TextBox 1"/>
          <p:cNvSpPr txBox="1"/>
          <p:nvPr/>
        </p:nvSpPr>
        <p:spPr>
          <a:xfrm>
            <a:off x="914398" y="1828800"/>
            <a:ext cx="10360156"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400">
                <a:solidFill>
                  <a:srgbClr val="888888"/>
                </a:solidFill>
                <a:latin typeface="Inter Regular"/>
                <a:ea typeface="Inter Regular"/>
                <a:cs typeface="Inter Regular"/>
                <a:sym typeface="Inter Regular"/>
              </a:defRPr>
            </a:lvl1pPr>
          </a:lstStyle>
          <a:p>
            <a:pPr/>
            <a:r>
              <a:t>Koliko puta ste čuli ovu rečenicu?</a:t>
            </a:r>
          </a:p>
        </p:txBody>
      </p:sp>
      <p:sp>
        <p:nvSpPr>
          <p:cNvPr id="98" name="TextBox 2"/>
          <p:cNvSpPr txBox="1"/>
          <p:nvPr/>
        </p:nvSpPr>
        <p:spPr>
          <a:xfrm>
            <a:off x="1097279" y="2468878"/>
            <a:ext cx="9994394" cy="187452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gn="ctr">
              <a:lnSpc>
                <a:spcPct val="130000"/>
              </a:lnSpc>
              <a:defRPr sz="3400">
                <a:solidFill>
                  <a:srgbClr val="F2F2F2"/>
                </a:solidFill>
                <a:latin typeface="Inter Bold"/>
                <a:ea typeface="Inter Bold"/>
                <a:cs typeface="Inter Bold"/>
                <a:sym typeface="Inter Bold"/>
              </a:defRPr>
            </a:pPr>
            <a:r>
              <a:t>“Napisao sam detaljni plan implementacije za Claude-a. Prvih par koraka - sve divno i krasno. Nakon toga, </a:t>
            </a:r>
            <a:r>
              <a:rPr>
                <a:solidFill>
                  <a:srgbClr val="FF4757"/>
                </a:solidFill>
              </a:rPr>
              <a:t>počeo se gubiti.</a:t>
            </a:r>
            <a:r>
              <a:t>”</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02" name="top.png" descr="top.png"/>
          <p:cNvPicPr>
            <a:picLocks noChangeAspect="1"/>
          </p:cNvPicPr>
          <p:nvPr/>
        </p:nvPicPr>
        <p:blipFill>
          <a:blip r:embed="rId2">
            <a:extLst/>
          </a:blip>
          <a:stretch>
            <a:fillRect/>
          </a:stretch>
        </p:blipFill>
        <p:spPr>
          <a:xfrm>
            <a:off x="2866010" y="0"/>
            <a:ext cx="6447280" cy="6858001"/>
          </a:xfrm>
          <a:prstGeom prst="rect">
            <a:avLst/>
          </a:prstGeom>
          <a:ln w="12700">
            <a:miter lim="400000"/>
          </a:ln>
        </p:spPr>
      </p:pic>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4" name="TextBox 1"/>
          <p:cNvSpPr txBox="1"/>
          <p:nvPr/>
        </p:nvSpPr>
        <p:spPr>
          <a:xfrm>
            <a:off x="914398" y="1828800"/>
            <a:ext cx="10360156"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400">
                <a:solidFill>
                  <a:srgbClr val="888888"/>
                </a:solidFill>
                <a:latin typeface="Inter Regular"/>
                <a:ea typeface="Inter Regular"/>
                <a:cs typeface="Inter Regular"/>
                <a:sym typeface="Inter Regular"/>
              </a:defRPr>
            </a:lvl1pPr>
          </a:lstStyle>
          <a:p>
            <a:pPr/>
            <a:r>
              <a:t>Ili ovu rečenicu:</a:t>
            </a:r>
          </a:p>
        </p:txBody>
      </p:sp>
      <p:sp>
        <p:nvSpPr>
          <p:cNvPr id="105" name="TextBox 2"/>
          <p:cNvSpPr txBox="1"/>
          <p:nvPr/>
        </p:nvSpPr>
        <p:spPr>
          <a:xfrm>
            <a:off x="1595832" y="2491738"/>
            <a:ext cx="8987637" cy="187452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gn="ctr">
              <a:lnSpc>
                <a:spcPct val="130000"/>
              </a:lnSpc>
              <a:defRPr sz="3400">
                <a:solidFill>
                  <a:srgbClr val="F2F2F2"/>
                </a:solidFill>
                <a:latin typeface="Inter Bold"/>
                <a:ea typeface="Inter Bold"/>
                <a:cs typeface="Inter Bold"/>
                <a:sym typeface="Inter Bold"/>
              </a:defRPr>
            </a:pPr>
            <a:r>
              <a:t>“Codex radi odlično na mojem mini projektu, ali je </a:t>
            </a:r>
            <a:r>
              <a:rPr>
                <a:solidFill>
                  <a:srgbClr val="FF4757"/>
                </a:solidFill>
              </a:rPr>
              <a:t>beskoristan</a:t>
            </a:r>
            <a:r>
              <a:t> u našem produkcijskom kodu.”</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9"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Gdje AI zapinje</a:t>
            </a:r>
          </a:p>
        </p:txBody>
      </p:sp>
      <p:sp>
        <p:nvSpPr>
          <p:cNvPr id="110"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11" name="TextBox 3"/>
          <p:cNvSpPr txBox="1"/>
          <p:nvPr/>
        </p:nvSpPr>
        <p:spPr>
          <a:xfrm>
            <a:off x="640079" y="2103120"/>
            <a:ext cx="10908794" cy="7670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40000"/>
              </a:lnSpc>
              <a:defRPr sz="2200">
                <a:solidFill>
                  <a:srgbClr val="F2F2F2"/>
                </a:solidFill>
                <a:latin typeface="Inter Regular"/>
                <a:ea typeface="Inter Regular"/>
                <a:cs typeface="Inter Regular"/>
                <a:sym typeface="Inter Regular"/>
              </a:defRPr>
            </a:pPr>
            <a:r>
              <a:t>AI asistenti su </a:t>
            </a:r>
            <a:r>
              <a:rPr>
                <a:solidFill>
                  <a:srgbClr val="2ED573"/>
                </a:solidFill>
                <a:latin typeface="Inter Bold"/>
                <a:ea typeface="Inter Bold"/>
                <a:cs typeface="Inter Bold"/>
                <a:sym typeface="Inter Bold"/>
              </a:rPr>
              <a:t>stvarno sjajni</a:t>
            </a:r>
            <a:r>
              <a:t> u pisanju koda.</a:t>
            </a:r>
          </a:p>
          <a:p>
            <a:pPr>
              <a:lnSpc>
                <a:spcPct val="140000"/>
              </a:lnSpc>
              <a:spcBef>
                <a:spcPts val="400"/>
              </a:spcBef>
              <a:defRPr sz="1600">
                <a:solidFill>
                  <a:srgbClr val="888888"/>
                </a:solidFill>
                <a:latin typeface="Inter Regular"/>
                <a:ea typeface="Inter Regular"/>
                <a:cs typeface="Inter Regular"/>
                <a:sym typeface="Inter Regular"/>
              </a:defRPr>
            </a:pPr>
            <a:r>
              <a:t>Generiraj testove, napiši regex, složi boilerplate - mačji kašalj.</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5"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Gdje AI zapinje</a:t>
            </a:r>
          </a:p>
        </p:txBody>
      </p:sp>
      <p:sp>
        <p:nvSpPr>
          <p:cNvPr id="116"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17" name="TextBox 3"/>
          <p:cNvSpPr txBox="1"/>
          <p:nvPr/>
        </p:nvSpPr>
        <p:spPr>
          <a:xfrm>
            <a:off x="640079" y="2103120"/>
            <a:ext cx="10908794" cy="14274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40000"/>
              </a:lnSpc>
              <a:defRPr sz="2200">
                <a:solidFill>
                  <a:srgbClr val="F2F2F2"/>
                </a:solidFill>
                <a:latin typeface="Inter Regular"/>
                <a:ea typeface="Inter Regular"/>
                <a:cs typeface="Inter Regular"/>
                <a:sym typeface="Inter Regular"/>
              </a:defRPr>
            </a:pPr>
            <a:r>
              <a:t>AI asistenti su </a:t>
            </a:r>
            <a:r>
              <a:rPr>
                <a:solidFill>
                  <a:srgbClr val="2ED573"/>
                </a:solidFill>
                <a:latin typeface="Inter Bold"/>
                <a:ea typeface="Inter Bold"/>
                <a:cs typeface="Inter Bold"/>
                <a:sym typeface="Inter Bold"/>
              </a:rPr>
              <a:t>stvarno sjajni</a:t>
            </a:r>
            <a:r>
              <a:t> u pisanju koda.</a:t>
            </a:r>
          </a:p>
          <a:p>
            <a:pPr>
              <a:lnSpc>
                <a:spcPct val="140000"/>
              </a:lnSpc>
              <a:spcBef>
                <a:spcPts val="400"/>
              </a:spcBef>
              <a:defRPr sz="1600">
                <a:solidFill>
                  <a:srgbClr val="888888"/>
                </a:solidFill>
                <a:latin typeface="Inter Regular"/>
                <a:ea typeface="Inter Regular"/>
                <a:cs typeface="Inter Regular"/>
                <a:sym typeface="Inter Regular"/>
              </a:defRPr>
            </a:pPr>
            <a:r>
              <a:t>Generiraj testove, napiši regex, složi boilerplate - mačji kašalj.</a:t>
            </a:r>
          </a:p>
          <a:p>
            <a:pPr>
              <a:lnSpc>
                <a:spcPct val="140000"/>
              </a:lnSpc>
              <a:spcBef>
                <a:spcPts val="1800"/>
              </a:spcBef>
              <a:defRPr sz="2200">
                <a:solidFill>
                  <a:srgbClr val="F2F2F2"/>
                </a:solidFill>
                <a:latin typeface="Inter Regular"/>
                <a:ea typeface="Inter Regular"/>
                <a:cs typeface="Inter Regular"/>
                <a:sym typeface="Inter Regular"/>
              </a:defRPr>
            </a:pPr>
            <a:r>
              <a:t>No, što je zadatak veći to AI-ju postaje </a:t>
            </a:r>
            <a:r>
              <a:rPr>
                <a:solidFill>
                  <a:srgbClr val="FF4757"/>
                </a:solidFill>
                <a:latin typeface="Inter Bold"/>
                <a:ea typeface="Inter Bold"/>
                <a:cs typeface="Inter Bold"/>
                <a:sym typeface="Inter Bold"/>
              </a:rPr>
              <a:t>sve teže</a:t>
            </a:r>
            <a:r>
              <a:t> pomoći:</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1"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Gdje AI zapinje</a:t>
            </a:r>
          </a:p>
        </p:txBody>
      </p:sp>
      <p:sp>
        <p:nvSpPr>
          <p:cNvPr id="122"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23" name="TextBox 3"/>
          <p:cNvSpPr txBox="1"/>
          <p:nvPr/>
        </p:nvSpPr>
        <p:spPr>
          <a:xfrm>
            <a:off x="640079" y="2103120"/>
            <a:ext cx="10908794" cy="14274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40000"/>
              </a:lnSpc>
              <a:defRPr sz="2200">
                <a:solidFill>
                  <a:srgbClr val="F2F2F2"/>
                </a:solidFill>
                <a:latin typeface="Inter Regular"/>
                <a:ea typeface="Inter Regular"/>
                <a:cs typeface="Inter Regular"/>
                <a:sym typeface="Inter Regular"/>
              </a:defRPr>
            </a:pPr>
            <a:r>
              <a:t>AI asistenti su </a:t>
            </a:r>
            <a:r>
              <a:rPr>
                <a:solidFill>
                  <a:srgbClr val="2ED573"/>
                </a:solidFill>
                <a:latin typeface="Inter Bold"/>
                <a:ea typeface="Inter Bold"/>
                <a:cs typeface="Inter Bold"/>
                <a:sym typeface="Inter Bold"/>
              </a:rPr>
              <a:t>stvarno sjajni</a:t>
            </a:r>
            <a:r>
              <a:t> u pisanju koda.</a:t>
            </a:r>
          </a:p>
          <a:p>
            <a:pPr>
              <a:lnSpc>
                <a:spcPct val="140000"/>
              </a:lnSpc>
              <a:spcBef>
                <a:spcPts val="400"/>
              </a:spcBef>
              <a:defRPr sz="1600">
                <a:solidFill>
                  <a:srgbClr val="888888"/>
                </a:solidFill>
                <a:latin typeface="Inter Regular"/>
                <a:ea typeface="Inter Regular"/>
                <a:cs typeface="Inter Regular"/>
                <a:sym typeface="Inter Regular"/>
              </a:defRPr>
            </a:pPr>
            <a:r>
              <a:t>Generiraj testove, napiši regex, složi boilerplate - mačji kašalj.</a:t>
            </a:r>
          </a:p>
          <a:p>
            <a:pPr>
              <a:lnSpc>
                <a:spcPct val="140000"/>
              </a:lnSpc>
              <a:spcBef>
                <a:spcPts val="1800"/>
              </a:spcBef>
              <a:defRPr sz="2200">
                <a:solidFill>
                  <a:srgbClr val="F2F2F2"/>
                </a:solidFill>
                <a:latin typeface="Inter Regular"/>
                <a:ea typeface="Inter Regular"/>
                <a:cs typeface="Inter Regular"/>
                <a:sym typeface="Inter Regular"/>
              </a:defRPr>
            </a:pPr>
            <a:r>
              <a:t>No, što je zadatak veći to AI-ju postaje </a:t>
            </a:r>
            <a:r>
              <a:rPr>
                <a:solidFill>
                  <a:srgbClr val="FF4757"/>
                </a:solidFill>
                <a:latin typeface="Inter Bold"/>
                <a:ea typeface="Inter Bold"/>
                <a:cs typeface="Inter Bold"/>
                <a:sym typeface="Inter Bold"/>
              </a:rPr>
              <a:t>sve teže</a:t>
            </a:r>
            <a:r>
              <a:t> pomoći:</a:t>
            </a:r>
          </a:p>
        </p:txBody>
      </p:sp>
      <p:sp>
        <p:nvSpPr>
          <p:cNvPr id="124" name="Rounded Rectangle 4"/>
          <p:cNvSpPr/>
          <p:nvPr/>
        </p:nvSpPr>
        <p:spPr>
          <a:xfrm>
            <a:off x="640080" y="4937759"/>
            <a:ext cx="10972801" cy="1005842"/>
          </a:xfrm>
          <a:prstGeom prst="roundRect">
            <a:avLst>
              <a:gd name="adj" fmla="val 6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125" name="Rectangle 5"/>
          <p:cNvSpPr/>
          <p:nvPr/>
        </p:nvSpPr>
        <p:spPr>
          <a:xfrm>
            <a:off x="640080" y="4937759"/>
            <a:ext cx="54866" cy="1005840"/>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26" name="TextBox 6"/>
          <p:cNvSpPr txBox="1"/>
          <p:nvPr/>
        </p:nvSpPr>
        <p:spPr>
          <a:xfrm>
            <a:off x="868678" y="5315710"/>
            <a:ext cx="10607044" cy="304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30000"/>
              </a:lnSpc>
              <a:defRPr sz="2000">
                <a:solidFill>
                  <a:srgbClr val="F2F2F2"/>
                </a:solidFill>
                <a:latin typeface="Inter Regular"/>
                <a:ea typeface="Inter Regular"/>
                <a:cs typeface="Inter Regular"/>
                <a:sym typeface="Inter Regular"/>
              </a:defRPr>
            </a:pPr>
            <a:r>
              <a:t>Razlog za to je jednostavan: </a:t>
            </a:r>
            <a:r>
              <a:rPr>
                <a:solidFill>
                  <a:srgbClr val="00D4FF"/>
                </a:solidFill>
                <a:latin typeface="Inter Bold"/>
                <a:ea typeface="Inter Bold"/>
                <a:cs typeface="Inter Bold"/>
                <a:sym typeface="Inter Bold"/>
              </a:rPr>
              <a:t>kontekst.</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0"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3600">
                <a:solidFill>
                  <a:srgbClr val="F2F2F2"/>
                </a:solidFill>
                <a:latin typeface="Inter Bold"/>
                <a:ea typeface="Inter Bold"/>
                <a:cs typeface="Inter Bold"/>
                <a:sym typeface="Inter Bold"/>
              </a:defRPr>
            </a:pPr>
            <a:r>
              <a:t>Što je </a:t>
            </a:r>
            <a:r>
              <a:rPr>
                <a:solidFill>
                  <a:srgbClr val="00D4FF"/>
                </a:solidFill>
              </a:rPr>
              <a:t>“kontekst”</a:t>
            </a:r>
            <a:r>
              <a:t> u LLM smislu?</a:t>
            </a:r>
          </a:p>
        </p:txBody>
      </p:sp>
      <p:sp>
        <p:nvSpPr>
          <p:cNvPr id="131"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32" name="TextBox 3"/>
          <p:cNvSpPr txBox="1"/>
          <p:nvPr/>
        </p:nvSpPr>
        <p:spPr>
          <a:xfrm>
            <a:off x="640079" y="2103120"/>
            <a:ext cx="9701615" cy="762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50000"/>
              </a:lnSpc>
              <a:defRPr sz="2000">
                <a:solidFill>
                  <a:srgbClr val="00D4FF"/>
                </a:solidFill>
                <a:latin typeface="Inter Bold"/>
                <a:ea typeface="Inter Bold"/>
                <a:cs typeface="Inter Bold"/>
                <a:sym typeface="Inter Bold"/>
              </a:defRPr>
            </a:pPr>
            <a:r>
              <a:t>Kontekst</a:t>
            </a:r>
            <a:r>
              <a:rPr>
                <a:solidFill>
                  <a:srgbClr val="F2F2F2"/>
                </a:solidFill>
                <a:latin typeface="Inter Regular"/>
                <a:ea typeface="Inter Regular"/>
                <a:cs typeface="Inter Regular"/>
                <a:sym typeface="Inter Regular"/>
              </a:rPr>
              <a:t> se odnosi na skup tokena koji su uključeni u proces generiranja (samplinga) iz LLM-a.</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6"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3600">
                <a:solidFill>
                  <a:srgbClr val="F2F2F2"/>
                </a:solidFill>
                <a:latin typeface="Inter Bold"/>
                <a:ea typeface="Inter Bold"/>
                <a:cs typeface="Inter Bold"/>
                <a:sym typeface="Inter Bold"/>
              </a:defRPr>
            </a:pPr>
            <a:r>
              <a:t>Što je </a:t>
            </a:r>
            <a:r>
              <a:rPr>
                <a:solidFill>
                  <a:srgbClr val="00D4FF"/>
                </a:solidFill>
              </a:rPr>
              <a:t>“kontekst”</a:t>
            </a:r>
            <a:r>
              <a:t> u LLM smislu?</a:t>
            </a:r>
          </a:p>
        </p:txBody>
      </p:sp>
      <p:sp>
        <p:nvSpPr>
          <p:cNvPr id="137"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38" name="TextBox 3"/>
          <p:cNvSpPr txBox="1"/>
          <p:nvPr/>
        </p:nvSpPr>
        <p:spPr>
          <a:xfrm>
            <a:off x="640079" y="2103120"/>
            <a:ext cx="9701615" cy="1854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50000"/>
              </a:lnSpc>
              <a:defRPr sz="2000">
                <a:solidFill>
                  <a:srgbClr val="00D4FF"/>
                </a:solidFill>
                <a:latin typeface="Inter Bold"/>
                <a:ea typeface="Inter Bold"/>
                <a:cs typeface="Inter Bold"/>
                <a:sym typeface="Inter Bold"/>
              </a:defRPr>
            </a:pPr>
            <a:r>
              <a:t>Kontekst</a:t>
            </a:r>
            <a:r>
              <a:rPr>
                <a:solidFill>
                  <a:srgbClr val="F2F2F2"/>
                </a:solidFill>
                <a:latin typeface="Inter Regular"/>
                <a:ea typeface="Inter Regular"/>
                <a:cs typeface="Inter Regular"/>
                <a:sym typeface="Inter Regular"/>
              </a:rPr>
              <a:t> se odnosi na skup tokena koji su uključeni u proces generiranja (samplinga) iz LLM-a.</a:t>
            </a:r>
            <a:endParaRPr>
              <a:solidFill>
                <a:srgbClr val="F2F2F2"/>
              </a:solidFill>
            </a:endParaRPr>
          </a:p>
          <a:p>
            <a:pPr>
              <a:lnSpc>
                <a:spcPct val="150000"/>
              </a:lnSpc>
              <a:spcBef>
                <a:spcPts val="1400"/>
              </a:spcBef>
              <a:defRPr sz="2000">
                <a:solidFill>
                  <a:srgbClr val="F2F2F2"/>
                </a:solidFill>
                <a:latin typeface="Inter Regular"/>
                <a:ea typeface="Inter Regular"/>
                <a:cs typeface="Inter Regular"/>
                <a:sym typeface="Inter Regular"/>
              </a:defRPr>
            </a:pPr>
            <a:r>
              <a:t>Drugim riječima, sve što model može vidjeti kada generira odgovor - tvoj prompt, otvorene datoteke, struktura projekta itd.</a:t>
            </a:r>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2"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3600">
                <a:solidFill>
                  <a:srgbClr val="F2F2F2"/>
                </a:solidFill>
                <a:latin typeface="Inter Bold"/>
                <a:ea typeface="Inter Bold"/>
                <a:cs typeface="Inter Bold"/>
                <a:sym typeface="Inter Bold"/>
              </a:defRPr>
            </a:pPr>
            <a:r>
              <a:t>Što je </a:t>
            </a:r>
            <a:r>
              <a:rPr>
                <a:solidFill>
                  <a:srgbClr val="00D4FF"/>
                </a:solidFill>
              </a:rPr>
              <a:t>“kontekst”</a:t>
            </a:r>
            <a:r>
              <a:t> u LLM smislu?</a:t>
            </a:r>
          </a:p>
        </p:txBody>
      </p:sp>
      <p:sp>
        <p:nvSpPr>
          <p:cNvPr id="143"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44" name="TextBox 3"/>
          <p:cNvSpPr txBox="1"/>
          <p:nvPr/>
        </p:nvSpPr>
        <p:spPr>
          <a:xfrm>
            <a:off x="640079" y="2103120"/>
            <a:ext cx="9701615" cy="1854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50000"/>
              </a:lnSpc>
              <a:defRPr sz="2000">
                <a:solidFill>
                  <a:srgbClr val="00D4FF"/>
                </a:solidFill>
                <a:latin typeface="Inter Bold"/>
                <a:ea typeface="Inter Bold"/>
                <a:cs typeface="Inter Bold"/>
                <a:sym typeface="Inter Bold"/>
              </a:defRPr>
            </a:pPr>
            <a:r>
              <a:t>Kontekst</a:t>
            </a:r>
            <a:r>
              <a:rPr>
                <a:solidFill>
                  <a:srgbClr val="F2F2F2"/>
                </a:solidFill>
                <a:latin typeface="Inter Regular"/>
                <a:ea typeface="Inter Regular"/>
                <a:cs typeface="Inter Regular"/>
                <a:sym typeface="Inter Regular"/>
              </a:rPr>
              <a:t> se odnosi na skup tokena koji su uključeni u proces generiranja (samplinga) iz LLM-a.</a:t>
            </a:r>
            <a:endParaRPr>
              <a:solidFill>
                <a:srgbClr val="F2F2F2"/>
              </a:solidFill>
            </a:endParaRPr>
          </a:p>
          <a:p>
            <a:pPr>
              <a:lnSpc>
                <a:spcPct val="150000"/>
              </a:lnSpc>
              <a:spcBef>
                <a:spcPts val="1400"/>
              </a:spcBef>
              <a:defRPr sz="2000">
                <a:solidFill>
                  <a:srgbClr val="F2F2F2"/>
                </a:solidFill>
                <a:latin typeface="Inter Regular"/>
                <a:ea typeface="Inter Regular"/>
                <a:cs typeface="Inter Regular"/>
                <a:sym typeface="Inter Regular"/>
              </a:defRPr>
            </a:pPr>
            <a:r>
              <a:t>Drugim riječima, sve što model može vidjeti kada generira odgovor - tvoj prompt, otvorene datoteke, struktura projekta itd.</a:t>
            </a:r>
          </a:p>
        </p:txBody>
      </p:sp>
      <p:sp>
        <p:nvSpPr>
          <p:cNvPr id="145" name="Rounded Rectangle 4"/>
          <p:cNvSpPr/>
          <p:nvPr/>
        </p:nvSpPr>
        <p:spPr>
          <a:xfrm>
            <a:off x="640080" y="5029200"/>
            <a:ext cx="10972801" cy="1188720"/>
          </a:xfrm>
          <a:prstGeom prst="roundRect">
            <a:avLst>
              <a:gd name="adj" fmla="val 6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146" name="Rectangle 5"/>
          <p:cNvSpPr/>
          <p:nvPr/>
        </p:nvSpPr>
        <p:spPr>
          <a:xfrm>
            <a:off x="640080" y="5029200"/>
            <a:ext cx="54866" cy="1188720"/>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47" name="TextBox 6"/>
          <p:cNvSpPr txBox="1"/>
          <p:nvPr/>
        </p:nvSpPr>
        <p:spPr>
          <a:xfrm>
            <a:off x="868678" y="5517641"/>
            <a:ext cx="10607044"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30000"/>
              </a:lnSpc>
              <a:defRPr>
                <a:solidFill>
                  <a:srgbClr val="F2F2F2"/>
                </a:solidFill>
                <a:latin typeface="Inter Regular"/>
                <a:ea typeface="Inter Regular"/>
                <a:cs typeface="Inter Regular"/>
                <a:sym typeface="Inter Regular"/>
              </a:defRPr>
            </a:pPr>
            <a:r>
              <a:t>AI ne poznaje vaš projekt. On </a:t>
            </a:r>
            <a:r>
              <a:rPr>
                <a:solidFill>
                  <a:srgbClr val="00D4FF"/>
                </a:solidFill>
                <a:latin typeface="Inter Bold"/>
                <a:ea typeface="Inter Bold"/>
                <a:cs typeface="Inter Bold"/>
                <a:sym typeface="Inter Bold"/>
              </a:rPr>
              <a:t>čita samo ono što mu pružite</a:t>
            </a:r>
            <a:r>
              <a:t> - i to je sve čime raspolaže.</a:t>
            </a: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1"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Context Engineering</a:t>
            </a:r>
          </a:p>
        </p:txBody>
      </p:sp>
      <p:sp>
        <p:nvSpPr>
          <p:cNvPr id="152"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53" name="Rounded Rectangle 3"/>
          <p:cNvSpPr/>
          <p:nvPr/>
        </p:nvSpPr>
        <p:spPr>
          <a:xfrm>
            <a:off x="640080" y="2011678"/>
            <a:ext cx="10972801" cy="1097282"/>
          </a:xfrm>
          <a:prstGeom prst="roundRect">
            <a:avLst>
              <a:gd name="adj" fmla="val 6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154" name="Rectangle 4"/>
          <p:cNvSpPr/>
          <p:nvPr/>
        </p:nvSpPr>
        <p:spPr>
          <a:xfrm>
            <a:off x="640080" y="2011678"/>
            <a:ext cx="54866" cy="1097282"/>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55" name="TextBox 5"/>
          <p:cNvSpPr txBox="1"/>
          <p:nvPr/>
        </p:nvSpPr>
        <p:spPr>
          <a:xfrm>
            <a:off x="868678" y="2237231"/>
            <a:ext cx="10607044" cy="70104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30000"/>
              </a:lnSpc>
              <a:defRPr sz="2000">
                <a:solidFill>
                  <a:srgbClr val="F2F2F2"/>
                </a:solidFill>
                <a:latin typeface="Inter Bold"/>
                <a:ea typeface="Inter Bold"/>
                <a:cs typeface="Inter Bold"/>
                <a:sym typeface="Inter Bold"/>
              </a:defRPr>
            </a:pPr>
            <a:r>
              <a:t>Context engineering</a:t>
            </a:r>
            <a:r>
              <a:rPr>
                <a:latin typeface="Inter Regular"/>
                <a:ea typeface="Inter Regular"/>
                <a:cs typeface="Inter Regular"/>
                <a:sym typeface="Inter Regular"/>
              </a:rPr>
              <a:t> = oblikovanje onoga što model vidi s ciljem dobivanja boljeg outputa</a:t>
            </a: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9"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Context Engineering</a:t>
            </a:r>
          </a:p>
        </p:txBody>
      </p:sp>
      <p:sp>
        <p:nvSpPr>
          <p:cNvPr id="160"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61" name="Rounded Rectangle 3"/>
          <p:cNvSpPr/>
          <p:nvPr/>
        </p:nvSpPr>
        <p:spPr>
          <a:xfrm>
            <a:off x="640080" y="2011678"/>
            <a:ext cx="10972801" cy="1097282"/>
          </a:xfrm>
          <a:prstGeom prst="roundRect">
            <a:avLst>
              <a:gd name="adj" fmla="val 6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162" name="Rectangle 4"/>
          <p:cNvSpPr/>
          <p:nvPr/>
        </p:nvSpPr>
        <p:spPr>
          <a:xfrm>
            <a:off x="640080" y="2011678"/>
            <a:ext cx="54866" cy="1097282"/>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63" name="TextBox 5"/>
          <p:cNvSpPr txBox="1"/>
          <p:nvPr/>
        </p:nvSpPr>
        <p:spPr>
          <a:xfrm>
            <a:off x="868678" y="2237231"/>
            <a:ext cx="10607044" cy="70104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30000"/>
              </a:lnSpc>
              <a:defRPr sz="2000">
                <a:solidFill>
                  <a:srgbClr val="F2F2F2"/>
                </a:solidFill>
                <a:latin typeface="Inter Bold"/>
                <a:ea typeface="Inter Bold"/>
                <a:cs typeface="Inter Bold"/>
                <a:sym typeface="Inter Bold"/>
              </a:defRPr>
            </a:pPr>
            <a:r>
              <a:t>Context engineering</a:t>
            </a:r>
            <a:r>
              <a:rPr>
                <a:latin typeface="Inter Regular"/>
                <a:ea typeface="Inter Regular"/>
                <a:cs typeface="Inter Regular"/>
                <a:sym typeface="Inter Regular"/>
              </a:rPr>
              <a:t> = oblikovanje onoga što model vidi s ciljem dobivanja boljeg outputa</a:t>
            </a:r>
          </a:p>
        </p:txBody>
      </p:sp>
      <p:sp>
        <p:nvSpPr>
          <p:cNvPr id="164" name="TextBox 6"/>
          <p:cNvSpPr txBox="1"/>
          <p:nvPr/>
        </p:nvSpPr>
        <p:spPr>
          <a:xfrm>
            <a:off x="640079" y="3383279"/>
            <a:ext cx="10908794" cy="762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50000"/>
              </a:lnSpc>
              <a:defRPr sz="2000">
                <a:solidFill>
                  <a:srgbClr val="F2F2F2"/>
                </a:solidFill>
                <a:latin typeface="Inter Regular"/>
                <a:ea typeface="Inter Regular"/>
                <a:cs typeface="Inter Regular"/>
                <a:sym typeface="Inter Regular"/>
              </a:defRPr>
            </a:pPr>
            <a:r>
              <a:t>Ne samo tvoj prompt - već i </a:t>
            </a:r>
            <a:r>
              <a:rPr>
                <a:solidFill>
                  <a:srgbClr val="00D4FF"/>
                </a:solidFill>
                <a:latin typeface="Inter Bold"/>
                <a:ea typeface="Inter Bold"/>
                <a:cs typeface="Inter Bold"/>
                <a:sym typeface="Inter Bold"/>
              </a:rPr>
              <a:t>programski kod</a:t>
            </a:r>
            <a:r>
              <a:t>, </a:t>
            </a:r>
            <a:r>
              <a:rPr>
                <a:solidFill>
                  <a:srgbClr val="00D4FF"/>
                </a:solidFill>
                <a:latin typeface="Inter Bold"/>
                <a:ea typeface="Inter Bold"/>
                <a:cs typeface="Inter Bold"/>
                <a:sym typeface="Inter Bold"/>
              </a:rPr>
              <a:t>struktura direktorija</a:t>
            </a:r>
            <a:r>
              <a:t>, </a:t>
            </a:r>
            <a:r>
              <a:rPr>
                <a:solidFill>
                  <a:srgbClr val="00D4FF"/>
                </a:solidFill>
                <a:latin typeface="Inter Bold"/>
                <a:ea typeface="Inter Bold"/>
                <a:cs typeface="Inter Bold"/>
                <a:sym typeface="Inter Bold"/>
              </a:rPr>
              <a:t>vanjski paketi</a:t>
            </a:r>
            <a:r>
              <a:t>, </a:t>
            </a:r>
            <a:r>
              <a:rPr>
                <a:solidFill>
                  <a:srgbClr val="00D4FF"/>
                </a:solidFill>
                <a:latin typeface="Inter Bold"/>
                <a:ea typeface="Inter Bold"/>
                <a:cs typeface="Inter Bold"/>
                <a:sym typeface="Inter Bold"/>
              </a:rPr>
              <a:t>konvencije</a:t>
            </a:r>
            <a:r>
              <a:t> itd.</a:t>
            </a:r>
          </a:p>
        </p:txBody>
      </p:sp>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8"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Context Engineering</a:t>
            </a:r>
          </a:p>
        </p:txBody>
      </p:sp>
      <p:sp>
        <p:nvSpPr>
          <p:cNvPr id="169"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70" name="Rounded Rectangle 3"/>
          <p:cNvSpPr/>
          <p:nvPr/>
        </p:nvSpPr>
        <p:spPr>
          <a:xfrm>
            <a:off x="640080" y="2011678"/>
            <a:ext cx="10972801" cy="1097282"/>
          </a:xfrm>
          <a:prstGeom prst="roundRect">
            <a:avLst>
              <a:gd name="adj" fmla="val 6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171" name="Rectangle 4"/>
          <p:cNvSpPr/>
          <p:nvPr/>
        </p:nvSpPr>
        <p:spPr>
          <a:xfrm>
            <a:off x="640080" y="2011678"/>
            <a:ext cx="54866" cy="1097282"/>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172" name="TextBox 5"/>
          <p:cNvSpPr txBox="1"/>
          <p:nvPr/>
        </p:nvSpPr>
        <p:spPr>
          <a:xfrm>
            <a:off x="868678" y="2237231"/>
            <a:ext cx="10607044" cy="70104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30000"/>
              </a:lnSpc>
              <a:defRPr sz="2000">
                <a:solidFill>
                  <a:srgbClr val="F2F2F2"/>
                </a:solidFill>
                <a:latin typeface="Inter Bold"/>
                <a:ea typeface="Inter Bold"/>
                <a:cs typeface="Inter Bold"/>
                <a:sym typeface="Inter Bold"/>
              </a:defRPr>
            </a:pPr>
            <a:r>
              <a:t>Context engineering</a:t>
            </a:r>
            <a:r>
              <a:rPr>
                <a:latin typeface="Inter Regular"/>
                <a:ea typeface="Inter Regular"/>
                <a:cs typeface="Inter Regular"/>
                <a:sym typeface="Inter Regular"/>
              </a:rPr>
              <a:t> = oblikovanje onoga što model vidi s ciljem dobivanja boljeg outputa</a:t>
            </a:r>
          </a:p>
        </p:txBody>
      </p:sp>
      <p:sp>
        <p:nvSpPr>
          <p:cNvPr id="173" name="TextBox 6"/>
          <p:cNvSpPr txBox="1"/>
          <p:nvPr/>
        </p:nvSpPr>
        <p:spPr>
          <a:xfrm>
            <a:off x="640079" y="3383279"/>
            <a:ext cx="10908794" cy="144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50000"/>
              </a:lnSpc>
              <a:defRPr sz="2000">
                <a:solidFill>
                  <a:srgbClr val="F2F2F2"/>
                </a:solidFill>
                <a:latin typeface="Inter Regular"/>
                <a:ea typeface="Inter Regular"/>
                <a:cs typeface="Inter Regular"/>
                <a:sym typeface="Inter Regular"/>
              </a:defRPr>
            </a:pPr>
            <a:r>
              <a:t>Ne samo tvoj prompt - već i </a:t>
            </a:r>
            <a:r>
              <a:rPr>
                <a:solidFill>
                  <a:srgbClr val="00D4FF"/>
                </a:solidFill>
                <a:latin typeface="Inter Bold"/>
                <a:ea typeface="Inter Bold"/>
                <a:cs typeface="Inter Bold"/>
                <a:sym typeface="Inter Bold"/>
              </a:rPr>
              <a:t>programski kod</a:t>
            </a:r>
            <a:r>
              <a:t>, </a:t>
            </a:r>
            <a:r>
              <a:rPr>
                <a:solidFill>
                  <a:srgbClr val="00D4FF"/>
                </a:solidFill>
                <a:latin typeface="Inter Bold"/>
                <a:ea typeface="Inter Bold"/>
                <a:cs typeface="Inter Bold"/>
                <a:sym typeface="Inter Bold"/>
              </a:rPr>
              <a:t>struktura direktorija</a:t>
            </a:r>
            <a:r>
              <a:t>, </a:t>
            </a:r>
            <a:r>
              <a:rPr>
                <a:solidFill>
                  <a:srgbClr val="00D4FF"/>
                </a:solidFill>
                <a:latin typeface="Inter Bold"/>
                <a:ea typeface="Inter Bold"/>
                <a:cs typeface="Inter Bold"/>
                <a:sym typeface="Inter Bold"/>
              </a:rPr>
              <a:t>vanjski paketi</a:t>
            </a:r>
            <a:r>
              <a:t>, </a:t>
            </a:r>
            <a:r>
              <a:rPr>
                <a:solidFill>
                  <a:srgbClr val="00D4FF"/>
                </a:solidFill>
                <a:latin typeface="Inter Bold"/>
                <a:ea typeface="Inter Bold"/>
                <a:cs typeface="Inter Bold"/>
                <a:sym typeface="Inter Bold"/>
              </a:rPr>
              <a:t>konvencije</a:t>
            </a:r>
            <a:r>
              <a:t> itd.</a:t>
            </a:r>
          </a:p>
          <a:p>
            <a:pPr>
              <a:lnSpc>
                <a:spcPct val="150000"/>
              </a:lnSpc>
              <a:spcBef>
                <a:spcPts val="1800"/>
              </a:spcBef>
              <a:defRPr sz="2000">
                <a:solidFill>
                  <a:srgbClr val="F2F2F2"/>
                </a:solidFill>
                <a:latin typeface="Inter Regular"/>
                <a:ea typeface="Inter Regular"/>
                <a:cs typeface="Inter Regular"/>
                <a:sym typeface="Inter Regular"/>
              </a:defRPr>
            </a:pPr>
            <a:r>
              <a:t>Kvaliteta odgovora </a:t>
            </a:r>
            <a:r>
              <a:rPr>
                <a:solidFill>
                  <a:srgbClr val="00D4FF"/>
                </a:solidFill>
                <a:latin typeface="Inter Bold"/>
                <a:ea typeface="Inter Bold"/>
                <a:cs typeface="Inter Bold"/>
                <a:sym typeface="Inter Bold"/>
              </a:rPr>
              <a:t>ograničena je</a:t>
            </a:r>
            <a:r>
              <a:t> kvalitetom konteksta koji model prima.</a:t>
            </a:r>
          </a:p>
        </p:txBody>
      </p:sp>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7" name="TextBox 2"/>
          <p:cNvSpPr txBox="1"/>
          <p:nvPr/>
        </p:nvSpPr>
        <p:spPr>
          <a:xfrm>
            <a:off x="1092453" y="3168650"/>
            <a:ext cx="9994394" cy="5207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lnSpc>
                <a:spcPct val="130000"/>
              </a:lnSpc>
              <a:defRPr sz="3400">
                <a:solidFill>
                  <a:srgbClr val="F2F2F2"/>
                </a:solidFill>
                <a:latin typeface="Inter Bold"/>
                <a:ea typeface="Inter Bold"/>
                <a:cs typeface="Inter Bold"/>
                <a:sym typeface="Inter Bold"/>
              </a:defRPr>
            </a:lvl1pPr>
          </a:lstStyle>
          <a:p>
            <a:pPr/>
            <a:r>
              <a:t>Kako točno AI “čita” naš kod? </a:t>
            </a:r>
          </a:p>
        </p:txBody>
      </p:sp>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1"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Pristup A: Embedding &amp; Indexing</a:t>
            </a:r>
          </a:p>
        </p:txBody>
      </p:sp>
      <p:sp>
        <p:nvSpPr>
          <p:cNvPr id="182"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grpSp>
        <p:nvGrpSpPr>
          <p:cNvPr id="185" name="Rounded Rectangle 4"/>
          <p:cNvGrpSpPr/>
          <p:nvPr/>
        </p:nvGrpSpPr>
        <p:grpSpPr>
          <a:xfrm>
            <a:off x="8616074" y="686815"/>
            <a:ext cx="987555" cy="292611"/>
            <a:chOff x="0" y="0"/>
            <a:chExt cx="987554" cy="292609"/>
          </a:xfrm>
        </p:grpSpPr>
        <p:sp>
          <p:nvSpPr>
            <p:cNvPr id="183" name="Rounded Rectangle"/>
            <p:cNvSpPr/>
            <p:nvPr/>
          </p:nvSpPr>
          <p:spPr>
            <a:xfrm>
              <a:off x="-1" y="0"/>
              <a:ext cx="987556" cy="292611"/>
            </a:xfrm>
            <a:prstGeom prst="roundRect">
              <a:avLst>
                <a:gd name="adj" fmla="val 50000"/>
              </a:avLst>
            </a:prstGeom>
            <a:noFill/>
            <a:ln w="952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184" name="Cursor"/>
            <p:cNvSpPr txBox="1"/>
            <p:nvPr/>
          </p:nvSpPr>
          <p:spPr>
            <a:xfrm>
              <a:off x="93333" y="70104"/>
              <a:ext cx="800887"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Cursor</a:t>
              </a:r>
            </a:p>
          </p:txBody>
        </p:sp>
      </p:grpSp>
      <p:grpSp>
        <p:nvGrpSpPr>
          <p:cNvPr id="188" name="Rounded Rectangle 5"/>
          <p:cNvGrpSpPr/>
          <p:nvPr/>
        </p:nvGrpSpPr>
        <p:grpSpPr>
          <a:xfrm>
            <a:off x="9676779" y="686815"/>
            <a:ext cx="1106427" cy="292611"/>
            <a:chOff x="0" y="0"/>
            <a:chExt cx="1106426" cy="292609"/>
          </a:xfrm>
        </p:grpSpPr>
        <p:sp>
          <p:nvSpPr>
            <p:cNvPr id="186" name="Rounded Rectangle"/>
            <p:cNvSpPr/>
            <p:nvPr/>
          </p:nvSpPr>
          <p:spPr>
            <a:xfrm>
              <a:off x="-1" y="0"/>
              <a:ext cx="1106428" cy="292611"/>
            </a:xfrm>
            <a:prstGeom prst="roundRect">
              <a:avLst>
                <a:gd name="adj" fmla="val 50000"/>
              </a:avLst>
            </a:prstGeom>
            <a:noFill/>
            <a:ln w="952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187" name="Copilot"/>
            <p:cNvSpPr txBox="1"/>
            <p:nvPr/>
          </p:nvSpPr>
          <p:spPr>
            <a:xfrm>
              <a:off x="93333" y="70104"/>
              <a:ext cx="919759"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Copilot</a:t>
              </a:r>
            </a:p>
          </p:txBody>
        </p:sp>
      </p:grpSp>
      <p:grpSp>
        <p:nvGrpSpPr>
          <p:cNvPr id="191" name="Rounded Rectangle 6"/>
          <p:cNvGrpSpPr/>
          <p:nvPr/>
        </p:nvGrpSpPr>
        <p:grpSpPr>
          <a:xfrm>
            <a:off x="10856355" y="686815"/>
            <a:ext cx="749811" cy="292611"/>
            <a:chOff x="0" y="0"/>
            <a:chExt cx="749809" cy="292609"/>
          </a:xfrm>
        </p:grpSpPr>
        <p:sp>
          <p:nvSpPr>
            <p:cNvPr id="189" name="Rounded Rectangle"/>
            <p:cNvSpPr/>
            <p:nvPr/>
          </p:nvSpPr>
          <p:spPr>
            <a:xfrm>
              <a:off x="-1" y="0"/>
              <a:ext cx="749811" cy="292611"/>
            </a:xfrm>
            <a:prstGeom prst="roundRect">
              <a:avLst>
                <a:gd name="adj" fmla="val 50000"/>
              </a:avLst>
            </a:prstGeom>
            <a:noFill/>
            <a:ln w="952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190" name="Cody"/>
            <p:cNvSpPr txBox="1"/>
            <p:nvPr/>
          </p:nvSpPr>
          <p:spPr>
            <a:xfrm>
              <a:off x="93333" y="70104"/>
              <a:ext cx="563143"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Cody</a:t>
              </a:r>
            </a:p>
          </p:txBody>
        </p:sp>
      </p:grpSp>
      <p:sp>
        <p:nvSpPr>
          <p:cNvPr id="192" name="TextBox 7"/>
          <p:cNvSpPr txBox="1"/>
          <p:nvPr/>
        </p:nvSpPr>
        <p:spPr>
          <a:xfrm>
            <a:off x="631030" y="1691530"/>
            <a:ext cx="10908795"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2F2F2"/>
                </a:solidFill>
                <a:latin typeface="Inter Bold"/>
                <a:ea typeface="Inter Bold"/>
                <a:cs typeface="Inter Bold"/>
                <a:sym typeface="Inter Bold"/>
              </a:defRPr>
            </a:pPr>
            <a:r>
              <a:t>Korak 1.</a:t>
            </a:r>
            <a:r>
              <a:rPr>
                <a:latin typeface="Inter Regular"/>
                <a:ea typeface="Inter Regular"/>
                <a:cs typeface="Inter Regular"/>
                <a:sym typeface="Inter Regular"/>
              </a:rPr>
              <a:t> Kod otvaranja projekta, AI alat </a:t>
            </a:r>
            <a:r>
              <a:rPr>
                <a:solidFill>
                  <a:srgbClr val="00D4FF"/>
                </a:solidFill>
              </a:rPr>
              <a:t>indeksira tvoj codebase</a:t>
            </a:r>
            <a:r>
              <a:rPr>
                <a:latin typeface="Inter Regular"/>
                <a:ea typeface="Inter Regular"/>
                <a:cs typeface="Inter Regular"/>
                <a:sym typeface="Inter Regular"/>
              </a:rPr>
              <a:t>:</a:t>
            </a:r>
          </a:p>
        </p:txBody>
      </p:sp>
      <p:sp>
        <p:nvSpPr>
          <p:cNvPr id="193" name="Rounded Rectangle 8"/>
          <p:cNvSpPr/>
          <p:nvPr/>
        </p:nvSpPr>
        <p:spPr>
          <a:xfrm>
            <a:off x="631031" y="219444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194" name="TextBox 9"/>
          <p:cNvSpPr txBox="1"/>
          <p:nvPr/>
        </p:nvSpPr>
        <p:spPr>
          <a:xfrm>
            <a:off x="768190" y="2539890"/>
            <a:ext cx="288036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Podijeli programski kod u chunkove</a:t>
            </a:r>
          </a:p>
        </p:txBody>
      </p:sp>
      <p:sp>
        <p:nvSpPr>
          <p:cNvPr id="195" name="TextBox 10"/>
          <p:cNvSpPr txBox="1"/>
          <p:nvPr/>
        </p:nvSpPr>
        <p:spPr>
          <a:xfrm>
            <a:off x="3785711" y="2495440"/>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196" name="Rounded Rectangle 11"/>
          <p:cNvSpPr/>
          <p:nvPr/>
        </p:nvSpPr>
        <p:spPr>
          <a:xfrm>
            <a:off x="4105750" y="2194449"/>
            <a:ext cx="3154683"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197" name="TextBox 12"/>
          <p:cNvSpPr txBox="1"/>
          <p:nvPr/>
        </p:nvSpPr>
        <p:spPr>
          <a:xfrm>
            <a:off x="4242911" y="2539890"/>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Generiraj embeddingse</a:t>
            </a:r>
          </a:p>
        </p:txBody>
      </p:sp>
      <p:sp>
        <p:nvSpPr>
          <p:cNvPr id="198" name="TextBox 13"/>
          <p:cNvSpPr txBox="1"/>
          <p:nvPr/>
        </p:nvSpPr>
        <p:spPr>
          <a:xfrm>
            <a:off x="7260431" y="2495440"/>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199" name="Rounded Rectangle 14"/>
          <p:cNvSpPr/>
          <p:nvPr/>
        </p:nvSpPr>
        <p:spPr>
          <a:xfrm>
            <a:off x="7580469" y="219444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00" name="TextBox 15"/>
          <p:cNvSpPr txBox="1"/>
          <p:nvPr/>
        </p:nvSpPr>
        <p:spPr>
          <a:xfrm>
            <a:off x="7717631" y="2539890"/>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Spremi u vektorsku bazu podataka</a:t>
            </a:r>
          </a:p>
        </p:txBody>
      </p:sp>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4"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Pristup A: Embedding &amp; Indexing</a:t>
            </a:r>
          </a:p>
        </p:txBody>
      </p:sp>
      <p:sp>
        <p:nvSpPr>
          <p:cNvPr id="205"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grpSp>
        <p:nvGrpSpPr>
          <p:cNvPr id="208" name="Rounded Rectangle 4"/>
          <p:cNvGrpSpPr/>
          <p:nvPr/>
        </p:nvGrpSpPr>
        <p:grpSpPr>
          <a:xfrm>
            <a:off x="8616074" y="686815"/>
            <a:ext cx="987555" cy="292611"/>
            <a:chOff x="0" y="0"/>
            <a:chExt cx="987554" cy="292609"/>
          </a:xfrm>
        </p:grpSpPr>
        <p:sp>
          <p:nvSpPr>
            <p:cNvPr id="206" name="Rounded Rectangle"/>
            <p:cNvSpPr/>
            <p:nvPr/>
          </p:nvSpPr>
          <p:spPr>
            <a:xfrm>
              <a:off x="-1" y="0"/>
              <a:ext cx="987556" cy="292611"/>
            </a:xfrm>
            <a:prstGeom prst="roundRect">
              <a:avLst>
                <a:gd name="adj" fmla="val 50000"/>
              </a:avLst>
            </a:prstGeom>
            <a:noFill/>
            <a:ln w="952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207" name="Cursor"/>
            <p:cNvSpPr txBox="1"/>
            <p:nvPr/>
          </p:nvSpPr>
          <p:spPr>
            <a:xfrm>
              <a:off x="93333" y="70104"/>
              <a:ext cx="800887"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Cursor</a:t>
              </a:r>
            </a:p>
          </p:txBody>
        </p:sp>
      </p:grpSp>
      <p:grpSp>
        <p:nvGrpSpPr>
          <p:cNvPr id="211" name="Rounded Rectangle 5"/>
          <p:cNvGrpSpPr/>
          <p:nvPr/>
        </p:nvGrpSpPr>
        <p:grpSpPr>
          <a:xfrm>
            <a:off x="9676779" y="686815"/>
            <a:ext cx="1106427" cy="292611"/>
            <a:chOff x="0" y="0"/>
            <a:chExt cx="1106426" cy="292609"/>
          </a:xfrm>
        </p:grpSpPr>
        <p:sp>
          <p:nvSpPr>
            <p:cNvPr id="209" name="Rounded Rectangle"/>
            <p:cNvSpPr/>
            <p:nvPr/>
          </p:nvSpPr>
          <p:spPr>
            <a:xfrm>
              <a:off x="-1" y="0"/>
              <a:ext cx="1106428" cy="292611"/>
            </a:xfrm>
            <a:prstGeom prst="roundRect">
              <a:avLst>
                <a:gd name="adj" fmla="val 50000"/>
              </a:avLst>
            </a:prstGeom>
            <a:noFill/>
            <a:ln w="952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210" name="Copilot"/>
            <p:cNvSpPr txBox="1"/>
            <p:nvPr/>
          </p:nvSpPr>
          <p:spPr>
            <a:xfrm>
              <a:off x="93333" y="70104"/>
              <a:ext cx="919759"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Copilot</a:t>
              </a:r>
            </a:p>
          </p:txBody>
        </p:sp>
      </p:grpSp>
      <p:grpSp>
        <p:nvGrpSpPr>
          <p:cNvPr id="214" name="Rounded Rectangle 6"/>
          <p:cNvGrpSpPr/>
          <p:nvPr/>
        </p:nvGrpSpPr>
        <p:grpSpPr>
          <a:xfrm>
            <a:off x="10856355" y="686815"/>
            <a:ext cx="749811" cy="292611"/>
            <a:chOff x="0" y="0"/>
            <a:chExt cx="749809" cy="292609"/>
          </a:xfrm>
        </p:grpSpPr>
        <p:sp>
          <p:nvSpPr>
            <p:cNvPr id="212" name="Rounded Rectangle"/>
            <p:cNvSpPr/>
            <p:nvPr/>
          </p:nvSpPr>
          <p:spPr>
            <a:xfrm>
              <a:off x="-1" y="0"/>
              <a:ext cx="749811" cy="292611"/>
            </a:xfrm>
            <a:prstGeom prst="roundRect">
              <a:avLst>
                <a:gd name="adj" fmla="val 50000"/>
              </a:avLst>
            </a:prstGeom>
            <a:noFill/>
            <a:ln w="952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213" name="Cody"/>
            <p:cNvSpPr txBox="1"/>
            <p:nvPr/>
          </p:nvSpPr>
          <p:spPr>
            <a:xfrm>
              <a:off x="93333" y="70104"/>
              <a:ext cx="563143"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Cody</a:t>
              </a:r>
            </a:p>
          </p:txBody>
        </p:sp>
      </p:grpSp>
      <p:sp>
        <p:nvSpPr>
          <p:cNvPr id="215" name="TextBox 7"/>
          <p:cNvSpPr txBox="1"/>
          <p:nvPr/>
        </p:nvSpPr>
        <p:spPr>
          <a:xfrm>
            <a:off x="631030" y="1691530"/>
            <a:ext cx="10908795"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2F2F2"/>
                </a:solidFill>
                <a:latin typeface="Inter Bold"/>
                <a:ea typeface="Inter Bold"/>
                <a:cs typeface="Inter Bold"/>
                <a:sym typeface="Inter Bold"/>
              </a:defRPr>
            </a:pPr>
            <a:r>
              <a:t>Korak 1.</a:t>
            </a:r>
            <a:r>
              <a:rPr>
                <a:latin typeface="Inter Regular"/>
                <a:ea typeface="Inter Regular"/>
                <a:cs typeface="Inter Regular"/>
                <a:sym typeface="Inter Regular"/>
              </a:rPr>
              <a:t> Kod otvaranja projekta, AI alat </a:t>
            </a:r>
            <a:r>
              <a:rPr>
                <a:solidFill>
                  <a:srgbClr val="00D4FF"/>
                </a:solidFill>
              </a:rPr>
              <a:t>indeksira tvoj codebase</a:t>
            </a:r>
            <a:r>
              <a:rPr>
                <a:latin typeface="Inter Regular"/>
                <a:ea typeface="Inter Regular"/>
                <a:cs typeface="Inter Regular"/>
                <a:sym typeface="Inter Regular"/>
              </a:rPr>
              <a:t>:</a:t>
            </a:r>
          </a:p>
        </p:txBody>
      </p:sp>
      <p:sp>
        <p:nvSpPr>
          <p:cNvPr id="216" name="Rounded Rectangle 8"/>
          <p:cNvSpPr/>
          <p:nvPr/>
        </p:nvSpPr>
        <p:spPr>
          <a:xfrm>
            <a:off x="631031" y="219444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17" name="TextBox 9"/>
          <p:cNvSpPr txBox="1"/>
          <p:nvPr/>
        </p:nvSpPr>
        <p:spPr>
          <a:xfrm>
            <a:off x="768190" y="2539890"/>
            <a:ext cx="288036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Podijeli programski kod u chunkove</a:t>
            </a:r>
          </a:p>
        </p:txBody>
      </p:sp>
      <p:sp>
        <p:nvSpPr>
          <p:cNvPr id="218" name="TextBox 10"/>
          <p:cNvSpPr txBox="1"/>
          <p:nvPr/>
        </p:nvSpPr>
        <p:spPr>
          <a:xfrm>
            <a:off x="3785711" y="2495440"/>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19" name="Rounded Rectangle 11"/>
          <p:cNvSpPr/>
          <p:nvPr/>
        </p:nvSpPr>
        <p:spPr>
          <a:xfrm>
            <a:off x="4105750" y="2194449"/>
            <a:ext cx="3154683"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20" name="TextBox 12"/>
          <p:cNvSpPr txBox="1"/>
          <p:nvPr/>
        </p:nvSpPr>
        <p:spPr>
          <a:xfrm>
            <a:off x="4242911" y="2539890"/>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Generiraj embeddingse</a:t>
            </a:r>
          </a:p>
        </p:txBody>
      </p:sp>
      <p:sp>
        <p:nvSpPr>
          <p:cNvPr id="221" name="TextBox 13"/>
          <p:cNvSpPr txBox="1"/>
          <p:nvPr/>
        </p:nvSpPr>
        <p:spPr>
          <a:xfrm>
            <a:off x="7260431" y="2495440"/>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22" name="Rounded Rectangle 14"/>
          <p:cNvSpPr/>
          <p:nvPr/>
        </p:nvSpPr>
        <p:spPr>
          <a:xfrm>
            <a:off x="7580469" y="219444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23" name="TextBox 15"/>
          <p:cNvSpPr txBox="1"/>
          <p:nvPr/>
        </p:nvSpPr>
        <p:spPr>
          <a:xfrm>
            <a:off x="7717631" y="2539890"/>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Spremi u vektorsku bazu podataka</a:t>
            </a:r>
          </a:p>
        </p:txBody>
      </p:sp>
      <p:sp>
        <p:nvSpPr>
          <p:cNvPr id="224" name="TextBox 16"/>
          <p:cNvSpPr txBox="1"/>
          <p:nvPr/>
        </p:nvSpPr>
        <p:spPr>
          <a:xfrm>
            <a:off x="631030" y="3337448"/>
            <a:ext cx="10908795"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2F2F2"/>
                </a:solidFill>
                <a:latin typeface="Inter Bold"/>
                <a:ea typeface="Inter Bold"/>
                <a:cs typeface="Inter Bold"/>
                <a:sym typeface="Inter Bold"/>
              </a:defRPr>
            </a:pPr>
            <a:r>
              <a:t>Step 2.</a:t>
            </a:r>
            <a:r>
              <a:rPr>
                <a:latin typeface="Inter Regular"/>
                <a:ea typeface="Inter Regular"/>
                <a:cs typeface="Inter Regular"/>
                <a:sym typeface="Inter Regular"/>
              </a:rPr>
              <a:t> Kod promptanja, </a:t>
            </a:r>
            <a:r>
              <a:rPr>
                <a:solidFill>
                  <a:srgbClr val="00D4FF"/>
                </a:solidFill>
              </a:rPr>
              <a:t>pretražuje relevantan kod</a:t>
            </a:r>
            <a:r>
              <a:rPr>
                <a:latin typeface="Inter Regular"/>
                <a:ea typeface="Inter Regular"/>
                <a:cs typeface="Inter Regular"/>
                <a:sym typeface="Inter Regular"/>
              </a:rPr>
              <a:t>:</a:t>
            </a:r>
          </a:p>
        </p:txBody>
      </p:sp>
      <p:sp>
        <p:nvSpPr>
          <p:cNvPr id="225" name="Rounded Rectangle 17"/>
          <p:cNvSpPr/>
          <p:nvPr/>
        </p:nvSpPr>
        <p:spPr>
          <a:xfrm>
            <a:off x="631031" y="384036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26" name="TextBox 18"/>
          <p:cNvSpPr txBox="1"/>
          <p:nvPr/>
        </p:nvSpPr>
        <p:spPr>
          <a:xfrm>
            <a:off x="768190" y="4185809"/>
            <a:ext cx="288036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Tvoj prompt</a:t>
            </a:r>
          </a:p>
        </p:txBody>
      </p:sp>
      <p:sp>
        <p:nvSpPr>
          <p:cNvPr id="227" name="TextBox 19"/>
          <p:cNvSpPr txBox="1"/>
          <p:nvPr/>
        </p:nvSpPr>
        <p:spPr>
          <a:xfrm>
            <a:off x="3785711" y="4141359"/>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28" name="Rounded Rectangle 20"/>
          <p:cNvSpPr/>
          <p:nvPr/>
        </p:nvSpPr>
        <p:spPr>
          <a:xfrm>
            <a:off x="4105750" y="3840369"/>
            <a:ext cx="3154683"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29" name="TextBox 21"/>
          <p:cNvSpPr txBox="1"/>
          <p:nvPr/>
        </p:nvSpPr>
        <p:spPr>
          <a:xfrm>
            <a:off x="4242911" y="4185809"/>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Semantičko pretraživanje</a:t>
            </a:r>
          </a:p>
        </p:txBody>
      </p:sp>
      <p:sp>
        <p:nvSpPr>
          <p:cNvPr id="230" name="TextBox 22"/>
          <p:cNvSpPr txBox="1"/>
          <p:nvPr/>
        </p:nvSpPr>
        <p:spPr>
          <a:xfrm>
            <a:off x="7260431" y="4141359"/>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31" name="Rounded Rectangle 23"/>
          <p:cNvSpPr/>
          <p:nvPr/>
        </p:nvSpPr>
        <p:spPr>
          <a:xfrm>
            <a:off x="7580469" y="384036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32" name="TextBox 24"/>
          <p:cNvSpPr txBox="1"/>
          <p:nvPr/>
        </p:nvSpPr>
        <p:spPr>
          <a:xfrm>
            <a:off x="7717631" y="4185809"/>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Umetanje u kontekst</a:t>
            </a:r>
          </a:p>
        </p:txBody>
      </p:sp>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6"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Pristup A: Embedding &amp; Indexing</a:t>
            </a:r>
          </a:p>
        </p:txBody>
      </p:sp>
      <p:sp>
        <p:nvSpPr>
          <p:cNvPr id="237"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grpSp>
        <p:nvGrpSpPr>
          <p:cNvPr id="240" name="Rounded Rectangle 4"/>
          <p:cNvGrpSpPr/>
          <p:nvPr/>
        </p:nvGrpSpPr>
        <p:grpSpPr>
          <a:xfrm>
            <a:off x="8616074" y="686815"/>
            <a:ext cx="987555" cy="292611"/>
            <a:chOff x="0" y="0"/>
            <a:chExt cx="987554" cy="292609"/>
          </a:xfrm>
        </p:grpSpPr>
        <p:sp>
          <p:nvSpPr>
            <p:cNvPr id="238" name="Rounded Rectangle"/>
            <p:cNvSpPr/>
            <p:nvPr/>
          </p:nvSpPr>
          <p:spPr>
            <a:xfrm>
              <a:off x="-1" y="0"/>
              <a:ext cx="987556" cy="292611"/>
            </a:xfrm>
            <a:prstGeom prst="roundRect">
              <a:avLst>
                <a:gd name="adj" fmla="val 50000"/>
              </a:avLst>
            </a:prstGeom>
            <a:noFill/>
            <a:ln w="952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239" name="Cursor"/>
            <p:cNvSpPr txBox="1"/>
            <p:nvPr/>
          </p:nvSpPr>
          <p:spPr>
            <a:xfrm>
              <a:off x="93333" y="70104"/>
              <a:ext cx="800887"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Cursor</a:t>
              </a:r>
            </a:p>
          </p:txBody>
        </p:sp>
      </p:grpSp>
      <p:grpSp>
        <p:nvGrpSpPr>
          <p:cNvPr id="243" name="Rounded Rectangle 5"/>
          <p:cNvGrpSpPr/>
          <p:nvPr/>
        </p:nvGrpSpPr>
        <p:grpSpPr>
          <a:xfrm>
            <a:off x="9676779" y="686815"/>
            <a:ext cx="1106427" cy="292611"/>
            <a:chOff x="0" y="0"/>
            <a:chExt cx="1106426" cy="292609"/>
          </a:xfrm>
        </p:grpSpPr>
        <p:sp>
          <p:nvSpPr>
            <p:cNvPr id="241" name="Rounded Rectangle"/>
            <p:cNvSpPr/>
            <p:nvPr/>
          </p:nvSpPr>
          <p:spPr>
            <a:xfrm>
              <a:off x="-1" y="0"/>
              <a:ext cx="1106428" cy="292611"/>
            </a:xfrm>
            <a:prstGeom prst="roundRect">
              <a:avLst>
                <a:gd name="adj" fmla="val 50000"/>
              </a:avLst>
            </a:prstGeom>
            <a:noFill/>
            <a:ln w="952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242" name="Copilot"/>
            <p:cNvSpPr txBox="1"/>
            <p:nvPr/>
          </p:nvSpPr>
          <p:spPr>
            <a:xfrm>
              <a:off x="93333" y="70104"/>
              <a:ext cx="919759"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Copilot</a:t>
              </a:r>
            </a:p>
          </p:txBody>
        </p:sp>
      </p:grpSp>
      <p:grpSp>
        <p:nvGrpSpPr>
          <p:cNvPr id="246" name="Rounded Rectangle 6"/>
          <p:cNvGrpSpPr/>
          <p:nvPr/>
        </p:nvGrpSpPr>
        <p:grpSpPr>
          <a:xfrm>
            <a:off x="10856355" y="686815"/>
            <a:ext cx="749811" cy="292611"/>
            <a:chOff x="0" y="0"/>
            <a:chExt cx="749809" cy="292609"/>
          </a:xfrm>
        </p:grpSpPr>
        <p:sp>
          <p:nvSpPr>
            <p:cNvPr id="244" name="Rounded Rectangle"/>
            <p:cNvSpPr/>
            <p:nvPr/>
          </p:nvSpPr>
          <p:spPr>
            <a:xfrm>
              <a:off x="-1" y="0"/>
              <a:ext cx="749811" cy="292611"/>
            </a:xfrm>
            <a:prstGeom prst="roundRect">
              <a:avLst>
                <a:gd name="adj" fmla="val 50000"/>
              </a:avLst>
            </a:prstGeom>
            <a:noFill/>
            <a:ln w="952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245" name="Cody"/>
            <p:cNvSpPr txBox="1"/>
            <p:nvPr/>
          </p:nvSpPr>
          <p:spPr>
            <a:xfrm>
              <a:off x="93333" y="70104"/>
              <a:ext cx="563143"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00D4FF"/>
                  </a:solidFill>
                  <a:latin typeface="Inter Bold"/>
                  <a:ea typeface="Inter Bold"/>
                  <a:cs typeface="Inter Bold"/>
                  <a:sym typeface="Inter Bold"/>
                </a:defRPr>
              </a:lvl1pPr>
            </a:lstStyle>
            <a:p>
              <a:pPr/>
              <a:r>
                <a:t>Cody</a:t>
              </a:r>
            </a:p>
          </p:txBody>
        </p:sp>
      </p:grpSp>
      <p:sp>
        <p:nvSpPr>
          <p:cNvPr id="247" name="TextBox 7"/>
          <p:cNvSpPr txBox="1"/>
          <p:nvPr/>
        </p:nvSpPr>
        <p:spPr>
          <a:xfrm>
            <a:off x="631030" y="1680155"/>
            <a:ext cx="10908795"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2F2F2"/>
                </a:solidFill>
                <a:latin typeface="Inter Bold"/>
                <a:ea typeface="Inter Bold"/>
                <a:cs typeface="Inter Bold"/>
                <a:sym typeface="Inter Bold"/>
              </a:defRPr>
            </a:pPr>
            <a:r>
              <a:t>Korak 1.</a:t>
            </a:r>
            <a:r>
              <a:rPr>
                <a:latin typeface="Inter Regular"/>
                <a:ea typeface="Inter Regular"/>
                <a:cs typeface="Inter Regular"/>
                <a:sym typeface="Inter Regular"/>
              </a:rPr>
              <a:t> Kod otvaranja projekta, AI alat </a:t>
            </a:r>
            <a:r>
              <a:rPr>
                <a:solidFill>
                  <a:srgbClr val="00D4FF"/>
                </a:solidFill>
              </a:rPr>
              <a:t>indeksira tvoj codebase</a:t>
            </a:r>
            <a:r>
              <a:rPr>
                <a:latin typeface="Inter Regular"/>
                <a:ea typeface="Inter Regular"/>
                <a:cs typeface="Inter Regular"/>
                <a:sym typeface="Inter Regular"/>
              </a:rPr>
              <a:t>:</a:t>
            </a:r>
          </a:p>
        </p:txBody>
      </p:sp>
      <p:sp>
        <p:nvSpPr>
          <p:cNvPr id="248" name="Rounded Rectangle 8"/>
          <p:cNvSpPr/>
          <p:nvPr/>
        </p:nvSpPr>
        <p:spPr>
          <a:xfrm>
            <a:off x="631031" y="219444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49" name="TextBox 9"/>
          <p:cNvSpPr txBox="1"/>
          <p:nvPr/>
        </p:nvSpPr>
        <p:spPr>
          <a:xfrm>
            <a:off x="768190" y="2539890"/>
            <a:ext cx="288036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Podijeli programski kod u chunkove</a:t>
            </a:r>
          </a:p>
        </p:txBody>
      </p:sp>
      <p:sp>
        <p:nvSpPr>
          <p:cNvPr id="250" name="TextBox 10"/>
          <p:cNvSpPr txBox="1"/>
          <p:nvPr/>
        </p:nvSpPr>
        <p:spPr>
          <a:xfrm>
            <a:off x="3785711" y="2495440"/>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51" name="Rounded Rectangle 11"/>
          <p:cNvSpPr/>
          <p:nvPr/>
        </p:nvSpPr>
        <p:spPr>
          <a:xfrm>
            <a:off x="4105750" y="2194449"/>
            <a:ext cx="3154683"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52" name="TextBox 12"/>
          <p:cNvSpPr txBox="1"/>
          <p:nvPr/>
        </p:nvSpPr>
        <p:spPr>
          <a:xfrm>
            <a:off x="4242911" y="2539890"/>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Generiraj embeddingse</a:t>
            </a:r>
          </a:p>
        </p:txBody>
      </p:sp>
      <p:sp>
        <p:nvSpPr>
          <p:cNvPr id="253" name="TextBox 13"/>
          <p:cNvSpPr txBox="1"/>
          <p:nvPr/>
        </p:nvSpPr>
        <p:spPr>
          <a:xfrm>
            <a:off x="7260431" y="2495440"/>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54" name="Rounded Rectangle 14"/>
          <p:cNvSpPr/>
          <p:nvPr/>
        </p:nvSpPr>
        <p:spPr>
          <a:xfrm>
            <a:off x="7580469" y="219444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55" name="TextBox 15"/>
          <p:cNvSpPr txBox="1"/>
          <p:nvPr/>
        </p:nvSpPr>
        <p:spPr>
          <a:xfrm>
            <a:off x="7717631" y="2539890"/>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Spremi u vektorsku bazu podataka</a:t>
            </a:r>
          </a:p>
        </p:txBody>
      </p:sp>
      <p:sp>
        <p:nvSpPr>
          <p:cNvPr id="256" name="TextBox 16"/>
          <p:cNvSpPr txBox="1"/>
          <p:nvPr/>
        </p:nvSpPr>
        <p:spPr>
          <a:xfrm>
            <a:off x="631030" y="3337448"/>
            <a:ext cx="10908795"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2F2F2"/>
                </a:solidFill>
                <a:latin typeface="Inter Bold"/>
                <a:ea typeface="Inter Bold"/>
                <a:cs typeface="Inter Bold"/>
                <a:sym typeface="Inter Bold"/>
              </a:defRPr>
            </a:pPr>
            <a:r>
              <a:t>Step 2.</a:t>
            </a:r>
            <a:r>
              <a:rPr>
                <a:latin typeface="Inter Regular"/>
                <a:ea typeface="Inter Regular"/>
                <a:cs typeface="Inter Regular"/>
                <a:sym typeface="Inter Regular"/>
              </a:rPr>
              <a:t> Kod promptanja, </a:t>
            </a:r>
            <a:r>
              <a:rPr>
                <a:solidFill>
                  <a:srgbClr val="00D4FF"/>
                </a:solidFill>
              </a:rPr>
              <a:t>pretražuje relevantan kod</a:t>
            </a:r>
            <a:r>
              <a:rPr>
                <a:latin typeface="Inter Regular"/>
                <a:ea typeface="Inter Regular"/>
                <a:cs typeface="Inter Regular"/>
                <a:sym typeface="Inter Regular"/>
              </a:rPr>
              <a:t>:</a:t>
            </a:r>
          </a:p>
        </p:txBody>
      </p:sp>
      <p:sp>
        <p:nvSpPr>
          <p:cNvPr id="257" name="Rounded Rectangle 17"/>
          <p:cNvSpPr/>
          <p:nvPr/>
        </p:nvSpPr>
        <p:spPr>
          <a:xfrm>
            <a:off x="631031" y="384036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58" name="TextBox 18"/>
          <p:cNvSpPr txBox="1"/>
          <p:nvPr/>
        </p:nvSpPr>
        <p:spPr>
          <a:xfrm>
            <a:off x="768190" y="4185809"/>
            <a:ext cx="288036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Tvoj prompt</a:t>
            </a:r>
          </a:p>
        </p:txBody>
      </p:sp>
      <p:sp>
        <p:nvSpPr>
          <p:cNvPr id="259" name="TextBox 19"/>
          <p:cNvSpPr txBox="1"/>
          <p:nvPr/>
        </p:nvSpPr>
        <p:spPr>
          <a:xfrm>
            <a:off x="3785711" y="4141359"/>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60" name="Rounded Rectangle 20"/>
          <p:cNvSpPr/>
          <p:nvPr/>
        </p:nvSpPr>
        <p:spPr>
          <a:xfrm>
            <a:off x="4105750" y="3840369"/>
            <a:ext cx="3154683"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61" name="TextBox 21"/>
          <p:cNvSpPr txBox="1"/>
          <p:nvPr/>
        </p:nvSpPr>
        <p:spPr>
          <a:xfrm>
            <a:off x="4242911" y="4185809"/>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Semantičko pretraživanje</a:t>
            </a:r>
          </a:p>
        </p:txBody>
      </p:sp>
      <p:sp>
        <p:nvSpPr>
          <p:cNvPr id="262" name="Rounded Rectangle 25"/>
          <p:cNvSpPr/>
          <p:nvPr/>
        </p:nvSpPr>
        <p:spPr>
          <a:xfrm>
            <a:off x="631031" y="5029089"/>
            <a:ext cx="10972801" cy="914402"/>
          </a:xfrm>
          <a:prstGeom prst="roundRect">
            <a:avLst>
              <a:gd name="adj" fmla="val 6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263" name="Rectangle 26"/>
          <p:cNvSpPr/>
          <p:nvPr/>
        </p:nvSpPr>
        <p:spPr>
          <a:xfrm>
            <a:off x="631031" y="5029089"/>
            <a:ext cx="54866" cy="914402"/>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264" name="TextBox 27"/>
          <p:cNvSpPr txBox="1"/>
          <p:nvPr/>
        </p:nvSpPr>
        <p:spPr>
          <a:xfrm>
            <a:off x="888582" y="5365639"/>
            <a:ext cx="10607042"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30000"/>
              </a:lnSpc>
              <a:defRPr sz="1500">
                <a:solidFill>
                  <a:srgbClr val="F2F2F2"/>
                </a:solidFill>
                <a:latin typeface="Inter Regular"/>
                <a:ea typeface="Inter Regular"/>
                <a:cs typeface="Inter Regular"/>
                <a:sym typeface="Inter Regular"/>
              </a:defRPr>
            </a:lvl1pPr>
          </a:lstStyle>
          <a:p>
            <a:pPr/>
            <a:r>
              <a:t>Loša struktura -&gt; loši rezultati pretraživanja -&gt; loš output</a:t>
            </a:r>
          </a:p>
        </p:txBody>
      </p:sp>
      <p:sp>
        <p:nvSpPr>
          <p:cNvPr id="265" name="TextBox 22"/>
          <p:cNvSpPr txBox="1"/>
          <p:nvPr/>
        </p:nvSpPr>
        <p:spPr>
          <a:xfrm>
            <a:off x="7260431" y="4141359"/>
            <a:ext cx="32004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a:solidFill>
                  <a:srgbClr val="00D4FF"/>
                </a:solidFill>
                <a:latin typeface="Inter Bold"/>
                <a:ea typeface="Inter Bold"/>
                <a:cs typeface="Inter Bold"/>
                <a:sym typeface="Inter Bold"/>
              </a:defRPr>
            </a:lvl1pPr>
          </a:lstStyle>
          <a:p>
            <a:pPr/>
            <a:r>
              <a:t>→</a:t>
            </a:r>
          </a:p>
        </p:txBody>
      </p:sp>
      <p:sp>
        <p:nvSpPr>
          <p:cNvPr id="266" name="Rounded Rectangle 23"/>
          <p:cNvSpPr/>
          <p:nvPr/>
        </p:nvSpPr>
        <p:spPr>
          <a:xfrm>
            <a:off x="7580469" y="3840369"/>
            <a:ext cx="3154682" cy="868682"/>
          </a:xfrm>
          <a:prstGeom prst="roundRect">
            <a:avLst>
              <a:gd name="adj" fmla="val 12000"/>
            </a:avLst>
          </a:prstGeom>
          <a:solidFill>
            <a:srgbClr val="1A1A2E"/>
          </a:solidFill>
          <a:ln>
            <a:solidFill>
              <a:srgbClr val="00D4FF"/>
            </a:solidFill>
          </a:ln>
        </p:spPr>
        <p:txBody>
          <a:bodyPr lIns="45718" tIns="45718" rIns="45718" bIns="45718" anchor="ctr"/>
          <a:lstStyle/>
          <a:p>
            <a:pPr algn="ctr">
              <a:defRPr>
                <a:solidFill>
                  <a:srgbClr val="FFFFFF"/>
                </a:solidFill>
              </a:defRPr>
            </a:pPr>
          </a:p>
        </p:txBody>
      </p:sp>
      <p:sp>
        <p:nvSpPr>
          <p:cNvPr id="267" name="TextBox 24"/>
          <p:cNvSpPr txBox="1"/>
          <p:nvPr/>
        </p:nvSpPr>
        <p:spPr>
          <a:xfrm>
            <a:off x="7717631" y="4185809"/>
            <a:ext cx="288036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sz="1100">
                <a:solidFill>
                  <a:srgbClr val="F2F2F2"/>
                </a:solidFill>
                <a:latin typeface="JetBrains Mono Bold"/>
                <a:ea typeface="JetBrains Mono Bold"/>
                <a:cs typeface="JetBrains Mono Bold"/>
                <a:sym typeface="JetBrains Mono Bold"/>
              </a:defRPr>
            </a:lvl1pPr>
          </a:lstStyle>
          <a:p>
            <a:pPr/>
            <a:r>
              <a:t>Umetanje u kontekst</a:t>
            </a:r>
          </a:p>
        </p:txBody>
      </p:sp>
    </p:spTree>
  </p:cSld>
  <p:clrMapOvr>
    <a:masterClrMapping/>
  </p:clrMapOvr>
  <p:transition xmlns:p14="http://schemas.microsoft.com/office/powerpoint/2010/main" spd="med" advClick="1"/>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1"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Pristup B: Agentic Search</a:t>
            </a:r>
          </a:p>
        </p:txBody>
      </p:sp>
      <p:sp>
        <p:nvSpPr>
          <p:cNvPr id="272"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grpSp>
        <p:nvGrpSpPr>
          <p:cNvPr id="275" name="Rounded Rectangle 4"/>
          <p:cNvGrpSpPr/>
          <p:nvPr/>
        </p:nvGrpSpPr>
        <p:grpSpPr>
          <a:xfrm>
            <a:off x="8610600" y="686815"/>
            <a:ext cx="1581913" cy="292611"/>
            <a:chOff x="0" y="0"/>
            <a:chExt cx="1581912" cy="292609"/>
          </a:xfrm>
        </p:grpSpPr>
        <p:sp>
          <p:nvSpPr>
            <p:cNvPr id="273" name="Rounded Rectangle"/>
            <p:cNvSpPr/>
            <p:nvPr/>
          </p:nvSpPr>
          <p:spPr>
            <a:xfrm>
              <a:off x="0" y="0"/>
              <a:ext cx="1581913" cy="292611"/>
            </a:xfrm>
            <a:prstGeom prst="roundRect">
              <a:avLst>
                <a:gd name="adj" fmla="val 50000"/>
              </a:avLst>
            </a:prstGeom>
            <a:noFill/>
            <a:ln w="9525" cap="flat">
              <a:solidFill>
                <a:srgbClr val="2ED573"/>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274" name="Claude Code"/>
            <p:cNvSpPr txBox="1"/>
            <p:nvPr/>
          </p:nvSpPr>
          <p:spPr>
            <a:xfrm>
              <a:off x="93333" y="70104"/>
              <a:ext cx="1395247"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2ED573"/>
                  </a:solidFill>
                  <a:latin typeface="Inter Bold"/>
                  <a:ea typeface="Inter Bold"/>
                  <a:cs typeface="Inter Bold"/>
                  <a:sym typeface="Inter Bold"/>
                </a:defRPr>
              </a:lvl1pPr>
            </a:lstStyle>
            <a:p>
              <a:pPr/>
              <a:r>
                <a:t>Claude Code</a:t>
              </a:r>
            </a:p>
          </p:txBody>
        </p:sp>
      </p:grpSp>
      <p:sp>
        <p:nvSpPr>
          <p:cNvPr id="276" name="TextBox 5"/>
          <p:cNvSpPr txBox="1"/>
          <p:nvPr/>
        </p:nvSpPr>
        <p:spPr>
          <a:xfrm>
            <a:off x="640079" y="1691638"/>
            <a:ext cx="10908794"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2F2F2"/>
                </a:solidFill>
                <a:latin typeface="Inter Regular"/>
                <a:ea typeface="Inter Regular"/>
                <a:cs typeface="Inter Regular"/>
                <a:sym typeface="Inter Regular"/>
              </a:defRPr>
            </a:pPr>
            <a:r>
              <a:t>Nema indeksiranja. AI </a:t>
            </a:r>
            <a:r>
              <a:rPr>
                <a:solidFill>
                  <a:srgbClr val="00D4FF"/>
                </a:solidFill>
                <a:latin typeface="Inter Bold"/>
                <a:ea typeface="Inter Bold"/>
                <a:cs typeface="Inter Bold"/>
                <a:sym typeface="Inter Bold"/>
              </a:rPr>
              <a:t>istražuje po potrebi</a:t>
            </a:r>
            <a:r>
              <a:t>, poput developera:</a:t>
            </a:r>
          </a:p>
        </p:txBody>
      </p:sp>
      <p:sp>
        <p:nvSpPr>
          <p:cNvPr id="277" name="Rounded Rectangle 6"/>
          <p:cNvSpPr/>
          <p:nvPr/>
        </p:nvSpPr>
        <p:spPr>
          <a:xfrm>
            <a:off x="640080" y="2202178"/>
            <a:ext cx="10972801" cy="2468883"/>
          </a:xfrm>
          <a:prstGeom prst="roundRect">
            <a:avLst>
              <a:gd name="adj" fmla="val 4000"/>
            </a:avLst>
          </a:prstGeom>
          <a:solidFill>
            <a:srgbClr val="1A1A2E"/>
          </a:solidFill>
          <a:ln>
            <a:solidFill>
              <a:srgbClr val="333333"/>
            </a:solidFill>
          </a:ln>
        </p:spPr>
        <p:txBody>
          <a:bodyPr lIns="45718" tIns="45718" rIns="45718" bIns="45718" anchor="ctr"/>
          <a:lstStyle/>
          <a:p>
            <a:pPr algn="ctr">
              <a:defRPr>
                <a:solidFill>
                  <a:srgbClr val="FFFFFF"/>
                </a:solidFill>
              </a:defRPr>
            </a:pPr>
          </a:p>
        </p:txBody>
      </p:sp>
      <p:sp>
        <p:nvSpPr>
          <p:cNvPr id="278" name="TextBox 7"/>
          <p:cNvSpPr txBox="1"/>
          <p:nvPr/>
        </p:nvSpPr>
        <p:spPr>
          <a:xfrm>
            <a:off x="868680" y="2430778"/>
            <a:ext cx="10515601" cy="182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60000"/>
              </a:lnSpc>
              <a:defRPr sz="1200">
                <a:solidFill>
                  <a:srgbClr val="888888"/>
                </a:solidFill>
                <a:latin typeface="JetBrains Mono Regular"/>
                <a:ea typeface="JetBrains Mono Regular"/>
                <a:cs typeface="JetBrains Mono Regular"/>
                <a:sym typeface="JetBrains Mono Regular"/>
              </a:defRPr>
            </a:pPr>
            <a:r>
              <a:t>1.  </a:t>
            </a:r>
            <a:r>
              <a:rPr>
                <a:solidFill>
                  <a:srgbClr val="00D4FF"/>
                </a:solidFill>
                <a:latin typeface="JetBrains Mono Bold"/>
                <a:ea typeface="JetBrains Mono Bold"/>
                <a:cs typeface="JetBrains Mono Bold"/>
                <a:sym typeface="JetBrains Mono Bold"/>
              </a:rPr>
              <a:t>Read file tree</a:t>
            </a:r>
            <a:r>
              <a:rPr>
                <a:solidFill>
                  <a:srgbClr val="F2F2F2"/>
                </a:solidFill>
              </a:rPr>
              <a:t>       →  “Kako ovaj projekt izgleda?”</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2.  </a:t>
            </a:r>
            <a:r>
              <a:rPr>
                <a:solidFill>
                  <a:srgbClr val="00D4FF"/>
                </a:solidFill>
                <a:latin typeface="JetBrains Mono Bold"/>
                <a:ea typeface="JetBrains Mono Bold"/>
                <a:cs typeface="JetBrains Mono Bold"/>
                <a:sym typeface="JetBrains Mono Bold"/>
              </a:rPr>
              <a:t>Glob</a:t>
            </a:r>
            <a:r>
              <a:rPr>
                <a:solidFill>
                  <a:srgbClr val="F2F2F2"/>
                </a:solidFill>
              </a:rPr>
              <a:t> (find files)    →  “Koje su datoteke vezane uz moj zadatak?”</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3.  </a:t>
            </a:r>
            <a:r>
              <a:rPr>
                <a:solidFill>
                  <a:srgbClr val="00D4FF"/>
                </a:solidFill>
                <a:latin typeface="JetBrains Mono Bold"/>
                <a:ea typeface="JetBrains Mono Bold"/>
                <a:cs typeface="JetBrains Mono Bold"/>
                <a:sym typeface="JetBrains Mono Bold"/>
              </a:rPr>
              <a:t>Grep</a:t>
            </a:r>
            <a:r>
              <a:rPr>
                <a:solidFill>
                  <a:srgbClr val="F2F2F2"/>
                </a:solidFill>
              </a:rPr>
              <a:t> (search code)   →  “Koja od ovih komponenti sadrži ono što meni treba?”</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4.  </a:t>
            </a:r>
            <a:r>
              <a:rPr>
                <a:solidFill>
                  <a:srgbClr val="00D4FF"/>
                </a:solidFill>
                <a:latin typeface="JetBrains Mono Bold"/>
                <a:ea typeface="JetBrains Mono Bold"/>
                <a:cs typeface="JetBrains Mono Bold"/>
                <a:sym typeface="JetBrains Mono Bold"/>
              </a:rPr>
              <a:t>Read</a:t>
            </a:r>
            <a:r>
              <a:rPr>
                <a:solidFill>
                  <a:srgbClr val="F2F2F2"/>
                </a:solidFill>
              </a:rPr>
              <a:t> (load file)     →  “Pokušavam shvatit kako funkcionira ova komponenta.”</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5.  </a:t>
            </a:r>
            <a:r>
              <a:rPr>
                <a:solidFill>
                  <a:srgbClr val="00D4FF"/>
                </a:solidFill>
                <a:latin typeface="JetBrains Mono Bold"/>
                <a:ea typeface="JetBrains Mono Bold"/>
                <a:cs typeface="JetBrains Mono Bold"/>
                <a:sym typeface="JetBrains Mono Bold"/>
              </a:rPr>
              <a:t>Follow imports</a:t>
            </a:r>
            <a:r>
              <a:rPr>
                <a:solidFill>
                  <a:srgbClr val="F2F2F2"/>
                </a:solidFill>
              </a:rPr>
              <a:t>       →  “O čemu ovisi ova komponenta?”</a:t>
            </a:r>
            <a:endParaRPr>
              <a:solidFill>
                <a:srgbClr val="F2F2F2"/>
              </a:solidFill>
            </a:endParaRPr>
          </a:p>
          <a:p>
            <a:pPr>
              <a:lnSpc>
                <a:spcPct val="160000"/>
              </a:lnSpc>
              <a:defRPr sz="1200">
                <a:solidFill>
                  <a:srgbClr val="F2F2F2"/>
                </a:solidFill>
                <a:latin typeface="JetBrains Mono Regular"/>
                <a:ea typeface="JetBrains Mono Regular"/>
                <a:cs typeface="JetBrains Mono Regular"/>
                <a:sym typeface="JetBrains Mono Regular"/>
              </a:defRPr>
            </a:pPr>
            <a:r>
              <a:t>6.  Repeat 4–5           →  </a:t>
            </a:r>
            <a:r>
              <a:rPr>
                <a:solidFill>
                  <a:srgbClr val="FF4757"/>
                </a:solidFill>
                <a:latin typeface="JetBrains Mono Bold"/>
                <a:ea typeface="JetBrains Mono Bold"/>
                <a:cs typeface="JetBrains Mono Bold"/>
                <a:sym typeface="JetBrains Mono Bold"/>
              </a:rPr>
              <a:t>Svaki skok puni kontekst i troši tokene</a:t>
            </a:r>
          </a:p>
        </p:txBody>
      </p:sp>
    </p:spTree>
  </p:cSld>
  <p:clrMapOvr>
    <a:masterClrMapping/>
  </p:clrMapOvr>
  <p:transition xmlns:p14="http://schemas.microsoft.com/office/powerpoint/2010/main" spd="med" advClick="1"/>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111729"/>
        </a:solidFill>
      </p:bgPr>
    </p:bg>
    <p:spTree>
      <p:nvGrpSpPr>
        <p:cNvPr id="1" name=""/>
        <p:cNvGrpSpPr/>
        <p:nvPr/>
      </p:nvGrpSpPr>
      <p:grpSpPr>
        <a:xfrm>
          <a:off x="0" y="0"/>
          <a:ext cx="0" cy="0"/>
          <a:chOff x="0" y="0"/>
          <a:chExt cx="0" cy="0"/>
        </a:xfrm>
      </p:grpSpPr>
      <p:sp>
        <p:nvSpPr>
          <p:cNvPr id="282"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Pristup B: Agentic Search</a:t>
            </a:r>
          </a:p>
        </p:txBody>
      </p:sp>
      <p:sp>
        <p:nvSpPr>
          <p:cNvPr id="283"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grpSp>
        <p:nvGrpSpPr>
          <p:cNvPr id="286" name="Rounded Rectangle 4"/>
          <p:cNvGrpSpPr/>
          <p:nvPr/>
        </p:nvGrpSpPr>
        <p:grpSpPr>
          <a:xfrm>
            <a:off x="8610600" y="686815"/>
            <a:ext cx="1581913" cy="292611"/>
            <a:chOff x="0" y="0"/>
            <a:chExt cx="1581912" cy="292609"/>
          </a:xfrm>
        </p:grpSpPr>
        <p:sp>
          <p:nvSpPr>
            <p:cNvPr id="284" name="Rounded Rectangle"/>
            <p:cNvSpPr/>
            <p:nvPr/>
          </p:nvSpPr>
          <p:spPr>
            <a:xfrm>
              <a:off x="0" y="0"/>
              <a:ext cx="1581913" cy="292611"/>
            </a:xfrm>
            <a:prstGeom prst="roundRect">
              <a:avLst>
                <a:gd name="adj" fmla="val 50000"/>
              </a:avLst>
            </a:prstGeom>
            <a:noFill/>
            <a:ln w="9525" cap="flat">
              <a:solidFill>
                <a:srgbClr val="2ED573"/>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285" name="Claude Code"/>
            <p:cNvSpPr txBox="1"/>
            <p:nvPr/>
          </p:nvSpPr>
          <p:spPr>
            <a:xfrm>
              <a:off x="93333" y="70104"/>
              <a:ext cx="1395247"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000">
                  <a:solidFill>
                    <a:srgbClr val="2ED573"/>
                  </a:solidFill>
                  <a:latin typeface="Inter Bold"/>
                  <a:ea typeface="Inter Bold"/>
                  <a:cs typeface="Inter Bold"/>
                  <a:sym typeface="Inter Bold"/>
                </a:defRPr>
              </a:lvl1pPr>
            </a:lstStyle>
            <a:p>
              <a:pPr/>
              <a:r>
                <a:t>Claude Code</a:t>
              </a:r>
            </a:p>
          </p:txBody>
        </p:sp>
      </p:grpSp>
      <p:sp>
        <p:nvSpPr>
          <p:cNvPr id="287" name="TextBox 5"/>
          <p:cNvSpPr txBox="1"/>
          <p:nvPr/>
        </p:nvSpPr>
        <p:spPr>
          <a:xfrm>
            <a:off x="640079" y="1691638"/>
            <a:ext cx="10908794"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2F2F2"/>
                </a:solidFill>
                <a:latin typeface="Inter Regular"/>
                <a:ea typeface="Inter Regular"/>
                <a:cs typeface="Inter Regular"/>
                <a:sym typeface="Inter Regular"/>
              </a:defRPr>
            </a:pPr>
            <a:r>
              <a:t>Nema indeksiranja. AI </a:t>
            </a:r>
            <a:r>
              <a:rPr>
                <a:solidFill>
                  <a:srgbClr val="00D4FF"/>
                </a:solidFill>
                <a:latin typeface="Inter Bold"/>
                <a:ea typeface="Inter Bold"/>
                <a:cs typeface="Inter Bold"/>
                <a:sym typeface="Inter Bold"/>
              </a:rPr>
              <a:t>istražuje po potrebi</a:t>
            </a:r>
            <a:r>
              <a:t>, poput developera:</a:t>
            </a:r>
          </a:p>
        </p:txBody>
      </p:sp>
      <p:sp>
        <p:nvSpPr>
          <p:cNvPr id="288" name="Rounded Rectangle 6"/>
          <p:cNvSpPr/>
          <p:nvPr/>
        </p:nvSpPr>
        <p:spPr>
          <a:xfrm>
            <a:off x="640080" y="2202178"/>
            <a:ext cx="10972801" cy="2468883"/>
          </a:xfrm>
          <a:prstGeom prst="roundRect">
            <a:avLst>
              <a:gd name="adj" fmla="val 4000"/>
            </a:avLst>
          </a:prstGeom>
          <a:solidFill>
            <a:srgbClr val="1A1A2E"/>
          </a:solidFill>
          <a:ln>
            <a:solidFill>
              <a:srgbClr val="333333"/>
            </a:solidFill>
          </a:ln>
        </p:spPr>
        <p:txBody>
          <a:bodyPr lIns="45718" tIns="45718" rIns="45718" bIns="45718" anchor="ctr"/>
          <a:lstStyle/>
          <a:p>
            <a:pPr algn="ctr">
              <a:defRPr>
                <a:solidFill>
                  <a:srgbClr val="FFFFFF"/>
                </a:solidFill>
              </a:defRPr>
            </a:pPr>
          </a:p>
        </p:txBody>
      </p:sp>
      <p:sp>
        <p:nvSpPr>
          <p:cNvPr id="289" name="TextBox 7"/>
          <p:cNvSpPr txBox="1"/>
          <p:nvPr/>
        </p:nvSpPr>
        <p:spPr>
          <a:xfrm>
            <a:off x="868680" y="2430778"/>
            <a:ext cx="10515601" cy="182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60000"/>
              </a:lnSpc>
              <a:defRPr sz="1200">
                <a:solidFill>
                  <a:srgbClr val="888888"/>
                </a:solidFill>
                <a:latin typeface="JetBrains Mono Regular"/>
                <a:ea typeface="JetBrains Mono Regular"/>
                <a:cs typeface="JetBrains Mono Regular"/>
                <a:sym typeface="JetBrains Mono Regular"/>
              </a:defRPr>
            </a:pPr>
            <a:r>
              <a:t>1.  </a:t>
            </a:r>
            <a:r>
              <a:rPr>
                <a:solidFill>
                  <a:srgbClr val="00D4FF"/>
                </a:solidFill>
                <a:latin typeface="JetBrains Mono Bold"/>
                <a:ea typeface="JetBrains Mono Bold"/>
                <a:cs typeface="JetBrains Mono Bold"/>
                <a:sym typeface="JetBrains Mono Bold"/>
              </a:rPr>
              <a:t>Read file tree</a:t>
            </a:r>
            <a:r>
              <a:rPr>
                <a:solidFill>
                  <a:srgbClr val="F2F2F2"/>
                </a:solidFill>
              </a:rPr>
              <a:t>       →  “Kako ovaj projekt izgleda?”</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2.  </a:t>
            </a:r>
            <a:r>
              <a:rPr>
                <a:solidFill>
                  <a:srgbClr val="00D4FF"/>
                </a:solidFill>
                <a:latin typeface="JetBrains Mono Bold"/>
                <a:ea typeface="JetBrains Mono Bold"/>
                <a:cs typeface="JetBrains Mono Bold"/>
                <a:sym typeface="JetBrains Mono Bold"/>
              </a:rPr>
              <a:t>Glob</a:t>
            </a:r>
            <a:r>
              <a:rPr>
                <a:solidFill>
                  <a:srgbClr val="F2F2F2"/>
                </a:solidFill>
              </a:rPr>
              <a:t> (find files)    →  “Koje su datoteke vezane uz moj zadatak?”</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3.  </a:t>
            </a:r>
            <a:r>
              <a:rPr>
                <a:solidFill>
                  <a:srgbClr val="00D4FF"/>
                </a:solidFill>
                <a:latin typeface="JetBrains Mono Bold"/>
                <a:ea typeface="JetBrains Mono Bold"/>
                <a:cs typeface="JetBrains Mono Bold"/>
                <a:sym typeface="JetBrains Mono Bold"/>
              </a:rPr>
              <a:t>Grep</a:t>
            </a:r>
            <a:r>
              <a:rPr>
                <a:solidFill>
                  <a:srgbClr val="F2F2F2"/>
                </a:solidFill>
              </a:rPr>
              <a:t> (search code)   →  “Koja od ovih komponenti sadrži ono što meni treba?”</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4.  </a:t>
            </a:r>
            <a:r>
              <a:rPr>
                <a:solidFill>
                  <a:srgbClr val="00D4FF"/>
                </a:solidFill>
                <a:latin typeface="JetBrains Mono Bold"/>
                <a:ea typeface="JetBrains Mono Bold"/>
                <a:cs typeface="JetBrains Mono Bold"/>
                <a:sym typeface="JetBrains Mono Bold"/>
              </a:rPr>
              <a:t>Read</a:t>
            </a:r>
            <a:r>
              <a:rPr>
                <a:solidFill>
                  <a:srgbClr val="F2F2F2"/>
                </a:solidFill>
              </a:rPr>
              <a:t> (load file)     →  “Pokušavam shvatit kako funkcionira ova komponenta.”</a:t>
            </a:r>
            <a:endParaRPr>
              <a:solidFill>
                <a:srgbClr val="F2F2F2"/>
              </a:solidFill>
            </a:endParaRPr>
          </a:p>
          <a:p>
            <a:pPr>
              <a:lnSpc>
                <a:spcPct val="160000"/>
              </a:lnSpc>
              <a:defRPr sz="1200">
                <a:solidFill>
                  <a:srgbClr val="888888"/>
                </a:solidFill>
                <a:latin typeface="JetBrains Mono Regular"/>
                <a:ea typeface="JetBrains Mono Regular"/>
                <a:cs typeface="JetBrains Mono Regular"/>
                <a:sym typeface="JetBrains Mono Regular"/>
              </a:defRPr>
            </a:pPr>
            <a:r>
              <a:t>5.  </a:t>
            </a:r>
            <a:r>
              <a:rPr>
                <a:solidFill>
                  <a:srgbClr val="00D4FF"/>
                </a:solidFill>
                <a:latin typeface="JetBrains Mono Bold"/>
                <a:ea typeface="JetBrains Mono Bold"/>
                <a:cs typeface="JetBrains Mono Bold"/>
                <a:sym typeface="JetBrains Mono Bold"/>
              </a:rPr>
              <a:t>Follow imports</a:t>
            </a:r>
            <a:r>
              <a:rPr>
                <a:solidFill>
                  <a:srgbClr val="F2F2F2"/>
                </a:solidFill>
              </a:rPr>
              <a:t>       →  “O čemu ovisi ova komponenta?”</a:t>
            </a:r>
            <a:endParaRPr>
              <a:solidFill>
                <a:srgbClr val="F2F2F2"/>
              </a:solidFill>
            </a:endParaRPr>
          </a:p>
          <a:p>
            <a:pPr>
              <a:lnSpc>
                <a:spcPct val="160000"/>
              </a:lnSpc>
              <a:defRPr sz="1200">
                <a:solidFill>
                  <a:srgbClr val="F2F2F2"/>
                </a:solidFill>
                <a:latin typeface="JetBrains Mono Regular"/>
                <a:ea typeface="JetBrains Mono Regular"/>
                <a:cs typeface="JetBrains Mono Regular"/>
                <a:sym typeface="JetBrains Mono Regular"/>
              </a:defRPr>
            </a:pPr>
            <a:r>
              <a:t>6.  Repeat 4–5           →  </a:t>
            </a:r>
            <a:r>
              <a:rPr>
                <a:solidFill>
                  <a:srgbClr val="FF4757"/>
                </a:solidFill>
                <a:latin typeface="JetBrains Mono Bold"/>
                <a:ea typeface="JetBrains Mono Bold"/>
                <a:cs typeface="JetBrains Mono Bold"/>
                <a:sym typeface="JetBrains Mono Bold"/>
              </a:rPr>
              <a:t>Svaki skok puni kontekst i troši tokene</a:t>
            </a:r>
          </a:p>
        </p:txBody>
      </p:sp>
      <p:sp>
        <p:nvSpPr>
          <p:cNvPr id="290" name="Rounded Rectangle 9"/>
          <p:cNvSpPr/>
          <p:nvPr/>
        </p:nvSpPr>
        <p:spPr>
          <a:xfrm>
            <a:off x="640080" y="5031740"/>
            <a:ext cx="10972801" cy="919482"/>
          </a:xfrm>
          <a:prstGeom prst="roundRect">
            <a:avLst>
              <a:gd name="adj" fmla="val 5669"/>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291" name="Rectangle 10"/>
          <p:cNvSpPr/>
          <p:nvPr/>
        </p:nvSpPr>
        <p:spPr>
          <a:xfrm>
            <a:off x="640080" y="5031740"/>
            <a:ext cx="54866" cy="919482"/>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292" name="TextBox 11"/>
          <p:cNvSpPr txBox="1"/>
          <p:nvPr/>
        </p:nvSpPr>
        <p:spPr>
          <a:xfrm>
            <a:off x="890011" y="5373623"/>
            <a:ext cx="10607042"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30000"/>
              </a:lnSpc>
              <a:defRPr sz="1500">
                <a:solidFill>
                  <a:srgbClr val="F2F2F2"/>
                </a:solidFill>
                <a:latin typeface="Inter Regular"/>
                <a:ea typeface="Inter Regular"/>
                <a:cs typeface="Inter Regular"/>
                <a:sym typeface="Inter Regular"/>
              </a:defRPr>
            </a:lvl1pPr>
          </a:lstStyle>
          <a:p>
            <a:pPr/>
            <a:r>
              <a:t>Niska kohezija -&gt; brže punjenje konteksta -&gt; veća potrošnja tokena</a:t>
            </a:r>
          </a:p>
        </p:txBody>
      </p:sp>
    </p:spTree>
  </p:cSld>
  <p:clrMapOvr>
    <a:masterClrMapping/>
  </p:clrMapOvr>
  <p:transition xmlns:p14="http://schemas.microsoft.com/office/powerpoint/2010/main" spd="med" advClick="1"/>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6"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Što je zajedničko?</a:t>
            </a:r>
          </a:p>
        </p:txBody>
      </p:sp>
      <p:sp>
        <p:nvSpPr>
          <p:cNvPr id="297"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298" name="TextBox 5"/>
          <p:cNvSpPr txBox="1"/>
          <p:nvPr/>
        </p:nvSpPr>
        <p:spPr>
          <a:xfrm>
            <a:off x="635000" y="1689100"/>
            <a:ext cx="7773728" cy="12966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45000"/>
              </a:lnSpc>
              <a:defRPr sz="1500">
                <a:solidFill>
                  <a:srgbClr val="F2F2F2"/>
                </a:solidFill>
                <a:latin typeface="Inter Regular"/>
                <a:ea typeface="Inter Regular"/>
                <a:cs typeface="Inter Regular"/>
                <a:sym typeface="Inter Regular"/>
              </a:defRPr>
            </a:pPr>
            <a:r>
              <a:t>•  AI mora </a:t>
            </a:r>
            <a:r>
              <a:rPr>
                <a:solidFill>
                  <a:srgbClr val="00D4FF"/>
                </a:solidFill>
                <a:latin typeface="Inter Bold"/>
                <a:ea typeface="Inter Bold"/>
                <a:cs typeface="Inter Bold"/>
                <a:sym typeface="Inter Bold"/>
              </a:rPr>
              <a:t>odabrati</a:t>
            </a:r>
            <a:r>
              <a:t> što će uključiti u kontekst</a:t>
            </a:r>
          </a:p>
          <a:p>
            <a:pPr>
              <a:lnSpc>
                <a:spcPct val="145000"/>
              </a:lnSpc>
              <a:spcBef>
                <a:spcPts val="1400"/>
              </a:spcBef>
              <a:defRPr sz="1500">
                <a:solidFill>
                  <a:srgbClr val="F2F2F2"/>
                </a:solidFill>
                <a:latin typeface="Inter Regular"/>
                <a:ea typeface="Inter Regular"/>
                <a:cs typeface="Inter Regular"/>
                <a:sym typeface="Inter Regular"/>
              </a:defRPr>
            </a:pPr>
            <a:r>
              <a:t>•  </a:t>
            </a:r>
            <a:r>
              <a:rPr>
                <a:solidFill>
                  <a:srgbClr val="00D4FF"/>
                </a:solidFill>
                <a:latin typeface="Inter Bold"/>
                <a:ea typeface="Inter Bold"/>
                <a:cs typeface="Inter Bold"/>
                <a:sym typeface="Inter Bold"/>
              </a:rPr>
              <a:t>Imenovanje je bitno </a:t>
            </a:r>
            <a:r>
              <a:t>- bolji embeddingsi, pattern matching</a:t>
            </a:r>
          </a:p>
          <a:p>
            <a:pPr>
              <a:lnSpc>
                <a:spcPct val="145000"/>
              </a:lnSpc>
              <a:spcBef>
                <a:spcPts val="1400"/>
              </a:spcBef>
              <a:defRPr sz="1500">
                <a:solidFill>
                  <a:srgbClr val="F2F2F2"/>
                </a:solidFill>
                <a:latin typeface="Inter Regular"/>
                <a:ea typeface="Inter Regular"/>
                <a:cs typeface="Inter Regular"/>
                <a:sym typeface="Inter Regular"/>
              </a:defRPr>
            </a:pPr>
            <a:r>
              <a:t>•  </a:t>
            </a:r>
            <a:r>
              <a:rPr>
                <a:solidFill>
                  <a:srgbClr val="00D4FF"/>
                </a:solidFill>
                <a:latin typeface="Inter Bold"/>
                <a:ea typeface="Inter Bold"/>
                <a:cs typeface="Inter Bold"/>
                <a:sym typeface="Inter Bold"/>
              </a:rPr>
              <a:t>Jasne granice </a:t>
            </a:r>
            <a:r>
              <a:t>= manje šuma, manje uzalud potrošenih tokena, bolji output</a:t>
            </a:r>
          </a:p>
        </p:txBody>
      </p:sp>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2"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3600">
                <a:solidFill>
                  <a:srgbClr val="F2F2F2"/>
                </a:solidFill>
                <a:latin typeface="Inter Bold"/>
                <a:ea typeface="Inter Bold"/>
                <a:cs typeface="Inter Bold"/>
                <a:sym typeface="Inter Bold"/>
              </a:defRPr>
            </a:lvl1pPr>
          </a:lstStyle>
          <a:p>
            <a:pPr/>
            <a:r>
              <a:t>Gdje nastaju problemi</a:t>
            </a:r>
          </a:p>
        </p:txBody>
      </p:sp>
      <p:sp>
        <p:nvSpPr>
          <p:cNvPr id="303" name="TextBox 2"/>
          <p:cNvSpPr txBox="1"/>
          <p:nvPr/>
        </p:nvSpPr>
        <p:spPr>
          <a:xfrm>
            <a:off x="640079" y="1371600"/>
            <a:ext cx="1090879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888888"/>
                </a:solidFill>
                <a:latin typeface="Inter Regular"/>
                <a:ea typeface="Inter Regular"/>
                <a:cs typeface="Inter Regular"/>
                <a:sym typeface="Inter Regular"/>
              </a:defRPr>
            </a:lvl1pPr>
          </a:lstStyle>
          <a:p>
            <a:pPr/>
            <a:r>
              <a:t>Prompt: “Dodaj delete button na profile card”</a:t>
            </a:r>
          </a:p>
        </p:txBody>
      </p:sp>
      <p:sp>
        <p:nvSpPr>
          <p:cNvPr id="304" name="Rectangle 3"/>
          <p:cNvSpPr/>
          <p:nvPr/>
        </p:nvSpPr>
        <p:spPr>
          <a:xfrm>
            <a:off x="640080" y="1691638"/>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05" name="TextBox 4"/>
          <p:cNvSpPr txBox="1"/>
          <p:nvPr/>
        </p:nvSpPr>
        <p:spPr>
          <a:xfrm>
            <a:off x="640079" y="2011678"/>
            <a:ext cx="10908794"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F2F2F2"/>
                </a:solidFill>
                <a:latin typeface="Inter Regular"/>
                <a:ea typeface="Inter Regular"/>
                <a:cs typeface="Inter Regular"/>
                <a:sym typeface="Inter Regular"/>
              </a:defRPr>
            </a:lvl1pPr>
          </a:lstStyle>
          <a:p>
            <a:pPr/>
            <a:r>
              <a:t>AI čita file tree i vidi:</a:t>
            </a:r>
          </a:p>
        </p:txBody>
      </p:sp>
      <p:sp>
        <p:nvSpPr>
          <p:cNvPr id="306" name="Rounded Rectangle 5"/>
          <p:cNvSpPr/>
          <p:nvPr/>
        </p:nvSpPr>
        <p:spPr>
          <a:xfrm>
            <a:off x="640080" y="2468878"/>
            <a:ext cx="6322992" cy="4023362"/>
          </a:xfrm>
          <a:prstGeom prst="roundRect">
            <a:avLst>
              <a:gd name="adj" fmla="val 4000"/>
            </a:avLst>
          </a:prstGeom>
          <a:solidFill>
            <a:srgbClr val="1A1A2E"/>
          </a:solidFill>
          <a:ln>
            <a:solidFill>
              <a:srgbClr val="333333"/>
            </a:solidFill>
          </a:ln>
        </p:spPr>
        <p:txBody>
          <a:bodyPr lIns="45718" tIns="45718" rIns="45718" bIns="45718" anchor="ctr"/>
          <a:lstStyle/>
          <a:p>
            <a:pPr algn="ctr">
              <a:defRPr>
                <a:solidFill>
                  <a:srgbClr val="FFFFFF"/>
                </a:solidFill>
              </a:defRPr>
            </a:pPr>
          </a:p>
        </p:txBody>
      </p:sp>
      <p:sp>
        <p:nvSpPr>
          <p:cNvPr id="307" name="TextBox 6"/>
          <p:cNvSpPr txBox="1"/>
          <p:nvPr/>
        </p:nvSpPr>
        <p:spPr>
          <a:xfrm>
            <a:off x="868680" y="2697479"/>
            <a:ext cx="5865792" cy="351663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45000"/>
              </a:lnSpc>
              <a:defRPr sz="1000">
                <a:solidFill>
                  <a:srgbClr val="F2F2F2"/>
                </a:solidFill>
                <a:latin typeface="JetBrains Mono Regular"/>
                <a:ea typeface="JetBrains Mono Regular"/>
                <a:cs typeface="JetBrains Mono Regular"/>
                <a:sym typeface="JetBrains Mono Regular"/>
              </a:defRPr>
            </a:pPr>
            <a:r>
              <a:t>src/</a:t>
            </a:r>
          </a:p>
          <a:p>
            <a:pPr>
              <a:lnSpc>
                <a:spcPct val="145000"/>
              </a:lnSpc>
              <a:defRPr sz="1000">
                <a:solidFill>
                  <a:srgbClr val="F2F2F2"/>
                </a:solidFill>
                <a:latin typeface="JetBrains Mono Regular"/>
                <a:ea typeface="JetBrains Mono Regular"/>
                <a:cs typeface="JetBrains Mono Regular"/>
                <a:sym typeface="JetBrains Mono Regular"/>
              </a:defRPr>
            </a:pPr>
            <a:r>
              <a:t>  components/</a:t>
            </a:r>
          </a:p>
          <a:p>
            <a:pPr>
              <a:lnSpc>
                <a:spcPct val="145000"/>
              </a:lnSpc>
              <a:defRPr sz="1000">
                <a:solidFill>
                  <a:srgbClr val="FF4757"/>
                </a:solidFill>
                <a:latin typeface="JetBrains Mono Regular"/>
                <a:ea typeface="JetBrains Mono Regular"/>
                <a:cs typeface="JetBrains Mono Regular"/>
                <a:sym typeface="JetBrains Mono Regular"/>
              </a:defRPr>
            </a:pPr>
            <a:r>
              <a:t>    Card.tsx</a:t>
            </a:r>
            <a:r>
              <a:rPr>
                <a:solidFill>
                  <a:srgbClr val="888888"/>
                </a:solidFill>
              </a:rPr>
              <a:t>            ← koji card? user? product? post?</a:t>
            </a:r>
            <a:endParaRPr>
              <a:solidFill>
                <a:srgbClr val="888888"/>
              </a:solidFill>
            </a:endParaRPr>
          </a:p>
          <a:p>
            <a:pPr>
              <a:lnSpc>
                <a:spcPct val="145000"/>
              </a:lnSpc>
              <a:defRPr sz="1000">
                <a:solidFill>
                  <a:srgbClr val="FF4757"/>
                </a:solidFill>
                <a:latin typeface="JetBrains Mono Regular"/>
                <a:ea typeface="JetBrains Mono Regular"/>
                <a:cs typeface="JetBrains Mono Regular"/>
                <a:sym typeface="JetBrains Mono Regular"/>
              </a:defRPr>
            </a:pPr>
            <a:r>
              <a:t>    CardSmall.tsx</a:t>
            </a:r>
            <a:r>
              <a:rPr>
                <a:solidFill>
                  <a:srgbClr val="888888"/>
                </a:solidFill>
              </a:rPr>
              <a:t>       ← da li je ovo isti card?</a:t>
            </a:r>
            <a:endParaRPr>
              <a:solidFill>
                <a:srgbClr val="888888"/>
              </a:solidFill>
            </a:endParaRPr>
          </a:p>
          <a:p>
            <a:pPr>
              <a:lnSpc>
                <a:spcPct val="145000"/>
              </a:lnSpc>
              <a:defRPr sz="1000">
                <a:solidFill>
                  <a:srgbClr val="FF4757"/>
                </a:solidFill>
                <a:latin typeface="JetBrains Mono Regular"/>
                <a:ea typeface="JetBrains Mono Regular"/>
                <a:cs typeface="JetBrains Mono Regular"/>
                <a:sym typeface="JetBrains Mono Regular"/>
              </a:defRPr>
            </a:pPr>
            <a:r>
              <a:t>    CardList.tsx</a:t>
            </a:r>
            <a:r>
              <a:rPr>
                <a:solidFill>
                  <a:srgbClr val="888888"/>
                </a:solidFill>
              </a:rPr>
              <a:t>        ← ili možda ovaj?</a:t>
            </a:r>
            <a:endParaRPr>
              <a:solidFill>
                <a:srgbClr val="888888"/>
              </a:solidFill>
            </a:endParaRPr>
          </a:p>
          <a:p>
            <a:pPr>
              <a:lnSpc>
                <a:spcPct val="145000"/>
              </a:lnSpc>
              <a:defRPr sz="1000">
                <a:solidFill>
                  <a:srgbClr val="888888"/>
                </a:solidFill>
                <a:latin typeface="JetBrains Mono Regular"/>
                <a:ea typeface="JetBrains Mono Regular"/>
                <a:cs typeface="JetBrains Mono Regular"/>
                <a:sym typeface="JetBrains Mono Regular"/>
              </a:defRPr>
            </a:pPr>
            <a:r>
              <a:t>    Button.tsx</a:t>
            </a:r>
          </a:p>
          <a:p>
            <a:pPr>
              <a:lnSpc>
                <a:spcPct val="145000"/>
              </a:lnSpc>
              <a:defRPr sz="1000">
                <a:solidFill>
                  <a:srgbClr val="888888"/>
                </a:solidFill>
                <a:latin typeface="JetBrains Mono Regular"/>
                <a:ea typeface="JetBrains Mono Regular"/>
                <a:cs typeface="JetBrains Mono Regular"/>
                <a:sym typeface="JetBrains Mono Regular"/>
              </a:defRPr>
            </a:pPr>
            <a:r>
              <a:t>    Modal.tsx</a:t>
            </a:r>
          </a:p>
          <a:p>
            <a:pPr>
              <a:lnSpc>
                <a:spcPct val="145000"/>
              </a:lnSpc>
              <a:defRPr sz="1000">
                <a:solidFill>
                  <a:srgbClr val="888888"/>
                </a:solidFill>
                <a:latin typeface="JetBrains Mono Regular"/>
                <a:ea typeface="JetBrains Mono Regular"/>
                <a:cs typeface="JetBrains Mono Regular"/>
                <a:sym typeface="JetBrains Mono Regular"/>
              </a:defRPr>
            </a:pPr>
            <a:r>
              <a:t>    Header.tsx</a:t>
            </a:r>
          </a:p>
          <a:p>
            <a:pPr>
              <a:lnSpc>
                <a:spcPct val="145000"/>
              </a:lnSpc>
              <a:defRPr sz="1000">
                <a:solidFill>
                  <a:srgbClr val="888888"/>
                </a:solidFill>
                <a:latin typeface="JetBrains Mono Regular"/>
                <a:ea typeface="JetBrains Mono Regular"/>
                <a:cs typeface="JetBrains Mono Regular"/>
                <a:sym typeface="JetBrains Mono Regular"/>
              </a:defRPr>
            </a:pPr>
            <a:r>
              <a:t>    ... 194 more files</a:t>
            </a:r>
          </a:p>
          <a:p>
            <a:pPr>
              <a:lnSpc>
                <a:spcPct val="145000"/>
              </a:lnSpc>
              <a:defRPr sz="1000">
                <a:solidFill>
                  <a:srgbClr val="F2F2F2"/>
                </a:solidFill>
                <a:latin typeface="JetBrains Mono Regular"/>
                <a:ea typeface="JetBrains Mono Regular"/>
                <a:cs typeface="JetBrains Mono Regular"/>
                <a:sym typeface="JetBrains Mono Regular"/>
              </a:defRPr>
            </a:pPr>
            <a:r>
              <a:t>  utils/</a:t>
            </a:r>
          </a:p>
          <a:p>
            <a:pPr>
              <a:lnSpc>
                <a:spcPct val="145000"/>
              </a:lnSpc>
              <a:defRPr sz="1000">
                <a:solidFill>
                  <a:srgbClr val="FF4757"/>
                </a:solidFill>
                <a:latin typeface="JetBrains Mono Regular"/>
                <a:ea typeface="JetBrains Mono Regular"/>
                <a:cs typeface="JetBrains Mono Regular"/>
                <a:sym typeface="JetBrains Mono Regular"/>
              </a:defRPr>
            </a:pPr>
            <a:r>
              <a:t>    helpers.ts</a:t>
            </a:r>
            <a:r>
              <a:rPr>
                <a:solidFill>
                  <a:srgbClr val="888888"/>
                </a:solidFill>
              </a:rPr>
              <a:t>          ← 800 linija, 40 exporta, nema grupiranja</a:t>
            </a:r>
            <a:endParaRPr>
              <a:solidFill>
                <a:srgbClr val="888888"/>
              </a:solidFill>
            </a:endParaRPr>
          </a:p>
          <a:p>
            <a:pPr>
              <a:lnSpc>
                <a:spcPct val="145000"/>
              </a:lnSpc>
              <a:defRPr sz="1000">
                <a:solidFill>
                  <a:srgbClr val="F2F2F2"/>
                </a:solidFill>
                <a:latin typeface="JetBrains Mono Regular"/>
                <a:ea typeface="JetBrains Mono Regular"/>
                <a:cs typeface="JetBrains Mono Regular"/>
                <a:sym typeface="JetBrains Mono Regular"/>
              </a:defRPr>
            </a:pPr>
            <a:r>
              <a:t>  hooks/</a:t>
            </a:r>
          </a:p>
          <a:p>
            <a:pPr>
              <a:lnSpc>
                <a:spcPct val="145000"/>
              </a:lnSpc>
              <a:defRPr sz="1000">
                <a:solidFill>
                  <a:srgbClr val="FF4757"/>
                </a:solidFill>
                <a:latin typeface="JetBrains Mono Regular"/>
                <a:ea typeface="JetBrains Mono Regular"/>
                <a:cs typeface="JetBrains Mono Regular"/>
                <a:sym typeface="JetBrains Mono Regular"/>
              </a:defRPr>
            </a:pPr>
            <a:r>
              <a:t>    useData.ts</a:t>
            </a:r>
            <a:r>
              <a:rPr>
                <a:solidFill>
                  <a:srgbClr val="888888"/>
                </a:solidFill>
              </a:rPr>
              <a:t>          ← dohvaća users? producte? oboje?</a:t>
            </a:r>
            <a:endParaRPr>
              <a:solidFill>
                <a:srgbClr val="888888"/>
              </a:solidFill>
            </a:endParaRPr>
          </a:p>
          <a:p>
            <a:pPr>
              <a:lnSpc>
                <a:spcPct val="145000"/>
              </a:lnSpc>
              <a:defRPr sz="1000">
                <a:solidFill>
                  <a:srgbClr val="F2F2F2"/>
                </a:solidFill>
                <a:latin typeface="JetBrains Mono Regular"/>
                <a:ea typeface="JetBrains Mono Regular"/>
                <a:cs typeface="JetBrains Mono Regular"/>
                <a:sym typeface="JetBrains Mono Regular"/>
              </a:defRPr>
            </a:pPr>
            <a:r>
              <a:t>  services/</a:t>
            </a:r>
          </a:p>
          <a:p>
            <a:pPr>
              <a:lnSpc>
                <a:spcPct val="145000"/>
              </a:lnSpc>
              <a:defRPr sz="1000">
                <a:solidFill>
                  <a:srgbClr val="FF4757"/>
                </a:solidFill>
                <a:latin typeface="JetBrains Mono Regular"/>
                <a:ea typeface="JetBrains Mono Regular"/>
                <a:cs typeface="JetBrains Mono Regular"/>
                <a:sym typeface="JetBrains Mono Regular"/>
              </a:defRPr>
            </a:pPr>
            <a:r>
              <a:t>    api.ts</a:t>
            </a:r>
            <a:r>
              <a:rPr>
                <a:solidFill>
                  <a:srgbClr val="888888"/>
                </a:solidFill>
              </a:rPr>
              <a:t>              ← 3000 linija, svaki endpoint u jednom fileu</a:t>
            </a:r>
          </a:p>
        </p:txBody>
      </p:sp>
      <p:sp>
        <p:nvSpPr>
          <p:cNvPr id="308" name="TextBox 7"/>
          <p:cNvSpPr txBox="1"/>
          <p:nvPr/>
        </p:nvSpPr>
        <p:spPr>
          <a:xfrm>
            <a:off x="7406640" y="2468878"/>
            <a:ext cx="4114802" cy="2603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40000"/>
              </a:lnSpc>
              <a:defRPr sz="1300">
                <a:solidFill>
                  <a:srgbClr val="FF4757"/>
                </a:solidFill>
                <a:latin typeface="Inter Bold"/>
                <a:ea typeface="Inter Bold"/>
                <a:cs typeface="Inter Bold"/>
                <a:sym typeface="Inter Bold"/>
              </a:defRPr>
            </a:pPr>
            <a:r>
              <a:t>Problem 1: </a:t>
            </a:r>
            <a:r>
              <a:rPr>
                <a:solidFill>
                  <a:srgbClr val="F2F2F2"/>
                </a:solidFill>
                <a:latin typeface="Inter Regular"/>
                <a:ea typeface="Inter Regular"/>
                <a:cs typeface="Inter Regular"/>
                <a:sym typeface="Inter Regular"/>
              </a:rPr>
              <a:t>Nema semantičkog grupiranja. AI mora otvarati više različitih datoteka samo kako bi pronašao pravu karticu.</a:t>
            </a:r>
            <a:endParaRPr>
              <a:solidFill>
                <a:srgbClr val="F2F2F2"/>
              </a:solidFill>
            </a:endParaRPr>
          </a:p>
          <a:p>
            <a:pPr>
              <a:lnSpc>
                <a:spcPct val="140000"/>
              </a:lnSpc>
              <a:spcBef>
                <a:spcPts val="1400"/>
              </a:spcBef>
              <a:defRPr sz="1300">
                <a:solidFill>
                  <a:srgbClr val="FF4757"/>
                </a:solidFill>
                <a:latin typeface="Inter Bold"/>
                <a:ea typeface="Inter Bold"/>
                <a:cs typeface="Inter Bold"/>
                <a:sym typeface="Inter Bold"/>
              </a:defRPr>
            </a:pPr>
            <a:r>
              <a:t>Problem 2: </a:t>
            </a:r>
            <a:r>
              <a:rPr>
                <a:solidFill>
                  <a:srgbClr val="F2F2F2"/>
                </a:solidFill>
                <a:latin typeface="Inter Regular"/>
                <a:ea typeface="Inter Regular"/>
                <a:cs typeface="Inter Regular"/>
                <a:sym typeface="Inter Regular"/>
              </a:rPr>
              <a:t>Generički nazivi poput </a:t>
            </a:r>
            <a:r>
              <a:rPr>
                <a:solidFill>
                  <a:srgbClr val="F2F2F2"/>
                </a:solidFill>
                <a:latin typeface="JetBrains Mono Regular"/>
                <a:ea typeface="JetBrains Mono Regular"/>
                <a:cs typeface="JetBrains Mono Regular"/>
                <a:sym typeface="JetBrains Mono Regular"/>
              </a:rPr>
              <a:t>helpers.ts</a:t>
            </a:r>
            <a:r>
              <a:rPr>
                <a:solidFill>
                  <a:srgbClr val="F2F2F2"/>
                </a:solidFill>
                <a:latin typeface="Inter Regular"/>
                <a:ea typeface="Inter Regular"/>
                <a:cs typeface="Inter Regular"/>
                <a:sym typeface="Inter Regular"/>
              </a:rPr>
              <a:t> i </a:t>
            </a:r>
            <a:r>
              <a:rPr>
                <a:solidFill>
                  <a:srgbClr val="F2F2F2"/>
                </a:solidFill>
                <a:latin typeface="JetBrains Mono Regular"/>
                <a:ea typeface="JetBrains Mono Regular"/>
                <a:cs typeface="JetBrains Mono Regular"/>
                <a:sym typeface="JetBrains Mono Regular"/>
              </a:rPr>
              <a:t>useData.ts</a:t>
            </a:r>
            <a:r>
              <a:rPr>
                <a:solidFill>
                  <a:srgbClr val="F2F2F2"/>
                </a:solidFill>
                <a:latin typeface="Inter Regular"/>
                <a:ea typeface="Inter Regular"/>
                <a:cs typeface="Inter Regular"/>
                <a:sym typeface="Inter Regular"/>
              </a:rPr>
              <a:t> ne pomažu pri pretraživanju</a:t>
            </a:r>
            <a:endParaRPr>
              <a:solidFill>
                <a:srgbClr val="F2F2F2"/>
              </a:solidFill>
            </a:endParaRPr>
          </a:p>
          <a:p>
            <a:pPr>
              <a:lnSpc>
                <a:spcPct val="140000"/>
              </a:lnSpc>
              <a:spcBef>
                <a:spcPts val="1400"/>
              </a:spcBef>
              <a:defRPr sz="1300">
                <a:solidFill>
                  <a:srgbClr val="FF4757"/>
                </a:solidFill>
                <a:latin typeface="Inter Bold"/>
                <a:ea typeface="Inter Bold"/>
                <a:cs typeface="Inter Bold"/>
                <a:sym typeface="Inter Bold"/>
              </a:defRPr>
            </a:pPr>
            <a:r>
              <a:t>Problem 3: </a:t>
            </a:r>
            <a:r>
              <a:rPr>
                <a:solidFill>
                  <a:srgbClr val="F2F2F2"/>
                </a:solidFill>
                <a:latin typeface="Inter Regular"/>
                <a:ea typeface="Inter Regular"/>
                <a:cs typeface="Inter Regular"/>
                <a:sym typeface="Inter Regular"/>
              </a:rPr>
              <a:t>Monolitne datoteke (</a:t>
            </a:r>
            <a:r>
              <a:rPr>
                <a:solidFill>
                  <a:srgbClr val="F2F2F2"/>
                </a:solidFill>
                <a:latin typeface="JetBrains Mono Regular"/>
                <a:ea typeface="JetBrains Mono Regular"/>
                <a:cs typeface="JetBrains Mono Regular"/>
                <a:sym typeface="JetBrains Mono Regular"/>
              </a:rPr>
              <a:t>api.ts</a:t>
            </a:r>
            <a:r>
              <a:rPr>
                <a:solidFill>
                  <a:srgbClr val="F2F2F2"/>
                </a:solidFill>
                <a:latin typeface="Inter Regular"/>
                <a:ea typeface="Inter Regular"/>
                <a:cs typeface="Inter Regular"/>
                <a:sym typeface="Inter Regular"/>
              </a:rPr>
              <a:t>) prisiljavaju AI da učitava tisuće nepotrebnih linija koda u kontekst</a:t>
            </a:r>
          </a:p>
        </p:txBody>
      </p:sp>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2"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3600">
                <a:solidFill>
                  <a:srgbClr val="F2F2F2"/>
                </a:solidFill>
                <a:latin typeface="Inter Bold"/>
                <a:ea typeface="Inter Bold"/>
                <a:cs typeface="Inter Bold"/>
                <a:sym typeface="Inter Bold"/>
              </a:defRPr>
            </a:pPr>
            <a:r>
              <a:t>Architecture </a:t>
            </a:r>
            <a:r>
              <a:rPr>
                <a:solidFill>
                  <a:srgbClr val="00D4FF"/>
                </a:solidFill>
              </a:rPr>
              <a:t>=</a:t>
            </a:r>
            <a:r>
              <a:t> Context Engineering</a:t>
            </a:r>
          </a:p>
        </p:txBody>
      </p:sp>
      <p:sp>
        <p:nvSpPr>
          <p:cNvPr id="313"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14" name="Rounded Rectangle 3"/>
          <p:cNvSpPr/>
          <p:nvPr/>
        </p:nvSpPr>
        <p:spPr>
          <a:xfrm>
            <a:off x="640080" y="2194560"/>
            <a:ext cx="10972801" cy="1097282"/>
          </a:xfrm>
          <a:prstGeom prst="roundRect">
            <a:avLst>
              <a:gd name="adj" fmla="val 6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315" name="Rectangle 4"/>
          <p:cNvSpPr/>
          <p:nvPr/>
        </p:nvSpPr>
        <p:spPr>
          <a:xfrm>
            <a:off x="640080" y="2194560"/>
            <a:ext cx="54866" cy="1097282"/>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16" name="TextBox 5"/>
          <p:cNvSpPr txBox="1"/>
          <p:nvPr/>
        </p:nvSpPr>
        <p:spPr>
          <a:xfrm>
            <a:off x="868678" y="2420111"/>
            <a:ext cx="10607044" cy="70104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30000"/>
              </a:lnSpc>
              <a:defRPr sz="2000">
                <a:solidFill>
                  <a:srgbClr val="F2F2F2"/>
                </a:solidFill>
                <a:latin typeface="Inter Regular"/>
                <a:ea typeface="Inter Regular"/>
                <a:cs typeface="Inter Regular"/>
                <a:sym typeface="Inter Regular"/>
              </a:defRPr>
            </a:pPr>
            <a:r>
              <a:rPr>
                <a:solidFill>
                  <a:srgbClr val="60D1FA"/>
                </a:solidFill>
                <a:latin typeface="Inter Bold"/>
                <a:ea typeface="Inter Bold"/>
                <a:cs typeface="Inter Bold"/>
                <a:sym typeface="Inter Bold"/>
              </a:rPr>
              <a:t>Dobra arhitektura</a:t>
            </a:r>
            <a:r>
              <a:t> smanjuje količinu konteksta potrebnog AI-u da ispravno obavi svoj posao.</a:t>
            </a:r>
          </a:p>
        </p:txBody>
      </p:sp>
      <p:sp>
        <p:nvSpPr>
          <p:cNvPr id="317" name="TextBox 6"/>
          <p:cNvSpPr txBox="1"/>
          <p:nvPr/>
        </p:nvSpPr>
        <p:spPr>
          <a:xfrm>
            <a:off x="640079" y="3657600"/>
            <a:ext cx="10908794" cy="3048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50000"/>
              </a:lnSpc>
              <a:defRPr sz="2000">
                <a:solidFill>
                  <a:srgbClr val="F2F2F2"/>
                </a:solidFill>
                <a:latin typeface="Inter Regular"/>
                <a:ea typeface="Inter Regular"/>
                <a:cs typeface="Inter Regular"/>
                <a:sym typeface="Inter Regular"/>
              </a:defRPr>
            </a:lvl1pPr>
          </a:lstStyle>
          <a:p>
            <a:pPr/>
            <a:r>
              <a:t>Kako možemo izgraditi dobru arhitekturu?</a:t>
            </a:r>
          </a:p>
        </p:txBody>
      </p:sp>
    </p:spTree>
  </p:cSld>
  <p:clrMapOvr>
    <a:masterClrMapping/>
  </p:clrMapOvr>
  <p:transition xmlns:p14="http://schemas.microsoft.com/office/powerpoint/2010/main" spd="med" advClick="1"/>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9"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3600">
                <a:solidFill>
                  <a:srgbClr val="F2F2F2"/>
                </a:solidFill>
                <a:latin typeface="Inter Bold"/>
                <a:ea typeface="Inter Bold"/>
                <a:cs typeface="Inter Bold"/>
                <a:sym typeface="Inter Bold"/>
              </a:defRPr>
            </a:pPr>
            <a:r>
              <a:t>Architecture </a:t>
            </a:r>
            <a:r>
              <a:rPr>
                <a:solidFill>
                  <a:srgbClr val="00D4FF"/>
                </a:solidFill>
              </a:rPr>
              <a:t>=</a:t>
            </a:r>
            <a:r>
              <a:t> Context Engineering</a:t>
            </a:r>
          </a:p>
        </p:txBody>
      </p:sp>
      <p:sp>
        <p:nvSpPr>
          <p:cNvPr id="320" name="Rectangle 2"/>
          <p:cNvSpPr/>
          <p:nvPr/>
        </p:nvSpPr>
        <p:spPr>
          <a:xfrm>
            <a:off x="640080" y="1280160"/>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21" name="Rounded Rectangle 3"/>
          <p:cNvSpPr/>
          <p:nvPr/>
        </p:nvSpPr>
        <p:spPr>
          <a:xfrm>
            <a:off x="640080" y="2194560"/>
            <a:ext cx="10972801" cy="1097282"/>
          </a:xfrm>
          <a:prstGeom prst="roundRect">
            <a:avLst>
              <a:gd name="adj" fmla="val 6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322" name="Rectangle 4"/>
          <p:cNvSpPr/>
          <p:nvPr/>
        </p:nvSpPr>
        <p:spPr>
          <a:xfrm>
            <a:off x="640080" y="2194560"/>
            <a:ext cx="54866" cy="1097282"/>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23" name="TextBox 5"/>
          <p:cNvSpPr txBox="1"/>
          <p:nvPr/>
        </p:nvSpPr>
        <p:spPr>
          <a:xfrm>
            <a:off x="868678" y="2420111"/>
            <a:ext cx="10607044" cy="70104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30000"/>
              </a:lnSpc>
              <a:defRPr sz="2000">
                <a:solidFill>
                  <a:srgbClr val="F2F2F2"/>
                </a:solidFill>
                <a:latin typeface="Inter Regular"/>
                <a:ea typeface="Inter Regular"/>
                <a:cs typeface="Inter Regular"/>
                <a:sym typeface="Inter Regular"/>
              </a:defRPr>
            </a:pPr>
            <a:r>
              <a:rPr>
                <a:solidFill>
                  <a:srgbClr val="60D1FA"/>
                </a:solidFill>
                <a:latin typeface="Inter Bold"/>
                <a:ea typeface="Inter Bold"/>
                <a:cs typeface="Inter Bold"/>
                <a:sym typeface="Inter Bold"/>
              </a:rPr>
              <a:t>Dobra arhitektura</a:t>
            </a:r>
            <a:r>
              <a:t> smanjuje količinu konteksta potrebnog AI-u da ispravno obavi svoj posao.</a:t>
            </a:r>
          </a:p>
        </p:txBody>
      </p:sp>
      <p:sp>
        <p:nvSpPr>
          <p:cNvPr id="324" name="TextBox 6"/>
          <p:cNvSpPr txBox="1"/>
          <p:nvPr/>
        </p:nvSpPr>
        <p:spPr>
          <a:xfrm>
            <a:off x="640079" y="3657600"/>
            <a:ext cx="10908794" cy="3048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50000"/>
              </a:lnSpc>
              <a:defRPr sz="2000">
                <a:solidFill>
                  <a:srgbClr val="F2F2F2"/>
                </a:solidFill>
                <a:latin typeface="Inter Regular"/>
                <a:ea typeface="Inter Regular"/>
                <a:cs typeface="Inter Regular"/>
                <a:sym typeface="Inter Regular"/>
              </a:defRPr>
            </a:lvl1pPr>
          </a:lstStyle>
          <a:p>
            <a:pPr/>
            <a:r>
              <a:t>Kako možemo izgraditi dobru arhitekturu? Primjenom prave metodologije.</a:t>
            </a:r>
          </a:p>
        </p:txBody>
      </p:sp>
    </p:spTree>
  </p:cSld>
  <p:clrMapOvr>
    <a:masterClrMapping/>
  </p:clrMapOvr>
  <p:transition xmlns:p14="http://schemas.microsoft.com/office/powerpoint/2010/main" spd="med" advClick="1"/>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6" name="TextBox 1"/>
          <p:cNvSpPr txBox="1"/>
          <p:nvPr/>
        </p:nvSpPr>
        <p:spPr>
          <a:xfrm>
            <a:off x="635253" y="3086100"/>
            <a:ext cx="10908794" cy="6858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lnSpc>
                <a:spcPct val="120000"/>
              </a:lnSpc>
              <a:defRPr sz="4400">
                <a:solidFill>
                  <a:srgbClr val="F2F2F2"/>
                </a:solidFill>
                <a:latin typeface="Inter Bold"/>
                <a:ea typeface="Inter Bold"/>
                <a:cs typeface="Inter Bold"/>
                <a:sym typeface="Inter Bold"/>
              </a:defRPr>
            </a:lvl1pPr>
          </a:lstStyle>
          <a:p>
            <a:pPr/>
            <a:r>
              <a:t>Feature-Sliced Design</a:t>
            </a:r>
          </a:p>
        </p:txBody>
      </p:sp>
    </p:spTree>
  </p:cSld>
  <p:clrMapOvr>
    <a:masterClrMapping/>
  </p:clrMapOvr>
  <p:transition xmlns:p14="http://schemas.microsoft.com/office/powerpoint/2010/main" spd="med" advClick="1"/>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8"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3600">
                <a:solidFill>
                  <a:srgbClr val="FFFFFF"/>
                </a:solidFill>
                <a:latin typeface="Inter Bold"/>
                <a:ea typeface="Inter Bold"/>
                <a:cs typeface="Inter Bold"/>
                <a:sym typeface="Inter Bold"/>
              </a:defRPr>
            </a:pPr>
            <a:r>
              <a:t>Što je </a:t>
            </a:r>
            <a:r>
              <a:rPr>
                <a:solidFill>
                  <a:srgbClr val="00D4FF"/>
                </a:solidFill>
              </a:rPr>
              <a:t>Feature-Sliced Design</a:t>
            </a:r>
            <a:r>
              <a:t>?</a:t>
            </a:r>
          </a:p>
        </p:txBody>
      </p:sp>
      <p:sp>
        <p:nvSpPr>
          <p:cNvPr id="329" name="Rectangle 3"/>
          <p:cNvSpPr/>
          <p:nvPr/>
        </p:nvSpPr>
        <p:spPr>
          <a:xfrm>
            <a:off x="640080" y="1282700"/>
            <a:ext cx="548641" cy="36577"/>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30" name="TextBox 4"/>
          <p:cNvSpPr txBox="1"/>
          <p:nvPr/>
        </p:nvSpPr>
        <p:spPr>
          <a:xfrm>
            <a:off x="635253" y="2340101"/>
            <a:ext cx="10908794" cy="533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a:solidFill>
                  <a:srgbClr val="FFFFFF"/>
                </a:solidFill>
                <a:latin typeface="Inter Regular"/>
                <a:ea typeface="Inter Regular"/>
                <a:cs typeface="Inter Regular"/>
                <a:sym typeface="Inter Regular"/>
              </a:defRPr>
            </a:pPr>
            <a:r>
              <a:t>FSD propisuje </a:t>
            </a:r>
            <a:r>
              <a:rPr>
                <a:solidFill>
                  <a:srgbClr val="00D4FF"/>
                </a:solidFill>
                <a:latin typeface="Inter Bold"/>
                <a:ea typeface="Inter Bold"/>
                <a:cs typeface="Inter Bold"/>
                <a:sym typeface="Inter Bold"/>
              </a:rPr>
              <a:t>kako organizirati kod</a:t>
            </a:r>
            <a:r>
              <a:t> u projektu — gdje stavljati datoteke, kako ih grupirati i kako smiju ovisiti jedni o drugima.</a:t>
            </a:r>
          </a:p>
        </p:txBody>
      </p:sp>
      <p:sp>
        <p:nvSpPr>
          <p:cNvPr id="331" name="TextBox 5"/>
          <p:cNvSpPr txBox="1"/>
          <p:nvPr/>
        </p:nvSpPr>
        <p:spPr>
          <a:xfrm>
            <a:off x="635253" y="3360928"/>
            <a:ext cx="10908794"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a:solidFill>
                  <a:srgbClr val="FFFFFF"/>
                </a:solidFill>
                <a:latin typeface="Inter Regular"/>
                <a:ea typeface="Inter Regular"/>
                <a:cs typeface="Inter Regular"/>
                <a:sym typeface="Inter Regular"/>
              </a:defRPr>
            </a:pPr>
            <a:r>
              <a:t>Cilj: kod koji je </a:t>
            </a:r>
            <a:r>
              <a:rPr>
                <a:solidFill>
                  <a:srgbClr val="00D4FF"/>
                </a:solidFill>
                <a:latin typeface="Inter Bold"/>
                <a:ea typeface="Inter Bold"/>
                <a:cs typeface="Inter Bold"/>
                <a:sym typeface="Inter Bold"/>
              </a:rPr>
              <a:t>predvidljiv</a:t>
            </a:r>
            <a:r>
              <a:t>, </a:t>
            </a:r>
            <a:r>
              <a:rPr>
                <a:solidFill>
                  <a:srgbClr val="00D4FF"/>
                </a:solidFill>
                <a:latin typeface="Inter Bold"/>
                <a:ea typeface="Inter Bold"/>
                <a:cs typeface="Inter Bold"/>
                <a:sym typeface="Inter Bold"/>
              </a:rPr>
              <a:t>izoliran</a:t>
            </a:r>
            <a:r>
              <a:t> i </a:t>
            </a:r>
            <a:r>
              <a:rPr>
                <a:solidFill>
                  <a:srgbClr val="00D4FF"/>
                </a:solidFill>
                <a:latin typeface="Inter Bold"/>
                <a:ea typeface="Inter Bold"/>
                <a:cs typeface="Inter Bold"/>
                <a:sym typeface="Inter Bold"/>
              </a:rPr>
              <a:t>razumljiv iz strukture</a:t>
            </a:r>
            <a:r>
              <a:t> — bez čitanja svake datoteke.</a:t>
            </a:r>
          </a:p>
        </p:txBody>
      </p:sp>
      <p:sp>
        <p:nvSpPr>
          <p:cNvPr id="332" name="Rounded Rectangle 6"/>
          <p:cNvSpPr/>
          <p:nvPr/>
        </p:nvSpPr>
        <p:spPr>
          <a:xfrm>
            <a:off x="640080" y="4389120"/>
            <a:ext cx="10972801" cy="1645921"/>
          </a:xfrm>
          <a:prstGeom prst="roundRect">
            <a:avLst>
              <a:gd name="adj" fmla="val 8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333" name="Rectangle 7"/>
          <p:cNvSpPr/>
          <p:nvPr/>
        </p:nvSpPr>
        <p:spPr>
          <a:xfrm>
            <a:off x="640080" y="4389120"/>
            <a:ext cx="54865" cy="1645921"/>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34" name="TextBox 8"/>
          <p:cNvSpPr txBox="1"/>
          <p:nvPr/>
        </p:nvSpPr>
        <p:spPr>
          <a:xfrm>
            <a:off x="914400" y="4572000"/>
            <a:ext cx="10515600" cy="5334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a:solidFill>
                  <a:srgbClr val="FFFFFF"/>
                </a:solidFill>
                <a:latin typeface="Inter Regular"/>
                <a:ea typeface="Inter Regular"/>
                <a:cs typeface="Inter Regular"/>
                <a:sym typeface="Inter Regular"/>
              </a:defRPr>
            </a:pPr>
            <a:r>
              <a:t>Drugim riječima — metodologija dizajnirana za isti problem koji AI ima: </a:t>
            </a:r>
            <a:r>
              <a:rPr>
                <a:solidFill>
                  <a:srgbClr val="00D4FF"/>
                </a:solidFill>
                <a:latin typeface="Inter Bold"/>
                <a:ea typeface="Inter Bold"/>
                <a:cs typeface="Inter Bold"/>
                <a:sym typeface="Inter Bold"/>
              </a:rPr>
              <a:t>izgraditi mentalni model projekta brzo i bez prethodnog konteksta.</a:t>
            </a:r>
          </a:p>
        </p:txBody>
      </p:sp>
      <p:sp>
        <p:nvSpPr>
          <p:cNvPr id="335" name="TextBox 5"/>
          <p:cNvSpPr txBox="1"/>
          <p:nvPr/>
        </p:nvSpPr>
        <p:spPr>
          <a:xfrm>
            <a:off x="635253" y="1693060"/>
            <a:ext cx="10908794"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FFFFFF"/>
                </a:solidFill>
                <a:latin typeface="Inter Regular"/>
                <a:ea typeface="Inter Regular"/>
                <a:cs typeface="Inter Regular"/>
                <a:sym typeface="Inter Regular"/>
              </a:defRPr>
            </a:lvl1pPr>
          </a:lstStyle>
          <a:p>
            <a:pPr/>
            <a:r>
              <a:t>Arhitekturna metodologija za frontend projekte</a:t>
            </a:r>
          </a:p>
        </p:txBody>
      </p:sp>
    </p:spTree>
  </p:cSld>
  <p:clrMapOvr>
    <a:masterClrMapping/>
  </p:clrMapOvr>
  <p:transition xmlns:p14="http://schemas.microsoft.com/office/powerpoint/2010/main" spd="med" advClick="1"/>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39" name="FSD Diagram Dark.png" descr="FSD Diagram Dark.png"/>
          <p:cNvPicPr>
            <a:picLocks noChangeAspect="1"/>
          </p:cNvPicPr>
          <p:nvPr/>
        </p:nvPicPr>
        <p:blipFill>
          <a:blip r:embed="rId3">
            <a:extLst/>
          </a:blip>
          <a:stretch>
            <a:fillRect/>
          </a:stretch>
        </p:blipFill>
        <p:spPr>
          <a:xfrm>
            <a:off x="374649" y="0"/>
            <a:ext cx="11430001" cy="6858001"/>
          </a:xfrm>
          <a:prstGeom prst="rect">
            <a:avLst/>
          </a:prstGeom>
          <a:ln w="12700">
            <a:miter lim="400000"/>
          </a:ln>
        </p:spPr>
      </p:pic>
    </p:spTree>
  </p:cSld>
  <p:clrMapOvr>
    <a:masterClrMapping/>
  </p:clrMapOvr>
  <p:transition xmlns:p14="http://schemas.microsoft.com/office/powerpoint/2010/main" spd="med" advClick="1"/>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3"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3600">
                <a:solidFill>
                  <a:srgbClr val="FFFFFF"/>
                </a:solidFill>
                <a:latin typeface="Inter Bold"/>
                <a:ea typeface="Inter Bold"/>
                <a:cs typeface="Inter Bold"/>
                <a:sym typeface="Inter Bold"/>
              </a:defRPr>
            </a:lvl1pPr>
          </a:lstStyle>
          <a:p>
            <a:pPr/>
            <a:r>
              <a:t>Tri stupa FSD-a</a:t>
            </a:r>
          </a:p>
        </p:txBody>
      </p:sp>
      <p:sp>
        <p:nvSpPr>
          <p:cNvPr id="344" name="TextBox 2"/>
          <p:cNvSpPr txBox="1"/>
          <p:nvPr/>
        </p:nvSpPr>
        <p:spPr>
          <a:xfrm>
            <a:off x="640079" y="1371600"/>
            <a:ext cx="1090879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888888"/>
                </a:solidFill>
                <a:latin typeface="Inter Regular"/>
                <a:ea typeface="Inter Regular"/>
                <a:cs typeface="Inter Regular"/>
                <a:sym typeface="Inter Regular"/>
              </a:defRPr>
            </a:lvl1pPr>
          </a:lstStyle>
          <a:p>
            <a:pPr/>
            <a:r>
              <a:t>Sve se svodi na tri pravila</a:t>
            </a:r>
          </a:p>
        </p:txBody>
      </p:sp>
      <p:sp>
        <p:nvSpPr>
          <p:cNvPr id="345" name="Rectangle 3"/>
          <p:cNvSpPr/>
          <p:nvPr/>
        </p:nvSpPr>
        <p:spPr>
          <a:xfrm>
            <a:off x="640080" y="1691639"/>
            <a:ext cx="548641" cy="36577"/>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grpSp>
        <p:nvGrpSpPr>
          <p:cNvPr id="348" name="Rounded Rectangle 4"/>
          <p:cNvGrpSpPr/>
          <p:nvPr/>
        </p:nvGrpSpPr>
        <p:grpSpPr>
          <a:xfrm>
            <a:off x="640080" y="2560320"/>
            <a:ext cx="3474721" cy="1554481"/>
            <a:chOff x="0" y="0"/>
            <a:chExt cx="3474720" cy="1554480"/>
          </a:xfrm>
        </p:grpSpPr>
        <p:sp>
          <p:nvSpPr>
            <p:cNvPr id="346" name="Rounded Rectangle"/>
            <p:cNvSpPr/>
            <p:nvPr/>
          </p:nvSpPr>
          <p:spPr>
            <a:xfrm>
              <a:off x="0" y="0"/>
              <a:ext cx="3474721" cy="1554481"/>
            </a:xfrm>
            <a:prstGeom prst="roundRect">
              <a:avLst>
                <a:gd name="adj" fmla="val 18000"/>
              </a:avLst>
            </a:prstGeom>
            <a:solidFill>
              <a:srgbClr val="1A1A2E"/>
            </a:solidFill>
            <a:ln w="1587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347" name="Layers…"/>
            <p:cNvSpPr txBox="1"/>
            <p:nvPr/>
          </p:nvSpPr>
          <p:spPr>
            <a:xfrm>
              <a:off x="89889" y="554990"/>
              <a:ext cx="3294942" cy="444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p>
              <a:pPr algn="ctr">
                <a:defRPr>
                  <a:solidFill>
                    <a:srgbClr val="FFFFFF"/>
                  </a:solidFill>
                  <a:latin typeface="Inter Bold"/>
                  <a:ea typeface="Inter Bold"/>
                  <a:cs typeface="Inter Bold"/>
                  <a:sym typeface="Inter Bold"/>
                </a:defRPr>
              </a:pPr>
              <a:r>
                <a:t>Layers</a:t>
              </a:r>
            </a:p>
            <a:p>
              <a:pPr algn="ctr">
                <a:defRPr sz="1100">
                  <a:solidFill>
                    <a:srgbClr val="888888"/>
                  </a:solidFill>
                  <a:latin typeface="Inter Regular"/>
                  <a:ea typeface="Inter Regular"/>
                  <a:cs typeface="Inter Regular"/>
                  <a:sym typeface="Inter Regular"/>
                </a:defRPr>
              </a:pPr>
              <a:r>
                <a:t>hijerarhija odgovornosti</a:t>
              </a:r>
            </a:p>
          </p:txBody>
        </p:sp>
      </p:grpSp>
      <p:sp>
        <p:nvSpPr>
          <p:cNvPr id="349" name="TextBox 5"/>
          <p:cNvSpPr txBox="1"/>
          <p:nvPr/>
        </p:nvSpPr>
        <p:spPr>
          <a:xfrm>
            <a:off x="4114800" y="3017520"/>
            <a:ext cx="274321" cy="368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2400">
                <a:solidFill>
                  <a:srgbClr val="00D4FF"/>
                </a:solidFill>
                <a:latin typeface="Inter Bold"/>
                <a:ea typeface="Inter Bold"/>
                <a:cs typeface="Inter Bold"/>
                <a:sym typeface="Inter Bold"/>
              </a:defRPr>
            </a:lvl1pPr>
          </a:lstStyle>
          <a:p>
            <a:pPr/>
            <a:r>
              <a:t>+</a:t>
            </a:r>
          </a:p>
        </p:txBody>
      </p:sp>
      <p:grpSp>
        <p:nvGrpSpPr>
          <p:cNvPr id="352" name="Rounded Rectangle 6"/>
          <p:cNvGrpSpPr/>
          <p:nvPr/>
        </p:nvGrpSpPr>
        <p:grpSpPr>
          <a:xfrm>
            <a:off x="4389120" y="2560320"/>
            <a:ext cx="3474721" cy="1554481"/>
            <a:chOff x="0" y="0"/>
            <a:chExt cx="3474720" cy="1554480"/>
          </a:xfrm>
        </p:grpSpPr>
        <p:sp>
          <p:nvSpPr>
            <p:cNvPr id="350" name="Rounded Rectangle"/>
            <p:cNvSpPr/>
            <p:nvPr/>
          </p:nvSpPr>
          <p:spPr>
            <a:xfrm>
              <a:off x="0" y="0"/>
              <a:ext cx="3474721" cy="1554481"/>
            </a:xfrm>
            <a:prstGeom prst="roundRect">
              <a:avLst>
                <a:gd name="adj" fmla="val 18000"/>
              </a:avLst>
            </a:prstGeom>
            <a:solidFill>
              <a:srgbClr val="1A1A2E"/>
            </a:solidFill>
            <a:ln w="1587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351" name="Slices &amp; Segments…"/>
            <p:cNvSpPr txBox="1"/>
            <p:nvPr/>
          </p:nvSpPr>
          <p:spPr>
            <a:xfrm>
              <a:off x="89889" y="554990"/>
              <a:ext cx="3294942" cy="444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p>
              <a:pPr algn="ctr">
                <a:defRPr>
                  <a:solidFill>
                    <a:srgbClr val="FFFFFF"/>
                  </a:solidFill>
                  <a:latin typeface="Inter Bold"/>
                  <a:ea typeface="Inter Bold"/>
                  <a:cs typeface="Inter Bold"/>
                  <a:sym typeface="Inter Bold"/>
                </a:defRPr>
              </a:pPr>
              <a:r>
                <a:t>Slices &amp; Segments</a:t>
              </a:r>
            </a:p>
            <a:p>
              <a:pPr algn="ctr">
                <a:defRPr sz="1100">
                  <a:solidFill>
                    <a:srgbClr val="888888"/>
                  </a:solidFill>
                  <a:latin typeface="Inter Regular"/>
                  <a:ea typeface="Inter Regular"/>
                  <a:cs typeface="Inter Regular"/>
                  <a:sym typeface="Inter Regular"/>
                </a:defRPr>
              </a:pPr>
              <a:r>
                <a:t>domena × tehnička svrha</a:t>
              </a:r>
            </a:p>
          </p:txBody>
        </p:sp>
      </p:grpSp>
      <p:sp>
        <p:nvSpPr>
          <p:cNvPr id="353" name="TextBox 7"/>
          <p:cNvSpPr txBox="1"/>
          <p:nvPr/>
        </p:nvSpPr>
        <p:spPr>
          <a:xfrm>
            <a:off x="7863840" y="3017520"/>
            <a:ext cx="274321" cy="368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2400">
                <a:solidFill>
                  <a:srgbClr val="00D4FF"/>
                </a:solidFill>
                <a:latin typeface="Inter Bold"/>
                <a:ea typeface="Inter Bold"/>
                <a:cs typeface="Inter Bold"/>
                <a:sym typeface="Inter Bold"/>
              </a:defRPr>
            </a:lvl1pPr>
          </a:lstStyle>
          <a:p>
            <a:pPr/>
            <a:r>
              <a:t>+</a:t>
            </a:r>
          </a:p>
        </p:txBody>
      </p:sp>
      <p:grpSp>
        <p:nvGrpSpPr>
          <p:cNvPr id="356" name="Rounded Rectangle 8"/>
          <p:cNvGrpSpPr/>
          <p:nvPr/>
        </p:nvGrpSpPr>
        <p:grpSpPr>
          <a:xfrm>
            <a:off x="8138159" y="2560320"/>
            <a:ext cx="3474721" cy="1554481"/>
            <a:chOff x="0" y="0"/>
            <a:chExt cx="3474720" cy="1554480"/>
          </a:xfrm>
        </p:grpSpPr>
        <p:sp>
          <p:nvSpPr>
            <p:cNvPr id="354" name="Rounded Rectangle"/>
            <p:cNvSpPr/>
            <p:nvPr/>
          </p:nvSpPr>
          <p:spPr>
            <a:xfrm>
              <a:off x="0" y="0"/>
              <a:ext cx="3474721" cy="1554481"/>
            </a:xfrm>
            <a:prstGeom prst="roundRect">
              <a:avLst>
                <a:gd name="adj" fmla="val 18000"/>
              </a:avLst>
            </a:prstGeom>
            <a:solidFill>
              <a:srgbClr val="1A1A2E"/>
            </a:solidFill>
            <a:ln w="1587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355" name="Public API…"/>
            <p:cNvSpPr txBox="1"/>
            <p:nvPr/>
          </p:nvSpPr>
          <p:spPr>
            <a:xfrm>
              <a:off x="89889" y="554990"/>
              <a:ext cx="3294942" cy="444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p>
              <a:pPr algn="ctr">
                <a:defRPr>
                  <a:solidFill>
                    <a:srgbClr val="FFFFFF"/>
                  </a:solidFill>
                  <a:latin typeface="Inter Bold"/>
                  <a:ea typeface="Inter Bold"/>
                  <a:cs typeface="Inter Bold"/>
                  <a:sym typeface="Inter Bold"/>
                </a:defRPr>
              </a:pPr>
              <a:r>
                <a:t>Public API</a:t>
              </a:r>
            </a:p>
            <a:p>
              <a:pPr algn="ctr">
                <a:defRPr sz="1100">
                  <a:solidFill>
                    <a:srgbClr val="888888"/>
                  </a:solidFill>
                  <a:latin typeface="Inter Regular"/>
                  <a:ea typeface="Inter Regular"/>
                  <a:cs typeface="Inter Regular"/>
                  <a:sym typeface="Inter Regular"/>
                </a:defRPr>
              </a:pPr>
              <a:r>
                <a:t>jasan contract (index.ts)</a:t>
              </a:r>
            </a:p>
          </p:txBody>
        </p:sp>
      </p:grpSp>
      <p:sp>
        <p:nvSpPr>
          <p:cNvPr id="357" name="TextBox 9"/>
          <p:cNvSpPr txBox="1"/>
          <p:nvPr/>
        </p:nvSpPr>
        <p:spPr>
          <a:xfrm>
            <a:off x="640079" y="4754879"/>
            <a:ext cx="10908794" cy="533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gn="ctr">
              <a:defRPr>
                <a:solidFill>
                  <a:srgbClr val="FFFFFF"/>
                </a:solidFill>
                <a:latin typeface="Inter Regular"/>
                <a:ea typeface="Inter Regular"/>
                <a:cs typeface="Inter Regular"/>
                <a:sym typeface="Inter Regular"/>
              </a:defRPr>
            </a:pPr>
            <a:r>
              <a:t>Svako od ova tri pravila </a:t>
            </a:r>
            <a:r>
              <a:rPr>
                <a:solidFill>
                  <a:srgbClr val="00D4FF"/>
                </a:solidFill>
                <a:latin typeface="Inter Bold"/>
                <a:ea typeface="Inter Bold"/>
                <a:cs typeface="Inter Bold"/>
                <a:sym typeface="Inter Bold"/>
              </a:rPr>
              <a:t>izravno smanjuje</a:t>
            </a:r>
            <a:r>
              <a:t> količinu konteksta koji AI mora učitati da bi razumio projekt.</a:t>
            </a:r>
          </a:p>
        </p:txBody>
      </p:sp>
    </p:spTree>
  </p:cSld>
  <p:clrMapOvr>
    <a:masterClrMapping/>
  </p:clrMapOvr>
  <p:transition xmlns:p14="http://schemas.microsoft.com/office/powerpoint/2010/main" spd="med" advClick="1"/>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1"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3600">
                <a:solidFill>
                  <a:srgbClr val="FFFFFF"/>
                </a:solidFill>
                <a:latin typeface="Inter Bold"/>
                <a:ea typeface="Inter Bold"/>
                <a:cs typeface="Inter Bold"/>
                <a:sym typeface="Inter Bold"/>
              </a:defRPr>
            </a:pPr>
            <a:r>
              <a:t>Pravilo #1: </a:t>
            </a:r>
            <a:r>
              <a:rPr>
                <a:solidFill>
                  <a:srgbClr val="00D4FF"/>
                </a:solidFill>
              </a:rPr>
              <a:t>Slojevi</a:t>
            </a:r>
          </a:p>
        </p:txBody>
      </p:sp>
      <p:sp>
        <p:nvSpPr>
          <p:cNvPr id="362" name="TextBox 2"/>
          <p:cNvSpPr txBox="1"/>
          <p:nvPr/>
        </p:nvSpPr>
        <p:spPr>
          <a:xfrm>
            <a:off x="640079" y="1371600"/>
            <a:ext cx="1090879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888888"/>
                </a:solidFill>
                <a:latin typeface="Inter Regular"/>
                <a:ea typeface="Inter Regular"/>
                <a:cs typeface="Inter Regular"/>
                <a:sym typeface="Inter Regular"/>
              </a:defRPr>
            </a:lvl1pPr>
          </a:lstStyle>
          <a:p>
            <a:pPr/>
            <a:r>
              <a:t>Hijerarhija odgovornosti, fiksni redoslijed</a:t>
            </a:r>
          </a:p>
        </p:txBody>
      </p:sp>
      <p:sp>
        <p:nvSpPr>
          <p:cNvPr id="363" name="Rectangle 3"/>
          <p:cNvSpPr/>
          <p:nvPr/>
        </p:nvSpPr>
        <p:spPr>
          <a:xfrm>
            <a:off x="640080" y="1691639"/>
            <a:ext cx="548641" cy="36577"/>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64" name="TextBox 6"/>
          <p:cNvSpPr txBox="1"/>
          <p:nvPr/>
        </p:nvSpPr>
        <p:spPr>
          <a:xfrm>
            <a:off x="6766559" y="2194560"/>
            <a:ext cx="512064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00D4FF"/>
                </a:solidFill>
                <a:latin typeface="Inter Bold"/>
                <a:ea typeface="Inter Bold"/>
                <a:cs typeface="Inter Bold"/>
                <a:sym typeface="Inter Bold"/>
              </a:defRPr>
            </a:lvl1pPr>
          </a:lstStyle>
          <a:p>
            <a:pPr/>
            <a:r>
              <a:t>Pravilo importa</a:t>
            </a:r>
          </a:p>
        </p:txBody>
      </p:sp>
      <p:sp>
        <p:nvSpPr>
          <p:cNvPr id="365" name="TextBox 7"/>
          <p:cNvSpPr txBox="1"/>
          <p:nvPr/>
        </p:nvSpPr>
        <p:spPr>
          <a:xfrm>
            <a:off x="6766559" y="2560320"/>
            <a:ext cx="5120641" cy="431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FFFFFF"/>
                </a:solidFill>
                <a:latin typeface="Inter Regular"/>
                <a:ea typeface="Inter Regular"/>
                <a:cs typeface="Inter Regular"/>
                <a:sym typeface="Inter Regular"/>
              </a:defRPr>
            </a:pPr>
            <a:r>
              <a:t>Sloj smije importati </a:t>
            </a:r>
            <a:r>
              <a:rPr>
                <a:solidFill>
                  <a:srgbClr val="2ED573"/>
                </a:solidFill>
                <a:latin typeface="Inter Bold"/>
                <a:ea typeface="Inter Bold"/>
                <a:cs typeface="Inter Bold"/>
                <a:sym typeface="Inter Bold"/>
              </a:rPr>
              <a:t>samo iz slojeva ispod sebe.</a:t>
            </a:r>
            <a:endParaRPr>
              <a:solidFill>
                <a:srgbClr val="2ED573"/>
              </a:solidFill>
              <a:latin typeface="Inter Bold"/>
              <a:ea typeface="Inter Bold"/>
              <a:cs typeface="Inter Bold"/>
              <a:sym typeface="Inter Bold"/>
            </a:endParaRPr>
          </a:p>
          <a:p>
            <a:pPr>
              <a:defRPr sz="1400">
                <a:solidFill>
                  <a:srgbClr val="FFFFFF"/>
                </a:solidFill>
                <a:latin typeface="Inter Regular"/>
                <a:ea typeface="Inter Regular"/>
                <a:cs typeface="Inter Regular"/>
                <a:sym typeface="Inter Regular"/>
              </a:defRPr>
            </a:pPr>
            <a:r>
              <a:t>Cross-importi između slica istog sloja su </a:t>
            </a:r>
            <a:r>
              <a:rPr>
                <a:solidFill>
                  <a:srgbClr val="FF4757"/>
                </a:solidFill>
                <a:latin typeface="Inter Bold"/>
                <a:ea typeface="Inter Bold"/>
                <a:cs typeface="Inter Bold"/>
                <a:sym typeface="Inter Bold"/>
              </a:rPr>
              <a:t>zabranjeni.</a:t>
            </a:r>
          </a:p>
        </p:txBody>
      </p:sp>
      <p:grpSp>
        <p:nvGrpSpPr>
          <p:cNvPr id="368" name="Rounded Rectangle 8"/>
          <p:cNvGrpSpPr/>
          <p:nvPr/>
        </p:nvGrpSpPr>
        <p:grpSpPr>
          <a:xfrm>
            <a:off x="6766559" y="3931920"/>
            <a:ext cx="868681" cy="457201"/>
            <a:chOff x="0" y="0"/>
            <a:chExt cx="868680" cy="457200"/>
          </a:xfrm>
        </p:grpSpPr>
        <p:sp>
          <p:nvSpPr>
            <p:cNvPr id="366" name="Rounded Rectangle"/>
            <p:cNvSpPr/>
            <p:nvPr/>
          </p:nvSpPr>
          <p:spPr>
            <a:xfrm>
              <a:off x="0" y="0"/>
              <a:ext cx="868681" cy="457200"/>
            </a:xfrm>
            <a:prstGeom prst="roundRect">
              <a:avLst>
                <a:gd name="adj" fmla="val 18000"/>
              </a:avLst>
            </a:prstGeom>
            <a:solidFill>
              <a:srgbClr val="1A1A2E"/>
            </a:solidFill>
            <a:ln w="1587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367" name="app"/>
            <p:cNvSpPr txBox="1"/>
            <p:nvPr/>
          </p:nvSpPr>
          <p:spPr>
            <a:xfrm>
              <a:off x="32041" y="6349"/>
              <a:ext cx="804598" cy="444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a:solidFill>
                    <a:srgbClr val="FFFFFF"/>
                  </a:solidFill>
                  <a:latin typeface="Inter Bold"/>
                  <a:ea typeface="Inter Bold"/>
                  <a:cs typeface="Inter Bold"/>
                  <a:sym typeface="Inter Bold"/>
                </a:defRPr>
              </a:lvl1pPr>
            </a:lstStyle>
            <a:p>
              <a:pPr/>
              <a:r>
                <a:t>app</a:t>
              </a:r>
            </a:p>
          </p:txBody>
        </p:sp>
      </p:grpSp>
      <p:sp>
        <p:nvSpPr>
          <p:cNvPr id="369" name="TextBox 9"/>
          <p:cNvSpPr txBox="1"/>
          <p:nvPr/>
        </p:nvSpPr>
        <p:spPr>
          <a:xfrm>
            <a:off x="7635240" y="3977638"/>
            <a:ext cx="274321" cy="368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2400">
                <a:solidFill>
                  <a:srgbClr val="00D4FF"/>
                </a:solidFill>
                <a:latin typeface="Inter Bold"/>
                <a:ea typeface="Inter Bold"/>
                <a:cs typeface="Inter Bold"/>
                <a:sym typeface="Inter Bold"/>
              </a:defRPr>
            </a:lvl1pPr>
          </a:lstStyle>
          <a:p>
            <a:pPr/>
            <a:r>
              <a:t>→</a:t>
            </a:r>
          </a:p>
        </p:txBody>
      </p:sp>
      <p:grpSp>
        <p:nvGrpSpPr>
          <p:cNvPr id="372" name="Rounded Rectangle 10"/>
          <p:cNvGrpSpPr/>
          <p:nvPr/>
        </p:nvGrpSpPr>
        <p:grpSpPr>
          <a:xfrm>
            <a:off x="7909559" y="3931920"/>
            <a:ext cx="868681" cy="457201"/>
            <a:chOff x="0" y="0"/>
            <a:chExt cx="868680" cy="457200"/>
          </a:xfrm>
        </p:grpSpPr>
        <p:sp>
          <p:nvSpPr>
            <p:cNvPr id="370" name="Rounded Rectangle"/>
            <p:cNvSpPr/>
            <p:nvPr/>
          </p:nvSpPr>
          <p:spPr>
            <a:xfrm>
              <a:off x="0" y="0"/>
              <a:ext cx="868681" cy="457200"/>
            </a:xfrm>
            <a:prstGeom prst="roundRect">
              <a:avLst>
                <a:gd name="adj" fmla="val 18000"/>
              </a:avLst>
            </a:prstGeom>
            <a:solidFill>
              <a:srgbClr val="1A1A2E"/>
            </a:solidFill>
            <a:ln w="1587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371" name="pages"/>
            <p:cNvSpPr txBox="1"/>
            <p:nvPr/>
          </p:nvSpPr>
          <p:spPr>
            <a:xfrm>
              <a:off x="32041" y="6349"/>
              <a:ext cx="804598" cy="444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a:solidFill>
                    <a:srgbClr val="FFFFFF"/>
                  </a:solidFill>
                  <a:latin typeface="Inter Bold"/>
                  <a:ea typeface="Inter Bold"/>
                  <a:cs typeface="Inter Bold"/>
                  <a:sym typeface="Inter Bold"/>
                </a:defRPr>
              </a:lvl1pPr>
            </a:lstStyle>
            <a:p>
              <a:pPr/>
              <a:r>
                <a:t>pages</a:t>
              </a:r>
            </a:p>
          </p:txBody>
        </p:sp>
      </p:grpSp>
      <p:sp>
        <p:nvSpPr>
          <p:cNvPr id="373" name="TextBox 11"/>
          <p:cNvSpPr txBox="1"/>
          <p:nvPr/>
        </p:nvSpPr>
        <p:spPr>
          <a:xfrm>
            <a:off x="8778240" y="3977638"/>
            <a:ext cx="274321" cy="368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2400">
                <a:solidFill>
                  <a:srgbClr val="00D4FF"/>
                </a:solidFill>
                <a:latin typeface="Inter Bold"/>
                <a:ea typeface="Inter Bold"/>
                <a:cs typeface="Inter Bold"/>
                <a:sym typeface="Inter Bold"/>
              </a:defRPr>
            </a:lvl1pPr>
          </a:lstStyle>
          <a:p>
            <a:pPr/>
            <a:r>
              <a:t>→</a:t>
            </a:r>
          </a:p>
        </p:txBody>
      </p:sp>
      <p:grpSp>
        <p:nvGrpSpPr>
          <p:cNvPr id="376" name="Rounded Rectangle 12"/>
          <p:cNvGrpSpPr/>
          <p:nvPr/>
        </p:nvGrpSpPr>
        <p:grpSpPr>
          <a:xfrm>
            <a:off x="9052559" y="3931920"/>
            <a:ext cx="868681" cy="457201"/>
            <a:chOff x="0" y="0"/>
            <a:chExt cx="868680" cy="457200"/>
          </a:xfrm>
        </p:grpSpPr>
        <p:sp>
          <p:nvSpPr>
            <p:cNvPr id="374" name="Rounded Rectangle"/>
            <p:cNvSpPr/>
            <p:nvPr/>
          </p:nvSpPr>
          <p:spPr>
            <a:xfrm>
              <a:off x="0" y="0"/>
              <a:ext cx="868681" cy="457200"/>
            </a:xfrm>
            <a:prstGeom prst="roundRect">
              <a:avLst>
                <a:gd name="adj" fmla="val 18000"/>
              </a:avLst>
            </a:prstGeom>
            <a:solidFill>
              <a:srgbClr val="1A1A2E"/>
            </a:solidFill>
            <a:ln w="1587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375" name="..."/>
            <p:cNvSpPr txBox="1"/>
            <p:nvPr/>
          </p:nvSpPr>
          <p:spPr>
            <a:xfrm>
              <a:off x="32041" y="6349"/>
              <a:ext cx="804598" cy="444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a:solidFill>
                    <a:srgbClr val="FFFFFF"/>
                  </a:solidFill>
                  <a:latin typeface="Inter Bold"/>
                  <a:ea typeface="Inter Bold"/>
                  <a:cs typeface="Inter Bold"/>
                  <a:sym typeface="Inter Bold"/>
                </a:defRPr>
              </a:lvl1pPr>
            </a:lstStyle>
            <a:p>
              <a:pPr/>
              <a:r>
                <a:t>...</a:t>
              </a:r>
            </a:p>
          </p:txBody>
        </p:sp>
      </p:grpSp>
      <p:sp>
        <p:nvSpPr>
          <p:cNvPr id="377" name="TextBox 13"/>
          <p:cNvSpPr txBox="1"/>
          <p:nvPr/>
        </p:nvSpPr>
        <p:spPr>
          <a:xfrm>
            <a:off x="9921240" y="3977638"/>
            <a:ext cx="274321" cy="368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2400">
                <a:solidFill>
                  <a:srgbClr val="00D4FF"/>
                </a:solidFill>
                <a:latin typeface="Inter Bold"/>
                <a:ea typeface="Inter Bold"/>
                <a:cs typeface="Inter Bold"/>
                <a:sym typeface="Inter Bold"/>
              </a:defRPr>
            </a:lvl1pPr>
          </a:lstStyle>
          <a:p>
            <a:pPr/>
            <a:r>
              <a:t>→</a:t>
            </a:r>
          </a:p>
        </p:txBody>
      </p:sp>
      <p:grpSp>
        <p:nvGrpSpPr>
          <p:cNvPr id="380" name="Rounded Rectangle 14"/>
          <p:cNvGrpSpPr/>
          <p:nvPr/>
        </p:nvGrpSpPr>
        <p:grpSpPr>
          <a:xfrm>
            <a:off x="10195559" y="3931920"/>
            <a:ext cx="868681" cy="457201"/>
            <a:chOff x="0" y="0"/>
            <a:chExt cx="868680" cy="457200"/>
          </a:xfrm>
        </p:grpSpPr>
        <p:sp>
          <p:nvSpPr>
            <p:cNvPr id="378" name="Rounded Rectangle"/>
            <p:cNvSpPr/>
            <p:nvPr/>
          </p:nvSpPr>
          <p:spPr>
            <a:xfrm>
              <a:off x="0" y="0"/>
              <a:ext cx="868681" cy="457200"/>
            </a:xfrm>
            <a:prstGeom prst="roundRect">
              <a:avLst>
                <a:gd name="adj" fmla="val 18000"/>
              </a:avLst>
            </a:prstGeom>
            <a:solidFill>
              <a:srgbClr val="1A1A2E"/>
            </a:solidFill>
            <a:ln w="15875" cap="flat">
              <a:solidFill>
                <a:srgbClr val="00D4FF"/>
              </a:solidFill>
              <a:prstDash val="solid"/>
              <a:round/>
            </a:ln>
            <a:effectLst/>
          </p:spPr>
          <p:txBody>
            <a:bodyPr wrap="square" lIns="45718" tIns="45718" rIns="45718" bIns="45718" numCol="1" anchor="ctr">
              <a:noAutofit/>
            </a:bodyPr>
            <a:lstStyle/>
            <a:p>
              <a:pPr algn="ctr">
                <a:defRPr>
                  <a:solidFill>
                    <a:srgbClr val="FFFFFF"/>
                  </a:solidFill>
                </a:defRPr>
              </a:pPr>
            </a:p>
          </p:txBody>
        </p:sp>
        <p:sp>
          <p:nvSpPr>
            <p:cNvPr id="379" name="shared"/>
            <p:cNvSpPr txBox="1"/>
            <p:nvPr/>
          </p:nvSpPr>
          <p:spPr>
            <a:xfrm>
              <a:off x="32041" y="6349"/>
              <a:ext cx="804598" cy="444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a:solidFill>
                    <a:srgbClr val="FFFFFF"/>
                  </a:solidFill>
                  <a:latin typeface="Inter Bold"/>
                  <a:ea typeface="Inter Bold"/>
                  <a:cs typeface="Inter Bold"/>
                  <a:sym typeface="Inter Bold"/>
                </a:defRPr>
              </a:lvl1pPr>
            </a:lstStyle>
            <a:p>
              <a:pPr/>
              <a:r>
                <a:t>shared</a:t>
              </a:r>
            </a:p>
          </p:txBody>
        </p:sp>
      </p:grpSp>
      <p:sp>
        <p:nvSpPr>
          <p:cNvPr id="381" name="TextBox 15"/>
          <p:cNvSpPr txBox="1"/>
          <p:nvPr/>
        </p:nvSpPr>
        <p:spPr>
          <a:xfrm>
            <a:off x="640080" y="5212079"/>
            <a:ext cx="548640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00D4FF"/>
                </a:solidFill>
                <a:latin typeface="Inter Bold"/>
                <a:ea typeface="Inter Bold"/>
                <a:cs typeface="Inter Bold"/>
                <a:sym typeface="Inter Bold"/>
              </a:defRPr>
            </a:lvl1pPr>
          </a:lstStyle>
          <a:p>
            <a:pPr/>
            <a:r>
              <a:t>Mapa odgovornosti</a:t>
            </a:r>
          </a:p>
        </p:txBody>
      </p:sp>
      <p:sp>
        <p:nvSpPr>
          <p:cNvPr id="382" name="TextBox 16"/>
          <p:cNvSpPr txBox="1"/>
          <p:nvPr/>
        </p:nvSpPr>
        <p:spPr>
          <a:xfrm>
            <a:off x="640080" y="5532120"/>
            <a:ext cx="5486401"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solidFill>
                  <a:srgbClr val="FFFFFF"/>
                </a:solidFill>
                <a:latin typeface="Inter Regular"/>
                <a:ea typeface="Inter Regular"/>
                <a:cs typeface="Inter Regular"/>
                <a:sym typeface="Inter Regular"/>
              </a:defRPr>
            </a:pPr>
            <a:r>
              <a:t>AI pročita file tree i </a:t>
            </a:r>
            <a:r>
              <a:rPr>
                <a:solidFill>
                  <a:srgbClr val="00D4FF"/>
                </a:solidFill>
                <a:latin typeface="Inter Bold"/>
                <a:ea typeface="Inter Bold"/>
                <a:cs typeface="Inter Bold"/>
                <a:sym typeface="Inter Bold"/>
              </a:rPr>
              <a:t>odmah zna</a:t>
            </a:r>
            <a:r>
              <a:t> gdje je poslovna logika, gdje akcije, a gdje infrastruktura.</a:t>
            </a:r>
          </a:p>
        </p:txBody>
      </p:sp>
      <p:sp>
        <p:nvSpPr>
          <p:cNvPr id="383" name="TextBox 17"/>
          <p:cNvSpPr txBox="1"/>
          <p:nvPr/>
        </p:nvSpPr>
        <p:spPr>
          <a:xfrm>
            <a:off x="6400800" y="5212079"/>
            <a:ext cx="5486400"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00D4FF"/>
                </a:solidFill>
                <a:latin typeface="Inter Bold"/>
                <a:ea typeface="Inter Bold"/>
                <a:cs typeface="Inter Bold"/>
                <a:sym typeface="Inter Bold"/>
              </a:defRPr>
            </a:lvl1pPr>
          </a:lstStyle>
          <a:p>
            <a:pPr/>
            <a:r>
              <a:t>Manje context-hopova</a:t>
            </a:r>
          </a:p>
        </p:txBody>
      </p:sp>
      <p:sp>
        <p:nvSpPr>
          <p:cNvPr id="384" name="TextBox 18"/>
          <p:cNvSpPr txBox="1"/>
          <p:nvPr/>
        </p:nvSpPr>
        <p:spPr>
          <a:xfrm>
            <a:off x="6400800" y="5532120"/>
            <a:ext cx="5486400"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solidFill>
                  <a:srgbClr val="FFFFFF"/>
                </a:solidFill>
                <a:latin typeface="Inter Regular"/>
                <a:ea typeface="Inter Regular"/>
                <a:cs typeface="Inter Regular"/>
                <a:sym typeface="Inter Regular"/>
              </a:defRPr>
            </a:pPr>
            <a:r>
              <a:t>Jednosmjerni tok importa = </a:t>
            </a:r>
            <a:r>
              <a:rPr>
                <a:solidFill>
                  <a:srgbClr val="00D4FF"/>
                </a:solidFill>
                <a:latin typeface="Inter Bold"/>
                <a:ea typeface="Inter Bold"/>
                <a:cs typeface="Inter Bold"/>
                <a:sym typeface="Inter Bold"/>
              </a:rPr>
              <a:t>konačan put kroz ovisnosti</a:t>
            </a:r>
            <a:r>
              <a:t>. Manje koraka, manje potrošenih tokena.</a:t>
            </a:r>
          </a:p>
        </p:txBody>
      </p:sp>
      <p:pic>
        <p:nvPicPr>
          <p:cNvPr id="385" name="Folders Graphic.png" descr="Folders Graphic.png"/>
          <p:cNvPicPr>
            <a:picLocks noChangeAspect="1"/>
          </p:cNvPicPr>
          <p:nvPr/>
        </p:nvPicPr>
        <p:blipFill>
          <a:blip r:embed="rId3">
            <a:extLst/>
          </a:blip>
          <a:stretch>
            <a:fillRect/>
          </a:stretch>
        </p:blipFill>
        <p:spPr>
          <a:xfrm>
            <a:off x="613078" y="1977389"/>
            <a:ext cx="1566943" cy="2639061"/>
          </a:xfrm>
          <a:prstGeom prst="rect">
            <a:avLst/>
          </a:prstGeom>
          <a:ln w="12700">
            <a:miter lim="400000"/>
          </a:ln>
        </p:spPr>
      </p:pic>
    </p:spTree>
  </p:cSld>
  <p:clrMapOvr>
    <a:masterClrMapping/>
  </p:clrMapOvr>
  <p:transition xmlns:p14="http://schemas.microsoft.com/office/powerpoint/2010/main" spd="med" advClick="1"/>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9"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3600">
                <a:solidFill>
                  <a:srgbClr val="FFFFFF"/>
                </a:solidFill>
                <a:latin typeface="Inter Bold"/>
                <a:ea typeface="Inter Bold"/>
                <a:cs typeface="Inter Bold"/>
                <a:sym typeface="Inter Bold"/>
              </a:defRPr>
            </a:pPr>
            <a:r>
              <a:t>Pravilo #2: </a:t>
            </a:r>
            <a:r>
              <a:rPr>
                <a:solidFill>
                  <a:srgbClr val="00D4FF"/>
                </a:solidFill>
              </a:rPr>
              <a:t>Slices &amp; Segments</a:t>
            </a:r>
          </a:p>
        </p:txBody>
      </p:sp>
      <p:sp>
        <p:nvSpPr>
          <p:cNvPr id="390" name="TextBox 2"/>
          <p:cNvSpPr txBox="1"/>
          <p:nvPr/>
        </p:nvSpPr>
        <p:spPr>
          <a:xfrm>
            <a:off x="640079" y="1371600"/>
            <a:ext cx="1090879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888888"/>
                </a:solidFill>
                <a:latin typeface="Inter Regular"/>
                <a:ea typeface="Inter Regular"/>
                <a:cs typeface="Inter Regular"/>
                <a:sym typeface="Inter Regular"/>
              </a:defRPr>
            </a:lvl1pPr>
          </a:lstStyle>
          <a:p>
            <a:pPr/>
            <a:r>
              <a:t>Domena (slice) × tehnička svrha (segment)</a:t>
            </a:r>
          </a:p>
        </p:txBody>
      </p:sp>
      <p:sp>
        <p:nvSpPr>
          <p:cNvPr id="391" name="Rectangle 3"/>
          <p:cNvSpPr/>
          <p:nvPr/>
        </p:nvSpPr>
        <p:spPr>
          <a:xfrm>
            <a:off x="640080" y="1691639"/>
            <a:ext cx="548641" cy="36577"/>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392" name="TextBox 4"/>
          <p:cNvSpPr txBox="1"/>
          <p:nvPr/>
        </p:nvSpPr>
        <p:spPr>
          <a:xfrm>
            <a:off x="640080" y="2194560"/>
            <a:ext cx="548640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00D4FF"/>
                </a:solidFill>
                <a:latin typeface="Inter Bold"/>
                <a:ea typeface="Inter Bold"/>
                <a:cs typeface="Inter Bold"/>
                <a:sym typeface="Inter Bold"/>
              </a:defRPr>
            </a:lvl1pPr>
          </a:lstStyle>
          <a:p>
            <a:pPr/>
            <a:r>
              <a:t>Slice = poslovna domena</a:t>
            </a:r>
          </a:p>
        </p:txBody>
      </p:sp>
      <p:sp>
        <p:nvSpPr>
          <p:cNvPr id="393" name="Rectangle 5"/>
          <p:cNvSpPr/>
          <p:nvPr/>
        </p:nvSpPr>
        <p:spPr>
          <a:xfrm>
            <a:off x="640080" y="2560320"/>
            <a:ext cx="5486401" cy="1554481"/>
          </a:xfrm>
          <a:prstGeom prst="rect">
            <a:avLst/>
          </a:prstGeom>
          <a:solidFill>
            <a:srgbClr val="1A1A2E"/>
          </a:solidFill>
          <a:ln w="12700">
            <a:miter lim="400000"/>
          </a:ln>
        </p:spPr>
        <p:txBody>
          <a:bodyPr lIns="45718" tIns="45718" rIns="45718" bIns="45718" anchor="ctr"/>
          <a:lstStyle/>
          <a:p>
            <a:pPr algn="ctr">
              <a:defRPr>
                <a:solidFill>
                  <a:srgbClr val="FFFFFF"/>
                </a:solidFill>
              </a:defRPr>
            </a:pPr>
          </a:p>
        </p:txBody>
      </p:sp>
      <p:sp>
        <p:nvSpPr>
          <p:cNvPr id="394" name="TextBox 6"/>
          <p:cNvSpPr txBox="1"/>
          <p:nvPr/>
        </p:nvSpPr>
        <p:spPr>
          <a:xfrm>
            <a:off x="822958" y="2724911"/>
            <a:ext cx="3319781" cy="825502"/>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lnSpc>
                <a:spcPts val="1600"/>
              </a:lnSpc>
              <a:defRPr sz="1400">
                <a:solidFill>
                  <a:srgbClr val="F2F2F2"/>
                </a:solidFill>
                <a:latin typeface="JetBrains Mono Regular"/>
                <a:ea typeface="JetBrains Mono Regular"/>
                <a:cs typeface="JetBrains Mono Regular"/>
                <a:sym typeface="JetBrains Mono Regular"/>
              </a:defRPr>
            </a:pPr>
            <a:r>
              <a:t>features/</a:t>
            </a: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auth/</a:t>
            </a:r>
            <a:r>
              <a:t>           </a:t>
            </a:r>
            <a:r>
              <a:rPr>
                <a:solidFill>
                  <a:srgbClr val="666666"/>
                </a:solidFill>
              </a:rPr>
              <a:t>← jedan slice</a:t>
            </a:r>
            <a:endParaRPr>
              <a:solidFill>
                <a:srgbClr val="666666"/>
              </a:solidFill>
            </a:endParaRP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profile-edit/</a:t>
            </a:r>
            <a:r>
              <a:t>   </a:t>
            </a:r>
            <a:r>
              <a:rPr>
                <a:solidFill>
                  <a:srgbClr val="666666"/>
                </a:solidFill>
              </a:rPr>
              <a:t>← drugi slice</a:t>
            </a:r>
            <a:endParaRPr>
              <a:solidFill>
                <a:srgbClr val="666666"/>
              </a:solidFill>
            </a:endParaRP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like-post/</a:t>
            </a:r>
            <a:r>
              <a:t>      </a:t>
            </a:r>
            <a:r>
              <a:rPr>
                <a:solidFill>
                  <a:srgbClr val="666666"/>
                </a:solidFill>
              </a:rPr>
              <a:t>← treći slice</a:t>
            </a:r>
          </a:p>
        </p:txBody>
      </p:sp>
      <p:sp>
        <p:nvSpPr>
          <p:cNvPr id="395" name="TextBox 7"/>
          <p:cNvSpPr txBox="1"/>
          <p:nvPr/>
        </p:nvSpPr>
        <p:spPr>
          <a:xfrm>
            <a:off x="640080" y="4206240"/>
            <a:ext cx="5486401"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solidFill>
                  <a:srgbClr val="FFFFFF"/>
                </a:solidFill>
                <a:latin typeface="Inter Regular"/>
                <a:ea typeface="Inter Regular"/>
                <a:cs typeface="Inter Regular"/>
                <a:sym typeface="Inter Regular"/>
              </a:defRPr>
            </a:pPr>
            <a:r>
              <a:t>Slice grupira sve što pripada </a:t>
            </a:r>
            <a:r>
              <a:rPr>
                <a:solidFill>
                  <a:srgbClr val="00D4FF"/>
                </a:solidFill>
                <a:latin typeface="Inter Bold"/>
                <a:ea typeface="Inter Bold"/>
                <a:cs typeface="Inter Bold"/>
                <a:sym typeface="Inter Bold"/>
              </a:rPr>
              <a:t>jednoj domeni</a:t>
            </a:r>
            <a:r>
              <a:t> — bez couplinga sa susjedima.</a:t>
            </a:r>
          </a:p>
        </p:txBody>
      </p:sp>
      <p:sp>
        <p:nvSpPr>
          <p:cNvPr id="396" name="TextBox 8"/>
          <p:cNvSpPr txBox="1"/>
          <p:nvPr/>
        </p:nvSpPr>
        <p:spPr>
          <a:xfrm>
            <a:off x="6400800" y="2194560"/>
            <a:ext cx="5486400"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00D4FF"/>
                </a:solidFill>
                <a:latin typeface="Inter Bold"/>
                <a:ea typeface="Inter Bold"/>
                <a:cs typeface="Inter Bold"/>
                <a:sym typeface="Inter Bold"/>
              </a:defRPr>
            </a:lvl1pPr>
          </a:lstStyle>
          <a:p>
            <a:pPr/>
            <a:r>
              <a:t>Segment = tehnička svrha</a:t>
            </a:r>
          </a:p>
        </p:txBody>
      </p:sp>
      <p:sp>
        <p:nvSpPr>
          <p:cNvPr id="397" name="Rectangle 9"/>
          <p:cNvSpPr/>
          <p:nvPr/>
        </p:nvSpPr>
        <p:spPr>
          <a:xfrm>
            <a:off x="6400800" y="2560320"/>
            <a:ext cx="5486400" cy="1554481"/>
          </a:xfrm>
          <a:prstGeom prst="rect">
            <a:avLst/>
          </a:prstGeom>
          <a:solidFill>
            <a:srgbClr val="1A1A2E"/>
          </a:solidFill>
          <a:ln w="12700">
            <a:miter lim="400000"/>
          </a:ln>
        </p:spPr>
        <p:txBody>
          <a:bodyPr lIns="45718" tIns="45718" rIns="45718" bIns="45718" anchor="ctr"/>
          <a:lstStyle/>
          <a:p>
            <a:pPr algn="ctr">
              <a:defRPr>
                <a:solidFill>
                  <a:srgbClr val="FFFFFF"/>
                </a:solidFill>
              </a:defRPr>
            </a:pPr>
          </a:p>
        </p:txBody>
      </p:sp>
      <p:sp>
        <p:nvSpPr>
          <p:cNvPr id="398" name="TextBox 10"/>
          <p:cNvSpPr txBox="1"/>
          <p:nvPr/>
        </p:nvSpPr>
        <p:spPr>
          <a:xfrm>
            <a:off x="6583680" y="2724911"/>
            <a:ext cx="3533141" cy="1028702"/>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lnSpc>
                <a:spcPts val="1600"/>
              </a:lnSpc>
              <a:defRPr sz="1400">
                <a:solidFill>
                  <a:srgbClr val="F2F2F2"/>
                </a:solidFill>
                <a:latin typeface="JetBrains Mono Regular"/>
                <a:ea typeface="JetBrains Mono Regular"/>
                <a:cs typeface="JetBrains Mono Regular"/>
                <a:sym typeface="JetBrains Mono Regular"/>
              </a:defRPr>
            </a:pPr>
            <a:r>
              <a:t>features/auth/</a:t>
            </a: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ui/</a:t>
            </a:r>
            <a:r>
              <a:t>       </a:t>
            </a:r>
            <a:r>
              <a:rPr>
                <a:solidFill>
                  <a:srgbClr val="666666"/>
                </a:solidFill>
              </a:rPr>
              <a:t>← komponente, stilovi</a:t>
            </a:r>
            <a:endParaRPr>
              <a:solidFill>
                <a:srgbClr val="666666"/>
              </a:solidFill>
            </a:endParaRP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model/</a:t>
            </a:r>
            <a:r>
              <a:t>    </a:t>
            </a:r>
            <a:r>
              <a:rPr>
                <a:solidFill>
                  <a:srgbClr val="666666"/>
                </a:solidFill>
              </a:rPr>
              <a:t>← state, validacija</a:t>
            </a:r>
            <a:endParaRPr>
              <a:solidFill>
                <a:srgbClr val="666666"/>
              </a:solidFill>
            </a:endParaRP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api/</a:t>
            </a:r>
            <a:r>
              <a:t>      </a:t>
            </a:r>
            <a:r>
              <a:rPr>
                <a:solidFill>
                  <a:srgbClr val="666666"/>
                </a:solidFill>
              </a:rPr>
              <a:t>← backend pozivi</a:t>
            </a:r>
            <a:endParaRPr>
              <a:solidFill>
                <a:srgbClr val="666666"/>
              </a:solidFill>
            </a:endParaRPr>
          </a:p>
          <a:p>
            <a:pPr>
              <a:lnSpc>
                <a:spcPts val="1600"/>
              </a:lnSpc>
              <a:defRPr sz="1400">
                <a:solidFill>
                  <a:srgbClr val="FFFFFF"/>
                </a:solidFill>
                <a:latin typeface="JetBrains Mono Regular"/>
                <a:ea typeface="JetBrains Mono Regular"/>
                <a:cs typeface="JetBrains Mono Regular"/>
                <a:sym typeface="JetBrains Mono Regular"/>
              </a:defRPr>
            </a:pPr>
            <a:r>
              <a:t>  </a:t>
            </a:r>
            <a:r>
              <a:rPr>
                <a:solidFill>
                  <a:srgbClr val="00D4FF"/>
                </a:solidFill>
              </a:rPr>
              <a:t>lib/</a:t>
            </a:r>
            <a:r>
              <a:t>      </a:t>
            </a:r>
            <a:r>
              <a:rPr>
                <a:solidFill>
                  <a:srgbClr val="666666"/>
                </a:solidFill>
              </a:rPr>
              <a:t>← utility funkcije</a:t>
            </a:r>
          </a:p>
        </p:txBody>
      </p:sp>
      <p:sp>
        <p:nvSpPr>
          <p:cNvPr id="399" name="TextBox 11"/>
          <p:cNvSpPr txBox="1"/>
          <p:nvPr/>
        </p:nvSpPr>
        <p:spPr>
          <a:xfrm>
            <a:off x="6400800" y="4206240"/>
            <a:ext cx="5486400"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300">
                <a:solidFill>
                  <a:srgbClr val="FFFFFF"/>
                </a:solidFill>
                <a:latin typeface="Inter Regular"/>
                <a:ea typeface="Inter Regular"/>
                <a:cs typeface="Inter Regular"/>
                <a:sym typeface="Inter Regular"/>
              </a:defRPr>
            </a:pPr>
            <a:r>
              <a:t>Standardizirana imena segmenata </a:t>
            </a:r>
            <a:r>
              <a:rPr>
                <a:solidFill>
                  <a:srgbClr val="00D4FF"/>
                </a:solidFill>
                <a:latin typeface="Inter Bold"/>
                <a:ea typeface="Inter Bold"/>
                <a:cs typeface="Inter Bold"/>
                <a:sym typeface="Inter Bold"/>
              </a:rPr>
              <a:t>u svakom slice-u</a:t>
            </a:r>
            <a:r>
              <a:t>.</a:t>
            </a:r>
          </a:p>
        </p:txBody>
      </p:sp>
      <p:sp>
        <p:nvSpPr>
          <p:cNvPr id="400" name="Rounded Rectangle 12"/>
          <p:cNvSpPr/>
          <p:nvPr/>
        </p:nvSpPr>
        <p:spPr>
          <a:xfrm>
            <a:off x="640080" y="5074920"/>
            <a:ext cx="10972801" cy="1188721"/>
          </a:xfrm>
          <a:prstGeom prst="roundRect">
            <a:avLst>
              <a:gd name="adj" fmla="val 8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401" name="Rectangle 13"/>
          <p:cNvSpPr/>
          <p:nvPr/>
        </p:nvSpPr>
        <p:spPr>
          <a:xfrm>
            <a:off x="640080" y="5074920"/>
            <a:ext cx="54865" cy="1188721"/>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402" name="TextBox 14"/>
          <p:cNvSpPr txBox="1"/>
          <p:nvPr/>
        </p:nvSpPr>
        <p:spPr>
          <a:xfrm>
            <a:off x="914400" y="5257800"/>
            <a:ext cx="10515600" cy="4826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FFFFF"/>
                </a:solidFill>
                <a:latin typeface="Inter Regular"/>
                <a:ea typeface="Inter Regular"/>
                <a:cs typeface="Inter Regular"/>
                <a:sym typeface="Inter Regular"/>
              </a:defRPr>
            </a:pPr>
            <a:r>
              <a:t>AI pomoć: granice slica = manje context pollutiona, segmenti = </a:t>
            </a:r>
            <a:r>
              <a:rPr>
                <a:solidFill>
                  <a:srgbClr val="00D4FF"/>
                </a:solidFill>
                <a:latin typeface="Inter Bold"/>
                <a:ea typeface="Inter Bold"/>
                <a:cs typeface="Inter Bold"/>
                <a:sym typeface="Inter Bold"/>
              </a:rPr>
              <a:t>pattern matching</a:t>
            </a:r>
            <a:r>
              <a:t> kroz cijeli projekt. „Trebam fetch korisnika?“ → entities/user/api/. Bez pretrage.</a:t>
            </a:r>
          </a:p>
        </p:txBody>
      </p:sp>
    </p:spTree>
  </p:cSld>
  <p:clrMapOvr>
    <a:masterClrMapping/>
  </p:clrMapOvr>
  <p:transition xmlns:p14="http://schemas.microsoft.com/office/powerpoint/2010/main" spd="med" advClick="1"/>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6"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3600">
                <a:solidFill>
                  <a:srgbClr val="FFFFFF"/>
                </a:solidFill>
                <a:latin typeface="Inter Bold"/>
                <a:ea typeface="Inter Bold"/>
                <a:cs typeface="Inter Bold"/>
                <a:sym typeface="Inter Bold"/>
              </a:defRPr>
            </a:pPr>
            <a:r>
              <a:t>Pravilo #3: </a:t>
            </a:r>
            <a:r>
              <a:rPr>
                <a:solidFill>
                  <a:srgbClr val="00D4FF"/>
                </a:solidFill>
              </a:rPr>
              <a:t>Public API</a:t>
            </a:r>
          </a:p>
        </p:txBody>
      </p:sp>
      <p:sp>
        <p:nvSpPr>
          <p:cNvPr id="407" name="TextBox 2"/>
          <p:cNvSpPr txBox="1"/>
          <p:nvPr/>
        </p:nvSpPr>
        <p:spPr>
          <a:xfrm>
            <a:off x="640079" y="1371600"/>
            <a:ext cx="10908794" cy="2286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888888"/>
                </a:solidFill>
                <a:latin typeface="Inter Regular"/>
                <a:ea typeface="Inter Regular"/>
                <a:cs typeface="Inter Regular"/>
                <a:sym typeface="Inter Regular"/>
              </a:defRPr>
            </a:pPr>
            <a:r>
              <a:t>Svaki slice eksponira </a:t>
            </a:r>
            <a:r>
              <a:rPr>
                <a:solidFill>
                  <a:srgbClr val="00D4FF"/>
                </a:solidFill>
                <a:latin typeface="JetBrains Mono Regular"/>
                <a:ea typeface="JetBrains Mono Regular"/>
                <a:cs typeface="JetBrains Mono Regular"/>
                <a:sym typeface="JetBrains Mono Regular"/>
              </a:rPr>
              <a:t>index.ts</a:t>
            </a:r>
            <a:r>
              <a:t> kao ugovor</a:t>
            </a:r>
          </a:p>
        </p:txBody>
      </p:sp>
      <p:sp>
        <p:nvSpPr>
          <p:cNvPr id="408" name="Rectangle 3"/>
          <p:cNvSpPr/>
          <p:nvPr/>
        </p:nvSpPr>
        <p:spPr>
          <a:xfrm>
            <a:off x="640080" y="1691639"/>
            <a:ext cx="548641" cy="36577"/>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409" name="Rectangle 4"/>
          <p:cNvSpPr/>
          <p:nvPr/>
        </p:nvSpPr>
        <p:spPr>
          <a:xfrm>
            <a:off x="640079" y="2194560"/>
            <a:ext cx="5303522" cy="3017521"/>
          </a:xfrm>
          <a:prstGeom prst="rect">
            <a:avLst/>
          </a:prstGeom>
          <a:solidFill>
            <a:srgbClr val="1A1A2E"/>
          </a:solidFill>
          <a:ln w="12700">
            <a:miter lim="400000"/>
          </a:ln>
        </p:spPr>
        <p:txBody>
          <a:bodyPr lIns="45718" tIns="45718" rIns="45718" bIns="45718" anchor="ctr"/>
          <a:lstStyle/>
          <a:p>
            <a:pPr algn="ctr">
              <a:defRPr>
                <a:solidFill>
                  <a:srgbClr val="FFFFFF"/>
                </a:solidFill>
              </a:defRPr>
            </a:pPr>
          </a:p>
        </p:txBody>
      </p:sp>
      <p:sp>
        <p:nvSpPr>
          <p:cNvPr id="410" name="TextBox 5"/>
          <p:cNvSpPr txBox="1"/>
          <p:nvPr/>
        </p:nvSpPr>
        <p:spPr>
          <a:xfrm>
            <a:off x="822958" y="2359152"/>
            <a:ext cx="2390141" cy="183388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lnSpc>
                <a:spcPts val="1600"/>
              </a:lnSpc>
              <a:defRPr sz="1200">
                <a:solidFill>
                  <a:srgbClr val="F2F2F2"/>
                </a:solidFill>
                <a:latin typeface="JetBrains Mono Regular"/>
                <a:ea typeface="JetBrains Mono Regular"/>
                <a:cs typeface="JetBrains Mono Regular"/>
                <a:sym typeface="JetBrains Mono Regular"/>
              </a:defRPr>
            </a:pPr>
            <a:r>
              <a:t>features/auth/</a:t>
            </a:r>
          </a:p>
          <a:p>
            <a:pPr>
              <a:lnSpc>
                <a:spcPts val="1600"/>
              </a:lnSpc>
              <a:defRPr sz="1200">
                <a:solidFill>
                  <a:srgbClr val="F2F2F2"/>
                </a:solidFill>
                <a:latin typeface="JetBrains Mono Regular"/>
                <a:ea typeface="JetBrains Mono Regular"/>
                <a:cs typeface="JetBrains Mono Regular"/>
                <a:sym typeface="JetBrains Mono Regular"/>
              </a:defRPr>
            </a:pPr>
            <a:r>
              <a:t>  ui/</a:t>
            </a:r>
          </a:p>
          <a:p>
            <a:pPr>
              <a:lnSpc>
                <a:spcPts val="1600"/>
              </a:lnSpc>
              <a:defRPr sz="1200">
                <a:solidFill>
                  <a:srgbClr val="F2F2F2"/>
                </a:solidFill>
                <a:latin typeface="JetBrains Mono Regular"/>
                <a:ea typeface="JetBrains Mono Regular"/>
                <a:cs typeface="JetBrains Mono Regular"/>
                <a:sym typeface="JetBrains Mono Regular"/>
              </a:defRPr>
            </a:pPr>
            <a:r>
              <a:t>    LoginForm.tsx</a:t>
            </a:r>
          </a:p>
          <a:p>
            <a:pPr>
              <a:lnSpc>
                <a:spcPts val="1600"/>
              </a:lnSpc>
              <a:defRPr sz="1200">
                <a:solidFill>
                  <a:srgbClr val="F2F2F2"/>
                </a:solidFill>
                <a:latin typeface="JetBrains Mono Regular"/>
                <a:ea typeface="JetBrains Mono Regular"/>
                <a:cs typeface="JetBrains Mono Regular"/>
                <a:sym typeface="JetBrains Mono Regular"/>
              </a:defRPr>
            </a:pPr>
            <a:r>
              <a:t>    LogoutButton.tsx</a:t>
            </a:r>
          </a:p>
          <a:p>
            <a:pPr>
              <a:lnSpc>
                <a:spcPts val="1600"/>
              </a:lnSpc>
              <a:defRPr sz="1200">
                <a:solidFill>
                  <a:srgbClr val="F2F2F2"/>
                </a:solidFill>
                <a:latin typeface="JetBrains Mono Regular"/>
                <a:ea typeface="JetBrains Mono Regular"/>
                <a:cs typeface="JetBrains Mono Regular"/>
                <a:sym typeface="JetBrains Mono Regular"/>
              </a:defRPr>
            </a:pPr>
            <a:r>
              <a:t>  model/</a:t>
            </a:r>
          </a:p>
          <a:p>
            <a:pPr>
              <a:lnSpc>
                <a:spcPts val="1600"/>
              </a:lnSpc>
              <a:defRPr sz="1200">
                <a:solidFill>
                  <a:srgbClr val="F2F2F2"/>
                </a:solidFill>
                <a:latin typeface="JetBrains Mono Regular"/>
                <a:ea typeface="JetBrains Mono Regular"/>
                <a:cs typeface="JetBrains Mono Regular"/>
                <a:sym typeface="JetBrains Mono Regular"/>
              </a:defRPr>
            </a:pPr>
            <a:r>
              <a:t>    auth-store.ts</a:t>
            </a:r>
          </a:p>
          <a:p>
            <a:pPr>
              <a:lnSpc>
                <a:spcPts val="1600"/>
              </a:lnSpc>
              <a:defRPr sz="1200">
                <a:solidFill>
                  <a:srgbClr val="F2F2F2"/>
                </a:solidFill>
                <a:latin typeface="JetBrains Mono Regular"/>
                <a:ea typeface="JetBrains Mono Regular"/>
                <a:cs typeface="JetBrains Mono Regular"/>
                <a:sym typeface="JetBrains Mono Regular"/>
              </a:defRPr>
            </a:pPr>
            <a:r>
              <a:t>  api/</a:t>
            </a:r>
          </a:p>
          <a:p>
            <a:pPr>
              <a:lnSpc>
                <a:spcPts val="1600"/>
              </a:lnSpc>
              <a:defRPr sz="1200">
                <a:solidFill>
                  <a:srgbClr val="F2F2F2"/>
                </a:solidFill>
                <a:latin typeface="JetBrains Mono Regular"/>
                <a:ea typeface="JetBrains Mono Regular"/>
                <a:cs typeface="JetBrains Mono Regular"/>
                <a:sym typeface="JetBrains Mono Regular"/>
              </a:defRPr>
            </a:pPr>
            <a:r>
              <a:t>    login.ts</a:t>
            </a:r>
          </a:p>
          <a:p>
            <a:pPr>
              <a:lnSpc>
                <a:spcPts val="1600"/>
              </a:lnSpc>
              <a:defRPr sz="1200">
                <a:solidFill>
                  <a:srgbClr val="FFFFFF"/>
                </a:solidFill>
                <a:latin typeface="JetBrains Mono Regular"/>
                <a:ea typeface="JetBrains Mono Regular"/>
                <a:cs typeface="JetBrains Mono Regular"/>
                <a:sym typeface="JetBrains Mono Regular"/>
              </a:defRPr>
            </a:pPr>
            <a:r>
              <a:t>  </a:t>
            </a:r>
            <a:r>
              <a:rPr>
                <a:solidFill>
                  <a:srgbClr val="00D4FF"/>
                </a:solidFill>
              </a:rPr>
              <a:t>index.ts</a:t>
            </a:r>
            <a:r>
              <a:t>   </a:t>
            </a:r>
            <a:r>
              <a:rPr>
                <a:solidFill>
                  <a:srgbClr val="666666"/>
                </a:solidFill>
              </a:rPr>
              <a:t>← jedini ulaz</a:t>
            </a:r>
          </a:p>
        </p:txBody>
      </p:sp>
      <p:sp>
        <p:nvSpPr>
          <p:cNvPr id="411" name="Rectangle 6"/>
          <p:cNvSpPr/>
          <p:nvPr/>
        </p:nvSpPr>
        <p:spPr>
          <a:xfrm>
            <a:off x="6217920" y="2194560"/>
            <a:ext cx="5669280" cy="3017521"/>
          </a:xfrm>
          <a:prstGeom prst="rect">
            <a:avLst/>
          </a:prstGeom>
          <a:solidFill>
            <a:srgbClr val="1A1A2E"/>
          </a:solidFill>
          <a:ln w="12700">
            <a:miter lim="400000"/>
          </a:ln>
        </p:spPr>
        <p:txBody>
          <a:bodyPr lIns="45718" tIns="45718" rIns="45718" bIns="45718" anchor="ctr"/>
          <a:lstStyle/>
          <a:p>
            <a:pPr algn="ctr">
              <a:defRPr>
                <a:solidFill>
                  <a:srgbClr val="FFFFFF"/>
                </a:solidFill>
              </a:defRPr>
            </a:pPr>
          </a:p>
        </p:txBody>
      </p:sp>
      <p:sp>
        <p:nvSpPr>
          <p:cNvPr id="412" name="TextBox 7"/>
          <p:cNvSpPr txBox="1"/>
          <p:nvPr/>
        </p:nvSpPr>
        <p:spPr>
          <a:xfrm>
            <a:off x="6400800" y="2359152"/>
            <a:ext cx="4706621" cy="183007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spAutoFit/>
          </a:bodyPr>
          <a:lstStyle/>
          <a:p>
            <a:pPr>
              <a:lnSpc>
                <a:spcPts val="1600"/>
              </a:lnSpc>
              <a:defRPr sz="1100">
                <a:solidFill>
                  <a:srgbClr val="888888"/>
                </a:solidFill>
                <a:latin typeface="JetBrains Mono Regular"/>
                <a:ea typeface="JetBrains Mono Regular"/>
                <a:cs typeface="JetBrains Mono Regular"/>
                <a:sym typeface="JetBrains Mono Regular"/>
              </a:defRPr>
            </a:pPr>
            <a:r>
              <a:t>// features/auth/index.ts</a:t>
            </a:r>
          </a:p>
          <a:p>
            <a:pPr>
              <a:lnSpc>
                <a:spcPts val="1600"/>
              </a:lnSpc>
              <a:defRPr sz="1100">
                <a:solidFill>
                  <a:srgbClr val="00D4FF"/>
                </a:solidFill>
                <a:latin typeface="JetBrains Mono Regular"/>
                <a:ea typeface="JetBrains Mono Regular"/>
                <a:cs typeface="JetBrains Mono Regular"/>
                <a:sym typeface="JetBrains Mono Regular"/>
              </a:defRPr>
            </a:pPr>
            <a:r>
              <a:t>export </a:t>
            </a:r>
            <a:r>
              <a:rPr>
                <a:solidFill>
                  <a:srgbClr val="F2F2F2"/>
                </a:solidFill>
              </a:rPr>
              <a:t>{ LoginForm } from './ui/LoginForm'</a:t>
            </a:r>
            <a:endParaRPr>
              <a:solidFill>
                <a:srgbClr val="F2F2F2"/>
              </a:solidFill>
            </a:endParaRPr>
          </a:p>
          <a:p>
            <a:pPr>
              <a:lnSpc>
                <a:spcPts val="1600"/>
              </a:lnSpc>
              <a:defRPr sz="1100">
                <a:solidFill>
                  <a:srgbClr val="00D4FF"/>
                </a:solidFill>
                <a:latin typeface="JetBrains Mono Regular"/>
                <a:ea typeface="JetBrains Mono Regular"/>
                <a:cs typeface="JetBrains Mono Regular"/>
                <a:sym typeface="JetBrains Mono Regular"/>
              </a:defRPr>
            </a:pPr>
            <a:r>
              <a:t>export </a:t>
            </a:r>
            <a:r>
              <a:rPr>
                <a:solidFill>
                  <a:srgbClr val="F2F2F2"/>
                </a:solidFill>
              </a:rPr>
              <a:t>{ useAuth } from './model/auth-store'</a:t>
            </a:r>
            <a:endParaRPr>
              <a:solidFill>
                <a:srgbClr val="F2F2F2"/>
              </a:solidFill>
            </a:endParaRPr>
          </a:p>
          <a:p>
            <a:pPr>
              <a:lnSpc>
                <a:spcPts val="1600"/>
              </a:lnSpc>
              <a:defRPr sz="1100">
                <a:solidFill>
                  <a:srgbClr val="FFFFFF"/>
                </a:solidFill>
                <a:latin typeface="JetBrains Mono Regular"/>
                <a:ea typeface="JetBrains Mono Regular"/>
                <a:cs typeface="JetBrains Mono Regular"/>
                <a:sym typeface="JetBrains Mono Regular"/>
              </a:defRPr>
            </a:pPr>
            <a:r>
              <a:t> </a:t>
            </a:r>
          </a:p>
          <a:p>
            <a:pPr>
              <a:lnSpc>
                <a:spcPts val="1600"/>
              </a:lnSpc>
              <a:defRPr sz="1100">
                <a:solidFill>
                  <a:srgbClr val="888888"/>
                </a:solidFill>
                <a:latin typeface="JetBrains Mono Regular"/>
                <a:ea typeface="JetBrains Mono Regular"/>
                <a:cs typeface="JetBrains Mono Regular"/>
                <a:sym typeface="JetBrains Mono Regular"/>
              </a:defRPr>
            </a:pPr>
            <a:r>
              <a:t>// Svugdje drugdje:</a:t>
            </a:r>
          </a:p>
          <a:p>
            <a:pPr>
              <a:lnSpc>
                <a:spcPts val="1600"/>
              </a:lnSpc>
              <a:defRPr sz="1100">
                <a:solidFill>
                  <a:srgbClr val="2ED573"/>
                </a:solidFill>
                <a:latin typeface="JetBrains Mono Regular"/>
                <a:ea typeface="JetBrains Mono Regular"/>
                <a:cs typeface="JetBrains Mono Regular"/>
                <a:sym typeface="JetBrains Mono Regular"/>
              </a:defRPr>
            </a:pPr>
            <a:r>
              <a:t>import { LoginForm } from '@/features/auth'</a:t>
            </a:r>
          </a:p>
          <a:p>
            <a:pPr>
              <a:lnSpc>
                <a:spcPts val="1600"/>
              </a:lnSpc>
              <a:defRPr sz="1100">
                <a:solidFill>
                  <a:srgbClr val="FFFFFF"/>
                </a:solidFill>
                <a:latin typeface="JetBrains Mono Regular"/>
                <a:ea typeface="JetBrains Mono Regular"/>
                <a:cs typeface="JetBrains Mono Regular"/>
                <a:sym typeface="JetBrains Mono Regular"/>
              </a:defRPr>
            </a:pPr>
            <a:r>
              <a:t> </a:t>
            </a:r>
          </a:p>
          <a:p>
            <a:pPr>
              <a:lnSpc>
                <a:spcPts val="1600"/>
              </a:lnSpc>
              <a:defRPr sz="1100">
                <a:solidFill>
                  <a:srgbClr val="FF6B81"/>
                </a:solidFill>
                <a:latin typeface="JetBrains Mono Regular"/>
                <a:ea typeface="JetBrains Mono Regular"/>
                <a:cs typeface="JetBrains Mono Regular"/>
                <a:sym typeface="JetBrains Mono Regular"/>
              </a:defRPr>
            </a:pPr>
            <a:r>
              <a:t>// Zabranjeno:</a:t>
            </a:r>
          </a:p>
          <a:p>
            <a:pPr>
              <a:lnSpc>
                <a:spcPts val="1600"/>
              </a:lnSpc>
              <a:defRPr sz="1100">
                <a:solidFill>
                  <a:srgbClr val="FF6B81"/>
                </a:solidFill>
                <a:latin typeface="JetBrains Mono Regular"/>
                <a:ea typeface="JetBrains Mono Regular"/>
                <a:cs typeface="JetBrains Mono Regular"/>
                <a:sym typeface="JetBrains Mono Regular"/>
              </a:defRPr>
            </a:pPr>
            <a:r>
              <a:t>import { LoginForm } from '@/features/auth/ui/LoginForm'</a:t>
            </a:r>
          </a:p>
        </p:txBody>
      </p:sp>
      <p:sp>
        <p:nvSpPr>
          <p:cNvPr id="413" name="Rounded Rectangle 8"/>
          <p:cNvSpPr/>
          <p:nvPr/>
        </p:nvSpPr>
        <p:spPr>
          <a:xfrm>
            <a:off x="640080" y="5440679"/>
            <a:ext cx="10972801" cy="1005841"/>
          </a:xfrm>
          <a:prstGeom prst="roundRect">
            <a:avLst>
              <a:gd name="adj" fmla="val 8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414" name="Rectangle 9"/>
          <p:cNvSpPr/>
          <p:nvPr/>
        </p:nvSpPr>
        <p:spPr>
          <a:xfrm>
            <a:off x="640080" y="5440679"/>
            <a:ext cx="54865" cy="1005840"/>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415" name="TextBox 10"/>
          <p:cNvSpPr txBox="1"/>
          <p:nvPr/>
        </p:nvSpPr>
        <p:spPr>
          <a:xfrm>
            <a:off x="914400" y="5623559"/>
            <a:ext cx="10515600" cy="495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500">
                <a:solidFill>
                  <a:srgbClr val="FFFFFF"/>
                </a:solidFill>
                <a:latin typeface="Inter Regular"/>
                <a:ea typeface="Inter Regular"/>
                <a:cs typeface="Inter Regular"/>
                <a:sym typeface="Inter Regular"/>
              </a:defRPr>
            </a:pPr>
            <a:r>
              <a:t>AI pročita </a:t>
            </a:r>
            <a:r>
              <a:rPr>
                <a:solidFill>
                  <a:srgbClr val="00D4FF"/>
                </a:solidFill>
                <a:latin typeface="JetBrains Mono Regular"/>
                <a:ea typeface="JetBrains Mono Regular"/>
                <a:cs typeface="JetBrains Mono Regular"/>
                <a:sym typeface="JetBrains Mono Regular"/>
              </a:rPr>
              <a:t>index.ts</a:t>
            </a:r>
            <a:r>
              <a:t> (8 redova) i zna kompletno sučelje slice-a — umjesto da učita 400+ linija interne implementacije. </a:t>
            </a:r>
            <a:r>
              <a:rPr>
                <a:solidFill>
                  <a:srgbClr val="00D4FF"/>
                </a:solidFill>
                <a:latin typeface="Inter Bold"/>
                <a:ea typeface="Inter Bold"/>
                <a:cs typeface="Inter Bold"/>
                <a:sym typeface="Inter Bold"/>
              </a:rPr>
              <a:t>Štedi tokene, stabilan ugovor.</a:t>
            </a:r>
          </a:p>
        </p:txBody>
      </p:sp>
    </p:spTree>
  </p:cSld>
  <p:clrMapOvr>
    <a:masterClrMapping/>
  </p:clrMapOvr>
  <p:transition xmlns:p14="http://schemas.microsoft.com/office/powerpoint/2010/main" spd="med" advClick="1"/>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9"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3600">
                <a:solidFill>
                  <a:srgbClr val="FFFFFF"/>
                </a:solidFill>
                <a:latin typeface="Inter Bold"/>
                <a:ea typeface="Inter Bold"/>
                <a:cs typeface="Inter Bold"/>
                <a:sym typeface="Inter Bold"/>
              </a:defRPr>
            </a:pPr>
            <a:r>
              <a:t>AI alati </a:t>
            </a:r>
            <a:r>
              <a:rPr>
                <a:solidFill>
                  <a:srgbClr val="00D4FF"/>
                </a:solidFill>
              </a:rPr>
              <a:t>za FSD</a:t>
            </a:r>
          </a:p>
        </p:txBody>
      </p:sp>
      <p:sp>
        <p:nvSpPr>
          <p:cNvPr id="420" name="TextBox 2"/>
          <p:cNvSpPr txBox="1"/>
          <p:nvPr/>
        </p:nvSpPr>
        <p:spPr>
          <a:xfrm>
            <a:off x="640079" y="1371600"/>
            <a:ext cx="1090879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888888"/>
                </a:solidFill>
                <a:latin typeface="Inter Regular"/>
                <a:ea typeface="Inter Regular"/>
                <a:cs typeface="Inter Regular"/>
                <a:sym typeface="Inter Regular"/>
              </a:defRPr>
            </a:lvl1pPr>
          </a:lstStyle>
          <a:p>
            <a:pPr/>
            <a:r>
              <a:t>Daj AI-u FSD dokumentaciju kao kontekst — ne mora pogađati pravila.</a:t>
            </a:r>
          </a:p>
        </p:txBody>
      </p:sp>
      <p:sp>
        <p:nvSpPr>
          <p:cNvPr id="421" name="Rectangle 3"/>
          <p:cNvSpPr/>
          <p:nvPr/>
        </p:nvSpPr>
        <p:spPr>
          <a:xfrm>
            <a:off x="640080" y="1691639"/>
            <a:ext cx="548641" cy="36577"/>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422" name="TextBox 4"/>
          <p:cNvSpPr txBox="1"/>
          <p:nvPr/>
        </p:nvSpPr>
        <p:spPr>
          <a:xfrm>
            <a:off x="640080" y="2194560"/>
            <a:ext cx="548640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00D4FF"/>
                </a:solidFill>
                <a:latin typeface="Inter Bold"/>
                <a:ea typeface="Inter Bold"/>
                <a:cs typeface="Inter Bold"/>
                <a:sym typeface="Inter Bold"/>
              </a:defRPr>
            </a:lvl1pPr>
          </a:lstStyle>
          <a:p>
            <a:pPr/>
            <a:r>
              <a:t>LLMs.txt</a:t>
            </a:r>
          </a:p>
        </p:txBody>
      </p:sp>
      <p:sp>
        <p:nvSpPr>
          <p:cNvPr id="423" name="TextBox 5"/>
          <p:cNvSpPr txBox="1"/>
          <p:nvPr/>
        </p:nvSpPr>
        <p:spPr>
          <a:xfrm>
            <a:off x="640080" y="2606039"/>
            <a:ext cx="5486401" cy="2286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F2F2F2"/>
                </a:solidFill>
                <a:latin typeface="JetBrains Mono Regular"/>
                <a:ea typeface="JetBrains Mono Regular"/>
                <a:cs typeface="JetBrains Mono Regular"/>
                <a:sym typeface="JetBrains Mono Regular"/>
              </a:defRPr>
            </a:lvl1pPr>
          </a:lstStyle>
          <a:p>
            <a:pPr/>
            <a:r>
              <a:t>fsd.how/llms-full.txt</a:t>
            </a:r>
          </a:p>
        </p:txBody>
      </p:sp>
      <p:sp>
        <p:nvSpPr>
          <p:cNvPr id="424" name="TextBox 6"/>
          <p:cNvSpPr txBox="1"/>
          <p:nvPr/>
        </p:nvSpPr>
        <p:spPr>
          <a:xfrm>
            <a:off x="640080" y="3154679"/>
            <a:ext cx="5486401" cy="977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FFFFFF"/>
                </a:solidFill>
                <a:latin typeface="Inter Regular"/>
                <a:ea typeface="Inter Regular"/>
                <a:cs typeface="Inter Regular"/>
                <a:sym typeface="Inter Regular"/>
              </a:defRPr>
            </a:pPr>
            <a:r>
              <a:t>Cijela FSD specifikacija u jednom plain-text fileu — formatirana baš tako da je AI agenti mogu lako progutati.</a:t>
            </a:r>
          </a:p>
          <a:p>
            <a:pPr>
              <a:spcBef>
                <a:spcPts val="800"/>
              </a:spcBef>
              <a:defRPr sz="1400">
                <a:solidFill>
                  <a:srgbClr val="FFFFFF"/>
                </a:solidFill>
                <a:latin typeface="Inter Regular"/>
                <a:ea typeface="Inter Regular"/>
                <a:cs typeface="Inter Regular"/>
                <a:sym typeface="Inter Regular"/>
              </a:defRPr>
            </a:pPr>
            <a:r>
              <a:t>Doda se u </a:t>
            </a:r>
            <a:r>
              <a:rPr>
                <a:solidFill>
                  <a:srgbClr val="00D4FF"/>
                </a:solidFill>
                <a:latin typeface="JetBrains Mono Regular"/>
                <a:ea typeface="JetBrains Mono Regular"/>
                <a:cs typeface="JetBrains Mono Regular"/>
                <a:sym typeface="JetBrains Mono Regular"/>
              </a:rPr>
              <a:t>CLAUDE.md</a:t>
            </a:r>
            <a:r>
              <a:t> / </a:t>
            </a:r>
            <a:r>
              <a:rPr>
                <a:solidFill>
                  <a:srgbClr val="00D4FF"/>
                </a:solidFill>
                <a:latin typeface="JetBrains Mono Regular"/>
                <a:ea typeface="JetBrains Mono Regular"/>
                <a:cs typeface="JetBrains Mono Regular"/>
                <a:sym typeface="JetBrains Mono Regular"/>
              </a:rPr>
              <a:t>AGENTS.md</a:t>
            </a:r>
            <a:r>
              <a:t> ili kao referenca u promptu — AI dobiva pravila prije nego napiše ijednu liniju.</a:t>
            </a:r>
          </a:p>
        </p:txBody>
      </p:sp>
      <p:sp>
        <p:nvSpPr>
          <p:cNvPr id="425" name="TextBox 7"/>
          <p:cNvSpPr txBox="1"/>
          <p:nvPr/>
        </p:nvSpPr>
        <p:spPr>
          <a:xfrm>
            <a:off x="6400800" y="2194560"/>
            <a:ext cx="5486400"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00D4FF"/>
                </a:solidFill>
                <a:latin typeface="Inter Bold"/>
                <a:ea typeface="Inter Bold"/>
                <a:cs typeface="Inter Bold"/>
                <a:sym typeface="Inter Bold"/>
              </a:defRPr>
            </a:lvl1pPr>
          </a:lstStyle>
          <a:p>
            <a:pPr/>
            <a:r>
              <a:t>feature-sliced-design Skill</a:t>
            </a:r>
          </a:p>
        </p:txBody>
      </p:sp>
      <p:sp>
        <p:nvSpPr>
          <p:cNvPr id="426" name="TextBox 8"/>
          <p:cNvSpPr txBox="1"/>
          <p:nvPr/>
        </p:nvSpPr>
        <p:spPr>
          <a:xfrm>
            <a:off x="6400800" y="2606039"/>
            <a:ext cx="5486400" cy="2286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F2F2F2"/>
                </a:solidFill>
                <a:latin typeface="JetBrains Mono Regular"/>
                <a:ea typeface="JetBrains Mono Regular"/>
                <a:cs typeface="JetBrains Mono Regular"/>
                <a:sym typeface="JetBrains Mono Regular"/>
              </a:defRPr>
            </a:lvl1pPr>
          </a:lstStyle>
          <a:p>
            <a:pPr/>
            <a:r>
              <a:t>/feature-sliced-design</a:t>
            </a:r>
          </a:p>
        </p:txBody>
      </p:sp>
      <p:sp>
        <p:nvSpPr>
          <p:cNvPr id="427" name="TextBox 9"/>
          <p:cNvSpPr txBox="1"/>
          <p:nvPr/>
        </p:nvSpPr>
        <p:spPr>
          <a:xfrm>
            <a:off x="6400800" y="3154679"/>
            <a:ext cx="5486400" cy="1181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FFFFFF"/>
                </a:solidFill>
                <a:latin typeface="Inter Regular"/>
                <a:ea typeface="Inter Regular"/>
                <a:cs typeface="Inter Regular"/>
                <a:sym typeface="Inter Regular"/>
              </a:defRPr>
            </a:pPr>
            <a:r>
              <a:t>Službeni Claude Code skill — aktivira se automatski kad se radi o FSD strukturi (gdje datoteku staviti, public API, cross-import, segmenti).</a:t>
            </a:r>
          </a:p>
          <a:p>
            <a:pPr>
              <a:spcBef>
                <a:spcPts val="800"/>
              </a:spcBef>
              <a:defRPr sz="1400">
                <a:solidFill>
                  <a:srgbClr val="FFFFFF"/>
                </a:solidFill>
                <a:latin typeface="Inter Regular"/>
                <a:ea typeface="Inter Regular"/>
                <a:cs typeface="Inter Regular"/>
                <a:sym typeface="Inter Regular"/>
              </a:defRPr>
            </a:pPr>
            <a:r>
              <a:t>Sadrži decision tree, anti-patterne i conditional reference fileove </a:t>
            </a:r>
            <a:r>
              <a:rPr>
                <a:solidFill>
                  <a:srgbClr val="00D4FF"/>
                </a:solidFill>
                <a:latin typeface="Inter Bold"/>
                <a:ea typeface="Inter Bold"/>
                <a:cs typeface="Inter Bold"/>
                <a:sym typeface="Inter Bold"/>
              </a:rPr>
              <a:t>— zna kada koje znanje učitati u kontekst.</a:t>
            </a:r>
          </a:p>
        </p:txBody>
      </p:sp>
      <p:sp>
        <p:nvSpPr>
          <p:cNvPr id="428" name="Rounded Rectangle 10"/>
          <p:cNvSpPr/>
          <p:nvPr/>
        </p:nvSpPr>
        <p:spPr>
          <a:xfrm>
            <a:off x="640080" y="5074920"/>
            <a:ext cx="10972801" cy="1188721"/>
          </a:xfrm>
          <a:prstGeom prst="roundRect">
            <a:avLst>
              <a:gd name="adj" fmla="val 8000"/>
            </a:avLst>
          </a:prstGeom>
          <a:solidFill>
            <a:srgbClr val="0E3A47"/>
          </a:solidFill>
          <a:ln w="12700">
            <a:miter lim="400000"/>
          </a:ln>
        </p:spPr>
        <p:txBody>
          <a:bodyPr lIns="45718" tIns="45718" rIns="45718" bIns="45718" anchor="ctr"/>
          <a:lstStyle/>
          <a:p>
            <a:pPr algn="ctr">
              <a:defRPr>
                <a:solidFill>
                  <a:srgbClr val="FFFFFF"/>
                </a:solidFill>
              </a:defRPr>
            </a:pPr>
          </a:p>
        </p:txBody>
      </p:sp>
      <p:sp>
        <p:nvSpPr>
          <p:cNvPr id="429" name="Rectangle 11"/>
          <p:cNvSpPr/>
          <p:nvPr/>
        </p:nvSpPr>
        <p:spPr>
          <a:xfrm>
            <a:off x="640080" y="5074920"/>
            <a:ext cx="54865" cy="1188721"/>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430" name="TextBox 12"/>
          <p:cNvSpPr txBox="1"/>
          <p:nvPr/>
        </p:nvSpPr>
        <p:spPr>
          <a:xfrm>
            <a:off x="914400" y="5257800"/>
            <a:ext cx="10515600" cy="5334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a:solidFill>
                  <a:srgbClr val="FFFFFF"/>
                </a:solidFill>
                <a:latin typeface="Inter Regular"/>
                <a:ea typeface="Inter Regular"/>
                <a:cs typeface="Inter Regular"/>
                <a:sym typeface="Inter Regular"/>
              </a:defRPr>
            </a:pPr>
            <a:r>
              <a:t>Dobra arhitektura + dobra dokumentacija u kontekstu = AI prestaje halucinirati i počinje pisati kod </a:t>
            </a:r>
            <a:r>
              <a:rPr>
                <a:solidFill>
                  <a:srgbClr val="00D4FF"/>
                </a:solidFill>
                <a:latin typeface="Inter Bold"/>
                <a:ea typeface="Inter Bold"/>
                <a:cs typeface="Inter Bold"/>
                <a:sym typeface="Inter Bold"/>
              </a:rPr>
              <a:t>po pravilima projekta</a:t>
            </a:r>
            <a:r>
              <a:t>.</a:t>
            </a:r>
          </a:p>
        </p:txBody>
      </p:sp>
    </p:spTree>
  </p:cSld>
  <p:clrMapOvr>
    <a:masterClrMapping/>
  </p:clrMapOvr>
  <p:transition xmlns:p14="http://schemas.microsoft.com/office/powerpoint/2010/main" spd="med" advClick="1"/>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A0A0A"/>
        </a:solidFill>
      </p:bgPr>
    </p:bg>
    <p:spTree>
      <p:nvGrpSpPr>
        <p:cNvPr id="1" name=""/>
        <p:cNvGrpSpPr/>
        <p:nvPr/>
      </p:nvGrpSpPr>
      <p:grpSpPr>
        <a:xfrm>
          <a:off x="0" y="0"/>
          <a:ext cx="0" cy="0"/>
          <a:chOff x="0" y="0"/>
          <a:chExt cx="0" cy="0"/>
        </a:xfrm>
      </p:grpSpPr>
      <p:sp>
        <p:nvSpPr>
          <p:cNvPr id="434" name="TextBox 1"/>
          <p:cNvSpPr txBox="1"/>
          <p:nvPr/>
        </p:nvSpPr>
        <p:spPr>
          <a:xfrm>
            <a:off x="640079" y="502919"/>
            <a:ext cx="10908794" cy="558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3600">
                <a:solidFill>
                  <a:srgbClr val="F2F2F2"/>
                </a:solidFill>
                <a:latin typeface="Inter Bold"/>
                <a:ea typeface="Inter Bold"/>
                <a:cs typeface="Inter Bold"/>
                <a:sym typeface="Inter Bold"/>
              </a:defRPr>
            </a:pPr>
            <a:r>
              <a:t>FSD </a:t>
            </a:r>
            <a:r>
              <a:rPr>
                <a:solidFill>
                  <a:srgbClr val="888888"/>
                </a:solidFill>
              </a:rPr>
              <a:t>×</a:t>
            </a:r>
            <a:r>
              <a:t> AI</a:t>
            </a:r>
          </a:p>
        </p:txBody>
      </p:sp>
      <p:sp>
        <p:nvSpPr>
          <p:cNvPr id="435" name="TextBox 2"/>
          <p:cNvSpPr txBox="1"/>
          <p:nvPr/>
        </p:nvSpPr>
        <p:spPr>
          <a:xfrm>
            <a:off x="640079" y="1371600"/>
            <a:ext cx="10908794" cy="2159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888888"/>
                </a:solidFill>
                <a:latin typeface="Inter Regular"/>
                <a:ea typeface="Inter Regular"/>
                <a:cs typeface="Inter Regular"/>
                <a:sym typeface="Inter Regular"/>
              </a:defRPr>
            </a:lvl1pPr>
          </a:lstStyle>
          <a:p>
            <a:pPr/>
            <a:r>
              <a:t>Why Feature-Sliced Design is AI-friendly by nature</a:t>
            </a:r>
          </a:p>
        </p:txBody>
      </p:sp>
      <p:sp>
        <p:nvSpPr>
          <p:cNvPr id="436" name="Rectangle 3"/>
          <p:cNvSpPr/>
          <p:nvPr/>
        </p:nvSpPr>
        <p:spPr>
          <a:xfrm>
            <a:off x="640080" y="1691638"/>
            <a:ext cx="548641" cy="36578"/>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437" name="Rectangle 4"/>
          <p:cNvSpPr/>
          <p:nvPr/>
        </p:nvSpPr>
        <p:spPr>
          <a:xfrm>
            <a:off x="640080" y="2194560"/>
            <a:ext cx="10972801" cy="457202"/>
          </a:xfrm>
          <a:prstGeom prst="rect">
            <a:avLst/>
          </a:prstGeom>
          <a:solidFill>
            <a:srgbClr val="00D4FF"/>
          </a:solidFill>
          <a:ln w="12700">
            <a:miter lim="400000"/>
          </a:ln>
        </p:spPr>
        <p:txBody>
          <a:bodyPr lIns="45718" tIns="45718" rIns="45718" bIns="45718" anchor="ctr"/>
          <a:lstStyle/>
          <a:p>
            <a:pPr algn="ctr">
              <a:defRPr>
                <a:solidFill>
                  <a:srgbClr val="FFFFFF"/>
                </a:solidFill>
              </a:defRPr>
            </a:pPr>
          </a:p>
        </p:txBody>
      </p:sp>
      <p:sp>
        <p:nvSpPr>
          <p:cNvPr id="438" name="TextBox 5"/>
          <p:cNvSpPr txBox="1"/>
          <p:nvPr/>
        </p:nvSpPr>
        <p:spPr>
          <a:xfrm>
            <a:off x="822958" y="2240277"/>
            <a:ext cx="3474723"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0A0A0A"/>
                </a:solidFill>
                <a:latin typeface="Inter Bold"/>
                <a:ea typeface="Inter Bold"/>
                <a:cs typeface="Inter Bold"/>
                <a:sym typeface="Inter Bold"/>
              </a:defRPr>
            </a:lvl1pPr>
          </a:lstStyle>
          <a:p>
            <a:pPr/>
            <a:r>
              <a:t>FSD Concept</a:t>
            </a:r>
          </a:p>
        </p:txBody>
      </p:sp>
      <p:sp>
        <p:nvSpPr>
          <p:cNvPr id="439" name="TextBox 6"/>
          <p:cNvSpPr txBox="1"/>
          <p:nvPr/>
        </p:nvSpPr>
        <p:spPr>
          <a:xfrm>
            <a:off x="4480559" y="2240277"/>
            <a:ext cx="6949441"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0A0A0A"/>
                </a:solidFill>
                <a:latin typeface="Inter Bold"/>
                <a:ea typeface="Inter Bold"/>
                <a:cs typeface="Inter Bold"/>
                <a:sym typeface="Inter Bold"/>
              </a:defRPr>
            </a:lvl1pPr>
          </a:lstStyle>
          <a:p>
            <a:pPr/>
            <a:r>
              <a:t>AI Benefit</a:t>
            </a:r>
          </a:p>
        </p:txBody>
      </p:sp>
      <p:sp>
        <p:nvSpPr>
          <p:cNvPr id="440" name="Rectangle 7"/>
          <p:cNvSpPr/>
          <p:nvPr/>
        </p:nvSpPr>
        <p:spPr>
          <a:xfrm>
            <a:off x="640080" y="3418077"/>
            <a:ext cx="10972801" cy="12702"/>
          </a:xfrm>
          <a:prstGeom prst="rect">
            <a:avLst/>
          </a:prstGeom>
          <a:solidFill>
            <a:srgbClr val="333333"/>
          </a:solidFill>
          <a:ln w="12700">
            <a:miter lim="400000"/>
          </a:ln>
        </p:spPr>
        <p:txBody>
          <a:bodyPr lIns="45718" tIns="45718" rIns="45718" bIns="45718" anchor="ctr"/>
          <a:lstStyle/>
          <a:p>
            <a:pPr algn="ctr">
              <a:defRPr>
                <a:solidFill>
                  <a:srgbClr val="FFFFFF"/>
                </a:solidFill>
              </a:defRPr>
            </a:pPr>
          </a:p>
        </p:txBody>
      </p:sp>
      <p:sp>
        <p:nvSpPr>
          <p:cNvPr id="441" name="TextBox 8"/>
          <p:cNvSpPr txBox="1"/>
          <p:nvPr/>
        </p:nvSpPr>
        <p:spPr>
          <a:xfrm>
            <a:off x="822958" y="2743200"/>
            <a:ext cx="3383282" cy="4191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F2F2F2"/>
                </a:solidFill>
                <a:latin typeface="Inter Bold"/>
                <a:ea typeface="Inter Bold"/>
                <a:cs typeface="Inter Bold"/>
                <a:sym typeface="Inter Bold"/>
              </a:defRPr>
            </a:pPr>
            <a:r>
              <a:t>Layers</a:t>
            </a:r>
          </a:p>
          <a:p>
            <a:pPr>
              <a:spcBef>
                <a:spcPts val="200"/>
              </a:spcBef>
              <a:defRPr sz="1100">
                <a:solidFill>
                  <a:srgbClr val="888888"/>
                </a:solidFill>
                <a:latin typeface="Inter Regular"/>
                <a:ea typeface="Inter Regular"/>
                <a:cs typeface="Inter Regular"/>
                <a:sym typeface="Inter Regular"/>
              </a:defRPr>
            </a:pPr>
            <a:r>
              <a:t>app → shared</a:t>
            </a:r>
          </a:p>
        </p:txBody>
      </p:sp>
      <p:sp>
        <p:nvSpPr>
          <p:cNvPr id="442" name="TextBox 9"/>
          <p:cNvSpPr txBox="1"/>
          <p:nvPr/>
        </p:nvSpPr>
        <p:spPr>
          <a:xfrm>
            <a:off x="4480559" y="2932429"/>
            <a:ext cx="6949441"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40000"/>
              </a:lnSpc>
              <a:defRPr sz="1400">
                <a:solidFill>
                  <a:srgbClr val="F2F2F2"/>
                </a:solidFill>
                <a:latin typeface="Inter Regular"/>
                <a:ea typeface="Inter Regular"/>
                <a:cs typeface="Inter Regular"/>
                <a:sym typeface="Inter Regular"/>
              </a:defRPr>
            </a:pPr>
            <a:r>
              <a:t>AI reads the file tree and immediately gets a </a:t>
            </a:r>
            <a:r>
              <a:rPr>
                <a:solidFill>
                  <a:srgbClr val="00D4FF"/>
                </a:solidFill>
                <a:latin typeface="Inter Bold"/>
                <a:ea typeface="Inter Bold"/>
                <a:cs typeface="Inter Bold"/>
                <a:sym typeface="Inter Bold"/>
              </a:rPr>
              <a:t>responsibility map</a:t>
            </a:r>
            <a:r>
              <a:t>.</a:t>
            </a:r>
          </a:p>
        </p:txBody>
      </p:sp>
      <p:sp>
        <p:nvSpPr>
          <p:cNvPr id="443" name="Rectangle 10"/>
          <p:cNvSpPr/>
          <p:nvPr/>
        </p:nvSpPr>
        <p:spPr>
          <a:xfrm>
            <a:off x="640080" y="3429000"/>
            <a:ext cx="10972801" cy="777242"/>
          </a:xfrm>
          <a:prstGeom prst="rect">
            <a:avLst/>
          </a:prstGeom>
          <a:solidFill>
            <a:srgbClr val="1A1A2E"/>
          </a:solidFill>
          <a:ln w="12700">
            <a:miter lim="400000"/>
          </a:ln>
        </p:spPr>
        <p:txBody>
          <a:bodyPr lIns="45718" tIns="45718" rIns="45718" bIns="45718" anchor="ctr"/>
          <a:lstStyle/>
          <a:p>
            <a:pPr algn="ctr">
              <a:defRPr>
                <a:solidFill>
                  <a:srgbClr val="FFFFFF"/>
                </a:solidFill>
              </a:defRPr>
            </a:pPr>
          </a:p>
        </p:txBody>
      </p:sp>
      <p:sp>
        <p:nvSpPr>
          <p:cNvPr id="444" name="Rectangle 11"/>
          <p:cNvSpPr/>
          <p:nvPr/>
        </p:nvSpPr>
        <p:spPr>
          <a:xfrm>
            <a:off x="640080" y="4195317"/>
            <a:ext cx="10972801" cy="12702"/>
          </a:xfrm>
          <a:prstGeom prst="rect">
            <a:avLst/>
          </a:prstGeom>
          <a:solidFill>
            <a:srgbClr val="333333"/>
          </a:solidFill>
          <a:ln w="12700">
            <a:miter lim="400000"/>
          </a:ln>
        </p:spPr>
        <p:txBody>
          <a:bodyPr lIns="45718" tIns="45718" rIns="45718" bIns="45718" anchor="ctr"/>
          <a:lstStyle/>
          <a:p>
            <a:pPr algn="ctr">
              <a:defRPr>
                <a:solidFill>
                  <a:srgbClr val="FFFFFF"/>
                </a:solidFill>
              </a:defRPr>
            </a:pPr>
          </a:p>
        </p:txBody>
      </p:sp>
      <p:sp>
        <p:nvSpPr>
          <p:cNvPr id="445" name="TextBox 12"/>
          <p:cNvSpPr txBox="1"/>
          <p:nvPr/>
        </p:nvSpPr>
        <p:spPr>
          <a:xfrm>
            <a:off x="822958" y="3520440"/>
            <a:ext cx="338328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F2F2F2"/>
                </a:solidFill>
                <a:latin typeface="Inter Bold"/>
                <a:ea typeface="Inter Bold"/>
                <a:cs typeface="Inter Bold"/>
                <a:sym typeface="Inter Bold"/>
              </a:defRPr>
            </a:pPr>
            <a:r>
              <a:t>Import rule</a:t>
            </a:r>
          </a:p>
          <a:p>
            <a:pPr>
              <a:spcBef>
                <a:spcPts val="200"/>
              </a:spcBef>
              <a:defRPr sz="1100">
                <a:solidFill>
                  <a:srgbClr val="888888"/>
                </a:solidFill>
                <a:latin typeface="Inter Regular"/>
                <a:ea typeface="Inter Regular"/>
                <a:cs typeface="Inter Regular"/>
                <a:sym typeface="Inter Regular"/>
              </a:defRPr>
            </a:pPr>
            <a:r>
              <a:t>only import from below</a:t>
            </a:r>
          </a:p>
        </p:txBody>
      </p:sp>
      <p:sp>
        <p:nvSpPr>
          <p:cNvPr id="446" name="TextBox 13"/>
          <p:cNvSpPr txBox="1"/>
          <p:nvPr/>
        </p:nvSpPr>
        <p:spPr>
          <a:xfrm>
            <a:off x="4480559" y="3709668"/>
            <a:ext cx="6949441"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40000"/>
              </a:lnSpc>
              <a:defRPr sz="1400">
                <a:solidFill>
                  <a:srgbClr val="00D4FF"/>
                </a:solidFill>
                <a:latin typeface="Inter Bold"/>
                <a:ea typeface="Inter Bold"/>
                <a:cs typeface="Inter Bold"/>
                <a:sym typeface="Inter Bold"/>
              </a:defRPr>
            </a:pPr>
            <a:r>
              <a:t>One-directional</a:t>
            </a:r>
            <a:r>
              <a:rPr>
                <a:solidFill>
                  <a:srgbClr val="F2F2F2"/>
                </a:solidFill>
                <a:latin typeface="Inter Regular"/>
                <a:ea typeface="Inter Regular"/>
                <a:cs typeface="Inter Regular"/>
                <a:sym typeface="Inter Regular"/>
              </a:rPr>
              <a:t> dependency flow = minimal context hops.</a:t>
            </a:r>
          </a:p>
        </p:txBody>
      </p:sp>
      <p:sp>
        <p:nvSpPr>
          <p:cNvPr id="447" name="Rectangle 14"/>
          <p:cNvSpPr/>
          <p:nvPr/>
        </p:nvSpPr>
        <p:spPr>
          <a:xfrm>
            <a:off x="640080" y="4972556"/>
            <a:ext cx="10972801" cy="12702"/>
          </a:xfrm>
          <a:prstGeom prst="rect">
            <a:avLst/>
          </a:prstGeom>
          <a:solidFill>
            <a:srgbClr val="333333"/>
          </a:solidFill>
          <a:ln w="12700">
            <a:miter lim="400000"/>
          </a:ln>
        </p:spPr>
        <p:txBody>
          <a:bodyPr lIns="45718" tIns="45718" rIns="45718" bIns="45718" anchor="ctr"/>
          <a:lstStyle/>
          <a:p>
            <a:pPr algn="ctr">
              <a:defRPr>
                <a:solidFill>
                  <a:srgbClr val="FFFFFF"/>
                </a:solidFill>
              </a:defRPr>
            </a:pPr>
          </a:p>
        </p:txBody>
      </p:sp>
      <p:sp>
        <p:nvSpPr>
          <p:cNvPr id="448" name="TextBox 15"/>
          <p:cNvSpPr txBox="1"/>
          <p:nvPr/>
        </p:nvSpPr>
        <p:spPr>
          <a:xfrm>
            <a:off x="822958" y="4297679"/>
            <a:ext cx="338328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F2F2F2"/>
                </a:solidFill>
                <a:latin typeface="Inter Bold"/>
                <a:ea typeface="Inter Bold"/>
                <a:cs typeface="Inter Bold"/>
                <a:sym typeface="Inter Bold"/>
              </a:defRPr>
            </a:pPr>
            <a:r>
              <a:t>Slices</a:t>
            </a:r>
          </a:p>
          <a:p>
            <a:pPr>
              <a:spcBef>
                <a:spcPts val="200"/>
              </a:spcBef>
              <a:defRPr sz="1100">
                <a:solidFill>
                  <a:srgbClr val="888888"/>
                </a:solidFill>
                <a:latin typeface="Inter Regular"/>
                <a:ea typeface="Inter Regular"/>
                <a:cs typeface="Inter Regular"/>
                <a:sym typeface="Inter Regular"/>
              </a:defRPr>
            </a:pPr>
            <a:r>
              <a:t>zero coupling</a:t>
            </a:r>
          </a:p>
        </p:txBody>
      </p:sp>
      <p:sp>
        <p:nvSpPr>
          <p:cNvPr id="449" name="TextBox 16"/>
          <p:cNvSpPr txBox="1"/>
          <p:nvPr/>
        </p:nvSpPr>
        <p:spPr>
          <a:xfrm>
            <a:off x="4480559" y="4486907"/>
            <a:ext cx="6949441"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40000"/>
              </a:lnSpc>
              <a:defRPr sz="1400">
                <a:solidFill>
                  <a:srgbClr val="F2F2F2"/>
                </a:solidFill>
                <a:latin typeface="Inter Regular"/>
                <a:ea typeface="Inter Regular"/>
                <a:cs typeface="Inter Regular"/>
                <a:sym typeface="Inter Regular"/>
              </a:defRPr>
            </a:pPr>
            <a:r>
              <a:t>AI stays within feature boundaries — </a:t>
            </a:r>
            <a:r>
              <a:rPr>
                <a:solidFill>
                  <a:srgbClr val="00D4FF"/>
                </a:solidFill>
                <a:latin typeface="Inter Bold"/>
                <a:ea typeface="Inter Bold"/>
                <a:cs typeface="Inter Bold"/>
                <a:sym typeface="Inter Bold"/>
              </a:rPr>
              <a:t>no context pollution</a:t>
            </a:r>
            <a:r>
              <a:t>.</a:t>
            </a:r>
          </a:p>
        </p:txBody>
      </p:sp>
      <p:sp>
        <p:nvSpPr>
          <p:cNvPr id="450" name="Rectangle 17"/>
          <p:cNvSpPr/>
          <p:nvPr/>
        </p:nvSpPr>
        <p:spPr>
          <a:xfrm>
            <a:off x="640080" y="4983479"/>
            <a:ext cx="10972801" cy="777242"/>
          </a:xfrm>
          <a:prstGeom prst="rect">
            <a:avLst/>
          </a:prstGeom>
          <a:solidFill>
            <a:srgbClr val="1A1A2E"/>
          </a:solidFill>
          <a:ln w="12700">
            <a:miter lim="400000"/>
          </a:ln>
        </p:spPr>
        <p:txBody>
          <a:bodyPr lIns="45718" tIns="45718" rIns="45718" bIns="45718" anchor="ctr"/>
          <a:lstStyle/>
          <a:p>
            <a:pPr algn="ctr">
              <a:defRPr>
                <a:solidFill>
                  <a:srgbClr val="FFFFFF"/>
                </a:solidFill>
              </a:defRPr>
            </a:pPr>
          </a:p>
        </p:txBody>
      </p:sp>
      <p:sp>
        <p:nvSpPr>
          <p:cNvPr id="451" name="Rectangle 18"/>
          <p:cNvSpPr/>
          <p:nvPr/>
        </p:nvSpPr>
        <p:spPr>
          <a:xfrm>
            <a:off x="640080" y="5749795"/>
            <a:ext cx="10972801" cy="12702"/>
          </a:xfrm>
          <a:prstGeom prst="rect">
            <a:avLst/>
          </a:prstGeom>
          <a:solidFill>
            <a:srgbClr val="333333"/>
          </a:solidFill>
          <a:ln w="12700">
            <a:miter lim="400000"/>
          </a:ln>
        </p:spPr>
        <p:txBody>
          <a:bodyPr lIns="45718" tIns="45718" rIns="45718" bIns="45718" anchor="ctr"/>
          <a:lstStyle/>
          <a:p>
            <a:pPr algn="ctr">
              <a:defRPr>
                <a:solidFill>
                  <a:srgbClr val="FFFFFF"/>
                </a:solidFill>
              </a:defRPr>
            </a:pPr>
          </a:p>
        </p:txBody>
      </p:sp>
      <p:sp>
        <p:nvSpPr>
          <p:cNvPr id="452" name="TextBox 19"/>
          <p:cNvSpPr txBox="1"/>
          <p:nvPr/>
        </p:nvSpPr>
        <p:spPr>
          <a:xfrm>
            <a:off x="822958" y="5074918"/>
            <a:ext cx="338328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F2F2F2"/>
                </a:solidFill>
                <a:latin typeface="Inter Bold"/>
                <a:ea typeface="Inter Bold"/>
                <a:cs typeface="Inter Bold"/>
                <a:sym typeface="Inter Bold"/>
              </a:defRPr>
            </a:pPr>
            <a:r>
              <a:t>Public API</a:t>
            </a:r>
          </a:p>
          <a:p>
            <a:pPr>
              <a:spcBef>
                <a:spcPts val="200"/>
              </a:spcBef>
              <a:defRPr sz="1100">
                <a:solidFill>
                  <a:srgbClr val="888888"/>
                </a:solidFill>
                <a:latin typeface="Inter Regular"/>
                <a:ea typeface="Inter Regular"/>
                <a:cs typeface="Inter Regular"/>
                <a:sym typeface="Inter Regular"/>
              </a:defRPr>
            </a:pPr>
            <a:r>
              <a:t>index.ts contracts</a:t>
            </a:r>
          </a:p>
        </p:txBody>
      </p:sp>
      <p:sp>
        <p:nvSpPr>
          <p:cNvPr id="453" name="TextBox 20"/>
          <p:cNvSpPr txBox="1"/>
          <p:nvPr/>
        </p:nvSpPr>
        <p:spPr>
          <a:xfrm>
            <a:off x="4480559" y="5264147"/>
            <a:ext cx="6949441"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40000"/>
              </a:lnSpc>
              <a:defRPr sz="1400">
                <a:solidFill>
                  <a:srgbClr val="F2F2F2"/>
                </a:solidFill>
                <a:latin typeface="Inter Regular"/>
                <a:ea typeface="Inter Regular"/>
                <a:cs typeface="Inter Regular"/>
                <a:sym typeface="Inter Regular"/>
              </a:defRPr>
            </a:pPr>
            <a:r>
              <a:t>AI reads the interface, </a:t>
            </a:r>
            <a:r>
              <a:rPr>
                <a:solidFill>
                  <a:srgbClr val="00D4FF"/>
                </a:solidFill>
                <a:latin typeface="Inter Bold"/>
                <a:ea typeface="Inter Bold"/>
                <a:cs typeface="Inter Bold"/>
                <a:sym typeface="Inter Bold"/>
              </a:rPr>
              <a:t>doesn't crawl internals</a:t>
            </a:r>
            <a:r>
              <a:t> — saves tokens.</a:t>
            </a:r>
          </a:p>
        </p:txBody>
      </p:sp>
      <p:sp>
        <p:nvSpPr>
          <p:cNvPr id="454" name="Rectangle 21"/>
          <p:cNvSpPr/>
          <p:nvPr/>
        </p:nvSpPr>
        <p:spPr>
          <a:xfrm>
            <a:off x="640080" y="6527035"/>
            <a:ext cx="10972801" cy="12702"/>
          </a:xfrm>
          <a:prstGeom prst="rect">
            <a:avLst/>
          </a:prstGeom>
          <a:solidFill>
            <a:srgbClr val="333333"/>
          </a:solidFill>
          <a:ln w="12700">
            <a:miter lim="400000"/>
          </a:ln>
        </p:spPr>
        <p:txBody>
          <a:bodyPr lIns="45718" tIns="45718" rIns="45718" bIns="45718" anchor="ctr"/>
          <a:lstStyle/>
          <a:p>
            <a:pPr algn="ctr">
              <a:defRPr>
                <a:solidFill>
                  <a:srgbClr val="FFFFFF"/>
                </a:solidFill>
              </a:defRPr>
            </a:pPr>
          </a:p>
        </p:txBody>
      </p:sp>
      <p:sp>
        <p:nvSpPr>
          <p:cNvPr id="455" name="TextBox 22"/>
          <p:cNvSpPr txBox="1"/>
          <p:nvPr/>
        </p:nvSpPr>
        <p:spPr>
          <a:xfrm>
            <a:off x="822958" y="5852159"/>
            <a:ext cx="338328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400">
                <a:solidFill>
                  <a:srgbClr val="F2F2F2"/>
                </a:solidFill>
                <a:latin typeface="Inter Bold"/>
                <a:ea typeface="Inter Bold"/>
                <a:cs typeface="Inter Bold"/>
                <a:sym typeface="Inter Bold"/>
              </a:defRPr>
            </a:pPr>
            <a:r>
              <a:t>Segments</a:t>
            </a:r>
          </a:p>
          <a:p>
            <a:pPr>
              <a:spcBef>
                <a:spcPts val="200"/>
              </a:spcBef>
              <a:defRPr sz="1100">
                <a:solidFill>
                  <a:srgbClr val="888888"/>
                </a:solidFill>
                <a:latin typeface="Inter Regular"/>
                <a:ea typeface="Inter Regular"/>
                <a:cs typeface="Inter Regular"/>
                <a:sym typeface="Inter Regular"/>
              </a:defRPr>
            </a:pPr>
            <a:r>
              <a:t>ui / api / model / lib</a:t>
            </a:r>
          </a:p>
        </p:txBody>
      </p:sp>
      <p:sp>
        <p:nvSpPr>
          <p:cNvPr id="456" name="TextBox 23"/>
          <p:cNvSpPr txBox="1"/>
          <p:nvPr/>
        </p:nvSpPr>
        <p:spPr>
          <a:xfrm>
            <a:off x="4480559" y="6041387"/>
            <a:ext cx="6949441"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40000"/>
              </a:lnSpc>
              <a:defRPr sz="1400">
                <a:solidFill>
                  <a:srgbClr val="F2F2F2"/>
                </a:solidFill>
                <a:latin typeface="Inter Regular"/>
                <a:ea typeface="Inter Regular"/>
                <a:cs typeface="Inter Regular"/>
                <a:sym typeface="Inter Regular"/>
              </a:defRPr>
            </a:pPr>
            <a:r>
              <a:t>Standardized grouping = AI </a:t>
            </a:r>
            <a:r>
              <a:rPr>
                <a:solidFill>
                  <a:srgbClr val="00D4FF"/>
                </a:solidFill>
                <a:latin typeface="Inter Bold"/>
                <a:ea typeface="Inter Bold"/>
                <a:cs typeface="Inter Bold"/>
                <a:sym typeface="Inter Bold"/>
              </a:rPr>
              <a:t>pattern-matches</a:t>
            </a:r>
            <a:r>
              <a:t> across all slices.</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0F172A"/>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8" tIns="45718" rIns="45718" bIns="45718" numCol="1" spcCol="38100" rtlCol="0" anchor="ctr"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8" tIns="45718" rIns="45718" bIns="45718" numCol="1" spcCol="38100" rtlCol="0" anchor="ctr"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