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 name="Shape 102"/>
          <p:cNvSpPr/>
          <p:nvPr>
            <p:ph type="sldImg"/>
          </p:nvPr>
        </p:nvSpPr>
        <p:spPr>
          <a:prstGeom prst="rect">
            <a:avLst/>
          </a:prstGeom>
        </p:spPr>
        <p:txBody>
          <a:bodyPr/>
          <a:lstStyle/>
          <a:p>
            <a:pPr/>
          </a:p>
        </p:txBody>
      </p:sp>
      <p:sp>
        <p:nvSpPr>
          <p:cNvPr id="103" name="Shape 103"/>
          <p:cNvSpPr/>
          <p:nvPr>
            <p:ph type="body" sz="quarter" idx="1"/>
          </p:nvPr>
        </p:nvSpPr>
        <p:spPr>
          <a:prstGeom prst="rect">
            <a:avLst/>
          </a:prstGeom>
        </p:spPr>
        <p:txBody>
          <a:bodyPr/>
          <a:lstStyle>
            <a:lvl1pPr>
              <a:defRPr sz="1600"/>
            </a:lvl1pPr>
          </a:lstStyle>
          <a:p>
            <a:pPr/>
            <a:r>
              <a:t>Koliko puta ste čuli ovu rečenicu? Na twitteru, redditu ili pak svojem radnom mjestu. Jedan programer je raspisao detaljni plan implementacije za neki feature. Claude krene sa izvršavanjem plana, prvih par koraka implementira super, ali nakon toga počne halucinirati - importat funkcije koje ne postoje, duplicirati ih, radit promjene koje uzrokuju kršenje na drugim mjestima.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Shape 109"/>
          <p:cNvSpPr/>
          <p:nvPr>
            <p:ph type="sldImg"/>
          </p:nvPr>
        </p:nvSpPr>
        <p:spPr>
          <a:prstGeom prst="rect">
            <a:avLst/>
          </a:prstGeom>
        </p:spPr>
        <p:txBody>
          <a:bodyPr/>
          <a:lstStyle/>
          <a:p>
            <a:pPr/>
          </a:p>
        </p:txBody>
      </p:sp>
      <p:sp>
        <p:nvSpPr>
          <p:cNvPr id="110" name="Shape 110"/>
          <p:cNvSpPr/>
          <p:nvPr>
            <p:ph type="body" sz="quarter" idx="1"/>
          </p:nvPr>
        </p:nvSpPr>
        <p:spPr>
          <a:prstGeom prst="rect">
            <a:avLst/>
          </a:prstGeom>
        </p:spPr>
        <p:txBody>
          <a:bodyPr/>
          <a:lstStyle>
            <a:lvl1pPr>
              <a:defRPr sz="1600"/>
            </a:lvl1pPr>
          </a:lstStyle>
          <a:p>
            <a:pPr/>
            <a:r>
              <a:t>Ili pak ovu rečenicu, gdje programer tvrdi da mu AI agent radi super na njegovom manjem projektu sa strane, ali kada ga pokuša koristiti u većem, produkcijskom kodu, on jednostavno ne performa dobro.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Shape 115"/>
          <p:cNvSpPr/>
          <p:nvPr>
            <p:ph type="sldImg"/>
          </p:nvPr>
        </p:nvSpPr>
        <p:spPr>
          <a:prstGeom prst="rect">
            <a:avLst/>
          </a:prstGeom>
        </p:spPr>
        <p:txBody>
          <a:bodyPr/>
          <a:lstStyle/>
          <a:p>
            <a:pPr/>
          </a:p>
        </p:txBody>
      </p:sp>
      <p:sp>
        <p:nvSpPr>
          <p:cNvPr id="116" name="Shape 116"/>
          <p:cNvSpPr/>
          <p:nvPr>
            <p:ph type="body" sz="quarter" idx="1"/>
          </p:nvPr>
        </p:nvSpPr>
        <p:spPr>
          <a:prstGeom prst="rect">
            <a:avLst/>
          </a:prstGeom>
        </p:spPr>
        <p:txBody>
          <a:bodyPr/>
          <a:lstStyle>
            <a:lvl1pPr>
              <a:defRPr sz="1600"/>
            </a:lvl1pPr>
          </a:lstStyle>
          <a:p>
            <a:pPr/>
            <a:r>
              <a:t>Realno gledajući, AI asistenti briljiraju u manjim, specifičnim ili repetitivnim zadacima: generiranju funkcija, pisanju kompleksnih regexa, postavljanju boilerplateai slično.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Shape 121"/>
          <p:cNvSpPr/>
          <p:nvPr>
            <p:ph type="sldImg"/>
          </p:nvPr>
        </p:nvSpPr>
        <p:spPr>
          <a:prstGeom prst="rect">
            <a:avLst/>
          </a:prstGeom>
        </p:spPr>
        <p:txBody>
          <a:bodyPr/>
          <a:lstStyle/>
          <a:p>
            <a:pPr/>
          </a:p>
        </p:txBody>
      </p:sp>
      <p:sp>
        <p:nvSpPr>
          <p:cNvPr id="122" name="Shape 122"/>
          <p:cNvSpPr/>
          <p:nvPr>
            <p:ph type="body" sz="quarter" idx="1"/>
          </p:nvPr>
        </p:nvSpPr>
        <p:spPr>
          <a:prstGeom prst="rect">
            <a:avLst/>
          </a:prstGeom>
        </p:spPr>
        <p:txBody>
          <a:bodyPr/>
          <a:lstStyle>
            <a:lvl1pPr>
              <a:defRPr sz="1600"/>
            </a:lvl1pPr>
          </a:lstStyle>
          <a:p>
            <a:pPr/>
            <a:r>
              <a:t>No, čim ih se baci u veće okruženje s puno 'šuma', počinju se mučiti.</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Shape 130"/>
          <p:cNvSpPr/>
          <p:nvPr>
            <p:ph type="sldImg"/>
          </p:nvPr>
        </p:nvSpPr>
        <p:spPr>
          <a:prstGeom prst="rect">
            <a:avLst/>
          </a:prstGeom>
        </p:spPr>
        <p:txBody>
          <a:bodyPr/>
          <a:lstStyle/>
          <a:p>
            <a:pPr/>
          </a:p>
        </p:txBody>
      </p:sp>
      <p:sp>
        <p:nvSpPr>
          <p:cNvPr id="131" name="Shape 131"/>
          <p:cNvSpPr/>
          <p:nvPr>
            <p:ph type="body" sz="quarter" idx="1"/>
          </p:nvPr>
        </p:nvSpPr>
        <p:spPr>
          <a:prstGeom prst="rect">
            <a:avLst/>
          </a:prstGeom>
        </p:spPr>
        <p:txBody>
          <a:bodyPr/>
          <a:lstStyle>
            <a:lvl1pPr>
              <a:defRPr sz="1600"/>
            </a:lvl1pPr>
          </a:lstStyle>
          <a:p>
            <a:pPr/>
            <a:r>
              <a:t>A razlog za nam je svima poznat: kontekst.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Shape 136"/>
          <p:cNvSpPr/>
          <p:nvPr>
            <p:ph type="sldImg"/>
          </p:nvPr>
        </p:nvSpPr>
        <p:spPr>
          <a:prstGeom prst="rect">
            <a:avLst/>
          </a:prstGeom>
        </p:spPr>
        <p:txBody>
          <a:bodyPr/>
          <a:lstStyle/>
          <a:p>
            <a:pPr/>
          </a:p>
        </p:txBody>
      </p:sp>
      <p:sp>
        <p:nvSpPr>
          <p:cNvPr id="137" name="Shape 137"/>
          <p:cNvSpPr/>
          <p:nvPr>
            <p:ph type="body" sz="quarter" idx="1"/>
          </p:nvPr>
        </p:nvSpPr>
        <p:spPr>
          <a:prstGeom prst="rect">
            <a:avLst/>
          </a:prstGeom>
        </p:spPr>
        <p:txBody>
          <a:bodyPr/>
          <a:lstStyle>
            <a:lvl1pPr>
              <a:defRPr sz="1600"/>
            </a:lvl1pPr>
          </a:lstStyle>
          <a:p>
            <a:pPr/>
            <a:r>
              <a:t>Kontekst se zapravo odnosi na skup tokena koji su uključeni u proces generiranja (samplinga) iz LLM-a.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Shape 142"/>
          <p:cNvSpPr/>
          <p:nvPr>
            <p:ph type="sldImg"/>
          </p:nvPr>
        </p:nvSpPr>
        <p:spPr>
          <a:prstGeom prst="rect">
            <a:avLst/>
          </a:prstGeom>
        </p:spPr>
        <p:txBody>
          <a:bodyPr/>
          <a:lstStyle/>
          <a:p>
            <a:pPr/>
          </a:p>
        </p:txBody>
      </p:sp>
      <p:sp>
        <p:nvSpPr>
          <p:cNvPr id="143" name="Shape 143"/>
          <p:cNvSpPr/>
          <p:nvPr>
            <p:ph type="body" sz="quarter" idx="1"/>
          </p:nvPr>
        </p:nvSpPr>
        <p:spPr>
          <a:prstGeom prst="rect">
            <a:avLst/>
          </a:prstGeom>
        </p:spPr>
        <p:txBody>
          <a:bodyPr/>
          <a:lstStyle>
            <a:lvl1pPr>
              <a:defRPr sz="1600"/>
            </a:lvl1pPr>
          </a:lstStyle>
          <a:p>
            <a:pPr/>
            <a:r>
              <a:t>Drugim riječima, sve što model može vidjeti kada generira odgovor; tvoj prompt, otvorene datoteke, struktura projekta itd. Do prije par mjeseci nije bilo tako jer je većina AI asistenata uzimala u obzir samo vaš prompt, ništa drugo. Tada je bilo popularno na društvenim mrežama pisati o magičnim promptovima koji su mogli natjerati AI da napravi čuda. No, kako su modeli postajali veći i sofisticiraniji, počeli su uzimati u obzir i druge izvore informacija, poput otvorenih datoteka, strukture projekta i slično.</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Shape 151"/>
          <p:cNvSpPr/>
          <p:nvPr>
            <p:ph type="sldImg"/>
          </p:nvPr>
        </p:nvSpPr>
        <p:spPr>
          <a:prstGeom prst="rect">
            <a:avLst/>
          </a:prstGeom>
        </p:spPr>
        <p:txBody>
          <a:bodyPr/>
          <a:lstStyle/>
          <a:p>
            <a:pPr/>
          </a:p>
        </p:txBody>
      </p:sp>
      <p:sp>
        <p:nvSpPr>
          <p:cNvPr id="152" name="Shape 152"/>
          <p:cNvSpPr/>
          <p:nvPr>
            <p:ph type="body" sz="quarter" idx="1"/>
          </p:nvPr>
        </p:nvSpPr>
        <p:spPr>
          <a:prstGeom prst="rect">
            <a:avLst/>
          </a:prstGeom>
        </p:spPr>
        <p:txBody>
          <a:bodyPr/>
          <a:lstStyle>
            <a:lvl1pPr>
              <a:defRPr sz="1600"/>
            </a:lvl1pPr>
          </a:lstStyle>
          <a:p>
            <a:pPr/>
            <a:r>
              <a:t>To je ono što se promjenilo, a ono što se nije promjenilo je činjenica da AI i dalje ne poznaje projekt već čita samo ono što mu pružite - uz razliku da sada može čitati više stvari odjednom.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Shape 159"/>
          <p:cNvSpPr/>
          <p:nvPr>
            <p:ph type="sldImg"/>
          </p:nvPr>
        </p:nvSpPr>
        <p:spPr>
          <a:prstGeom prst="rect">
            <a:avLst/>
          </a:prstGeom>
        </p:spPr>
        <p:txBody>
          <a:bodyPr/>
          <a:lstStyle/>
          <a:p>
            <a:pPr/>
          </a:p>
        </p:txBody>
      </p:sp>
      <p:sp>
        <p:nvSpPr>
          <p:cNvPr id="160" name="Shape 160"/>
          <p:cNvSpPr/>
          <p:nvPr>
            <p:ph type="body" sz="quarter" idx="1"/>
          </p:nvPr>
        </p:nvSpPr>
        <p:spPr>
          <a:prstGeom prst="rect">
            <a:avLst/>
          </a:prstGeom>
        </p:spPr>
        <p:txBody>
          <a:bodyPr/>
          <a:lstStyle>
            <a:lvl1pPr>
              <a:defRPr sz="1600"/>
            </a:lvl1pPr>
          </a:lstStyle>
          <a:p>
            <a:pPr/>
            <a:r>
              <a:t>Kao što smo već spomenuli, context engineering je još prošle godine zamijenio termin prompt engineering, a u najjednostavnijem smislu odnosi se na oblikovanje onoga što model vidi s ciljem dobivanja boljeg outputa.</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Shape 168"/>
          <p:cNvSpPr/>
          <p:nvPr>
            <p:ph type="sldImg"/>
          </p:nvPr>
        </p:nvSpPr>
        <p:spPr>
          <a:prstGeom prst="rect">
            <a:avLst/>
          </a:prstGeom>
        </p:spPr>
        <p:txBody>
          <a:bodyPr/>
          <a:lstStyle/>
          <a:p>
            <a:pPr/>
          </a:p>
        </p:txBody>
      </p:sp>
      <p:sp>
        <p:nvSpPr>
          <p:cNvPr id="169" name="Shape 169"/>
          <p:cNvSpPr/>
          <p:nvPr>
            <p:ph type="body" sz="quarter" idx="1"/>
          </p:nvPr>
        </p:nvSpPr>
        <p:spPr>
          <a:prstGeom prst="rect">
            <a:avLst/>
          </a:prstGeom>
        </p:spPr>
        <p:txBody>
          <a:bodyPr/>
          <a:lstStyle>
            <a:lvl1pPr>
              <a:defRPr sz="1600"/>
            </a:lvl1pPr>
          </a:lstStyle>
          <a:p>
            <a:pPr/>
            <a:r>
              <a:t>Kod dobivanja outputa od AI alata, više nije dovoljno samo napisati dobar prompt, već je potrebno obratiti pozornost i na druge stvari poput programskog koda, strukture direktorija, vanjskih paketa, konvencija i slično.</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Shape 177"/>
          <p:cNvSpPr/>
          <p:nvPr>
            <p:ph type="sldImg"/>
          </p:nvPr>
        </p:nvSpPr>
        <p:spPr>
          <a:prstGeom prst="rect">
            <a:avLst/>
          </a:prstGeom>
        </p:spPr>
        <p:txBody>
          <a:bodyPr/>
          <a:lstStyle/>
          <a:p>
            <a:pPr/>
          </a:p>
        </p:txBody>
      </p:sp>
      <p:sp>
        <p:nvSpPr>
          <p:cNvPr id="178" name="Shape 178"/>
          <p:cNvSpPr/>
          <p:nvPr>
            <p:ph type="body" sz="quarter" idx="1"/>
          </p:nvPr>
        </p:nvSpPr>
        <p:spPr>
          <a:prstGeom prst="rect">
            <a:avLst/>
          </a:prstGeom>
        </p:spPr>
        <p:txBody>
          <a:bodyPr/>
          <a:lstStyle>
            <a:lvl1pPr>
              <a:defRPr sz="1600"/>
            </a:lvl1pPr>
          </a:lstStyle>
          <a:p>
            <a:pPr/>
            <a:r>
              <a:t>Sada je moguće kontekst proširiti na više načina, a najpoznatiji je sa kreiranjem CLAUDE.md (ili AGENTS.md), dodavanjem MCP servera, skillova, rulesa itd.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Shape 202"/>
          <p:cNvSpPr/>
          <p:nvPr>
            <p:ph type="sldImg"/>
          </p:nvPr>
        </p:nvSpPr>
        <p:spPr>
          <a:prstGeom prst="rect">
            <a:avLst/>
          </a:prstGeom>
        </p:spPr>
        <p:txBody>
          <a:bodyPr/>
          <a:lstStyle/>
          <a:p>
            <a:pPr/>
          </a:p>
        </p:txBody>
      </p:sp>
      <p:sp>
        <p:nvSpPr>
          <p:cNvPr id="203" name="Shape 203"/>
          <p:cNvSpPr/>
          <p:nvPr>
            <p:ph type="body" sz="quarter" idx="1"/>
          </p:nvPr>
        </p:nvSpPr>
        <p:spPr>
          <a:prstGeom prst="rect">
            <a:avLst/>
          </a:prstGeom>
        </p:spPr>
        <p:txBody>
          <a:bodyPr/>
          <a:lstStyle>
            <a:lvl1pPr>
              <a:defRPr sz="1600"/>
            </a:lvl1pPr>
          </a:lstStyle>
          <a:p>
            <a:pPr/>
            <a:r>
              <a:t>Kad Cursor otvori projekt, prvo se radi indeksiranje codebasea. Podijeli programski kod u chunkove -&gt; to su funkcije, klase, blokovi. Zatim se generiraju vector (vector) embeddingsi -&gt; to su numeričke reprezentacije podataka koje se odnose na semantičko značenje. Svi ti vektori se, naravno, spremaju u vektorsku bazu podataka (turbopuffer).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Shape 234"/>
          <p:cNvSpPr/>
          <p:nvPr>
            <p:ph type="sldImg"/>
          </p:nvPr>
        </p:nvSpPr>
        <p:spPr>
          <a:prstGeom prst="rect">
            <a:avLst/>
          </a:prstGeom>
        </p:spPr>
        <p:txBody>
          <a:bodyPr/>
          <a:lstStyle/>
          <a:p>
            <a:pPr/>
          </a:p>
        </p:txBody>
      </p:sp>
      <p:sp>
        <p:nvSpPr>
          <p:cNvPr id="235" name="Shape 235"/>
          <p:cNvSpPr/>
          <p:nvPr>
            <p:ph type="body" sz="quarter" idx="1"/>
          </p:nvPr>
        </p:nvSpPr>
        <p:spPr>
          <a:prstGeom prst="rect">
            <a:avLst/>
          </a:prstGeom>
        </p:spPr>
        <p:txBody>
          <a:bodyPr/>
          <a:lstStyle>
            <a:lvl1pPr>
              <a:defRPr sz="1600"/>
            </a:lvl1pPr>
          </a:lstStyle>
          <a:p>
            <a:pPr/>
            <a:r>
              <a:t>Nakon toga, svaki puta kada pošaljemo prompt, radi se semantičko pretraživanje -&gt; LLM (koji može vektorizirati stvari) pronalazi slične chunkove. Kada LLM pronađe rezultat, slijedi umetanje u kontekst (feeding the LLM).</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9" name="Shape 269"/>
          <p:cNvSpPr/>
          <p:nvPr>
            <p:ph type="sldImg"/>
          </p:nvPr>
        </p:nvSpPr>
        <p:spPr>
          <a:prstGeom prst="rect">
            <a:avLst/>
          </a:prstGeom>
        </p:spPr>
        <p:txBody>
          <a:bodyPr/>
          <a:lstStyle/>
          <a:p>
            <a:pPr/>
          </a:p>
        </p:txBody>
      </p:sp>
      <p:sp>
        <p:nvSpPr>
          <p:cNvPr id="270" name="Shape 270"/>
          <p:cNvSpPr/>
          <p:nvPr>
            <p:ph type="body" sz="quarter" idx="1"/>
          </p:nvPr>
        </p:nvSpPr>
        <p:spPr>
          <a:prstGeom prst="rect">
            <a:avLst/>
          </a:prstGeom>
        </p:spPr>
        <p:txBody>
          <a:bodyPr/>
          <a:lstStyle>
            <a:lvl1pPr>
              <a:defRPr sz="1600"/>
            </a:lvl1pPr>
          </a:lstStyle>
          <a:p>
            <a:pPr/>
            <a:r>
              <a:t>To je vrlo moćan koncept, ali moramo biti svjesni da će kvaliteta rezultata pretraživanja odgovarat semantičkoj strukturi našeg codebasea, organizaciji komponenti, i slično. Drugim riječima, loša struktura rezultira lošim rezultatima.</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0" name="Shape 280"/>
          <p:cNvSpPr/>
          <p:nvPr>
            <p:ph type="sldImg"/>
          </p:nvPr>
        </p:nvSpPr>
        <p:spPr>
          <a:prstGeom prst="rect">
            <a:avLst/>
          </a:prstGeom>
        </p:spPr>
        <p:txBody>
          <a:bodyPr/>
          <a:lstStyle/>
          <a:p>
            <a:pPr/>
          </a:p>
        </p:txBody>
      </p:sp>
      <p:sp>
        <p:nvSpPr>
          <p:cNvPr id="281" name="Shape 281"/>
          <p:cNvSpPr/>
          <p:nvPr>
            <p:ph type="body" sz="quarter" idx="1"/>
          </p:nvPr>
        </p:nvSpPr>
        <p:spPr>
          <a:prstGeom prst="rect">
            <a:avLst/>
          </a:prstGeom>
        </p:spPr>
        <p:txBody>
          <a:bodyPr/>
          <a:lstStyle>
            <a:lvl1pPr>
              <a:defRPr sz="1600"/>
            </a:lvl1pPr>
          </a:lstStyle>
          <a:p>
            <a:pPr/>
            <a:r>
              <a:t>S druge strane, Claude Code koristi malo drugačiji pristup, a to je agentic search. Tu nema indeksiranja codebasea već se sve pretražuje po potrebi, kao što to developer radi. Claude Code ima svoj “agentic loop”, dakle petlju koja se stalno izvodi i izgleda nekako ovako. Ovdje su najbitniji koraci 4. i 5. gdje LLM zapravo u kompleksnijim zadacima mora nekoliko puta ići u dubinu ne bi li došao do onog dijela koji mu je bitan. Bitno je napomenuti da može i spawnat sub-agente koji će onda paralelno istraživati.</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4" name="Shape 294"/>
          <p:cNvSpPr/>
          <p:nvPr>
            <p:ph type="sldImg"/>
          </p:nvPr>
        </p:nvSpPr>
        <p:spPr>
          <a:prstGeom prst="rect">
            <a:avLst/>
          </a:prstGeom>
        </p:spPr>
        <p:txBody>
          <a:bodyPr/>
          <a:lstStyle/>
          <a:p>
            <a:pPr/>
          </a:p>
        </p:txBody>
      </p:sp>
      <p:sp>
        <p:nvSpPr>
          <p:cNvPr id="295" name="Shape 295"/>
          <p:cNvSpPr/>
          <p:nvPr>
            <p:ph type="body" sz="quarter" idx="1"/>
          </p:nvPr>
        </p:nvSpPr>
        <p:spPr>
          <a:prstGeom prst="rect">
            <a:avLst/>
          </a:prstGeom>
        </p:spPr>
        <p:txBody>
          <a:bodyPr/>
          <a:lstStyle>
            <a:lvl1pPr>
              <a:defRPr sz="1600"/>
            </a:lvl1pPr>
          </a:lstStyle>
          <a:p>
            <a:pPr/>
            <a:r>
              <a:t>Možemo zaključiti da nista kohezija u ovom slučaju zapravo rezultira bržim punjenjem konteksta, a samim time i većom potrošnjom tokena.</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xfrm>
            <a:off x="457200" y="274638"/>
            <a:ext cx="8229600" cy="1143001"/>
          </a:xfrm>
          <a:prstGeom prst="rect">
            <a:avLst/>
          </a:prstGeom>
        </p:spPr>
        <p:txBody>
          <a:bodyPr/>
          <a:lstStyle/>
          <a:p>
            <a:pPr/>
            <a:r>
              <a:t>Title Text</a:t>
            </a:r>
          </a:p>
        </p:txBody>
      </p:sp>
      <p:sp>
        <p:nvSpPr>
          <p:cNvPr id="21" name="Body Level One…"/>
          <p:cNvSpPr txBox="1"/>
          <p:nvPr>
            <p:ph type="body" idx="1"/>
          </p:nvPr>
        </p:nvSpPr>
        <p:spPr>
          <a:xfrm>
            <a:off x="457200" y="1600200"/>
            <a:ext cx="8229600" cy="452596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xfrm>
            <a:off x="457200" y="274638"/>
            <a:ext cx="8229600" cy="1143001"/>
          </a:xfrm>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457200" y="274638"/>
            <a:ext cx="8229600" cy="1143001"/>
          </a:xfrm>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xfrm>
            <a:off x="457200" y="274638"/>
            <a:ext cx="8229600" cy="1143001"/>
          </a:xfrm>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sz="half"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F172A"/>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5pPr>
      <a:lvl6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6pPr>
      <a:lvl7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7pPr>
      <a:lvl8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8pPr>
      <a:lvl9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Rectangle 1"/>
          <p:cNvSpPr/>
          <p:nvPr/>
        </p:nvSpPr>
        <p:spPr>
          <a:xfrm>
            <a:off x="640080" y="640080"/>
            <a:ext cx="548641" cy="45721"/>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95" name="TextBox 2"/>
          <p:cNvSpPr txBox="1"/>
          <p:nvPr/>
        </p:nvSpPr>
        <p:spPr>
          <a:xfrm>
            <a:off x="640080" y="822960"/>
            <a:ext cx="109728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888888"/>
                </a:solidFill>
                <a:latin typeface="Inter Bold"/>
                <a:ea typeface="Inter Bold"/>
                <a:cs typeface="Inter Bold"/>
                <a:sym typeface="Inter Bold"/>
              </a:defRPr>
            </a:lvl1pPr>
          </a:lstStyle>
          <a:p>
            <a:pPr/>
            <a:r>
              <a:t>PRESENTATION</a:t>
            </a:r>
          </a:p>
        </p:txBody>
      </p:sp>
      <p:sp>
        <p:nvSpPr>
          <p:cNvPr id="96" name="TextBox 3"/>
          <p:cNvSpPr txBox="1"/>
          <p:nvPr/>
        </p:nvSpPr>
        <p:spPr>
          <a:xfrm>
            <a:off x="640080" y="2377439"/>
            <a:ext cx="10972801" cy="20046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6400">
                <a:solidFill>
                  <a:srgbClr val="F2F2F2"/>
                </a:solidFill>
                <a:latin typeface="Inter Bold"/>
                <a:ea typeface="Inter Bold"/>
                <a:cs typeface="Inter Bold"/>
                <a:sym typeface="Inter Bold"/>
              </a:defRPr>
            </a:pPr>
            <a:r>
              <a:t>Frontend arhitektura</a:t>
            </a:r>
          </a:p>
          <a:p>
            <a:pPr>
              <a:lnSpc>
                <a:spcPct val="104999"/>
              </a:lnSpc>
              <a:defRPr sz="6400">
                <a:solidFill>
                  <a:srgbClr val="F2F2F2"/>
                </a:solidFill>
                <a:latin typeface="Inter Bold"/>
                <a:ea typeface="Inter Bold"/>
                <a:cs typeface="Inter Bold"/>
                <a:sym typeface="Inter Bold"/>
              </a:defRPr>
            </a:pPr>
            <a:r>
              <a:t>kakvu </a:t>
            </a:r>
            <a:r>
              <a:rPr>
                <a:solidFill>
                  <a:srgbClr val="00D4FF"/>
                </a:solidFill>
              </a:rPr>
              <a:t>AI</a:t>
            </a:r>
            <a:r>
              <a:t> razumije</a:t>
            </a:r>
          </a:p>
        </p:txBody>
      </p:sp>
      <p:sp>
        <p:nvSpPr>
          <p:cNvPr id="97" name="Rectangle 4"/>
          <p:cNvSpPr/>
          <p:nvPr/>
        </p:nvSpPr>
        <p:spPr>
          <a:xfrm>
            <a:off x="640080" y="6035040"/>
            <a:ext cx="10972801" cy="18289"/>
          </a:xfrm>
          <a:prstGeom prst="rect">
            <a:avLst/>
          </a:prstGeom>
          <a:solidFill>
            <a:srgbClr val="333333"/>
          </a:solidFill>
          <a:ln w="12700">
            <a:miter lim="400000"/>
          </a:ln>
        </p:spPr>
        <p:txBody>
          <a:bodyPr lIns="45719" rIns="45719" anchor="ctr"/>
          <a:lstStyle/>
          <a:p>
            <a:pPr algn="ctr">
              <a:defRPr>
                <a:solidFill>
                  <a:srgbClr val="FFFFFF"/>
                </a:solidFill>
              </a:defRPr>
            </a:pPr>
          </a:p>
        </p:txBody>
      </p:sp>
      <p:sp>
        <p:nvSpPr>
          <p:cNvPr id="98" name="TextBox 5"/>
          <p:cNvSpPr txBox="1"/>
          <p:nvPr/>
        </p:nvSpPr>
        <p:spPr>
          <a:xfrm>
            <a:off x="640080" y="6126479"/>
            <a:ext cx="109728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888888"/>
                </a:solidFill>
                <a:latin typeface="Inter Regular"/>
                <a:ea typeface="Inter Regular"/>
                <a:cs typeface="Inter Regular"/>
                <a:sym typeface="Inter Regular"/>
              </a:defRPr>
            </a:lvl1pPr>
          </a:lstStyle>
          <a:p>
            <a:pPr/>
            <a:r>
              <a:t>Dark Tech</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TextBox 1"/>
          <p:cNvSpPr txBox="1"/>
          <p:nvPr/>
        </p:nvSpPr>
        <p:spPr>
          <a:xfrm>
            <a:off x="914399" y="1828800"/>
            <a:ext cx="10360154"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888888"/>
                </a:solidFill>
                <a:latin typeface="Inter Regular"/>
                <a:ea typeface="Inter Regular"/>
                <a:cs typeface="Inter Regular"/>
                <a:sym typeface="Inter Regular"/>
              </a:defRPr>
            </a:lvl1pPr>
          </a:lstStyle>
          <a:p>
            <a:pPr/>
            <a:r>
              <a:t>Koliko puta ste čuli ovu rečenicu?</a:t>
            </a:r>
          </a:p>
        </p:txBody>
      </p:sp>
      <p:sp>
        <p:nvSpPr>
          <p:cNvPr id="101" name="TextBox 2"/>
          <p:cNvSpPr txBox="1"/>
          <p:nvPr/>
        </p:nvSpPr>
        <p:spPr>
          <a:xfrm>
            <a:off x="1097279" y="2468879"/>
            <a:ext cx="9994394" cy="18745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ct val="130000"/>
              </a:lnSpc>
              <a:defRPr sz="3400">
                <a:solidFill>
                  <a:srgbClr val="F2F2F2"/>
                </a:solidFill>
                <a:latin typeface="Inter Bold"/>
                <a:ea typeface="Inter Bold"/>
                <a:cs typeface="Inter Bold"/>
                <a:sym typeface="Inter Bold"/>
              </a:defRPr>
            </a:pPr>
            <a:r>
              <a:t>“Napisao sam detaljni plan implementacije za Claude-a. Prvih par koraka - sve divno i krasno. Nakon toga, </a:t>
            </a:r>
            <a:r>
              <a:rPr>
                <a:solidFill>
                  <a:srgbClr val="FF4757"/>
                </a:solidFill>
              </a:rPr>
              <a:t>počeo se gubiti.</a:t>
            </a:r>
            <a:r>
              <a: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05" name="top.png" descr="top.png"/>
          <p:cNvPicPr>
            <a:picLocks noChangeAspect="1"/>
          </p:cNvPicPr>
          <p:nvPr/>
        </p:nvPicPr>
        <p:blipFill>
          <a:blip r:embed="rId2">
            <a:extLst/>
          </a:blip>
          <a:stretch>
            <a:fillRect/>
          </a:stretch>
        </p:blipFill>
        <p:spPr>
          <a:xfrm>
            <a:off x="2866011" y="0"/>
            <a:ext cx="6447278" cy="6858001"/>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TextBox 1"/>
          <p:cNvSpPr txBox="1"/>
          <p:nvPr/>
        </p:nvSpPr>
        <p:spPr>
          <a:xfrm>
            <a:off x="914399" y="1828800"/>
            <a:ext cx="10360154"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888888"/>
                </a:solidFill>
                <a:latin typeface="Inter Regular"/>
                <a:ea typeface="Inter Regular"/>
                <a:cs typeface="Inter Regular"/>
                <a:sym typeface="Inter Regular"/>
              </a:defRPr>
            </a:lvl1pPr>
          </a:lstStyle>
          <a:p>
            <a:pPr/>
            <a:r>
              <a:t>Ili ovu rečenicu:</a:t>
            </a:r>
          </a:p>
        </p:txBody>
      </p:sp>
      <p:sp>
        <p:nvSpPr>
          <p:cNvPr id="108" name="TextBox 2"/>
          <p:cNvSpPr txBox="1"/>
          <p:nvPr/>
        </p:nvSpPr>
        <p:spPr>
          <a:xfrm>
            <a:off x="1595832" y="2491739"/>
            <a:ext cx="8987637" cy="18745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ct val="130000"/>
              </a:lnSpc>
              <a:defRPr sz="3400">
                <a:solidFill>
                  <a:srgbClr val="F2F2F2"/>
                </a:solidFill>
                <a:latin typeface="Inter Bold"/>
                <a:ea typeface="Inter Bold"/>
                <a:cs typeface="Inter Bold"/>
                <a:sym typeface="Inter Bold"/>
              </a:defRPr>
            </a:pPr>
            <a:r>
              <a:t>“Codex radi odlično na mojem mini projektu, ali je </a:t>
            </a:r>
            <a:r>
              <a:rPr>
                <a:solidFill>
                  <a:srgbClr val="FF4757"/>
                </a:solidFill>
              </a:rPr>
              <a:t>beskoristan</a:t>
            </a:r>
            <a:r>
              <a:t> u našem produkcijskom kodu.”</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Gdje AI zapinje</a:t>
            </a:r>
          </a:p>
        </p:txBody>
      </p:sp>
      <p:sp>
        <p:nvSpPr>
          <p:cNvPr id="113" name="Rectangle 2"/>
          <p:cNvSpPr/>
          <p:nvPr/>
        </p:nvSpPr>
        <p:spPr>
          <a:xfrm>
            <a:off x="640080" y="1280160"/>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114" name="TextBox 3"/>
          <p:cNvSpPr txBox="1"/>
          <p:nvPr/>
        </p:nvSpPr>
        <p:spPr>
          <a:xfrm>
            <a:off x="640079" y="2103120"/>
            <a:ext cx="10908794" cy="7670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0000"/>
              </a:lnSpc>
              <a:defRPr sz="2200">
                <a:solidFill>
                  <a:srgbClr val="F2F2F2"/>
                </a:solidFill>
                <a:latin typeface="Inter Regular"/>
                <a:ea typeface="Inter Regular"/>
                <a:cs typeface="Inter Regular"/>
                <a:sym typeface="Inter Regular"/>
              </a:defRPr>
            </a:pPr>
            <a:r>
              <a:t>AI asistenti su </a:t>
            </a:r>
            <a:r>
              <a:rPr>
                <a:solidFill>
                  <a:srgbClr val="2ED573"/>
                </a:solidFill>
                <a:latin typeface="Inter Bold"/>
                <a:ea typeface="Inter Bold"/>
                <a:cs typeface="Inter Bold"/>
                <a:sym typeface="Inter Bold"/>
              </a:rPr>
              <a:t>stvarno sjajni</a:t>
            </a:r>
            <a:r>
              <a:t> u pisanju koda.</a:t>
            </a:r>
          </a:p>
          <a:p>
            <a:pPr>
              <a:lnSpc>
                <a:spcPct val="140000"/>
              </a:lnSpc>
              <a:spcBef>
                <a:spcPts val="400"/>
              </a:spcBef>
              <a:defRPr sz="1600">
                <a:solidFill>
                  <a:srgbClr val="888888"/>
                </a:solidFill>
                <a:latin typeface="Inter Regular"/>
                <a:ea typeface="Inter Regular"/>
                <a:cs typeface="Inter Regular"/>
                <a:sym typeface="Inter Regular"/>
              </a:defRPr>
            </a:pPr>
            <a:r>
              <a:t>Generiraj funkciju, napiši regex, složi boilerplate - mačji kašalj.</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Gdje AI zapinje</a:t>
            </a:r>
          </a:p>
        </p:txBody>
      </p:sp>
      <p:sp>
        <p:nvSpPr>
          <p:cNvPr id="119" name="Rectangle 2"/>
          <p:cNvSpPr/>
          <p:nvPr/>
        </p:nvSpPr>
        <p:spPr>
          <a:xfrm>
            <a:off x="640080" y="1280160"/>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120" name="TextBox 3"/>
          <p:cNvSpPr txBox="1"/>
          <p:nvPr/>
        </p:nvSpPr>
        <p:spPr>
          <a:xfrm>
            <a:off x="640079" y="2103120"/>
            <a:ext cx="10908794" cy="14274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0000"/>
              </a:lnSpc>
              <a:defRPr sz="2200">
                <a:solidFill>
                  <a:srgbClr val="F2F2F2"/>
                </a:solidFill>
                <a:latin typeface="Inter Regular"/>
                <a:ea typeface="Inter Regular"/>
                <a:cs typeface="Inter Regular"/>
                <a:sym typeface="Inter Regular"/>
              </a:defRPr>
            </a:pPr>
            <a:r>
              <a:t>AI asistenti su </a:t>
            </a:r>
            <a:r>
              <a:rPr>
                <a:solidFill>
                  <a:srgbClr val="2ED573"/>
                </a:solidFill>
                <a:latin typeface="Inter Bold"/>
                <a:ea typeface="Inter Bold"/>
                <a:cs typeface="Inter Bold"/>
                <a:sym typeface="Inter Bold"/>
              </a:rPr>
              <a:t>stvarno sjajni</a:t>
            </a:r>
            <a:r>
              <a:t> u pisanju koda.</a:t>
            </a:r>
          </a:p>
          <a:p>
            <a:pPr>
              <a:lnSpc>
                <a:spcPct val="140000"/>
              </a:lnSpc>
              <a:spcBef>
                <a:spcPts val="400"/>
              </a:spcBef>
              <a:defRPr sz="1600">
                <a:solidFill>
                  <a:srgbClr val="888888"/>
                </a:solidFill>
                <a:latin typeface="Inter Regular"/>
                <a:ea typeface="Inter Regular"/>
                <a:cs typeface="Inter Regular"/>
                <a:sym typeface="Inter Regular"/>
              </a:defRPr>
            </a:pPr>
            <a:r>
              <a:t>Generiraj funkciju, napiši regex, složi boilerplate - mačji kašalj.</a:t>
            </a:r>
          </a:p>
          <a:p>
            <a:pPr>
              <a:lnSpc>
                <a:spcPct val="140000"/>
              </a:lnSpc>
              <a:spcBef>
                <a:spcPts val="1800"/>
              </a:spcBef>
              <a:defRPr sz="2200">
                <a:solidFill>
                  <a:srgbClr val="F2F2F2"/>
                </a:solidFill>
                <a:latin typeface="Inter Regular"/>
                <a:ea typeface="Inter Regular"/>
                <a:cs typeface="Inter Regular"/>
                <a:sym typeface="Inter Regular"/>
              </a:defRPr>
            </a:pPr>
            <a:r>
              <a:t>No, što je zadatak veći to AI-ju postaje </a:t>
            </a:r>
            <a:r>
              <a:rPr>
                <a:solidFill>
                  <a:srgbClr val="FF4757"/>
                </a:solidFill>
                <a:latin typeface="Inter Bold"/>
                <a:ea typeface="Inter Bold"/>
                <a:cs typeface="Inter Bold"/>
                <a:sym typeface="Inter Bold"/>
              </a:rPr>
              <a:t>sve teže</a:t>
            </a:r>
            <a:r>
              <a:t> pomoći:</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Gdje AI zapinje</a:t>
            </a:r>
          </a:p>
        </p:txBody>
      </p:sp>
      <p:sp>
        <p:nvSpPr>
          <p:cNvPr id="125" name="Rectangle 2"/>
          <p:cNvSpPr/>
          <p:nvPr/>
        </p:nvSpPr>
        <p:spPr>
          <a:xfrm>
            <a:off x="640080" y="1280160"/>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126" name="TextBox 3"/>
          <p:cNvSpPr txBox="1"/>
          <p:nvPr/>
        </p:nvSpPr>
        <p:spPr>
          <a:xfrm>
            <a:off x="640079" y="2103120"/>
            <a:ext cx="10908794" cy="14274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0000"/>
              </a:lnSpc>
              <a:defRPr sz="2200">
                <a:solidFill>
                  <a:srgbClr val="F2F2F2"/>
                </a:solidFill>
                <a:latin typeface="Inter Regular"/>
                <a:ea typeface="Inter Regular"/>
                <a:cs typeface="Inter Regular"/>
                <a:sym typeface="Inter Regular"/>
              </a:defRPr>
            </a:pPr>
            <a:r>
              <a:t>AI asistenti su </a:t>
            </a:r>
            <a:r>
              <a:rPr>
                <a:solidFill>
                  <a:srgbClr val="2ED573"/>
                </a:solidFill>
                <a:latin typeface="Inter Bold"/>
                <a:ea typeface="Inter Bold"/>
                <a:cs typeface="Inter Bold"/>
                <a:sym typeface="Inter Bold"/>
              </a:rPr>
              <a:t>stvarno sjajni</a:t>
            </a:r>
            <a:r>
              <a:t> u pisanju koda.</a:t>
            </a:r>
          </a:p>
          <a:p>
            <a:pPr>
              <a:lnSpc>
                <a:spcPct val="140000"/>
              </a:lnSpc>
              <a:spcBef>
                <a:spcPts val="400"/>
              </a:spcBef>
              <a:defRPr sz="1600">
                <a:solidFill>
                  <a:srgbClr val="888888"/>
                </a:solidFill>
                <a:latin typeface="Inter Regular"/>
                <a:ea typeface="Inter Regular"/>
                <a:cs typeface="Inter Regular"/>
                <a:sym typeface="Inter Regular"/>
              </a:defRPr>
            </a:pPr>
            <a:r>
              <a:t>Generiraj funkciju, napiši regex, složi boilerplate - mačji kašalj.</a:t>
            </a:r>
          </a:p>
          <a:p>
            <a:pPr>
              <a:lnSpc>
                <a:spcPct val="140000"/>
              </a:lnSpc>
              <a:spcBef>
                <a:spcPts val="1800"/>
              </a:spcBef>
              <a:defRPr sz="2200">
                <a:solidFill>
                  <a:srgbClr val="F2F2F2"/>
                </a:solidFill>
                <a:latin typeface="Inter Regular"/>
                <a:ea typeface="Inter Regular"/>
                <a:cs typeface="Inter Regular"/>
                <a:sym typeface="Inter Regular"/>
              </a:defRPr>
            </a:pPr>
            <a:r>
              <a:t>No, što je zadatak veći to AI-ju postaje </a:t>
            </a:r>
            <a:r>
              <a:rPr>
                <a:solidFill>
                  <a:srgbClr val="FF4757"/>
                </a:solidFill>
                <a:latin typeface="Inter Bold"/>
                <a:ea typeface="Inter Bold"/>
                <a:cs typeface="Inter Bold"/>
                <a:sym typeface="Inter Bold"/>
              </a:rPr>
              <a:t>sve teže</a:t>
            </a:r>
            <a:r>
              <a:t> pomoći:</a:t>
            </a:r>
          </a:p>
        </p:txBody>
      </p:sp>
      <p:sp>
        <p:nvSpPr>
          <p:cNvPr id="127" name="Rounded Rectangle 4"/>
          <p:cNvSpPr/>
          <p:nvPr/>
        </p:nvSpPr>
        <p:spPr>
          <a:xfrm>
            <a:off x="640080" y="4937759"/>
            <a:ext cx="10972801" cy="1005841"/>
          </a:xfrm>
          <a:prstGeom prst="roundRect">
            <a:avLst>
              <a:gd name="adj" fmla="val 6000"/>
            </a:avLst>
          </a:prstGeom>
          <a:solidFill>
            <a:srgbClr val="0E3A47"/>
          </a:solidFill>
          <a:ln w="12700">
            <a:miter lim="400000"/>
          </a:ln>
        </p:spPr>
        <p:txBody>
          <a:bodyPr lIns="45719" rIns="45719" anchor="ctr"/>
          <a:lstStyle/>
          <a:p>
            <a:pPr algn="ctr">
              <a:defRPr>
                <a:solidFill>
                  <a:srgbClr val="FFFFFF"/>
                </a:solidFill>
              </a:defRPr>
            </a:pPr>
          </a:p>
        </p:txBody>
      </p:sp>
      <p:sp>
        <p:nvSpPr>
          <p:cNvPr id="128" name="Rectangle 5"/>
          <p:cNvSpPr/>
          <p:nvPr/>
        </p:nvSpPr>
        <p:spPr>
          <a:xfrm>
            <a:off x="640080" y="4937759"/>
            <a:ext cx="54865" cy="1005840"/>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129" name="TextBox 6"/>
          <p:cNvSpPr txBox="1"/>
          <p:nvPr/>
        </p:nvSpPr>
        <p:spPr>
          <a:xfrm>
            <a:off x="868679" y="5315711"/>
            <a:ext cx="10607042"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sz="2000">
                <a:solidFill>
                  <a:srgbClr val="F2F2F2"/>
                </a:solidFill>
                <a:latin typeface="Inter Regular"/>
                <a:ea typeface="Inter Regular"/>
                <a:cs typeface="Inter Regular"/>
                <a:sym typeface="Inter Regular"/>
              </a:defRPr>
            </a:pPr>
            <a:r>
              <a:t>Razlog za to je jednostavan: </a:t>
            </a:r>
            <a:r>
              <a:rPr>
                <a:solidFill>
                  <a:srgbClr val="00D4FF"/>
                </a:solidFill>
                <a:latin typeface="Inter Bold"/>
                <a:ea typeface="Inter Bold"/>
                <a:cs typeface="Inter Bold"/>
                <a:sym typeface="Inter Bold"/>
              </a:rPr>
              <a:t>kontekst.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3600">
                <a:solidFill>
                  <a:srgbClr val="F2F2F2"/>
                </a:solidFill>
                <a:latin typeface="Inter Bold"/>
                <a:ea typeface="Inter Bold"/>
                <a:cs typeface="Inter Bold"/>
                <a:sym typeface="Inter Bold"/>
              </a:defRPr>
            </a:pPr>
            <a:r>
              <a:t>Što je </a:t>
            </a:r>
            <a:r>
              <a:rPr>
                <a:solidFill>
                  <a:srgbClr val="00D4FF"/>
                </a:solidFill>
              </a:rPr>
              <a:t>“kontekst”</a:t>
            </a:r>
            <a:r>
              <a:t> u LLM smislu?</a:t>
            </a:r>
          </a:p>
        </p:txBody>
      </p:sp>
      <p:sp>
        <p:nvSpPr>
          <p:cNvPr id="134" name="Rectangle 2"/>
          <p:cNvSpPr/>
          <p:nvPr/>
        </p:nvSpPr>
        <p:spPr>
          <a:xfrm>
            <a:off x="640080" y="1280160"/>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135" name="TextBox 3"/>
          <p:cNvSpPr txBox="1"/>
          <p:nvPr/>
        </p:nvSpPr>
        <p:spPr>
          <a:xfrm>
            <a:off x="640079" y="2103120"/>
            <a:ext cx="9701615"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50000"/>
              </a:lnSpc>
              <a:defRPr sz="2000">
                <a:solidFill>
                  <a:srgbClr val="00D4FF"/>
                </a:solidFill>
                <a:latin typeface="Inter Bold"/>
                <a:ea typeface="Inter Bold"/>
                <a:cs typeface="Inter Bold"/>
                <a:sym typeface="Inter Bold"/>
              </a:defRPr>
            </a:pPr>
            <a:r>
              <a:t>Kontekst</a:t>
            </a:r>
            <a:r>
              <a:rPr>
                <a:solidFill>
                  <a:srgbClr val="F2F2F2"/>
                </a:solidFill>
                <a:latin typeface="Inter Regular"/>
                <a:ea typeface="Inter Regular"/>
                <a:cs typeface="Inter Regular"/>
                <a:sym typeface="Inter Regular"/>
              </a:rPr>
              <a:t> se odnosi na skup tokena koji su uključeni u proces generiranja (samplinga) iz LLM-a.</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3600">
                <a:solidFill>
                  <a:srgbClr val="F2F2F2"/>
                </a:solidFill>
                <a:latin typeface="Inter Bold"/>
                <a:ea typeface="Inter Bold"/>
                <a:cs typeface="Inter Bold"/>
                <a:sym typeface="Inter Bold"/>
              </a:defRPr>
            </a:pPr>
            <a:r>
              <a:t>Što je </a:t>
            </a:r>
            <a:r>
              <a:rPr>
                <a:solidFill>
                  <a:srgbClr val="00D4FF"/>
                </a:solidFill>
              </a:rPr>
              <a:t>“kontekst”</a:t>
            </a:r>
            <a:r>
              <a:t> u LLM smislu?</a:t>
            </a:r>
          </a:p>
        </p:txBody>
      </p:sp>
      <p:sp>
        <p:nvSpPr>
          <p:cNvPr id="140" name="Rectangle 2"/>
          <p:cNvSpPr/>
          <p:nvPr/>
        </p:nvSpPr>
        <p:spPr>
          <a:xfrm>
            <a:off x="640080" y="1280160"/>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141" name="TextBox 3"/>
          <p:cNvSpPr txBox="1"/>
          <p:nvPr/>
        </p:nvSpPr>
        <p:spPr>
          <a:xfrm>
            <a:off x="640079" y="2103120"/>
            <a:ext cx="9701615" cy="1854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50000"/>
              </a:lnSpc>
              <a:defRPr sz="2000">
                <a:solidFill>
                  <a:srgbClr val="00D4FF"/>
                </a:solidFill>
                <a:latin typeface="Inter Bold"/>
                <a:ea typeface="Inter Bold"/>
                <a:cs typeface="Inter Bold"/>
                <a:sym typeface="Inter Bold"/>
              </a:defRPr>
            </a:pPr>
            <a:r>
              <a:t>Kontekst</a:t>
            </a:r>
            <a:r>
              <a:rPr>
                <a:solidFill>
                  <a:srgbClr val="F2F2F2"/>
                </a:solidFill>
                <a:latin typeface="Inter Regular"/>
                <a:ea typeface="Inter Regular"/>
                <a:cs typeface="Inter Regular"/>
                <a:sym typeface="Inter Regular"/>
              </a:rPr>
              <a:t> se odnosi na skup tokena koji su uključeni u proces generiranja (samplinga) iz LLM-a.</a:t>
            </a:r>
            <a:endParaRPr>
              <a:solidFill>
                <a:srgbClr val="F2F2F2"/>
              </a:solidFill>
              <a:latin typeface="Inter Regular"/>
              <a:ea typeface="Inter Regular"/>
              <a:cs typeface="Inter Regular"/>
              <a:sym typeface="Inter Regular"/>
            </a:endParaRPr>
          </a:p>
          <a:p>
            <a:pPr>
              <a:lnSpc>
                <a:spcPct val="150000"/>
              </a:lnSpc>
              <a:spcBef>
                <a:spcPts val="1400"/>
              </a:spcBef>
              <a:defRPr sz="2000">
                <a:solidFill>
                  <a:srgbClr val="F2F2F2"/>
                </a:solidFill>
                <a:latin typeface="Inter Regular"/>
                <a:ea typeface="Inter Regular"/>
                <a:cs typeface="Inter Regular"/>
                <a:sym typeface="Inter Regular"/>
              </a:defRPr>
            </a:pPr>
            <a:r>
              <a:t>Drugim riječima, sve što model može vidjeti kada generira odgovor - tvoj prompt, otvorene datoteke, struktura projekta itd.</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3600">
                <a:solidFill>
                  <a:srgbClr val="F2F2F2"/>
                </a:solidFill>
                <a:latin typeface="Inter Bold"/>
                <a:ea typeface="Inter Bold"/>
                <a:cs typeface="Inter Bold"/>
                <a:sym typeface="Inter Bold"/>
              </a:defRPr>
            </a:pPr>
            <a:r>
              <a:t>Što je </a:t>
            </a:r>
            <a:r>
              <a:rPr>
                <a:solidFill>
                  <a:srgbClr val="00D4FF"/>
                </a:solidFill>
              </a:rPr>
              <a:t>“kontekst”</a:t>
            </a:r>
            <a:r>
              <a:t> u LLM smislu?</a:t>
            </a:r>
          </a:p>
        </p:txBody>
      </p:sp>
      <p:sp>
        <p:nvSpPr>
          <p:cNvPr id="146" name="Rectangle 2"/>
          <p:cNvSpPr/>
          <p:nvPr/>
        </p:nvSpPr>
        <p:spPr>
          <a:xfrm>
            <a:off x="640080" y="1280160"/>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147" name="TextBox 3"/>
          <p:cNvSpPr txBox="1"/>
          <p:nvPr/>
        </p:nvSpPr>
        <p:spPr>
          <a:xfrm>
            <a:off x="640079" y="2103120"/>
            <a:ext cx="9701615" cy="1854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50000"/>
              </a:lnSpc>
              <a:defRPr sz="2000">
                <a:solidFill>
                  <a:srgbClr val="00D4FF"/>
                </a:solidFill>
                <a:latin typeface="Inter Bold"/>
                <a:ea typeface="Inter Bold"/>
                <a:cs typeface="Inter Bold"/>
                <a:sym typeface="Inter Bold"/>
              </a:defRPr>
            </a:pPr>
            <a:r>
              <a:t>Kontekst</a:t>
            </a:r>
            <a:r>
              <a:rPr>
                <a:solidFill>
                  <a:srgbClr val="F2F2F2"/>
                </a:solidFill>
                <a:latin typeface="Inter Regular"/>
                <a:ea typeface="Inter Regular"/>
                <a:cs typeface="Inter Regular"/>
                <a:sym typeface="Inter Regular"/>
              </a:rPr>
              <a:t> se odnosi na skup tokena koji su uključeni u proces generiranja (samplinga) iz LLM-a.</a:t>
            </a:r>
            <a:endParaRPr>
              <a:solidFill>
                <a:srgbClr val="F2F2F2"/>
              </a:solidFill>
              <a:latin typeface="Inter Regular"/>
              <a:ea typeface="Inter Regular"/>
              <a:cs typeface="Inter Regular"/>
              <a:sym typeface="Inter Regular"/>
            </a:endParaRPr>
          </a:p>
          <a:p>
            <a:pPr>
              <a:lnSpc>
                <a:spcPct val="150000"/>
              </a:lnSpc>
              <a:spcBef>
                <a:spcPts val="1400"/>
              </a:spcBef>
              <a:defRPr sz="2000">
                <a:solidFill>
                  <a:srgbClr val="F2F2F2"/>
                </a:solidFill>
                <a:latin typeface="Inter Regular"/>
                <a:ea typeface="Inter Regular"/>
                <a:cs typeface="Inter Regular"/>
                <a:sym typeface="Inter Regular"/>
              </a:defRPr>
            </a:pPr>
            <a:r>
              <a:t>Drugim riječima, sve što model može vidjeti kada generira odgovor - tvoj prompt, otvorene datoteke, struktura projekta itd.</a:t>
            </a:r>
          </a:p>
        </p:txBody>
      </p:sp>
      <p:sp>
        <p:nvSpPr>
          <p:cNvPr id="148" name="Rounded Rectangle 4"/>
          <p:cNvSpPr/>
          <p:nvPr/>
        </p:nvSpPr>
        <p:spPr>
          <a:xfrm>
            <a:off x="640080" y="5029200"/>
            <a:ext cx="10972801" cy="1188720"/>
          </a:xfrm>
          <a:prstGeom prst="roundRect">
            <a:avLst>
              <a:gd name="adj" fmla="val 6000"/>
            </a:avLst>
          </a:prstGeom>
          <a:solidFill>
            <a:srgbClr val="0E3A47"/>
          </a:solidFill>
          <a:ln w="12700">
            <a:miter lim="400000"/>
          </a:ln>
        </p:spPr>
        <p:txBody>
          <a:bodyPr lIns="45719" rIns="45719" anchor="ctr"/>
          <a:lstStyle/>
          <a:p>
            <a:pPr algn="ctr">
              <a:defRPr>
                <a:solidFill>
                  <a:srgbClr val="FFFFFF"/>
                </a:solidFill>
              </a:defRPr>
            </a:pPr>
          </a:p>
        </p:txBody>
      </p:sp>
      <p:sp>
        <p:nvSpPr>
          <p:cNvPr id="149" name="Rectangle 5"/>
          <p:cNvSpPr/>
          <p:nvPr/>
        </p:nvSpPr>
        <p:spPr>
          <a:xfrm>
            <a:off x="640080" y="5029200"/>
            <a:ext cx="54865" cy="1188720"/>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150" name="TextBox 6"/>
          <p:cNvSpPr txBox="1"/>
          <p:nvPr/>
        </p:nvSpPr>
        <p:spPr>
          <a:xfrm>
            <a:off x="868679" y="5517641"/>
            <a:ext cx="1060704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a:solidFill>
                  <a:srgbClr val="F2F2F2"/>
                </a:solidFill>
                <a:latin typeface="Inter Regular"/>
                <a:ea typeface="Inter Regular"/>
                <a:cs typeface="Inter Regular"/>
                <a:sym typeface="Inter Regular"/>
              </a:defRPr>
            </a:pPr>
            <a:r>
              <a:t>AI ne poznaje vaš projekt. On </a:t>
            </a:r>
            <a:r>
              <a:rPr>
                <a:solidFill>
                  <a:srgbClr val="00D4FF"/>
                </a:solidFill>
                <a:latin typeface="Inter Bold"/>
                <a:ea typeface="Inter Bold"/>
                <a:cs typeface="Inter Bold"/>
                <a:sym typeface="Inter Bold"/>
              </a:rPr>
              <a:t>čita samo ono što mu pružite</a:t>
            </a:r>
            <a:r>
              <a:t> - i to je sve čime raspolaže.</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Context Engineering</a:t>
            </a:r>
          </a:p>
        </p:txBody>
      </p:sp>
      <p:sp>
        <p:nvSpPr>
          <p:cNvPr id="155" name="Rectangle 2"/>
          <p:cNvSpPr/>
          <p:nvPr/>
        </p:nvSpPr>
        <p:spPr>
          <a:xfrm>
            <a:off x="640080" y="1280160"/>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156" name="Rounded Rectangle 3"/>
          <p:cNvSpPr/>
          <p:nvPr/>
        </p:nvSpPr>
        <p:spPr>
          <a:xfrm>
            <a:off x="640080" y="2011679"/>
            <a:ext cx="10972801" cy="1097281"/>
          </a:xfrm>
          <a:prstGeom prst="roundRect">
            <a:avLst>
              <a:gd name="adj" fmla="val 6000"/>
            </a:avLst>
          </a:prstGeom>
          <a:solidFill>
            <a:srgbClr val="0E3A47"/>
          </a:solidFill>
          <a:ln w="12700">
            <a:miter lim="400000"/>
          </a:ln>
        </p:spPr>
        <p:txBody>
          <a:bodyPr lIns="45719" rIns="45719" anchor="ctr"/>
          <a:lstStyle/>
          <a:p>
            <a:pPr algn="ctr">
              <a:defRPr>
                <a:solidFill>
                  <a:srgbClr val="FFFFFF"/>
                </a:solidFill>
              </a:defRPr>
            </a:pPr>
          </a:p>
        </p:txBody>
      </p:sp>
      <p:sp>
        <p:nvSpPr>
          <p:cNvPr id="157" name="Rectangle 4"/>
          <p:cNvSpPr/>
          <p:nvPr/>
        </p:nvSpPr>
        <p:spPr>
          <a:xfrm>
            <a:off x="640080" y="2011679"/>
            <a:ext cx="54865" cy="1097281"/>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158" name="TextBox 5"/>
          <p:cNvSpPr txBox="1"/>
          <p:nvPr/>
        </p:nvSpPr>
        <p:spPr>
          <a:xfrm>
            <a:off x="868679" y="2237231"/>
            <a:ext cx="10607042" cy="70104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sz="2000">
                <a:solidFill>
                  <a:srgbClr val="F2F2F2"/>
                </a:solidFill>
                <a:latin typeface="Inter Bold"/>
                <a:ea typeface="Inter Bold"/>
                <a:cs typeface="Inter Bold"/>
                <a:sym typeface="Inter Bold"/>
              </a:defRPr>
            </a:pPr>
            <a:r>
              <a:t>Context engineering</a:t>
            </a:r>
            <a:r>
              <a:rPr>
                <a:latin typeface="Inter Regular"/>
                <a:ea typeface="Inter Regular"/>
                <a:cs typeface="Inter Regular"/>
                <a:sym typeface="Inter Regular"/>
              </a:rPr>
              <a:t> = oblikovanje onoga što model vidi s ciljem dobivanja boljeg outputa</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Context Engineering</a:t>
            </a:r>
          </a:p>
        </p:txBody>
      </p:sp>
      <p:sp>
        <p:nvSpPr>
          <p:cNvPr id="163" name="Rectangle 2"/>
          <p:cNvSpPr/>
          <p:nvPr/>
        </p:nvSpPr>
        <p:spPr>
          <a:xfrm>
            <a:off x="640080" y="1280160"/>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164" name="Rounded Rectangle 3"/>
          <p:cNvSpPr/>
          <p:nvPr/>
        </p:nvSpPr>
        <p:spPr>
          <a:xfrm>
            <a:off x="640080" y="2011679"/>
            <a:ext cx="10972801" cy="1097281"/>
          </a:xfrm>
          <a:prstGeom prst="roundRect">
            <a:avLst>
              <a:gd name="adj" fmla="val 6000"/>
            </a:avLst>
          </a:prstGeom>
          <a:solidFill>
            <a:srgbClr val="0E3A47"/>
          </a:solidFill>
          <a:ln w="12700">
            <a:miter lim="400000"/>
          </a:ln>
        </p:spPr>
        <p:txBody>
          <a:bodyPr lIns="45719" rIns="45719" anchor="ctr"/>
          <a:lstStyle/>
          <a:p>
            <a:pPr algn="ctr">
              <a:defRPr>
                <a:solidFill>
                  <a:srgbClr val="FFFFFF"/>
                </a:solidFill>
              </a:defRPr>
            </a:pPr>
          </a:p>
        </p:txBody>
      </p:sp>
      <p:sp>
        <p:nvSpPr>
          <p:cNvPr id="165" name="Rectangle 4"/>
          <p:cNvSpPr/>
          <p:nvPr/>
        </p:nvSpPr>
        <p:spPr>
          <a:xfrm>
            <a:off x="640080" y="2011679"/>
            <a:ext cx="54865" cy="1097281"/>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166" name="TextBox 5"/>
          <p:cNvSpPr txBox="1"/>
          <p:nvPr/>
        </p:nvSpPr>
        <p:spPr>
          <a:xfrm>
            <a:off x="868679" y="2237231"/>
            <a:ext cx="10607042" cy="70104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sz="2000">
                <a:solidFill>
                  <a:srgbClr val="F2F2F2"/>
                </a:solidFill>
                <a:latin typeface="Inter Bold"/>
                <a:ea typeface="Inter Bold"/>
                <a:cs typeface="Inter Bold"/>
                <a:sym typeface="Inter Bold"/>
              </a:defRPr>
            </a:pPr>
            <a:r>
              <a:t>Context engineering</a:t>
            </a:r>
            <a:r>
              <a:rPr>
                <a:latin typeface="Inter Regular"/>
                <a:ea typeface="Inter Regular"/>
                <a:cs typeface="Inter Regular"/>
                <a:sym typeface="Inter Regular"/>
              </a:rPr>
              <a:t> = oblikovanje onoga što model vidi s ciljem dobivanja boljeg outputa</a:t>
            </a:r>
          </a:p>
        </p:txBody>
      </p:sp>
      <p:sp>
        <p:nvSpPr>
          <p:cNvPr id="167" name="TextBox 6"/>
          <p:cNvSpPr txBox="1"/>
          <p:nvPr/>
        </p:nvSpPr>
        <p:spPr>
          <a:xfrm>
            <a:off x="640079" y="3383279"/>
            <a:ext cx="10908794"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50000"/>
              </a:lnSpc>
              <a:defRPr sz="2000">
                <a:solidFill>
                  <a:srgbClr val="F2F2F2"/>
                </a:solidFill>
                <a:latin typeface="Inter Regular"/>
                <a:ea typeface="Inter Regular"/>
                <a:cs typeface="Inter Regular"/>
                <a:sym typeface="Inter Regular"/>
              </a:defRPr>
            </a:pPr>
            <a:r>
              <a:t>Ne samo tvoj prompt - već i </a:t>
            </a:r>
            <a:r>
              <a:rPr>
                <a:solidFill>
                  <a:srgbClr val="00D4FF"/>
                </a:solidFill>
                <a:latin typeface="Inter Bold"/>
                <a:ea typeface="Inter Bold"/>
                <a:cs typeface="Inter Bold"/>
                <a:sym typeface="Inter Bold"/>
              </a:rPr>
              <a:t>programski kod</a:t>
            </a:r>
            <a:r>
              <a:t>, </a:t>
            </a:r>
            <a:r>
              <a:rPr>
                <a:solidFill>
                  <a:srgbClr val="00D4FF"/>
                </a:solidFill>
                <a:latin typeface="Inter Bold"/>
                <a:ea typeface="Inter Bold"/>
                <a:cs typeface="Inter Bold"/>
                <a:sym typeface="Inter Bold"/>
              </a:rPr>
              <a:t>struktura direktorija</a:t>
            </a:r>
            <a:r>
              <a:t>, </a:t>
            </a:r>
            <a:r>
              <a:rPr>
                <a:solidFill>
                  <a:srgbClr val="00D4FF"/>
                </a:solidFill>
                <a:latin typeface="Inter Bold"/>
                <a:ea typeface="Inter Bold"/>
                <a:cs typeface="Inter Bold"/>
                <a:sym typeface="Inter Bold"/>
              </a:rPr>
              <a:t>vanjski paketi</a:t>
            </a:r>
            <a:r>
              <a:t>, </a:t>
            </a:r>
            <a:r>
              <a:rPr>
                <a:solidFill>
                  <a:srgbClr val="00D4FF"/>
                </a:solidFill>
                <a:latin typeface="Inter Bold"/>
                <a:ea typeface="Inter Bold"/>
                <a:cs typeface="Inter Bold"/>
                <a:sym typeface="Inter Bold"/>
              </a:rPr>
              <a:t>konvencije</a:t>
            </a:r>
            <a:r>
              <a:t> itd.</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Context Engineering</a:t>
            </a:r>
          </a:p>
        </p:txBody>
      </p:sp>
      <p:sp>
        <p:nvSpPr>
          <p:cNvPr id="172" name="Rectangle 2"/>
          <p:cNvSpPr/>
          <p:nvPr/>
        </p:nvSpPr>
        <p:spPr>
          <a:xfrm>
            <a:off x="640080" y="1280160"/>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173" name="Rounded Rectangle 3"/>
          <p:cNvSpPr/>
          <p:nvPr/>
        </p:nvSpPr>
        <p:spPr>
          <a:xfrm>
            <a:off x="640080" y="2011679"/>
            <a:ext cx="10972801" cy="1097281"/>
          </a:xfrm>
          <a:prstGeom prst="roundRect">
            <a:avLst>
              <a:gd name="adj" fmla="val 6000"/>
            </a:avLst>
          </a:prstGeom>
          <a:solidFill>
            <a:srgbClr val="0E3A47"/>
          </a:solidFill>
          <a:ln w="12700">
            <a:miter lim="400000"/>
          </a:ln>
        </p:spPr>
        <p:txBody>
          <a:bodyPr lIns="45719" rIns="45719" anchor="ctr"/>
          <a:lstStyle/>
          <a:p>
            <a:pPr algn="ctr">
              <a:defRPr>
                <a:solidFill>
                  <a:srgbClr val="FFFFFF"/>
                </a:solidFill>
              </a:defRPr>
            </a:pPr>
          </a:p>
        </p:txBody>
      </p:sp>
      <p:sp>
        <p:nvSpPr>
          <p:cNvPr id="174" name="Rectangle 4"/>
          <p:cNvSpPr/>
          <p:nvPr/>
        </p:nvSpPr>
        <p:spPr>
          <a:xfrm>
            <a:off x="640080" y="2011679"/>
            <a:ext cx="54865" cy="1097281"/>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175" name="TextBox 5"/>
          <p:cNvSpPr txBox="1"/>
          <p:nvPr/>
        </p:nvSpPr>
        <p:spPr>
          <a:xfrm>
            <a:off x="868679" y="2237231"/>
            <a:ext cx="10607042" cy="70104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sz="2000">
                <a:solidFill>
                  <a:srgbClr val="F2F2F2"/>
                </a:solidFill>
                <a:latin typeface="Inter Bold"/>
                <a:ea typeface="Inter Bold"/>
                <a:cs typeface="Inter Bold"/>
                <a:sym typeface="Inter Bold"/>
              </a:defRPr>
            </a:pPr>
            <a:r>
              <a:t>Context engineering</a:t>
            </a:r>
            <a:r>
              <a:rPr>
                <a:latin typeface="Inter Regular"/>
                <a:ea typeface="Inter Regular"/>
                <a:cs typeface="Inter Regular"/>
                <a:sym typeface="Inter Regular"/>
              </a:rPr>
              <a:t> = oblikovanje onoga što model vidi s ciljem dobivanja boljeg outputa</a:t>
            </a:r>
          </a:p>
        </p:txBody>
      </p:sp>
      <p:sp>
        <p:nvSpPr>
          <p:cNvPr id="176" name="TextBox 6"/>
          <p:cNvSpPr txBox="1"/>
          <p:nvPr/>
        </p:nvSpPr>
        <p:spPr>
          <a:xfrm>
            <a:off x="640079" y="3383279"/>
            <a:ext cx="10908794" cy="144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50000"/>
              </a:lnSpc>
              <a:defRPr sz="2000">
                <a:solidFill>
                  <a:srgbClr val="F2F2F2"/>
                </a:solidFill>
                <a:latin typeface="Inter Regular"/>
                <a:ea typeface="Inter Regular"/>
                <a:cs typeface="Inter Regular"/>
                <a:sym typeface="Inter Regular"/>
              </a:defRPr>
            </a:pPr>
            <a:r>
              <a:t>Ne samo tvoj prompt - već i </a:t>
            </a:r>
            <a:r>
              <a:rPr>
                <a:solidFill>
                  <a:srgbClr val="00D4FF"/>
                </a:solidFill>
                <a:latin typeface="Inter Bold"/>
                <a:ea typeface="Inter Bold"/>
                <a:cs typeface="Inter Bold"/>
                <a:sym typeface="Inter Bold"/>
              </a:rPr>
              <a:t>programski kod</a:t>
            </a:r>
            <a:r>
              <a:t>, </a:t>
            </a:r>
            <a:r>
              <a:rPr>
                <a:solidFill>
                  <a:srgbClr val="00D4FF"/>
                </a:solidFill>
                <a:latin typeface="Inter Bold"/>
                <a:ea typeface="Inter Bold"/>
                <a:cs typeface="Inter Bold"/>
                <a:sym typeface="Inter Bold"/>
              </a:rPr>
              <a:t>struktura direktorija</a:t>
            </a:r>
            <a:r>
              <a:t>, </a:t>
            </a:r>
            <a:r>
              <a:rPr>
                <a:solidFill>
                  <a:srgbClr val="00D4FF"/>
                </a:solidFill>
                <a:latin typeface="Inter Bold"/>
                <a:ea typeface="Inter Bold"/>
                <a:cs typeface="Inter Bold"/>
                <a:sym typeface="Inter Bold"/>
              </a:rPr>
              <a:t>vanjski paketi</a:t>
            </a:r>
            <a:r>
              <a:t>, </a:t>
            </a:r>
            <a:r>
              <a:rPr>
                <a:solidFill>
                  <a:srgbClr val="00D4FF"/>
                </a:solidFill>
                <a:latin typeface="Inter Bold"/>
                <a:ea typeface="Inter Bold"/>
                <a:cs typeface="Inter Bold"/>
                <a:sym typeface="Inter Bold"/>
              </a:rPr>
              <a:t>konvencije</a:t>
            </a:r>
            <a:r>
              <a:t> itd.</a:t>
            </a:r>
          </a:p>
          <a:p>
            <a:pPr>
              <a:lnSpc>
                <a:spcPct val="150000"/>
              </a:lnSpc>
              <a:spcBef>
                <a:spcPts val="1800"/>
              </a:spcBef>
              <a:defRPr sz="2000">
                <a:solidFill>
                  <a:srgbClr val="F2F2F2"/>
                </a:solidFill>
                <a:latin typeface="Inter Regular"/>
                <a:ea typeface="Inter Regular"/>
                <a:cs typeface="Inter Regular"/>
                <a:sym typeface="Inter Regular"/>
              </a:defRPr>
            </a:pPr>
            <a:r>
              <a:t>Kvaliteta AI odgovora </a:t>
            </a:r>
            <a:r>
              <a:rPr>
                <a:solidFill>
                  <a:srgbClr val="00D4FF"/>
                </a:solidFill>
                <a:latin typeface="Inter Bold"/>
                <a:ea typeface="Inter Bold"/>
                <a:cs typeface="Inter Bold"/>
                <a:sym typeface="Inter Bold"/>
              </a:rPr>
              <a:t>ograničena je</a:t>
            </a:r>
            <a:r>
              <a:t> kvalitetom konteksta koji model prima.</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TextBox 2"/>
          <p:cNvSpPr txBox="1"/>
          <p:nvPr/>
        </p:nvSpPr>
        <p:spPr>
          <a:xfrm>
            <a:off x="1092453" y="3168650"/>
            <a:ext cx="9994394" cy="520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0000"/>
              </a:lnSpc>
              <a:defRPr sz="3400">
                <a:solidFill>
                  <a:srgbClr val="F2F2F2"/>
                </a:solidFill>
                <a:latin typeface="Inter Bold"/>
                <a:ea typeface="Inter Bold"/>
                <a:cs typeface="Inter Bold"/>
                <a:sym typeface="Inter Bold"/>
              </a:defRPr>
            </a:lvl1pPr>
          </a:lstStyle>
          <a:p>
            <a:pPr/>
            <a:r>
              <a:t>Kako točno AI “čita” naš kod? </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Pristup A: Embedding &amp; Indexing</a:t>
            </a:r>
          </a:p>
        </p:txBody>
      </p:sp>
      <p:sp>
        <p:nvSpPr>
          <p:cNvPr id="183" name="Rectangle 2"/>
          <p:cNvSpPr/>
          <p:nvPr/>
        </p:nvSpPr>
        <p:spPr>
          <a:xfrm>
            <a:off x="640080" y="1280160"/>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grpSp>
        <p:nvGrpSpPr>
          <p:cNvPr id="186" name="Rounded Rectangle 4"/>
          <p:cNvGrpSpPr/>
          <p:nvPr/>
        </p:nvGrpSpPr>
        <p:grpSpPr>
          <a:xfrm>
            <a:off x="8616075" y="686815"/>
            <a:ext cx="987553" cy="292609"/>
            <a:chOff x="0" y="0"/>
            <a:chExt cx="987552" cy="292608"/>
          </a:xfrm>
        </p:grpSpPr>
        <p:sp>
          <p:nvSpPr>
            <p:cNvPr id="184" name="Rounded Rectangle"/>
            <p:cNvSpPr/>
            <p:nvPr/>
          </p:nvSpPr>
          <p:spPr>
            <a:xfrm>
              <a:off x="0" y="0"/>
              <a:ext cx="987553" cy="292609"/>
            </a:xfrm>
            <a:prstGeom prst="roundRect">
              <a:avLst>
                <a:gd name="adj" fmla="val 50000"/>
              </a:avLst>
            </a:prstGeom>
            <a:noFill/>
            <a:ln w="9525" cap="flat">
              <a:solidFill>
                <a:srgbClr val="00D4F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85" name="Cursor"/>
            <p:cNvSpPr txBox="1"/>
            <p:nvPr/>
          </p:nvSpPr>
          <p:spPr>
            <a:xfrm>
              <a:off x="93333" y="70104"/>
              <a:ext cx="800886"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Cursor</a:t>
              </a:r>
            </a:p>
          </p:txBody>
        </p:sp>
      </p:grpSp>
      <p:grpSp>
        <p:nvGrpSpPr>
          <p:cNvPr id="189" name="Rounded Rectangle 5"/>
          <p:cNvGrpSpPr/>
          <p:nvPr/>
        </p:nvGrpSpPr>
        <p:grpSpPr>
          <a:xfrm>
            <a:off x="9676779" y="686815"/>
            <a:ext cx="1106425" cy="292609"/>
            <a:chOff x="0" y="0"/>
            <a:chExt cx="1106424" cy="292608"/>
          </a:xfrm>
        </p:grpSpPr>
        <p:sp>
          <p:nvSpPr>
            <p:cNvPr id="187" name="Rounded Rectangle"/>
            <p:cNvSpPr/>
            <p:nvPr/>
          </p:nvSpPr>
          <p:spPr>
            <a:xfrm>
              <a:off x="0" y="0"/>
              <a:ext cx="1106425" cy="292609"/>
            </a:xfrm>
            <a:prstGeom prst="roundRect">
              <a:avLst>
                <a:gd name="adj" fmla="val 50000"/>
              </a:avLst>
            </a:prstGeom>
            <a:noFill/>
            <a:ln w="9525" cap="flat">
              <a:solidFill>
                <a:srgbClr val="00D4F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88" name="Copilot"/>
            <p:cNvSpPr txBox="1"/>
            <p:nvPr/>
          </p:nvSpPr>
          <p:spPr>
            <a:xfrm>
              <a:off x="93333" y="70104"/>
              <a:ext cx="919758"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Copilot</a:t>
              </a:r>
            </a:p>
          </p:txBody>
        </p:sp>
      </p:grpSp>
      <p:grpSp>
        <p:nvGrpSpPr>
          <p:cNvPr id="192" name="Rounded Rectangle 6"/>
          <p:cNvGrpSpPr/>
          <p:nvPr/>
        </p:nvGrpSpPr>
        <p:grpSpPr>
          <a:xfrm>
            <a:off x="10856355" y="686815"/>
            <a:ext cx="749809" cy="292609"/>
            <a:chOff x="0" y="0"/>
            <a:chExt cx="749808" cy="292608"/>
          </a:xfrm>
        </p:grpSpPr>
        <p:sp>
          <p:nvSpPr>
            <p:cNvPr id="190" name="Rounded Rectangle"/>
            <p:cNvSpPr/>
            <p:nvPr/>
          </p:nvSpPr>
          <p:spPr>
            <a:xfrm>
              <a:off x="0" y="0"/>
              <a:ext cx="749809" cy="292609"/>
            </a:xfrm>
            <a:prstGeom prst="roundRect">
              <a:avLst>
                <a:gd name="adj" fmla="val 50000"/>
              </a:avLst>
            </a:prstGeom>
            <a:noFill/>
            <a:ln w="9525" cap="flat">
              <a:solidFill>
                <a:srgbClr val="00D4F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91" name="Cody"/>
            <p:cNvSpPr txBox="1"/>
            <p:nvPr/>
          </p:nvSpPr>
          <p:spPr>
            <a:xfrm>
              <a:off x="93333" y="70104"/>
              <a:ext cx="563142"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Cody</a:t>
              </a:r>
            </a:p>
          </p:txBody>
        </p:sp>
      </p:grpSp>
      <p:sp>
        <p:nvSpPr>
          <p:cNvPr id="193" name="TextBox 7"/>
          <p:cNvSpPr txBox="1"/>
          <p:nvPr/>
        </p:nvSpPr>
        <p:spPr>
          <a:xfrm>
            <a:off x="631031" y="1691530"/>
            <a:ext cx="10908793"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F2F2F2"/>
                </a:solidFill>
                <a:latin typeface="Inter Bold"/>
                <a:ea typeface="Inter Bold"/>
                <a:cs typeface="Inter Bold"/>
                <a:sym typeface="Inter Bold"/>
              </a:defRPr>
            </a:pPr>
            <a:r>
              <a:t>Korak 1.</a:t>
            </a:r>
            <a:r>
              <a:rPr>
                <a:latin typeface="Inter Regular"/>
                <a:ea typeface="Inter Regular"/>
                <a:cs typeface="Inter Regular"/>
                <a:sym typeface="Inter Regular"/>
              </a:rPr>
              <a:t> Kod otvaranja projekta, AI alat </a:t>
            </a:r>
            <a:r>
              <a:rPr>
                <a:solidFill>
                  <a:srgbClr val="00D4FF"/>
                </a:solidFill>
              </a:rPr>
              <a:t>indeksira tvoj codebase</a:t>
            </a:r>
            <a:r>
              <a:rPr>
                <a:latin typeface="Inter Regular"/>
                <a:ea typeface="Inter Regular"/>
                <a:cs typeface="Inter Regular"/>
                <a:sym typeface="Inter Regular"/>
              </a:rPr>
              <a:t>:</a:t>
            </a:r>
          </a:p>
        </p:txBody>
      </p:sp>
      <p:sp>
        <p:nvSpPr>
          <p:cNvPr id="194" name="Rounded Rectangle 8"/>
          <p:cNvSpPr/>
          <p:nvPr/>
        </p:nvSpPr>
        <p:spPr>
          <a:xfrm>
            <a:off x="631031" y="2194450"/>
            <a:ext cx="3154681" cy="868681"/>
          </a:xfrm>
          <a:prstGeom prst="roundRect">
            <a:avLst>
              <a:gd name="adj" fmla="val 12000"/>
            </a:avLst>
          </a:prstGeom>
          <a:solidFill>
            <a:srgbClr val="1A1A2E"/>
          </a:solidFill>
          <a:ln>
            <a:solidFill>
              <a:srgbClr val="00D4FF"/>
            </a:solidFill>
          </a:ln>
        </p:spPr>
        <p:txBody>
          <a:bodyPr lIns="45719" rIns="45719" anchor="ctr"/>
          <a:lstStyle/>
          <a:p>
            <a:pPr algn="ctr">
              <a:defRPr>
                <a:solidFill>
                  <a:srgbClr val="FFFFFF"/>
                </a:solidFill>
              </a:defRPr>
            </a:pPr>
          </a:p>
        </p:txBody>
      </p:sp>
      <p:sp>
        <p:nvSpPr>
          <p:cNvPr id="195" name="TextBox 9"/>
          <p:cNvSpPr txBox="1"/>
          <p:nvPr/>
        </p:nvSpPr>
        <p:spPr>
          <a:xfrm>
            <a:off x="768191" y="2539890"/>
            <a:ext cx="28803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Podijeli programski kod u chunkove</a:t>
            </a:r>
          </a:p>
        </p:txBody>
      </p:sp>
      <p:sp>
        <p:nvSpPr>
          <p:cNvPr id="196" name="TextBox 10"/>
          <p:cNvSpPr txBox="1"/>
          <p:nvPr/>
        </p:nvSpPr>
        <p:spPr>
          <a:xfrm>
            <a:off x="3785711" y="2495440"/>
            <a:ext cx="3200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197" name="Rounded Rectangle 11"/>
          <p:cNvSpPr/>
          <p:nvPr/>
        </p:nvSpPr>
        <p:spPr>
          <a:xfrm>
            <a:off x="4105751" y="2194450"/>
            <a:ext cx="3154681" cy="868681"/>
          </a:xfrm>
          <a:prstGeom prst="roundRect">
            <a:avLst>
              <a:gd name="adj" fmla="val 12000"/>
            </a:avLst>
          </a:prstGeom>
          <a:solidFill>
            <a:srgbClr val="1A1A2E"/>
          </a:solidFill>
          <a:ln>
            <a:solidFill>
              <a:srgbClr val="00D4FF"/>
            </a:solidFill>
          </a:ln>
        </p:spPr>
        <p:txBody>
          <a:bodyPr lIns="45719" rIns="45719" anchor="ctr"/>
          <a:lstStyle/>
          <a:p>
            <a:pPr algn="ctr">
              <a:defRPr>
                <a:solidFill>
                  <a:srgbClr val="FFFFFF"/>
                </a:solidFill>
              </a:defRPr>
            </a:pPr>
          </a:p>
        </p:txBody>
      </p:sp>
      <p:sp>
        <p:nvSpPr>
          <p:cNvPr id="198" name="TextBox 12"/>
          <p:cNvSpPr txBox="1"/>
          <p:nvPr/>
        </p:nvSpPr>
        <p:spPr>
          <a:xfrm>
            <a:off x="4242911" y="2539890"/>
            <a:ext cx="28803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Generiraj embeddingse</a:t>
            </a:r>
          </a:p>
        </p:txBody>
      </p:sp>
      <p:sp>
        <p:nvSpPr>
          <p:cNvPr id="199" name="TextBox 13"/>
          <p:cNvSpPr txBox="1"/>
          <p:nvPr/>
        </p:nvSpPr>
        <p:spPr>
          <a:xfrm>
            <a:off x="7260431" y="2495440"/>
            <a:ext cx="3200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00" name="Rounded Rectangle 14"/>
          <p:cNvSpPr/>
          <p:nvPr/>
        </p:nvSpPr>
        <p:spPr>
          <a:xfrm>
            <a:off x="7580470" y="2194450"/>
            <a:ext cx="3154681" cy="868681"/>
          </a:xfrm>
          <a:prstGeom prst="roundRect">
            <a:avLst>
              <a:gd name="adj" fmla="val 12000"/>
            </a:avLst>
          </a:prstGeom>
          <a:solidFill>
            <a:srgbClr val="1A1A2E"/>
          </a:solidFill>
          <a:ln>
            <a:solidFill>
              <a:srgbClr val="00D4FF"/>
            </a:solidFill>
          </a:ln>
        </p:spPr>
        <p:txBody>
          <a:bodyPr lIns="45719" rIns="45719" anchor="ctr"/>
          <a:lstStyle/>
          <a:p>
            <a:pPr algn="ctr">
              <a:defRPr>
                <a:solidFill>
                  <a:srgbClr val="FFFFFF"/>
                </a:solidFill>
              </a:defRPr>
            </a:pPr>
          </a:p>
        </p:txBody>
      </p:sp>
      <p:sp>
        <p:nvSpPr>
          <p:cNvPr id="201" name="TextBox 15"/>
          <p:cNvSpPr txBox="1"/>
          <p:nvPr/>
        </p:nvSpPr>
        <p:spPr>
          <a:xfrm>
            <a:off x="7717631" y="2539890"/>
            <a:ext cx="28803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Spremi u vektorsku bazu podataka</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Pristup A: Embedding &amp; Indexing</a:t>
            </a:r>
          </a:p>
        </p:txBody>
      </p:sp>
      <p:sp>
        <p:nvSpPr>
          <p:cNvPr id="206" name="Rectangle 2"/>
          <p:cNvSpPr/>
          <p:nvPr/>
        </p:nvSpPr>
        <p:spPr>
          <a:xfrm>
            <a:off x="640080" y="1280160"/>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grpSp>
        <p:nvGrpSpPr>
          <p:cNvPr id="209" name="Rounded Rectangle 4"/>
          <p:cNvGrpSpPr/>
          <p:nvPr/>
        </p:nvGrpSpPr>
        <p:grpSpPr>
          <a:xfrm>
            <a:off x="8616075" y="686815"/>
            <a:ext cx="987553" cy="292609"/>
            <a:chOff x="0" y="0"/>
            <a:chExt cx="987552" cy="292608"/>
          </a:xfrm>
        </p:grpSpPr>
        <p:sp>
          <p:nvSpPr>
            <p:cNvPr id="207" name="Rounded Rectangle"/>
            <p:cNvSpPr/>
            <p:nvPr/>
          </p:nvSpPr>
          <p:spPr>
            <a:xfrm>
              <a:off x="0" y="0"/>
              <a:ext cx="987553" cy="292609"/>
            </a:xfrm>
            <a:prstGeom prst="roundRect">
              <a:avLst>
                <a:gd name="adj" fmla="val 50000"/>
              </a:avLst>
            </a:prstGeom>
            <a:noFill/>
            <a:ln w="9525" cap="flat">
              <a:solidFill>
                <a:srgbClr val="00D4F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208" name="Cursor"/>
            <p:cNvSpPr txBox="1"/>
            <p:nvPr/>
          </p:nvSpPr>
          <p:spPr>
            <a:xfrm>
              <a:off x="93333" y="70104"/>
              <a:ext cx="800886"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Cursor</a:t>
              </a:r>
            </a:p>
          </p:txBody>
        </p:sp>
      </p:grpSp>
      <p:grpSp>
        <p:nvGrpSpPr>
          <p:cNvPr id="212" name="Rounded Rectangle 5"/>
          <p:cNvGrpSpPr/>
          <p:nvPr/>
        </p:nvGrpSpPr>
        <p:grpSpPr>
          <a:xfrm>
            <a:off x="9676779" y="686815"/>
            <a:ext cx="1106425" cy="292609"/>
            <a:chOff x="0" y="0"/>
            <a:chExt cx="1106424" cy="292608"/>
          </a:xfrm>
        </p:grpSpPr>
        <p:sp>
          <p:nvSpPr>
            <p:cNvPr id="210" name="Rounded Rectangle"/>
            <p:cNvSpPr/>
            <p:nvPr/>
          </p:nvSpPr>
          <p:spPr>
            <a:xfrm>
              <a:off x="0" y="0"/>
              <a:ext cx="1106425" cy="292609"/>
            </a:xfrm>
            <a:prstGeom prst="roundRect">
              <a:avLst>
                <a:gd name="adj" fmla="val 50000"/>
              </a:avLst>
            </a:prstGeom>
            <a:noFill/>
            <a:ln w="9525" cap="flat">
              <a:solidFill>
                <a:srgbClr val="00D4F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211" name="Copilot"/>
            <p:cNvSpPr txBox="1"/>
            <p:nvPr/>
          </p:nvSpPr>
          <p:spPr>
            <a:xfrm>
              <a:off x="93333" y="70104"/>
              <a:ext cx="919758"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Copilot</a:t>
              </a:r>
            </a:p>
          </p:txBody>
        </p:sp>
      </p:grpSp>
      <p:grpSp>
        <p:nvGrpSpPr>
          <p:cNvPr id="215" name="Rounded Rectangle 6"/>
          <p:cNvGrpSpPr/>
          <p:nvPr/>
        </p:nvGrpSpPr>
        <p:grpSpPr>
          <a:xfrm>
            <a:off x="10856355" y="686815"/>
            <a:ext cx="749809" cy="292609"/>
            <a:chOff x="0" y="0"/>
            <a:chExt cx="749808" cy="292608"/>
          </a:xfrm>
        </p:grpSpPr>
        <p:sp>
          <p:nvSpPr>
            <p:cNvPr id="213" name="Rounded Rectangle"/>
            <p:cNvSpPr/>
            <p:nvPr/>
          </p:nvSpPr>
          <p:spPr>
            <a:xfrm>
              <a:off x="0" y="0"/>
              <a:ext cx="749809" cy="292609"/>
            </a:xfrm>
            <a:prstGeom prst="roundRect">
              <a:avLst>
                <a:gd name="adj" fmla="val 50000"/>
              </a:avLst>
            </a:prstGeom>
            <a:noFill/>
            <a:ln w="9525" cap="flat">
              <a:solidFill>
                <a:srgbClr val="00D4F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214" name="Cody"/>
            <p:cNvSpPr txBox="1"/>
            <p:nvPr/>
          </p:nvSpPr>
          <p:spPr>
            <a:xfrm>
              <a:off x="93333" y="70104"/>
              <a:ext cx="563142"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Cody</a:t>
              </a:r>
            </a:p>
          </p:txBody>
        </p:sp>
      </p:grpSp>
      <p:sp>
        <p:nvSpPr>
          <p:cNvPr id="216" name="TextBox 7"/>
          <p:cNvSpPr txBox="1"/>
          <p:nvPr/>
        </p:nvSpPr>
        <p:spPr>
          <a:xfrm>
            <a:off x="631031" y="1691530"/>
            <a:ext cx="10908793"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F2F2F2"/>
                </a:solidFill>
                <a:latin typeface="Inter Bold"/>
                <a:ea typeface="Inter Bold"/>
                <a:cs typeface="Inter Bold"/>
                <a:sym typeface="Inter Bold"/>
              </a:defRPr>
            </a:pPr>
            <a:r>
              <a:t>Korak 1.</a:t>
            </a:r>
            <a:r>
              <a:rPr>
                <a:latin typeface="Inter Regular"/>
                <a:ea typeface="Inter Regular"/>
                <a:cs typeface="Inter Regular"/>
                <a:sym typeface="Inter Regular"/>
              </a:rPr>
              <a:t> Kod otvaranja projekta, AI alat </a:t>
            </a:r>
            <a:r>
              <a:rPr>
                <a:solidFill>
                  <a:srgbClr val="00D4FF"/>
                </a:solidFill>
              </a:rPr>
              <a:t>indeksira tvoj codebase</a:t>
            </a:r>
            <a:r>
              <a:rPr>
                <a:latin typeface="Inter Regular"/>
                <a:ea typeface="Inter Regular"/>
                <a:cs typeface="Inter Regular"/>
                <a:sym typeface="Inter Regular"/>
              </a:rPr>
              <a:t>:</a:t>
            </a:r>
          </a:p>
        </p:txBody>
      </p:sp>
      <p:sp>
        <p:nvSpPr>
          <p:cNvPr id="217" name="Rounded Rectangle 8"/>
          <p:cNvSpPr/>
          <p:nvPr/>
        </p:nvSpPr>
        <p:spPr>
          <a:xfrm>
            <a:off x="631031" y="2194450"/>
            <a:ext cx="3154681" cy="868681"/>
          </a:xfrm>
          <a:prstGeom prst="roundRect">
            <a:avLst>
              <a:gd name="adj" fmla="val 12000"/>
            </a:avLst>
          </a:prstGeom>
          <a:solidFill>
            <a:srgbClr val="1A1A2E"/>
          </a:solidFill>
          <a:ln>
            <a:solidFill>
              <a:srgbClr val="00D4FF"/>
            </a:solidFill>
          </a:ln>
        </p:spPr>
        <p:txBody>
          <a:bodyPr lIns="45719" rIns="45719" anchor="ctr"/>
          <a:lstStyle/>
          <a:p>
            <a:pPr algn="ctr">
              <a:defRPr>
                <a:solidFill>
                  <a:srgbClr val="FFFFFF"/>
                </a:solidFill>
              </a:defRPr>
            </a:pPr>
          </a:p>
        </p:txBody>
      </p:sp>
      <p:sp>
        <p:nvSpPr>
          <p:cNvPr id="218" name="TextBox 9"/>
          <p:cNvSpPr txBox="1"/>
          <p:nvPr/>
        </p:nvSpPr>
        <p:spPr>
          <a:xfrm>
            <a:off x="768191" y="2539890"/>
            <a:ext cx="28803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Podijeli programski kod u chunkove</a:t>
            </a:r>
          </a:p>
        </p:txBody>
      </p:sp>
      <p:sp>
        <p:nvSpPr>
          <p:cNvPr id="219" name="TextBox 10"/>
          <p:cNvSpPr txBox="1"/>
          <p:nvPr/>
        </p:nvSpPr>
        <p:spPr>
          <a:xfrm>
            <a:off x="3785711" y="2495440"/>
            <a:ext cx="3200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20" name="Rounded Rectangle 11"/>
          <p:cNvSpPr/>
          <p:nvPr/>
        </p:nvSpPr>
        <p:spPr>
          <a:xfrm>
            <a:off x="4105751" y="2194450"/>
            <a:ext cx="3154681" cy="868681"/>
          </a:xfrm>
          <a:prstGeom prst="roundRect">
            <a:avLst>
              <a:gd name="adj" fmla="val 12000"/>
            </a:avLst>
          </a:prstGeom>
          <a:solidFill>
            <a:srgbClr val="1A1A2E"/>
          </a:solidFill>
          <a:ln>
            <a:solidFill>
              <a:srgbClr val="00D4FF"/>
            </a:solidFill>
          </a:ln>
        </p:spPr>
        <p:txBody>
          <a:bodyPr lIns="45719" rIns="45719" anchor="ctr"/>
          <a:lstStyle/>
          <a:p>
            <a:pPr algn="ctr">
              <a:defRPr>
                <a:solidFill>
                  <a:srgbClr val="FFFFFF"/>
                </a:solidFill>
              </a:defRPr>
            </a:pPr>
          </a:p>
        </p:txBody>
      </p:sp>
      <p:sp>
        <p:nvSpPr>
          <p:cNvPr id="221" name="TextBox 12"/>
          <p:cNvSpPr txBox="1"/>
          <p:nvPr/>
        </p:nvSpPr>
        <p:spPr>
          <a:xfrm>
            <a:off x="4242911" y="2539890"/>
            <a:ext cx="28803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Generiraj embeddingse</a:t>
            </a:r>
          </a:p>
        </p:txBody>
      </p:sp>
      <p:sp>
        <p:nvSpPr>
          <p:cNvPr id="222" name="TextBox 13"/>
          <p:cNvSpPr txBox="1"/>
          <p:nvPr/>
        </p:nvSpPr>
        <p:spPr>
          <a:xfrm>
            <a:off x="7260431" y="2495440"/>
            <a:ext cx="3200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23" name="Rounded Rectangle 14"/>
          <p:cNvSpPr/>
          <p:nvPr/>
        </p:nvSpPr>
        <p:spPr>
          <a:xfrm>
            <a:off x="7580470" y="2194450"/>
            <a:ext cx="3154681" cy="868681"/>
          </a:xfrm>
          <a:prstGeom prst="roundRect">
            <a:avLst>
              <a:gd name="adj" fmla="val 12000"/>
            </a:avLst>
          </a:prstGeom>
          <a:solidFill>
            <a:srgbClr val="1A1A2E"/>
          </a:solidFill>
          <a:ln>
            <a:solidFill>
              <a:srgbClr val="00D4FF"/>
            </a:solidFill>
          </a:ln>
        </p:spPr>
        <p:txBody>
          <a:bodyPr lIns="45719" rIns="45719" anchor="ctr"/>
          <a:lstStyle/>
          <a:p>
            <a:pPr algn="ctr">
              <a:defRPr>
                <a:solidFill>
                  <a:srgbClr val="FFFFFF"/>
                </a:solidFill>
              </a:defRPr>
            </a:pPr>
          </a:p>
        </p:txBody>
      </p:sp>
      <p:sp>
        <p:nvSpPr>
          <p:cNvPr id="224" name="TextBox 15"/>
          <p:cNvSpPr txBox="1"/>
          <p:nvPr/>
        </p:nvSpPr>
        <p:spPr>
          <a:xfrm>
            <a:off x="7717631" y="2539890"/>
            <a:ext cx="28803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Spremi u vektorsku bazu podataka</a:t>
            </a:r>
          </a:p>
        </p:txBody>
      </p:sp>
      <p:sp>
        <p:nvSpPr>
          <p:cNvPr id="225" name="TextBox 16"/>
          <p:cNvSpPr txBox="1"/>
          <p:nvPr/>
        </p:nvSpPr>
        <p:spPr>
          <a:xfrm>
            <a:off x="631031" y="3337449"/>
            <a:ext cx="10908793"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F2F2F2"/>
                </a:solidFill>
                <a:latin typeface="Inter Bold"/>
                <a:ea typeface="Inter Bold"/>
                <a:cs typeface="Inter Bold"/>
                <a:sym typeface="Inter Bold"/>
              </a:defRPr>
            </a:pPr>
            <a:r>
              <a:t>Step 2.</a:t>
            </a:r>
            <a:r>
              <a:rPr>
                <a:latin typeface="Inter Regular"/>
                <a:ea typeface="Inter Regular"/>
                <a:cs typeface="Inter Regular"/>
                <a:sym typeface="Inter Regular"/>
              </a:rPr>
              <a:t> Kod promptanja, </a:t>
            </a:r>
            <a:r>
              <a:rPr>
                <a:solidFill>
                  <a:srgbClr val="00D4FF"/>
                </a:solidFill>
              </a:rPr>
              <a:t>pretražuje relevantan kod</a:t>
            </a:r>
            <a:r>
              <a:rPr>
                <a:latin typeface="Inter Regular"/>
                <a:ea typeface="Inter Regular"/>
                <a:cs typeface="Inter Regular"/>
                <a:sym typeface="Inter Regular"/>
              </a:rPr>
              <a:t>:</a:t>
            </a:r>
          </a:p>
        </p:txBody>
      </p:sp>
      <p:sp>
        <p:nvSpPr>
          <p:cNvPr id="226" name="Rounded Rectangle 17"/>
          <p:cNvSpPr/>
          <p:nvPr/>
        </p:nvSpPr>
        <p:spPr>
          <a:xfrm>
            <a:off x="631031" y="3840370"/>
            <a:ext cx="3154681" cy="868681"/>
          </a:xfrm>
          <a:prstGeom prst="roundRect">
            <a:avLst>
              <a:gd name="adj" fmla="val 12000"/>
            </a:avLst>
          </a:prstGeom>
          <a:solidFill>
            <a:srgbClr val="1A1A2E"/>
          </a:solidFill>
          <a:ln>
            <a:solidFill>
              <a:srgbClr val="00D4FF"/>
            </a:solidFill>
          </a:ln>
        </p:spPr>
        <p:txBody>
          <a:bodyPr lIns="45719" rIns="45719" anchor="ctr"/>
          <a:lstStyle/>
          <a:p>
            <a:pPr algn="ctr">
              <a:defRPr>
                <a:solidFill>
                  <a:srgbClr val="FFFFFF"/>
                </a:solidFill>
              </a:defRPr>
            </a:pPr>
          </a:p>
        </p:txBody>
      </p:sp>
      <p:sp>
        <p:nvSpPr>
          <p:cNvPr id="227" name="TextBox 18"/>
          <p:cNvSpPr txBox="1"/>
          <p:nvPr/>
        </p:nvSpPr>
        <p:spPr>
          <a:xfrm>
            <a:off x="768191" y="4185810"/>
            <a:ext cx="28803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Tvoj prompt</a:t>
            </a:r>
          </a:p>
        </p:txBody>
      </p:sp>
      <p:sp>
        <p:nvSpPr>
          <p:cNvPr id="228" name="TextBox 19"/>
          <p:cNvSpPr txBox="1"/>
          <p:nvPr/>
        </p:nvSpPr>
        <p:spPr>
          <a:xfrm>
            <a:off x="3785711" y="4141360"/>
            <a:ext cx="3200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29" name="Rounded Rectangle 20"/>
          <p:cNvSpPr/>
          <p:nvPr/>
        </p:nvSpPr>
        <p:spPr>
          <a:xfrm>
            <a:off x="4105751" y="3840370"/>
            <a:ext cx="3154681" cy="868681"/>
          </a:xfrm>
          <a:prstGeom prst="roundRect">
            <a:avLst>
              <a:gd name="adj" fmla="val 12000"/>
            </a:avLst>
          </a:prstGeom>
          <a:solidFill>
            <a:srgbClr val="1A1A2E"/>
          </a:solidFill>
          <a:ln>
            <a:solidFill>
              <a:srgbClr val="00D4FF"/>
            </a:solidFill>
          </a:ln>
        </p:spPr>
        <p:txBody>
          <a:bodyPr lIns="45719" rIns="45719" anchor="ctr"/>
          <a:lstStyle/>
          <a:p>
            <a:pPr algn="ctr">
              <a:defRPr>
                <a:solidFill>
                  <a:srgbClr val="FFFFFF"/>
                </a:solidFill>
              </a:defRPr>
            </a:pPr>
          </a:p>
        </p:txBody>
      </p:sp>
      <p:sp>
        <p:nvSpPr>
          <p:cNvPr id="230" name="TextBox 21"/>
          <p:cNvSpPr txBox="1"/>
          <p:nvPr/>
        </p:nvSpPr>
        <p:spPr>
          <a:xfrm>
            <a:off x="4242911" y="4185810"/>
            <a:ext cx="28803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Semantičko pretraživanje</a:t>
            </a:r>
          </a:p>
        </p:txBody>
      </p:sp>
      <p:sp>
        <p:nvSpPr>
          <p:cNvPr id="231" name="TextBox 22"/>
          <p:cNvSpPr txBox="1"/>
          <p:nvPr/>
        </p:nvSpPr>
        <p:spPr>
          <a:xfrm>
            <a:off x="7260431" y="4141360"/>
            <a:ext cx="3200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32" name="Rounded Rectangle 23"/>
          <p:cNvSpPr/>
          <p:nvPr/>
        </p:nvSpPr>
        <p:spPr>
          <a:xfrm>
            <a:off x="7580470" y="3840370"/>
            <a:ext cx="3154681" cy="868681"/>
          </a:xfrm>
          <a:prstGeom prst="roundRect">
            <a:avLst>
              <a:gd name="adj" fmla="val 12000"/>
            </a:avLst>
          </a:prstGeom>
          <a:solidFill>
            <a:srgbClr val="1A1A2E"/>
          </a:solidFill>
          <a:ln>
            <a:solidFill>
              <a:srgbClr val="00D4FF"/>
            </a:solidFill>
          </a:ln>
        </p:spPr>
        <p:txBody>
          <a:bodyPr lIns="45719" rIns="45719" anchor="ctr"/>
          <a:lstStyle/>
          <a:p>
            <a:pPr algn="ctr">
              <a:defRPr>
                <a:solidFill>
                  <a:srgbClr val="FFFFFF"/>
                </a:solidFill>
              </a:defRPr>
            </a:pPr>
          </a:p>
        </p:txBody>
      </p:sp>
      <p:sp>
        <p:nvSpPr>
          <p:cNvPr id="233" name="TextBox 24"/>
          <p:cNvSpPr txBox="1"/>
          <p:nvPr/>
        </p:nvSpPr>
        <p:spPr>
          <a:xfrm>
            <a:off x="7717631" y="4185810"/>
            <a:ext cx="28803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Umetanje u kontekst</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Pristup A: Embedding &amp; Indexing</a:t>
            </a:r>
          </a:p>
        </p:txBody>
      </p:sp>
      <p:sp>
        <p:nvSpPr>
          <p:cNvPr id="238" name="Rectangle 2"/>
          <p:cNvSpPr/>
          <p:nvPr/>
        </p:nvSpPr>
        <p:spPr>
          <a:xfrm>
            <a:off x="640080" y="1280160"/>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grpSp>
        <p:nvGrpSpPr>
          <p:cNvPr id="241" name="Rounded Rectangle 4"/>
          <p:cNvGrpSpPr/>
          <p:nvPr/>
        </p:nvGrpSpPr>
        <p:grpSpPr>
          <a:xfrm>
            <a:off x="8616075" y="686815"/>
            <a:ext cx="987553" cy="292609"/>
            <a:chOff x="0" y="0"/>
            <a:chExt cx="987552" cy="292608"/>
          </a:xfrm>
        </p:grpSpPr>
        <p:sp>
          <p:nvSpPr>
            <p:cNvPr id="239" name="Rounded Rectangle"/>
            <p:cNvSpPr/>
            <p:nvPr/>
          </p:nvSpPr>
          <p:spPr>
            <a:xfrm>
              <a:off x="0" y="0"/>
              <a:ext cx="987553" cy="292609"/>
            </a:xfrm>
            <a:prstGeom prst="roundRect">
              <a:avLst>
                <a:gd name="adj" fmla="val 50000"/>
              </a:avLst>
            </a:prstGeom>
            <a:noFill/>
            <a:ln w="9525" cap="flat">
              <a:solidFill>
                <a:srgbClr val="00D4F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240" name="Cursor"/>
            <p:cNvSpPr txBox="1"/>
            <p:nvPr/>
          </p:nvSpPr>
          <p:spPr>
            <a:xfrm>
              <a:off x="93333" y="70104"/>
              <a:ext cx="800886"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Cursor</a:t>
              </a:r>
            </a:p>
          </p:txBody>
        </p:sp>
      </p:grpSp>
      <p:grpSp>
        <p:nvGrpSpPr>
          <p:cNvPr id="244" name="Rounded Rectangle 5"/>
          <p:cNvGrpSpPr/>
          <p:nvPr/>
        </p:nvGrpSpPr>
        <p:grpSpPr>
          <a:xfrm>
            <a:off x="9676779" y="686815"/>
            <a:ext cx="1106425" cy="292609"/>
            <a:chOff x="0" y="0"/>
            <a:chExt cx="1106424" cy="292608"/>
          </a:xfrm>
        </p:grpSpPr>
        <p:sp>
          <p:nvSpPr>
            <p:cNvPr id="242" name="Rounded Rectangle"/>
            <p:cNvSpPr/>
            <p:nvPr/>
          </p:nvSpPr>
          <p:spPr>
            <a:xfrm>
              <a:off x="0" y="0"/>
              <a:ext cx="1106425" cy="292609"/>
            </a:xfrm>
            <a:prstGeom prst="roundRect">
              <a:avLst>
                <a:gd name="adj" fmla="val 50000"/>
              </a:avLst>
            </a:prstGeom>
            <a:noFill/>
            <a:ln w="9525" cap="flat">
              <a:solidFill>
                <a:srgbClr val="00D4F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243" name="Copilot"/>
            <p:cNvSpPr txBox="1"/>
            <p:nvPr/>
          </p:nvSpPr>
          <p:spPr>
            <a:xfrm>
              <a:off x="93333" y="70104"/>
              <a:ext cx="919758"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Copilot</a:t>
              </a:r>
            </a:p>
          </p:txBody>
        </p:sp>
      </p:grpSp>
      <p:grpSp>
        <p:nvGrpSpPr>
          <p:cNvPr id="247" name="Rounded Rectangle 6"/>
          <p:cNvGrpSpPr/>
          <p:nvPr/>
        </p:nvGrpSpPr>
        <p:grpSpPr>
          <a:xfrm>
            <a:off x="10856355" y="686815"/>
            <a:ext cx="749809" cy="292609"/>
            <a:chOff x="0" y="0"/>
            <a:chExt cx="749808" cy="292608"/>
          </a:xfrm>
        </p:grpSpPr>
        <p:sp>
          <p:nvSpPr>
            <p:cNvPr id="245" name="Rounded Rectangle"/>
            <p:cNvSpPr/>
            <p:nvPr/>
          </p:nvSpPr>
          <p:spPr>
            <a:xfrm>
              <a:off x="0" y="0"/>
              <a:ext cx="749809" cy="292609"/>
            </a:xfrm>
            <a:prstGeom prst="roundRect">
              <a:avLst>
                <a:gd name="adj" fmla="val 50000"/>
              </a:avLst>
            </a:prstGeom>
            <a:noFill/>
            <a:ln w="9525" cap="flat">
              <a:solidFill>
                <a:srgbClr val="00D4F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246" name="Cody"/>
            <p:cNvSpPr txBox="1"/>
            <p:nvPr/>
          </p:nvSpPr>
          <p:spPr>
            <a:xfrm>
              <a:off x="93333" y="70104"/>
              <a:ext cx="563142"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Cody</a:t>
              </a:r>
            </a:p>
          </p:txBody>
        </p:sp>
      </p:grpSp>
      <p:sp>
        <p:nvSpPr>
          <p:cNvPr id="248" name="TextBox 7"/>
          <p:cNvSpPr txBox="1"/>
          <p:nvPr/>
        </p:nvSpPr>
        <p:spPr>
          <a:xfrm>
            <a:off x="631031" y="1692855"/>
            <a:ext cx="10908793"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F2F2F2"/>
                </a:solidFill>
                <a:latin typeface="Inter Bold"/>
                <a:ea typeface="Inter Bold"/>
                <a:cs typeface="Inter Bold"/>
                <a:sym typeface="Inter Bold"/>
              </a:defRPr>
            </a:pPr>
            <a:r>
              <a:t>Korak 1.</a:t>
            </a:r>
            <a:r>
              <a:rPr>
                <a:latin typeface="Inter Regular"/>
                <a:ea typeface="Inter Regular"/>
                <a:cs typeface="Inter Regular"/>
                <a:sym typeface="Inter Regular"/>
              </a:rPr>
              <a:t> Kod otvaranja projekta, AI alat </a:t>
            </a:r>
            <a:r>
              <a:rPr>
                <a:solidFill>
                  <a:srgbClr val="00D4FF"/>
                </a:solidFill>
              </a:rPr>
              <a:t>indeksira tvoj codebase</a:t>
            </a:r>
            <a:r>
              <a:rPr>
                <a:latin typeface="Inter Regular"/>
                <a:ea typeface="Inter Regular"/>
                <a:cs typeface="Inter Regular"/>
                <a:sym typeface="Inter Regular"/>
              </a:rPr>
              <a:t>:</a:t>
            </a:r>
          </a:p>
        </p:txBody>
      </p:sp>
      <p:sp>
        <p:nvSpPr>
          <p:cNvPr id="249" name="Rounded Rectangle 8"/>
          <p:cNvSpPr/>
          <p:nvPr/>
        </p:nvSpPr>
        <p:spPr>
          <a:xfrm>
            <a:off x="631031" y="2194450"/>
            <a:ext cx="3154681" cy="868681"/>
          </a:xfrm>
          <a:prstGeom prst="roundRect">
            <a:avLst>
              <a:gd name="adj" fmla="val 12000"/>
            </a:avLst>
          </a:prstGeom>
          <a:solidFill>
            <a:srgbClr val="1A1A2E"/>
          </a:solidFill>
          <a:ln>
            <a:solidFill>
              <a:srgbClr val="00D4FF"/>
            </a:solidFill>
          </a:ln>
        </p:spPr>
        <p:txBody>
          <a:bodyPr lIns="45719" rIns="45719" anchor="ctr"/>
          <a:lstStyle/>
          <a:p>
            <a:pPr algn="ctr">
              <a:defRPr>
                <a:solidFill>
                  <a:srgbClr val="FFFFFF"/>
                </a:solidFill>
              </a:defRPr>
            </a:pPr>
          </a:p>
        </p:txBody>
      </p:sp>
      <p:sp>
        <p:nvSpPr>
          <p:cNvPr id="250" name="TextBox 9"/>
          <p:cNvSpPr txBox="1"/>
          <p:nvPr/>
        </p:nvSpPr>
        <p:spPr>
          <a:xfrm>
            <a:off x="768191" y="2539890"/>
            <a:ext cx="28803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Podijeli programski kod u chunkove</a:t>
            </a:r>
          </a:p>
        </p:txBody>
      </p:sp>
      <p:sp>
        <p:nvSpPr>
          <p:cNvPr id="251" name="TextBox 10"/>
          <p:cNvSpPr txBox="1"/>
          <p:nvPr/>
        </p:nvSpPr>
        <p:spPr>
          <a:xfrm>
            <a:off x="3785711" y="2495440"/>
            <a:ext cx="3200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52" name="Rounded Rectangle 11"/>
          <p:cNvSpPr/>
          <p:nvPr/>
        </p:nvSpPr>
        <p:spPr>
          <a:xfrm>
            <a:off x="4105751" y="2194450"/>
            <a:ext cx="3154681" cy="868681"/>
          </a:xfrm>
          <a:prstGeom prst="roundRect">
            <a:avLst>
              <a:gd name="adj" fmla="val 12000"/>
            </a:avLst>
          </a:prstGeom>
          <a:solidFill>
            <a:srgbClr val="1A1A2E"/>
          </a:solidFill>
          <a:ln>
            <a:solidFill>
              <a:srgbClr val="00D4FF"/>
            </a:solidFill>
          </a:ln>
        </p:spPr>
        <p:txBody>
          <a:bodyPr lIns="45719" rIns="45719" anchor="ctr"/>
          <a:lstStyle/>
          <a:p>
            <a:pPr algn="ctr">
              <a:defRPr>
                <a:solidFill>
                  <a:srgbClr val="FFFFFF"/>
                </a:solidFill>
              </a:defRPr>
            </a:pPr>
          </a:p>
        </p:txBody>
      </p:sp>
      <p:sp>
        <p:nvSpPr>
          <p:cNvPr id="253" name="TextBox 12"/>
          <p:cNvSpPr txBox="1"/>
          <p:nvPr/>
        </p:nvSpPr>
        <p:spPr>
          <a:xfrm>
            <a:off x="4242911" y="2539890"/>
            <a:ext cx="28803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Generiraj embeddingse</a:t>
            </a:r>
          </a:p>
        </p:txBody>
      </p:sp>
      <p:sp>
        <p:nvSpPr>
          <p:cNvPr id="254" name="TextBox 13"/>
          <p:cNvSpPr txBox="1"/>
          <p:nvPr/>
        </p:nvSpPr>
        <p:spPr>
          <a:xfrm>
            <a:off x="7260431" y="2495440"/>
            <a:ext cx="3200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55" name="Rounded Rectangle 14"/>
          <p:cNvSpPr/>
          <p:nvPr/>
        </p:nvSpPr>
        <p:spPr>
          <a:xfrm>
            <a:off x="7580470" y="2194450"/>
            <a:ext cx="3154681" cy="868681"/>
          </a:xfrm>
          <a:prstGeom prst="roundRect">
            <a:avLst>
              <a:gd name="adj" fmla="val 12000"/>
            </a:avLst>
          </a:prstGeom>
          <a:solidFill>
            <a:srgbClr val="1A1A2E"/>
          </a:solidFill>
          <a:ln>
            <a:solidFill>
              <a:srgbClr val="00D4FF"/>
            </a:solidFill>
          </a:ln>
        </p:spPr>
        <p:txBody>
          <a:bodyPr lIns="45719" rIns="45719" anchor="ctr"/>
          <a:lstStyle/>
          <a:p>
            <a:pPr algn="ctr">
              <a:defRPr>
                <a:solidFill>
                  <a:srgbClr val="FFFFFF"/>
                </a:solidFill>
              </a:defRPr>
            </a:pPr>
          </a:p>
        </p:txBody>
      </p:sp>
      <p:sp>
        <p:nvSpPr>
          <p:cNvPr id="256" name="TextBox 15"/>
          <p:cNvSpPr txBox="1"/>
          <p:nvPr/>
        </p:nvSpPr>
        <p:spPr>
          <a:xfrm>
            <a:off x="7717631" y="2539890"/>
            <a:ext cx="28803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Spremi u vektorsku bazu podataka</a:t>
            </a:r>
          </a:p>
        </p:txBody>
      </p:sp>
      <p:sp>
        <p:nvSpPr>
          <p:cNvPr id="257" name="TextBox 16"/>
          <p:cNvSpPr txBox="1"/>
          <p:nvPr/>
        </p:nvSpPr>
        <p:spPr>
          <a:xfrm>
            <a:off x="631031" y="3337449"/>
            <a:ext cx="10908793"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F2F2F2"/>
                </a:solidFill>
                <a:latin typeface="Inter Bold"/>
                <a:ea typeface="Inter Bold"/>
                <a:cs typeface="Inter Bold"/>
                <a:sym typeface="Inter Bold"/>
              </a:defRPr>
            </a:pPr>
            <a:r>
              <a:t>Step 2.</a:t>
            </a:r>
            <a:r>
              <a:rPr>
                <a:latin typeface="Inter Regular"/>
                <a:ea typeface="Inter Regular"/>
                <a:cs typeface="Inter Regular"/>
                <a:sym typeface="Inter Regular"/>
              </a:rPr>
              <a:t> Kod promptanja, </a:t>
            </a:r>
            <a:r>
              <a:rPr>
                <a:solidFill>
                  <a:srgbClr val="00D4FF"/>
                </a:solidFill>
              </a:rPr>
              <a:t>pretražuje relevantan kod</a:t>
            </a:r>
            <a:r>
              <a:rPr>
                <a:latin typeface="Inter Regular"/>
                <a:ea typeface="Inter Regular"/>
                <a:cs typeface="Inter Regular"/>
                <a:sym typeface="Inter Regular"/>
              </a:rPr>
              <a:t>:</a:t>
            </a:r>
          </a:p>
        </p:txBody>
      </p:sp>
      <p:sp>
        <p:nvSpPr>
          <p:cNvPr id="258" name="Rounded Rectangle 17"/>
          <p:cNvSpPr/>
          <p:nvPr/>
        </p:nvSpPr>
        <p:spPr>
          <a:xfrm>
            <a:off x="631031" y="3840370"/>
            <a:ext cx="3154681" cy="868681"/>
          </a:xfrm>
          <a:prstGeom prst="roundRect">
            <a:avLst>
              <a:gd name="adj" fmla="val 12000"/>
            </a:avLst>
          </a:prstGeom>
          <a:solidFill>
            <a:srgbClr val="1A1A2E"/>
          </a:solidFill>
          <a:ln>
            <a:solidFill>
              <a:srgbClr val="00D4FF"/>
            </a:solidFill>
          </a:ln>
        </p:spPr>
        <p:txBody>
          <a:bodyPr lIns="45719" rIns="45719" anchor="ctr"/>
          <a:lstStyle/>
          <a:p>
            <a:pPr algn="ctr">
              <a:defRPr>
                <a:solidFill>
                  <a:srgbClr val="FFFFFF"/>
                </a:solidFill>
              </a:defRPr>
            </a:pPr>
          </a:p>
        </p:txBody>
      </p:sp>
      <p:sp>
        <p:nvSpPr>
          <p:cNvPr id="259" name="TextBox 18"/>
          <p:cNvSpPr txBox="1"/>
          <p:nvPr/>
        </p:nvSpPr>
        <p:spPr>
          <a:xfrm>
            <a:off x="768191" y="4185810"/>
            <a:ext cx="28803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Tvoj prompt</a:t>
            </a:r>
          </a:p>
        </p:txBody>
      </p:sp>
      <p:sp>
        <p:nvSpPr>
          <p:cNvPr id="260" name="TextBox 19"/>
          <p:cNvSpPr txBox="1"/>
          <p:nvPr/>
        </p:nvSpPr>
        <p:spPr>
          <a:xfrm>
            <a:off x="3785711" y="4141360"/>
            <a:ext cx="3200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61" name="Rounded Rectangle 20"/>
          <p:cNvSpPr/>
          <p:nvPr/>
        </p:nvSpPr>
        <p:spPr>
          <a:xfrm>
            <a:off x="4105751" y="3840370"/>
            <a:ext cx="3154681" cy="868681"/>
          </a:xfrm>
          <a:prstGeom prst="roundRect">
            <a:avLst>
              <a:gd name="adj" fmla="val 12000"/>
            </a:avLst>
          </a:prstGeom>
          <a:solidFill>
            <a:srgbClr val="1A1A2E"/>
          </a:solidFill>
          <a:ln>
            <a:solidFill>
              <a:srgbClr val="00D4FF"/>
            </a:solidFill>
          </a:ln>
        </p:spPr>
        <p:txBody>
          <a:bodyPr lIns="45719" rIns="45719" anchor="ctr"/>
          <a:lstStyle/>
          <a:p>
            <a:pPr algn="ctr">
              <a:defRPr>
                <a:solidFill>
                  <a:srgbClr val="FFFFFF"/>
                </a:solidFill>
              </a:defRPr>
            </a:pPr>
          </a:p>
        </p:txBody>
      </p:sp>
      <p:sp>
        <p:nvSpPr>
          <p:cNvPr id="262" name="TextBox 21"/>
          <p:cNvSpPr txBox="1"/>
          <p:nvPr/>
        </p:nvSpPr>
        <p:spPr>
          <a:xfrm>
            <a:off x="4242911" y="4185810"/>
            <a:ext cx="28803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Semantičko pretraživanje</a:t>
            </a:r>
          </a:p>
        </p:txBody>
      </p:sp>
      <p:sp>
        <p:nvSpPr>
          <p:cNvPr id="263" name="Rounded Rectangle 25"/>
          <p:cNvSpPr/>
          <p:nvPr/>
        </p:nvSpPr>
        <p:spPr>
          <a:xfrm>
            <a:off x="631031" y="5029090"/>
            <a:ext cx="10972801" cy="914401"/>
          </a:xfrm>
          <a:prstGeom prst="roundRect">
            <a:avLst>
              <a:gd name="adj" fmla="val 6000"/>
            </a:avLst>
          </a:prstGeom>
          <a:solidFill>
            <a:srgbClr val="0E3A47"/>
          </a:solidFill>
          <a:ln w="12700">
            <a:miter lim="400000"/>
          </a:ln>
        </p:spPr>
        <p:txBody>
          <a:bodyPr lIns="45719" rIns="45719" anchor="ctr"/>
          <a:lstStyle/>
          <a:p>
            <a:pPr algn="ctr">
              <a:defRPr>
                <a:solidFill>
                  <a:srgbClr val="FFFFFF"/>
                </a:solidFill>
              </a:defRPr>
            </a:pPr>
          </a:p>
        </p:txBody>
      </p:sp>
      <p:sp>
        <p:nvSpPr>
          <p:cNvPr id="264" name="Rectangle 26"/>
          <p:cNvSpPr/>
          <p:nvPr/>
        </p:nvSpPr>
        <p:spPr>
          <a:xfrm>
            <a:off x="631031" y="5029090"/>
            <a:ext cx="54865" cy="914401"/>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265" name="TextBox 27"/>
          <p:cNvSpPr txBox="1"/>
          <p:nvPr/>
        </p:nvSpPr>
        <p:spPr>
          <a:xfrm>
            <a:off x="888583" y="5365640"/>
            <a:ext cx="1060704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500">
                <a:solidFill>
                  <a:srgbClr val="F2F2F2"/>
                </a:solidFill>
                <a:latin typeface="Inter Regular"/>
                <a:ea typeface="Inter Regular"/>
                <a:cs typeface="Inter Regular"/>
                <a:sym typeface="Inter Regular"/>
              </a:defRPr>
            </a:lvl1pPr>
          </a:lstStyle>
          <a:p>
            <a:pPr/>
            <a:r>
              <a:t>Loša struktura -&gt; loši rezultati pretraživanja -&gt; loš output</a:t>
            </a:r>
          </a:p>
        </p:txBody>
      </p:sp>
      <p:sp>
        <p:nvSpPr>
          <p:cNvPr id="266" name="TextBox 22"/>
          <p:cNvSpPr txBox="1"/>
          <p:nvPr/>
        </p:nvSpPr>
        <p:spPr>
          <a:xfrm>
            <a:off x="7260431" y="4141360"/>
            <a:ext cx="3200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67" name="Rounded Rectangle 23"/>
          <p:cNvSpPr/>
          <p:nvPr/>
        </p:nvSpPr>
        <p:spPr>
          <a:xfrm>
            <a:off x="7580470" y="3840370"/>
            <a:ext cx="3154681" cy="868681"/>
          </a:xfrm>
          <a:prstGeom prst="roundRect">
            <a:avLst>
              <a:gd name="adj" fmla="val 12000"/>
            </a:avLst>
          </a:prstGeom>
          <a:solidFill>
            <a:srgbClr val="1A1A2E"/>
          </a:solidFill>
          <a:ln>
            <a:solidFill>
              <a:srgbClr val="00D4FF"/>
            </a:solidFill>
          </a:ln>
        </p:spPr>
        <p:txBody>
          <a:bodyPr lIns="45719" rIns="45719" anchor="ctr"/>
          <a:lstStyle/>
          <a:p>
            <a:pPr algn="ctr">
              <a:defRPr>
                <a:solidFill>
                  <a:srgbClr val="FFFFFF"/>
                </a:solidFill>
              </a:defRPr>
            </a:pPr>
          </a:p>
        </p:txBody>
      </p:sp>
      <p:sp>
        <p:nvSpPr>
          <p:cNvPr id="268" name="TextBox 24"/>
          <p:cNvSpPr txBox="1"/>
          <p:nvPr/>
        </p:nvSpPr>
        <p:spPr>
          <a:xfrm>
            <a:off x="7717631" y="4185810"/>
            <a:ext cx="288036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Umetanje u kontekst</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2"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Pristup B: Agentic Search</a:t>
            </a:r>
          </a:p>
        </p:txBody>
      </p:sp>
      <p:sp>
        <p:nvSpPr>
          <p:cNvPr id="273" name="Rectangle 2"/>
          <p:cNvSpPr/>
          <p:nvPr/>
        </p:nvSpPr>
        <p:spPr>
          <a:xfrm>
            <a:off x="640080" y="1280160"/>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grpSp>
        <p:nvGrpSpPr>
          <p:cNvPr id="276" name="Rounded Rectangle 4"/>
          <p:cNvGrpSpPr/>
          <p:nvPr/>
        </p:nvGrpSpPr>
        <p:grpSpPr>
          <a:xfrm>
            <a:off x="8610600" y="686815"/>
            <a:ext cx="1581912" cy="292609"/>
            <a:chOff x="0" y="0"/>
            <a:chExt cx="1581911" cy="292608"/>
          </a:xfrm>
        </p:grpSpPr>
        <p:sp>
          <p:nvSpPr>
            <p:cNvPr id="274" name="Rounded Rectangle"/>
            <p:cNvSpPr/>
            <p:nvPr/>
          </p:nvSpPr>
          <p:spPr>
            <a:xfrm>
              <a:off x="0" y="0"/>
              <a:ext cx="1581912" cy="292609"/>
            </a:xfrm>
            <a:prstGeom prst="roundRect">
              <a:avLst>
                <a:gd name="adj" fmla="val 50000"/>
              </a:avLst>
            </a:prstGeom>
            <a:noFill/>
            <a:ln w="9525" cap="flat">
              <a:solidFill>
                <a:srgbClr val="2ED573"/>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275" name="Claude Code"/>
            <p:cNvSpPr txBox="1"/>
            <p:nvPr/>
          </p:nvSpPr>
          <p:spPr>
            <a:xfrm>
              <a:off x="93333" y="70104"/>
              <a:ext cx="1395246"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2ED573"/>
                  </a:solidFill>
                  <a:latin typeface="Inter Bold"/>
                  <a:ea typeface="Inter Bold"/>
                  <a:cs typeface="Inter Bold"/>
                  <a:sym typeface="Inter Bold"/>
                </a:defRPr>
              </a:lvl1pPr>
            </a:lstStyle>
            <a:p>
              <a:pPr/>
              <a:r>
                <a:t>Claude Code</a:t>
              </a:r>
            </a:p>
          </p:txBody>
        </p:sp>
      </p:grpSp>
      <p:sp>
        <p:nvSpPr>
          <p:cNvPr id="277" name="TextBox 5"/>
          <p:cNvSpPr txBox="1"/>
          <p:nvPr/>
        </p:nvSpPr>
        <p:spPr>
          <a:xfrm>
            <a:off x="640079" y="1691639"/>
            <a:ext cx="10908794"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F2F2F2"/>
                </a:solidFill>
                <a:latin typeface="Inter Regular"/>
                <a:ea typeface="Inter Regular"/>
                <a:cs typeface="Inter Regular"/>
                <a:sym typeface="Inter Regular"/>
              </a:defRPr>
            </a:pPr>
            <a:r>
              <a:t>Nema indeksiranja. AI </a:t>
            </a:r>
            <a:r>
              <a:rPr>
                <a:solidFill>
                  <a:srgbClr val="00D4FF"/>
                </a:solidFill>
                <a:latin typeface="Inter Bold"/>
                <a:ea typeface="Inter Bold"/>
                <a:cs typeface="Inter Bold"/>
                <a:sym typeface="Inter Bold"/>
              </a:rPr>
              <a:t>istražuje po potrebi</a:t>
            </a:r>
            <a:r>
              <a:t>, poput developera:</a:t>
            </a:r>
          </a:p>
        </p:txBody>
      </p:sp>
      <p:sp>
        <p:nvSpPr>
          <p:cNvPr id="278" name="Rounded Rectangle 6"/>
          <p:cNvSpPr/>
          <p:nvPr/>
        </p:nvSpPr>
        <p:spPr>
          <a:xfrm>
            <a:off x="640080" y="2202179"/>
            <a:ext cx="10972801" cy="2468881"/>
          </a:xfrm>
          <a:prstGeom prst="roundRect">
            <a:avLst>
              <a:gd name="adj" fmla="val 4000"/>
            </a:avLst>
          </a:prstGeom>
          <a:solidFill>
            <a:srgbClr val="1A1A2E"/>
          </a:solidFill>
          <a:ln>
            <a:solidFill>
              <a:srgbClr val="333333"/>
            </a:solidFill>
          </a:ln>
        </p:spPr>
        <p:txBody>
          <a:bodyPr lIns="45719" rIns="45719" anchor="ctr"/>
          <a:lstStyle/>
          <a:p>
            <a:pPr algn="ctr">
              <a:defRPr>
                <a:solidFill>
                  <a:srgbClr val="FFFFFF"/>
                </a:solidFill>
              </a:defRPr>
            </a:pPr>
          </a:p>
        </p:txBody>
      </p:sp>
      <p:sp>
        <p:nvSpPr>
          <p:cNvPr id="279" name="TextBox 7"/>
          <p:cNvSpPr txBox="1"/>
          <p:nvPr/>
        </p:nvSpPr>
        <p:spPr>
          <a:xfrm>
            <a:off x="868680" y="2430779"/>
            <a:ext cx="10515601" cy="182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0000"/>
              </a:lnSpc>
              <a:defRPr sz="1200">
                <a:solidFill>
                  <a:srgbClr val="888888"/>
                </a:solidFill>
                <a:latin typeface="JetBrains Mono Regular"/>
                <a:ea typeface="JetBrains Mono Regular"/>
                <a:cs typeface="JetBrains Mono Regular"/>
                <a:sym typeface="JetBrains Mono Regular"/>
              </a:defRPr>
            </a:pPr>
            <a:r>
              <a:t>1.  </a:t>
            </a:r>
            <a:r>
              <a:rPr>
                <a:solidFill>
                  <a:srgbClr val="00D4FF"/>
                </a:solidFill>
                <a:latin typeface="JetBrains Mono Bold"/>
                <a:ea typeface="JetBrains Mono Bold"/>
                <a:cs typeface="JetBrains Mono Bold"/>
                <a:sym typeface="JetBrains Mono Bold"/>
              </a:rPr>
              <a:t>Read file tree</a:t>
            </a:r>
            <a:r>
              <a:rPr>
                <a:solidFill>
                  <a:srgbClr val="F2F2F2"/>
                </a:solidFill>
              </a:rPr>
              <a:t>       →  “Kako ovaj projekt izgleda?”</a:t>
            </a:r>
            <a:endParaRPr>
              <a:solidFill>
                <a:srgbClr val="F2F2F2"/>
              </a:solidFill>
            </a:endParaRPr>
          </a:p>
          <a:p>
            <a:pPr>
              <a:lnSpc>
                <a:spcPct val="160000"/>
              </a:lnSpc>
              <a:defRPr sz="1200">
                <a:solidFill>
                  <a:srgbClr val="888888"/>
                </a:solidFill>
                <a:latin typeface="JetBrains Mono Regular"/>
                <a:ea typeface="JetBrains Mono Regular"/>
                <a:cs typeface="JetBrains Mono Regular"/>
                <a:sym typeface="JetBrains Mono Regular"/>
              </a:defRPr>
            </a:pPr>
            <a:r>
              <a:t>2.  </a:t>
            </a:r>
            <a:r>
              <a:rPr>
                <a:solidFill>
                  <a:srgbClr val="00D4FF"/>
                </a:solidFill>
                <a:latin typeface="JetBrains Mono Bold"/>
                <a:ea typeface="JetBrains Mono Bold"/>
                <a:cs typeface="JetBrains Mono Bold"/>
                <a:sym typeface="JetBrains Mono Bold"/>
              </a:rPr>
              <a:t>Glob</a:t>
            </a:r>
            <a:r>
              <a:rPr>
                <a:solidFill>
                  <a:srgbClr val="F2F2F2"/>
                </a:solidFill>
              </a:rPr>
              <a:t> (find files)    →  “Koje su datoteke vezane uz moj zadatak?”</a:t>
            </a:r>
            <a:endParaRPr>
              <a:solidFill>
                <a:srgbClr val="F2F2F2"/>
              </a:solidFill>
            </a:endParaRPr>
          </a:p>
          <a:p>
            <a:pPr>
              <a:lnSpc>
                <a:spcPct val="160000"/>
              </a:lnSpc>
              <a:defRPr sz="1200">
                <a:solidFill>
                  <a:srgbClr val="888888"/>
                </a:solidFill>
                <a:latin typeface="JetBrains Mono Regular"/>
                <a:ea typeface="JetBrains Mono Regular"/>
                <a:cs typeface="JetBrains Mono Regular"/>
                <a:sym typeface="JetBrains Mono Regular"/>
              </a:defRPr>
            </a:pPr>
            <a:r>
              <a:t>3.  </a:t>
            </a:r>
            <a:r>
              <a:rPr>
                <a:solidFill>
                  <a:srgbClr val="00D4FF"/>
                </a:solidFill>
                <a:latin typeface="JetBrains Mono Bold"/>
                <a:ea typeface="JetBrains Mono Bold"/>
                <a:cs typeface="JetBrains Mono Bold"/>
                <a:sym typeface="JetBrains Mono Bold"/>
              </a:rPr>
              <a:t>Grep</a:t>
            </a:r>
            <a:r>
              <a:rPr>
                <a:solidFill>
                  <a:srgbClr val="F2F2F2"/>
                </a:solidFill>
              </a:rPr>
              <a:t> (search code)   →  “Koja od ovih komponenti sadrži ono što meni treba?”</a:t>
            </a:r>
            <a:endParaRPr>
              <a:solidFill>
                <a:srgbClr val="F2F2F2"/>
              </a:solidFill>
            </a:endParaRPr>
          </a:p>
          <a:p>
            <a:pPr>
              <a:lnSpc>
                <a:spcPct val="160000"/>
              </a:lnSpc>
              <a:defRPr sz="1200">
                <a:solidFill>
                  <a:srgbClr val="888888"/>
                </a:solidFill>
                <a:latin typeface="JetBrains Mono Regular"/>
                <a:ea typeface="JetBrains Mono Regular"/>
                <a:cs typeface="JetBrains Mono Regular"/>
                <a:sym typeface="JetBrains Mono Regular"/>
              </a:defRPr>
            </a:pPr>
            <a:r>
              <a:t>4.  </a:t>
            </a:r>
            <a:r>
              <a:rPr>
                <a:solidFill>
                  <a:srgbClr val="00D4FF"/>
                </a:solidFill>
                <a:latin typeface="JetBrains Mono Bold"/>
                <a:ea typeface="JetBrains Mono Bold"/>
                <a:cs typeface="JetBrains Mono Bold"/>
                <a:sym typeface="JetBrains Mono Bold"/>
              </a:rPr>
              <a:t>Read</a:t>
            </a:r>
            <a:r>
              <a:rPr>
                <a:solidFill>
                  <a:srgbClr val="F2F2F2"/>
                </a:solidFill>
              </a:rPr>
              <a:t> (load file)     →  “Pokušavam shvatit kako funkcionira ova komponenta.”</a:t>
            </a:r>
            <a:endParaRPr>
              <a:solidFill>
                <a:srgbClr val="F2F2F2"/>
              </a:solidFill>
            </a:endParaRPr>
          </a:p>
          <a:p>
            <a:pPr>
              <a:lnSpc>
                <a:spcPct val="160000"/>
              </a:lnSpc>
              <a:defRPr sz="1200">
                <a:solidFill>
                  <a:srgbClr val="888888"/>
                </a:solidFill>
                <a:latin typeface="JetBrains Mono Regular"/>
                <a:ea typeface="JetBrains Mono Regular"/>
                <a:cs typeface="JetBrains Mono Regular"/>
                <a:sym typeface="JetBrains Mono Regular"/>
              </a:defRPr>
            </a:pPr>
            <a:r>
              <a:t>5.  </a:t>
            </a:r>
            <a:r>
              <a:rPr>
                <a:solidFill>
                  <a:srgbClr val="00D4FF"/>
                </a:solidFill>
                <a:latin typeface="JetBrains Mono Bold"/>
                <a:ea typeface="JetBrains Mono Bold"/>
                <a:cs typeface="JetBrains Mono Bold"/>
                <a:sym typeface="JetBrains Mono Bold"/>
              </a:rPr>
              <a:t>Follow imports</a:t>
            </a:r>
            <a:r>
              <a:rPr>
                <a:solidFill>
                  <a:srgbClr val="F2F2F2"/>
                </a:solidFill>
              </a:rPr>
              <a:t>       →  “O čemu ovisi ova komponenta?”</a:t>
            </a:r>
            <a:endParaRPr>
              <a:solidFill>
                <a:srgbClr val="F2F2F2"/>
              </a:solidFill>
            </a:endParaRPr>
          </a:p>
          <a:p>
            <a:pPr>
              <a:lnSpc>
                <a:spcPct val="160000"/>
              </a:lnSpc>
              <a:defRPr sz="1200">
                <a:solidFill>
                  <a:srgbClr val="F2F2F2"/>
                </a:solidFill>
                <a:latin typeface="JetBrains Mono Regular"/>
                <a:ea typeface="JetBrains Mono Regular"/>
                <a:cs typeface="JetBrains Mono Regular"/>
                <a:sym typeface="JetBrains Mono Regular"/>
              </a:defRPr>
            </a:pPr>
            <a:r>
              <a:t>6.  Repeat 4–5           →  </a:t>
            </a:r>
            <a:r>
              <a:rPr>
                <a:solidFill>
                  <a:srgbClr val="FF4757"/>
                </a:solidFill>
                <a:latin typeface="JetBrains Mono Bold"/>
                <a:ea typeface="JetBrains Mono Bold"/>
                <a:cs typeface="JetBrains Mono Bold"/>
                <a:sym typeface="JetBrains Mono Bold"/>
              </a:rPr>
              <a:t>Svaki skok puni kontekst i troši tokene</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11729"/>
        </a:solidFill>
      </p:bgPr>
    </p:bg>
    <p:spTree>
      <p:nvGrpSpPr>
        <p:cNvPr id="1" name=""/>
        <p:cNvGrpSpPr/>
        <p:nvPr/>
      </p:nvGrpSpPr>
      <p:grpSpPr>
        <a:xfrm>
          <a:off x="0" y="0"/>
          <a:ext cx="0" cy="0"/>
          <a:chOff x="0" y="0"/>
          <a:chExt cx="0" cy="0"/>
        </a:xfrm>
      </p:grpSpPr>
      <p:sp>
        <p:nvSpPr>
          <p:cNvPr id="283"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Pristup B: Agentic Search</a:t>
            </a:r>
          </a:p>
        </p:txBody>
      </p:sp>
      <p:sp>
        <p:nvSpPr>
          <p:cNvPr id="284" name="Rectangle 2"/>
          <p:cNvSpPr/>
          <p:nvPr/>
        </p:nvSpPr>
        <p:spPr>
          <a:xfrm>
            <a:off x="640080" y="1280160"/>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grpSp>
        <p:nvGrpSpPr>
          <p:cNvPr id="287" name="Rounded Rectangle 4"/>
          <p:cNvGrpSpPr/>
          <p:nvPr/>
        </p:nvGrpSpPr>
        <p:grpSpPr>
          <a:xfrm>
            <a:off x="8610600" y="686815"/>
            <a:ext cx="1581912" cy="292609"/>
            <a:chOff x="0" y="0"/>
            <a:chExt cx="1581911" cy="292608"/>
          </a:xfrm>
        </p:grpSpPr>
        <p:sp>
          <p:nvSpPr>
            <p:cNvPr id="285" name="Rounded Rectangle"/>
            <p:cNvSpPr/>
            <p:nvPr/>
          </p:nvSpPr>
          <p:spPr>
            <a:xfrm>
              <a:off x="0" y="0"/>
              <a:ext cx="1581912" cy="292609"/>
            </a:xfrm>
            <a:prstGeom prst="roundRect">
              <a:avLst>
                <a:gd name="adj" fmla="val 50000"/>
              </a:avLst>
            </a:prstGeom>
            <a:noFill/>
            <a:ln w="9525" cap="flat">
              <a:solidFill>
                <a:srgbClr val="2ED573"/>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286" name="Claude Code"/>
            <p:cNvSpPr txBox="1"/>
            <p:nvPr/>
          </p:nvSpPr>
          <p:spPr>
            <a:xfrm>
              <a:off x="93333" y="70104"/>
              <a:ext cx="1395246"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2ED573"/>
                  </a:solidFill>
                  <a:latin typeface="Inter Bold"/>
                  <a:ea typeface="Inter Bold"/>
                  <a:cs typeface="Inter Bold"/>
                  <a:sym typeface="Inter Bold"/>
                </a:defRPr>
              </a:lvl1pPr>
            </a:lstStyle>
            <a:p>
              <a:pPr/>
              <a:r>
                <a:t>Claude Code</a:t>
              </a:r>
            </a:p>
          </p:txBody>
        </p:sp>
      </p:grpSp>
      <p:sp>
        <p:nvSpPr>
          <p:cNvPr id="288" name="TextBox 5"/>
          <p:cNvSpPr txBox="1"/>
          <p:nvPr/>
        </p:nvSpPr>
        <p:spPr>
          <a:xfrm>
            <a:off x="640079" y="1691639"/>
            <a:ext cx="10908794"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F2F2F2"/>
                </a:solidFill>
                <a:latin typeface="Inter Regular"/>
                <a:ea typeface="Inter Regular"/>
                <a:cs typeface="Inter Regular"/>
                <a:sym typeface="Inter Regular"/>
              </a:defRPr>
            </a:pPr>
            <a:r>
              <a:t>Nema indeksiranja. AI </a:t>
            </a:r>
            <a:r>
              <a:rPr>
                <a:solidFill>
                  <a:srgbClr val="00D4FF"/>
                </a:solidFill>
                <a:latin typeface="Inter Bold"/>
                <a:ea typeface="Inter Bold"/>
                <a:cs typeface="Inter Bold"/>
                <a:sym typeface="Inter Bold"/>
              </a:rPr>
              <a:t>istražuje po potrebi</a:t>
            </a:r>
            <a:r>
              <a:t>, poput developera:</a:t>
            </a:r>
          </a:p>
        </p:txBody>
      </p:sp>
      <p:sp>
        <p:nvSpPr>
          <p:cNvPr id="289" name="Rounded Rectangle 6"/>
          <p:cNvSpPr/>
          <p:nvPr/>
        </p:nvSpPr>
        <p:spPr>
          <a:xfrm>
            <a:off x="640080" y="2202179"/>
            <a:ext cx="10972801" cy="2468881"/>
          </a:xfrm>
          <a:prstGeom prst="roundRect">
            <a:avLst>
              <a:gd name="adj" fmla="val 4000"/>
            </a:avLst>
          </a:prstGeom>
          <a:solidFill>
            <a:srgbClr val="1A1A2E"/>
          </a:solidFill>
          <a:ln>
            <a:solidFill>
              <a:srgbClr val="333333"/>
            </a:solidFill>
          </a:ln>
        </p:spPr>
        <p:txBody>
          <a:bodyPr lIns="45719" rIns="45719" anchor="ctr"/>
          <a:lstStyle/>
          <a:p>
            <a:pPr algn="ctr">
              <a:defRPr>
                <a:solidFill>
                  <a:srgbClr val="FFFFFF"/>
                </a:solidFill>
              </a:defRPr>
            </a:pPr>
          </a:p>
        </p:txBody>
      </p:sp>
      <p:sp>
        <p:nvSpPr>
          <p:cNvPr id="290" name="TextBox 7"/>
          <p:cNvSpPr txBox="1"/>
          <p:nvPr/>
        </p:nvSpPr>
        <p:spPr>
          <a:xfrm>
            <a:off x="868680" y="2430779"/>
            <a:ext cx="10515601" cy="182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0000"/>
              </a:lnSpc>
              <a:defRPr sz="1200">
                <a:solidFill>
                  <a:srgbClr val="888888"/>
                </a:solidFill>
                <a:latin typeface="JetBrains Mono Regular"/>
                <a:ea typeface="JetBrains Mono Regular"/>
                <a:cs typeface="JetBrains Mono Regular"/>
                <a:sym typeface="JetBrains Mono Regular"/>
              </a:defRPr>
            </a:pPr>
            <a:r>
              <a:t>1.  </a:t>
            </a:r>
            <a:r>
              <a:rPr>
                <a:solidFill>
                  <a:srgbClr val="00D4FF"/>
                </a:solidFill>
                <a:latin typeface="JetBrains Mono Bold"/>
                <a:ea typeface="JetBrains Mono Bold"/>
                <a:cs typeface="JetBrains Mono Bold"/>
                <a:sym typeface="JetBrains Mono Bold"/>
              </a:rPr>
              <a:t>Read file tree</a:t>
            </a:r>
            <a:r>
              <a:rPr>
                <a:solidFill>
                  <a:srgbClr val="F2F2F2"/>
                </a:solidFill>
              </a:rPr>
              <a:t>       →  “Kako ovaj projekt izgleda?”</a:t>
            </a:r>
            <a:endParaRPr>
              <a:solidFill>
                <a:srgbClr val="F2F2F2"/>
              </a:solidFill>
            </a:endParaRPr>
          </a:p>
          <a:p>
            <a:pPr>
              <a:lnSpc>
                <a:spcPct val="160000"/>
              </a:lnSpc>
              <a:defRPr sz="1200">
                <a:solidFill>
                  <a:srgbClr val="888888"/>
                </a:solidFill>
                <a:latin typeface="JetBrains Mono Regular"/>
                <a:ea typeface="JetBrains Mono Regular"/>
                <a:cs typeface="JetBrains Mono Regular"/>
                <a:sym typeface="JetBrains Mono Regular"/>
              </a:defRPr>
            </a:pPr>
            <a:r>
              <a:t>2.  </a:t>
            </a:r>
            <a:r>
              <a:rPr>
                <a:solidFill>
                  <a:srgbClr val="00D4FF"/>
                </a:solidFill>
                <a:latin typeface="JetBrains Mono Bold"/>
                <a:ea typeface="JetBrains Mono Bold"/>
                <a:cs typeface="JetBrains Mono Bold"/>
                <a:sym typeface="JetBrains Mono Bold"/>
              </a:rPr>
              <a:t>Glob</a:t>
            </a:r>
            <a:r>
              <a:rPr>
                <a:solidFill>
                  <a:srgbClr val="F2F2F2"/>
                </a:solidFill>
              </a:rPr>
              <a:t> (find files)    →  “Koje su datoteke vezane uz moj zadatak?”</a:t>
            </a:r>
            <a:endParaRPr>
              <a:solidFill>
                <a:srgbClr val="F2F2F2"/>
              </a:solidFill>
            </a:endParaRPr>
          </a:p>
          <a:p>
            <a:pPr>
              <a:lnSpc>
                <a:spcPct val="160000"/>
              </a:lnSpc>
              <a:defRPr sz="1200">
                <a:solidFill>
                  <a:srgbClr val="888888"/>
                </a:solidFill>
                <a:latin typeface="JetBrains Mono Regular"/>
                <a:ea typeface="JetBrains Mono Regular"/>
                <a:cs typeface="JetBrains Mono Regular"/>
                <a:sym typeface="JetBrains Mono Regular"/>
              </a:defRPr>
            </a:pPr>
            <a:r>
              <a:t>3.  </a:t>
            </a:r>
            <a:r>
              <a:rPr>
                <a:solidFill>
                  <a:srgbClr val="00D4FF"/>
                </a:solidFill>
                <a:latin typeface="JetBrains Mono Bold"/>
                <a:ea typeface="JetBrains Mono Bold"/>
                <a:cs typeface="JetBrains Mono Bold"/>
                <a:sym typeface="JetBrains Mono Bold"/>
              </a:rPr>
              <a:t>Grep</a:t>
            </a:r>
            <a:r>
              <a:rPr>
                <a:solidFill>
                  <a:srgbClr val="F2F2F2"/>
                </a:solidFill>
              </a:rPr>
              <a:t> (search code)   →  “Koja od ovih komponenti sadrži ono što meni treba?”</a:t>
            </a:r>
            <a:endParaRPr>
              <a:solidFill>
                <a:srgbClr val="F2F2F2"/>
              </a:solidFill>
            </a:endParaRPr>
          </a:p>
          <a:p>
            <a:pPr>
              <a:lnSpc>
                <a:spcPct val="160000"/>
              </a:lnSpc>
              <a:defRPr sz="1200">
                <a:solidFill>
                  <a:srgbClr val="888888"/>
                </a:solidFill>
                <a:latin typeface="JetBrains Mono Regular"/>
                <a:ea typeface="JetBrains Mono Regular"/>
                <a:cs typeface="JetBrains Mono Regular"/>
                <a:sym typeface="JetBrains Mono Regular"/>
              </a:defRPr>
            </a:pPr>
            <a:r>
              <a:t>4.  </a:t>
            </a:r>
            <a:r>
              <a:rPr>
                <a:solidFill>
                  <a:srgbClr val="00D4FF"/>
                </a:solidFill>
                <a:latin typeface="JetBrains Mono Bold"/>
                <a:ea typeface="JetBrains Mono Bold"/>
                <a:cs typeface="JetBrains Mono Bold"/>
                <a:sym typeface="JetBrains Mono Bold"/>
              </a:rPr>
              <a:t>Read</a:t>
            </a:r>
            <a:r>
              <a:rPr>
                <a:solidFill>
                  <a:srgbClr val="F2F2F2"/>
                </a:solidFill>
              </a:rPr>
              <a:t> (load file)     →  “Pokušavam shvatit kako funkcionira ova komponenta.”</a:t>
            </a:r>
            <a:endParaRPr>
              <a:solidFill>
                <a:srgbClr val="F2F2F2"/>
              </a:solidFill>
            </a:endParaRPr>
          </a:p>
          <a:p>
            <a:pPr>
              <a:lnSpc>
                <a:spcPct val="160000"/>
              </a:lnSpc>
              <a:defRPr sz="1200">
                <a:solidFill>
                  <a:srgbClr val="888888"/>
                </a:solidFill>
                <a:latin typeface="JetBrains Mono Regular"/>
                <a:ea typeface="JetBrains Mono Regular"/>
                <a:cs typeface="JetBrains Mono Regular"/>
                <a:sym typeface="JetBrains Mono Regular"/>
              </a:defRPr>
            </a:pPr>
            <a:r>
              <a:t>5.  </a:t>
            </a:r>
            <a:r>
              <a:rPr>
                <a:solidFill>
                  <a:srgbClr val="00D4FF"/>
                </a:solidFill>
                <a:latin typeface="JetBrains Mono Bold"/>
                <a:ea typeface="JetBrains Mono Bold"/>
                <a:cs typeface="JetBrains Mono Bold"/>
                <a:sym typeface="JetBrains Mono Bold"/>
              </a:rPr>
              <a:t>Follow imports</a:t>
            </a:r>
            <a:r>
              <a:rPr>
                <a:solidFill>
                  <a:srgbClr val="F2F2F2"/>
                </a:solidFill>
              </a:rPr>
              <a:t>       →  “O čemu ovisi ova komponenta?”</a:t>
            </a:r>
            <a:endParaRPr>
              <a:solidFill>
                <a:srgbClr val="F2F2F2"/>
              </a:solidFill>
            </a:endParaRPr>
          </a:p>
          <a:p>
            <a:pPr>
              <a:lnSpc>
                <a:spcPct val="160000"/>
              </a:lnSpc>
              <a:defRPr sz="1200">
                <a:solidFill>
                  <a:srgbClr val="F2F2F2"/>
                </a:solidFill>
                <a:latin typeface="JetBrains Mono Regular"/>
                <a:ea typeface="JetBrains Mono Regular"/>
                <a:cs typeface="JetBrains Mono Regular"/>
                <a:sym typeface="JetBrains Mono Regular"/>
              </a:defRPr>
            </a:pPr>
            <a:r>
              <a:t>6.  Repeat 4–5           →  </a:t>
            </a:r>
            <a:r>
              <a:rPr>
                <a:solidFill>
                  <a:srgbClr val="FF4757"/>
                </a:solidFill>
                <a:latin typeface="JetBrains Mono Bold"/>
                <a:ea typeface="JetBrains Mono Bold"/>
                <a:cs typeface="JetBrains Mono Bold"/>
                <a:sym typeface="JetBrains Mono Bold"/>
              </a:rPr>
              <a:t>Svaki skok puni kontekst i troši tokene</a:t>
            </a:r>
          </a:p>
        </p:txBody>
      </p:sp>
      <p:sp>
        <p:nvSpPr>
          <p:cNvPr id="291" name="Rounded Rectangle 9"/>
          <p:cNvSpPr/>
          <p:nvPr/>
        </p:nvSpPr>
        <p:spPr>
          <a:xfrm>
            <a:off x="640080" y="5031740"/>
            <a:ext cx="10972801" cy="919481"/>
          </a:xfrm>
          <a:prstGeom prst="roundRect">
            <a:avLst>
              <a:gd name="adj" fmla="val 5669"/>
            </a:avLst>
          </a:prstGeom>
          <a:solidFill>
            <a:srgbClr val="0E3A47"/>
          </a:solidFill>
          <a:ln w="12700">
            <a:miter lim="400000"/>
          </a:ln>
        </p:spPr>
        <p:txBody>
          <a:bodyPr lIns="45719" rIns="45719" anchor="ctr"/>
          <a:lstStyle/>
          <a:p>
            <a:pPr algn="ctr">
              <a:defRPr>
                <a:solidFill>
                  <a:srgbClr val="FFFFFF"/>
                </a:solidFill>
              </a:defRPr>
            </a:pPr>
          </a:p>
        </p:txBody>
      </p:sp>
      <p:sp>
        <p:nvSpPr>
          <p:cNvPr id="292" name="Rectangle 10"/>
          <p:cNvSpPr/>
          <p:nvPr/>
        </p:nvSpPr>
        <p:spPr>
          <a:xfrm>
            <a:off x="640080" y="5031740"/>
            <a:ext cx="54865" cy="919481"/>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293" name="TextBox 11"/>
          <p:cNvSpPr txBox="1"/>
          <p:nvPr/>
        </p:nvSpPr>
        <p:spPr>
          <a:xfrm>
            <a:off x="890012" y="5373623"/>
            <a:ext cx="1060704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500">
                <a:solidFill>
                  <a:srgbClr val="F2F2F2"/>
                </a:solidFill>
                <a:latin typeface="Inter Regular"/>
                <a:ea typeface="Inter Regular"/>
                <a:cs typeface="Inter Regular"/>
                <a:sym typeface="Inter Regular"/>
              </a:defRPr>
            </a:lvl1pPr>
          </a:lstStyle>
          <a:p>
            <a:pPr/>
            <a:r>
              <a:t>Niska kohezija -&gt; brže punjenje konteksta -&gt; veća potrošnja tokena</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Što je zajedničko?</a:t>
            </a:r>
          </a:p>
        </p:txBody>
      </p:sp>
      <p:sp>
        <p:nvSpPr>
          <p:cNvPr id="298" name="Rectangle 2"/>
          <p:cNvSpPr/>
          <p:nvPr/>
        </p:nvSpPr>
        <p:spPr>
          <a:xfrm>
            <a:off x="640080" y="1280160"/>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299" name="TextBox 5"/>
          <p:cNvSpPr txBox="1"/>
          <p:nvPr/>
        </p:nvSpPr>
        <p:spPr>
          <a:xfrm>
            <a:off x="635000" y="1689100"/>
            <a:ext cx="7773728" cy="12966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5000"/>
              </a:lnSpc>
              <a:defRPr sz="1500">
                <a:solidFill>
                  <a:srgbClr val="F2F2F2"/>
                </a:solidFill>
                <a:latin typeface="Inter Regular"/>
                <a:ea typeface="Inter Regular"/>
                <a:cs typeface="Inter Regular"/>
                <a:sym typeface="Inter Regular"/>
              </a:defRPr>
            </a:pPr>
            <a:r>
              <a:t>•  AI mora </a:t>
            </a:r>
            <a:r>
              <a:rPr>
                <a:solidFill>
                  <a:srgbClr val="00D4FF"/>
                </a:solidFill>
                <a:latin typeface="Inter Bold"/>
                <a:ea typeface="Inter Bold"/>
                <a:cs typeface="Inter Bold"/>
                <a:sym typeface="Inter Bold"/>
              </a:rPr>
              <a:t>odabrati</a:t>
            </a:r>
            <a:r>
              <a:t> što će uključiti u kontekst</a:t>
            </a:r>
          </a:p>
          <a:p>
            <a:pPr>
              <a:lnSpc>
                <a:spcPct val="145000"/>
              </a:lnSpc>
              <a:spcBef>
                <a:spcPts val="1400"/>
              </a:spcBef>
              <a:defRPr sz="1500">
                <a:solidFill>
                  <a:srgbClr val="F2F2F2"/>
                </a:solidFill>
                <a:latin typeface="Inter Regular"/>
                <a:ea typeface="Inter Regular"/>
                <a:cs typeface="Inter Regular"/>
                <a:sym typeface="Inter Regular"/>
              </a:defRPr>
            </a:pPr>
            <a:r>
              <a:t>•  </a:t>
            </a:r>
            <a:r>
              <a:rPr>
                <a:solidFill>
                  <a:srgbClr val="00D4FF"/>
                </a:solidFill>
                <a:latin typeface="Inter Bold"/>
                <a:ea typeface="Inter Bold"/>
                <a:cs typeface="Inter Bold"/>
                <a:sym typeface="Inter Bold"/>
              </a:rPr>
              <a:t>Imenovanje je bitno </a:t>
            </a:r>
            <a:r>
              <a:t>- bolji embeddingsi, pattern matching</a:t>
            </a:r>
          </a:p>
          <a:p>
            <a:pPr>
              <a:lnSpc>
                <a:spcPct val="145000"/>
              </a:lnSpc>
              <a:spcBef>
                <a:spcPts val="1400"/>
              </a:spcBef>
              <a:defRPr sz="1500">
                <a:solidFill>
                  <a:srgbClr val="F2F2F2"/>
                </a:solidFill>
                <a:latin typeface="Inter Regular"/>
                <a:ea typeface="Inter Regular"/>
                <a:cs typeface="Inter Regular"/>
                <a:sym typeface="Inter Regular"/>
              </a:defRPr>
            </a:pPr>
            <a:r>
              <a:t>•  </a:t>
            </a:r>
            <a:r>
              <a:rPr>
                <a:solidFill>
                  <a:srgbClr val="00D4FF"/>
                </a:solidFill>
                <a:latin typeface="Inter Bold"/>
                <a:ea typeface="Inter Bold"/>
                <a:cs typeface="Inter Bold"/>
                <a:sym typeface="Inter Bold"/>
              </a:rPr>
              <a:t>Jasne granice </a:t>
            </a:r>
            <a:r>
              <a:t>= manje šuma, manje uzalud potrošenih tokena, bolji output</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Što je zajedničko?</a:t>
            </a:r>
          </a:p>
        </p:txBody>
      </p:sp>
      <p:sp>
        <p:nvSpPr>
          <p:cNvPr id="302" name="Rectangle 2"/>
          <p:cNvSpPr/>
          <p:nvPr/>
        </p:nvSpPr>
        <p:spPr>
          <a:xfrm>
            <a:off x="640080" y="1280160"/>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303" name="TextBox 5"/>
          <p:cNvSpPr txBox="1"/>
          <p:nvPr/>
        </p:nvSpPr>
        <p:spPr>
          <a:xfrm>
            <a:off x="635000" y="1689100"/>
            <a:ext cx="7773728" cy="12966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5000"/>
              </a:lnSpc>
              <a:defRPr sz="1500">
                <a:solidFill>
                  <a:srgbClr val="F2F2F2"/>
                </a:solidFill>
                <a:latin typeface="Inter Regular"/>
                <a:ea typeface="Inter Regular"/>
                <a:cs typeface="Inter Regular"/>
                <a:sym typeface="Inter Regular"/>
              </a:defRPr>
            </a:pPr>
            <a:r>
              <a:t>•  AI mora </a:t>
            </a:r>
            <a:r>
              <a:rPr>
                <a:solidFill>
                  <a:srgbClr val="00D4FF"/>
                </a:solidFill>
                <a:latin typeface="Inter Bold"/>
                <a:ea typeface="Inter Bold"/>
                <a:cs typeface="Inter Bold"/>
                <a:sym typeface="Inter Bold"/>
              </a:rPr>
              <a:t>odabrati</a:t>
            </a:r>
            <a:r>
              <a:t> što će uključiti u kontekst</a:t>
            </a:r>
          </a:p>
          <a:p>
            <a:pPr>
              <a:lnSpc>
                <a:spcPct val="145000"/>
              </a:lnSpc>
              <a:spcBef>
                <a:spcPts val="1400"/>
              </a:spcBef>
              <a:defRPr sz="1500">
                <a:solidFill>
                  <a:srgbClr val="F2F2F2"/>
                </a:solidFill>
                <a:latin typeface="Inter Regular"/>
                <a:ea typeface="Inter Regular"/>
                <a:cs typeface="Inter Regular"/>
                <a:sym typeface="Inter Regular"/>
              </a:defRPr>
            </a:pPr>
            <a:r>
              <a:t>•  </a:t>
            </a:r>
            <a:r>
              <a:rPr>
                <a:solidFill>
                  <a:srgbClr val="00D4FF"/>
                </a:solidFill>
                <a:latin typeface="Inter Bold"/>
                <a:ea typeface="Inter Bold"/>
                <a:cs typeface="Inter Bold"/>
                <a:sym typeface="Inter Bold"/>
              </a:rPr>
              <a:t>Imenovanje je bitno </a:t>
            </a:r>
            <a:r>
              <a:t>- bolji embeddingsi, pattern matching</a:t>
            </a:r>
          </a:p>
          <a:p>
            <a:pPr>
              <a:lnSpc>
                <a:spcPct val="145000"/>
              </a:lnSpc>
              <a:spcBef>
                <a:spcPts val="1400"/>
              </a:spcBef>
              <a:defRPr sz="1500">
                <a:solidFill>
                  <a:srgbClr val="F2F2F2"/>
                </a:solidFill>
                <a:latin typeface="Inter Regular"/>
                <a:ea typeface="Inter Regular"/>
                <a:cs typeface="Inter Regular"/>
                <a:sym typeface="Inter Regular"/>
              </a:defRPr>
            </a:pPr>
            <a:r>
              <a:t>•  </a:t>
            </a:r>
            <a:r>
              <a:rPr>
                <a:solidFill>
                  <a:srgbClr val="00D4FF"/>
                </a:solidFill>
                <a:latin typeface="Inter Bold"/>
                <a:ea typeface="Inter Bold"/>
                <a:cs typeface="Inter Bold"/>
                <a:sym typeface="Inter Bold"/>
              </a:rPr>
              <a:t>Jasne granice </a:t>
            </a:r>
            <a:r>
              <a:t>= manje šuma, manje uzalud potrošenih tokena, bolji output</a:t>
            </a:r>
          </a:p>
        </p:txBody>
      </p:sp>
      <p:sp>
        <p:nvSpPr>
          <p:cNvPr id="304" name="Rounded Rectangle 6"/>
          <p:cNvSpPr/>
          <p:nvPr/>
        </p:nvSpPr>
        <p:spPr>
          <a:xfrm>
            <a:off x="635000" y="4687189"/>
            <a:ext cx="5486400" cy="777241"/>
          </a:xfrm>
          <a:prstGeom prst="roundRect">
            <a:avLst>
              <a:gd name="adj" fmla="val 6000"/>
            </a:avLst>
          </a:prstGeom>
          <a:solidFill>
            <a:srgbClr val="0E3A47"/>
          </a:solidFill>
          <a:ln w="12700">
            <a:miter lim="400000"/>
          </a:ln>
        </p:spPr>
        <p:txBody>
          <a:bodyPr lIns="45719" rIns="45719" anchor="ctr"/>
          <a:lstStyle/>
          <a:p>
            <a:pPr algn="ctr">
              <a:defRPr>
                <a:solidFill>
                  <a:srgbClr val="FFFFFF"/>
                </a:solidFill>
              </a:defRPr>
            </a:pPr>
          </a:p>
        </p:txBody>
      </p:sp>
      <p:sp>
        <p:nvSpPr>
          <p:cNvPr id="305" name="Rectangle 7"/>
          <p:cNvSpPr/>
          <p:nvPr/>
        </p:nvSpPr>
        <p:spPr>
          <a:xfrm>
            <a:off x="635000" y="4687189"/>
            <a:ext cx="54864" cy="777241"/>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306" name="TextBox 8"/>
          <p:cNvSpPr txBox="1"/>
          <p:nvPr/>
        </p:nvSpPr>
        <p:spPr>
          <a:xfrm>
            <a:off x="863600" y="4969890"/>
            <a:ext cx="51206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a:solidFill>
                  <a:srgbClr val="F2F2F2"/>
                </a:solidFill>
                <a:latin typeface="Inter Regular"/>
                <a:ea typeface="Inter Regular"/>
                <a:cs typeface="Inter Regular"/>
                <a:sym typeface="Inter Regular"/>
              </a:defRPr>
            </a:pPr>
            <a:r>
              <a:rPr>
                <a:solidFill>
                  <a:srgbClr val="00D4FF"/>
                </a:solidFill>
                <a:latin typeface="Inter Bold"/>
                <a:ea typeface="Inter Bold"/>
                <a:cs typeface="Inter Bold"/>
                <a:sym typeface="Inter Bold"/>
              </a:rPr>
              <a:t>Arhitektura</a:t>
            </a:r>
            <a:r>
              <a:t> = kontekst.</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bg>
      <p:bgPr>
        <a:solidFill>
          <a:srgbClr val="0A0A0A"/>
        </a:solidFill>
      </p:bgPr>
    </p:bg>
    <p:spTree>
      <p:nvGrpSpPr>
        <p:cNvPr id="1" name=""/>
        <p:cNvGrpSpPr/>
        <p:nvPr/>
      </p:nvGrpSpPr>
      <p:grpSpPr>
        <a:xfrm>
          <a:off x="0" y="0"/>
          <a:ext cx="0" cy="0"/>
          <a:chOff x="0" y="0"/>
          <a:chExt cx="0" cy="0"/>
        </a:xfrm>
      </p:grpSpPr>
      <p:sp>
        <p:nvSpPr>
          <p:cNvPr id="308"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What Goes Wrong</a:t>
            </a:r>
          </a:p>
        </p:txBody>
      </p:sp>
      <p:sp>
        <p:nvSpPr>
          <p:cNvPr id="309" name="TextBox 2"/>
          <p:cNvSpPr txBox="1"/>
          <p:nvPr/>
        </p:nvSpPr>
        <p:spPr>
          <a:xfrm>
            <a:off x="640079" y="1371600"/>
            <a:ext cx="10908794"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888888"/>
                </a:solidFill>
                <a:latin typeface="Inter Regular"/>
                <a:ea typeface="Inter Regular"/>
                <a:cs typeface="Inter Regular"/>
                <a:sym typeface="Inter Regular"/>
              </a:defRPr>
            </a:lvl1pPr>
          </a:lstStyle>
          <a:p>
            <a:pPr/>
            <a:r>
              <a:t>Task: “Add a delete button to the user profile card”</a:t>
            </a:r>
          </a:p>
        </p:txBody>
      </p:sp>
      <p:sp>
        <p:nvSpPr>
          <p:cNvPr id="310" name="Rectangle 3"/>
          <p:cNvSpPr/>
          <p:nvPr/>
        </p:nvSpPr>
        <p:spPr>
          <a:xfrm>
            <a:off x="640080" y="1691638"/>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311" name="TextBox 4"/>
          <p:cNvSpPr txBox="1"/>
          <p:nvPr/>
        </p:nvSpPr>
        <p:spPr>
          <a:xfrm>
            <a:off x="640079" y="2011679"/>
            <a:ext cx="10908794"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2F2F2"/>
                </a:solidFill>
                <a:latin typeface="Inter Regular"/>
                <a:ea typeface="Inter Regular"/>
                <a:cs typeface="Inter Regular"/>
                <a:sym typeface="Inter Regular"/>
              </a:defRPr>
            </a:lvl1pPr>
          </a:lstStyle>
          <a:p>
            <a:pPr/>
            <a:r>
              <a:t>The AI reads the file tree and sees:</a:t>
            </a:r>
          </a:p>
        </p:txBody>
      </p:sp>
      <p:sp>
        <p:nvSpPr>
          <p:cNvPr id="312" name="Rounded Rectangle 5"/>
          <p:cNvSpPr/>
          <p:nvPr/>
        </p:nvSpPr>
        <p:spPr>
          <a:xfrm>
            <a:off x="640080" y="2468879"/>
            <a:ext cx="6583681" cy="4023361"/>
          </a:xfrm>
          <a:prstGeom prst="roundRect">
            <a:avLst>
              <a:gd name="adj" fmla="val 4000"/>
            </a:avLst>
          </a:prstGeom>
          <a:solidFill>
            <a:srgbClr val="1A1A2E"/>
          </a:solidFill>
          <a:ln>
            <a:solidFill>
              <a:srgbClr val="333333"/>
            </a:solidFill>
          </a:ln>
        </p:spPr>
        <p:txBody>
          <a:bodyPr lIns="45719" rIns="45719" anchor="ctr"/>
          <a:lstStyle/>
          <a:p>
            <a:pPr algn="ctr">
              <a:defRPr>
                <a:solidFill>
                  <a:srgbClr val="FFFFFF"/>
                </a:solidFill>
              </a:defRPr>
            </a:pPr>
          </a:p>
        </p:txBody>
      </p:sp>
      <p:sp>
        <p:nvSpPr>
          <p:cNvPr id="313" name="TextBox 6"/>
          <p:cNvSpPr txBox="1"/>
          <p:nvPr/>
        </p:nvSpPr>
        <p:spPr>
          <a:xfrm>
            <a:off x="868680" y="2697479"/>
            <a:ext cx="6126480" cy="351663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5000"/>
              </a:lnSpc>
              <a:defRPr sz="1000">
                <a:solidFill>
                  <a:srgbClr val="F2F2F2"/>
                </a:solidFill>
                <a:latin typeface="JetBrains Mono Regular"/>
                <a:ea typeface="JetBrains Mono Regular"/>
                <a:cs typeface="JetBrains Mono Regular"/>
                <a:sym typeface="JetBrains Mono Regular"/>
              </a:defRPr>
            </a:pPr>
            <a:r>
              <a:t>src/</a:t>
            </a:r>
          </a:p>
          <a:p>
            <a:pPr>
              <a:lnSpc>
                <a:spcPct val="145000"/>
              </a:lnSpc>
              <a:defRPr sz="1000">
                <a:solidFill>
                  <a:srgbClr val="F2F2F2"/>
                </a:solidFill>
                <a:latin typeface="JetBrains Mono Regular"/>
                <a:ea typeface="JetBrains Mono Regular"/>
                <a:cs typeface="JetBrains Mono Regular"/>
                <a:sym typeface="JetBrains Mono Regular"/>
              </a:defRPr>
            </a:pPr>
            <a:r>
              <a:t>  components/</a:t>
            </a:r>
          </a:p>
          <a:p>
            <a:pPr>
              <a:lnSpc>
                <a:spcPct val="145000"/>
              </a:lnSpc>
              <a:defRPr sz="1000">
                <a:solidFill>
                  <a:srgbClr val="FF4757"/>
                </a:solidFill>
                <a:latin typeface="JetBrains Mono Regular"/>
                <a:ea typeface="JetBrains Mono Regular"/>
                <a:cs typeface="JetBrains Mono Regular"/>
                <a:sym typeface="JetBrains Mono Regular"/>
              </a:defRPr>
            </a:pPr>
            <a:r>
              <a:t>    Card.tsx</a:t>
            </a:r>
            <a:r>
              <a:rPr>
                <a:solidFill>
                  <a:srgbClr val="888888"/>
                </a:solidFill>
              </a:rPr>
              <a:t>            ← which card? user? product? post?</a:t>
            </a:r>
            <a:endParaRPr>
              <a:solidFill>
                <a:srgbClr val="888888"/>
              </a:solidFill>
            </a:endParaRPr>
          </a:p>
          <a:p>
            <a:pPr>
              <a:lnSpc>
                <a:spcPct val="145000"/>
              </a:lnSpc>
              <a:defRPr sz="1000">
                <a:solidFill>
                  <a:srgbClr val="FF4757"/>
                </a:solidFill>
                <a:latin typeface="JetBrains Mono Regular"/>
                <a:ea typeface="JetBrains Mono Regular"/>
                <a:cs typeface="JetBrains Mono Regular"/>
                <a:sym typeface="JetBrains Mono Regular"/>
              </a:defRPr>
            </a:pPr>
            <a:r>
              <a:t>    CardSmall.tsx</a:t>
            </a:r>
            <a:r>
              <a:rPr>
                <a:solidFill>
                  <a:srgbClr val="888888"/>
                </a:solidFill>
              </a:rPr>
              <a:t>       ← is this the same card?</a:t>
            </a:r>
            <a:endParaRPr>
              <a:solidFill>
                <a:srgbClr val="888888"/>
              </a:solidFill>
            </a:endParaRPr>
          </a:p>
          <a:p>
            <a:pPr>
              <a:lnSpc>
                <a:spcPct val="145000"/>
              </a:lnSpc>
              <a:defRPr sz="1000">
                <a:solidFill>
                  <a:srgbClr val="FF4757"/>
                </a:solidFill>
                <a:latin typeface="JetBrains Mono Regular"/>
                <a:ea typeface="JetBrains Mono Regular"/>
                <a:cs typeface="JetBrains Mono Regular"/>
                <a:sym typeface="JetBrains Mono Regular"/>
              </a:defRPr>
            </a:pPr>
            <a:r>
              <a:t>    CardList.tsx</a:t>
            </a:r>
            <a:r>
              <a:rPr>
                <a:solidFill>
                  <a:srgbClr val="888888"/>
                </a:solidFill>
              </a:rPr>
              <a:t>        ← or maybe this one?</a:t>
            </a:r>
            <a:endParaRPr>
              <a:solidFill>
                <a:srgbClr val="888888"/>
              </a:solidFill>
            </a:endParaRPr>
          </a:p>
          <a:p>
            <a:pPr>
              <a:lnSpc>
                <a:spcPct val="145000"/>
              </a:lnSpc>
              <a:defRPr sz="1000">
                <a:solidFill>
                  <a:srgbClr val="888888"/>
                </a:solidFill>
                <a:latin typeface="JetBrains Mono Regular"/>
                <a:ea typeface="JetBrains Mono Regular"/>
                <a:cs typeface="JetBrains Mono Regular"/>
                <a:sym typeface="JetBrains Mono Regular"/>
              </a:defRPr>
            </a:pPr>
            <a:r>
              <a:t>    Button.tsx</a:t>
            </a:r>
          </a:p>
          <a:p>
            <a:pPr>
              <a:lnSpc>
                <a:spcPct val="145000"/>
              </a:lnSpc>
              <a:defRPr sz="1000">
                <a:solidFill>
                  <a:srgbClr val="888888"/>
                </a:solidFill>
                <a:latin typeface="JetBrains Mono Regular"/>
                <a:ea typeface="JetBrains Mono Regular"/>
                <a:cs typeface="JetBrains Mono Regular"/>
                <a:sym typeface="JetBrains Mono Regular"/>
              </a:defRPr>
            </a:pPr>
            <a:r>
              <a:t>    Modal.tsx</a:t>
            </a:r>
          </a:p>
          <a:p>
            <a:pPr>
              <a:lnSpc>
                <a:spcPct val="145000"/>
              </a:lnSpc>
              <a:defRPr sz="1000">
                <a:solidFill>
                  <a:srgbClr val="888888"/>
                </a:solidFill>
                <a:latin typeface="JetBrains Mono Regular"/>
                <a:ea typeface="JetBrains Mono Regular"/>
                <a:cs typeface="JetBrains Mono Regular"/>
                <a:sym typeface="JetBrains Mono Regular"/>
              </a:defRPr>
            </a:pPr>
            <a:r>
              <a:t>    Header.tsx</a:t>
            </a:r>
          </a:p>
          <a:p>
            <a:pPr>
              <a:lnSpc>
                <a:spcPct val="145000"/>
              </a:lnSpc>
              <a:defRPr sz="1000">
                <a:solidFill>
                  <a:srgbClr val="888888"/>
                </a:solidFill>
                <a:latin typeface="JetBrains Mono Regular"/>
                <a:ea typeface="JetBrains Mono Regular"/>
                <a:cs typeface="JetBrains Mono Regular"/>
                <a:sym typeface="JetBrains Mono Regular"/>
              </a:defRPr>
            </a:pPr>
            <a:r>
              <a:t>    ... 194 more files</a:t>
            </a:r>
          </a:p>
          <a:p>
            <a:pPr>
              <a:lnSpc>
                <a:spcPct val="145000"/>
              </a:lnSpc>
              <a:defRPr sz="1000">
                <a:solidFill>
                  <a:srgbClr val="F2F2F2"/>
                </a:solidFill>
                <a:latin typeface="JetBrains Mono Regular"/>
                <a:ea typeface="JetBrains Mono Regular"/>
                <a:cs typeface="JetBrains Mono Regular"/>
                <a:sym typeface="JetBrains Mono Regular"/>
              </a:defRPr>
            </a:pPr>
            <a:r>
              <a:t>  utils/</a:t>
            </a:r>
          </a:p>
          <a:p>
            <a:pPr>
              <a:lnSpc>
                <a:spcPct val="145000"/>
              </a:lnSpc>
              <a:defRPr sz="1000">
                <a:solidFill>
                  <a:srgbClr val="FF4757"/>
                </a:solidFill>
                <a:latin typeface="JetBrains Mono Regular"/>
                <a:ea typeface="JetBrains Mono Regular"/>
                <a:cs typeface="JetBrains Mono Regular"/>
                <a:sym typeface="JetBrains Mono Regular"/>
              </a:defRPr>
            </a:pPr>
            <a:r>
              <a:t>    helpers.ts</a:t>
            </a:r>
            <a:r>
              <a:rPr>
                <a:solidFill>
                  <a:srgbClr val="888888"/>
                </a:solidFill>
              </a:rPr>
              <a:t>          ← 800 lines, 40 exports, no grouping</a:t>
            </a:r>
            <a:endParaRPr>
              <a:solidFill>
                <a:srgbClr val="888888"/>
              </a:solidFill>
            </a:endParaRPr>
          </a:p>
          <a:p>
            <a:pPr>
              <a:lnSpc>
                <a:spcPct val="145000"/>
              </a:lnSpc>
              <a:defRPr sz="1000">
                <a:solidFill>
                  <a:srgbClr val="F2F2F2"/>
                </a:solidFill>
                <a:latin typeface="JetBrains Mono Regular"/>
                <a:ea typeface="JetBrains Mono Regular"/>
                <a:cs typeface="JetBrains Mono Regular"/>
                <a:sym typeface="JetBrains Mono Regular"/>
              </a:defRPr>
            </a:pPr>
            <a:r>
              <a:t>  hooks/</a:t>
            </a:r>
          </a:p>
          <a:p>
            <a:pPr>
              <a:lnSpc>
                <a:spcPct val="145000"/>
              </a:lnSpc>
              <a:defRPr sz="1000">
                <a:solidFill>
                  <a:srgbClr val="FF4757"/>
                </a:solidFill>
                <a:latin typeface="JetBrains Mono Regular"/>
                <a:ea typeface="JetBrains Mono Regular"/>
                <a:cs typeface="JetBrains Mono Regular"/>
                <a:sym typeface="JetBrains Mono Regular"/>
              </a:defRPr>
            </a:pPr>
            <a:r>
              <a:t>    useData.ts</a:t>
            </a:r>
            <a:r>
              <a:rPr>
                <a:solidFill>
                  <a:srgbClr val="888888"/>
                </a:solidFill>
              </a:rPr>
              <a:t>          ← fetches users? products? both?</a:t>
            </a:r>
            <a:endParaRPr>
              <a:solidFill>
                <a:srgbClr val="888888"/>
              </a:solidFill>
            </a:endParaRPr>
          </a:p>
          <a:p>
            <a:pPr>
              <a:lnSpc>
                <a:spcPct val="145000"/>
              </a:lnSpc>
              <a:defRPr sz="1000">
                <a:solidFill>
                  <a:srgbClr val="F2F2F2"/>
                </a:solidFill>
                <a:latin typeface="JetBrains Mono Regular"/>
                <a:ea typeface="JetBrains Mono Regular"/>
                <a:cs typeface="JetBrains Mono Regular"/>
                <a:sym typeface="JetBrains Mono Regular"/>
              </a:defRPr>
            </a:pPr>
            <a:r>
              <a:t>  services/</a:t>
            </a:r>
          </a:p>
          <a:p>
            <a:pPr>
              <a:lnSpc>
                <a:spcPct val="145000"/>
              </a:lnSpc>
              <a:defRPr sz="1000">
                <a:solidFill>
                  <a:srgbClr val="FF4757"/>
                </a:solidFill>
                <a:latin typeface="JetBrains Mono Regular"/>
                <a:ea typeface="JetBrains Mono Regular"/>
                <a:cs typeface="JetBrains Mono Regular"/>
                <a:sym typeface="JetBrains Mono Regular"/>
              </a:defRPr>
            </a:pPr>
            <a:r>
              <a:t>    api.ts</a:t>
            </a:r>
            <a:r>
              <a:rPr>
                <a:solidFill>
                  <a:srgbClr val="888888"/>
                </a:solidFill>
              </a:rPr>
              <a:t>              ← 3000 lines, every endpoint in one file</a:t>
            </a:r>
          </a:p>
        </p:txBody>
      </p:sp>
      <p:sp>
        <p:nvSpPr>
          <p:cNvPr id="314" name="TextBox 7"/>
          <p:cNvSpPr txBox="1"/>
          <p:nvPr/>
        </p:nvSpPr>
        <p:spPr>
          <a:xfrm>
            <a:off x="7406640" y="2468879"/>
            <a:ext cx="4114801" cy="20523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0000"/>
              </a:lnSpc>
              <a:defRPr sz="1300">
                <a:solidFill>
                  <a:srgbClr val="FF4757"/>
                </a:solidFill>
                <a:latin typeface="Inter Bold"/>
                <a:ea typeface="Inter Bold"/>
                <a:cs typeface="Inter Bold"/>
                <a:sym typeface="Inter Bold"/>
              </a:defRPr>
            </a:pPr>
            <a:r>
              <a:t>Problem 1: </a:t>
            </a:r>
            <a:r>
              <a:rPr>
                <a:solidFill>
                  <a:srgbClr val="F2F2F2"/>
                </a:solidFill>
                <a:latin typeface="Inter Regular"/>
                <a:ea typeface="Inter Regular"/>
                <a:cs typeface="Inter Regular"/>
                <a:sym typeface="Inter Regular"/>
              </a:rPr>
              <a:t>No semantic grouping. AI has to open multiple files just to find the right </a:t>
            </a:r>
            <a:r>
              <a:rPr>
                <a:solidFill>
                  <a:srgbClr val="F2F2F2"/>
                </a:solidFill>
                <a:latin typeface="JetBrains Mono Regular"/>
                <a:ea typeface="JetBrains Mono Regular"/>
                <a:cs typeface="JetBrains Mono Regular"/>
                <a:sym typeface="JetBrains Mono Regular"/>
              </a:rPr>
              <a:t>Card</a:t>
            </a:r>
            <a:r>
              <a:rPr>
                <a:solidFill>
                  <a:srgbClr val="F2F2F2"/>
                </a:solidFill>
                <a:latin typeface="Inter Regular"/>
                <a:ea typeface="Inter Regular"/>
                <a:cs typeface="Inter Regular"/>
                <a:sym typeface="Inter Regular"/>
              </a:rPr>
              <a:t>.</a:t>
            </a:r>
            <a:endParaRPr>
              <a:solidFill>
                <a:srgbClr val="F2F2F2"/>
              </a:solidFill>
              <a:latin typeface="Inter Regular"/>
              <a:ea typeface="Inter Regular"/>
              <a:cs typeface="Inter Regular"/>
              <a:sym typeface="Inter Regular"/>
            </a:endParaRPr>
          </a:p>
          <a:p>
            <a:pPr>
              <a:lnSpc>
                <a:spcPct val="140000"/>
              </a:lnSpc>
              <a:spcBef>
                <a:spcPts val="1400"/>
              </a:spcBef>
              <a:defRPr sz="1300">
                <a:solidFill>
                  <a:srgbClr val="FF4757"/>
                </a:solidFill>
                <a:latin typeface="Inter Bold"/>
                <a:ea typeface="Inter Bold"/>
                <a:cs typeface="Inter Bold"/>
                <a:sym typeface="Inter Bold"/>
              </a:defRPr>
            </a:pPr>
            <a:r>
              <a:t>Problem 2: </a:t>
            </a:r>
            <a:r>
              <a:rPr>
                <a:solidFill>
                  <a:srgbClr val="F2F2F2"/>
                </a:solidFill>
                <a:latin typeface="Inter Regular"/>
                <a:ea typeface="Inter Regular"/>
                <a:cs typeface="Inter Regular"/>
                <a:sym typeface="Inter Regular"/>
              </a:rPr>
              <a:t>Generic names like </a:t>
            </a:r>
            <a:r>
              <a:rPr>
                <a:solidFill>
                  <a:srgbClr val="F2F2F2"/>
                </a:solidFill>
                <a:latin typeface="JetBrains Mono Regular"/>
                <a:ea typeface="JetBrains Mono Regular"/>
                <a:cs typeface="JetBrains Mono Regular"/>
                <a:sym typeface="JetBrains Mono Regular"/>
              </a:rPr>
              <a:t>helpers.ts</a:t>
            </a:r>
            <a:r>
              <a:rPr>
                <a:solidFill>
                  <a:srgbClr val="F2F2F2"/>
                </a:solidFill>
                <a:latin typeface="Inter Regular"/>
                <a:ea typeface="Inter Regular"/>
                <a:cs typeface="Inter Regular"/>
                <a:sym typeface="Inter Regular"/>
              </a:rPr>
              <a:t> and </a:t>
            </a:r>
            <a:r>
              <a:rPr>
                <a:solidFill>
                  <a:srgbClr val="F2F2F2"/>
                </a:solidFill>
                <a:latin typeface="JetBrains Mono Regular"/>
                <a:ea typeface="JetBrains Mono Regular"/>
                <a:cs typeface="JetBrains Mono Regular"/>
                <a:sym typeface="JetBrains Mono Regular"/>
              </a:rPr>
              <a:t>useData.ts</a:t>
            </a:r>
            <a:r>
              <a:rPr>
                <a:solidFill>
                  <a:srgbClr val="F2F2F2"/>
                </a:solidFill>
                <a:latin typeface="Inter Regular"/>
                <a:ea typeface="Inter Regular"/>
                <a:cs typeface="Inter Regular"/>
                <a:sym typeface="Inter Regular"/>
              </a:rPr>
              <a:t> give zero signal to search.</a:t>
            </a:r>
            <a:endParaRPr>
              <a:solidFill>
                <a:srgbClr val="F2F2F2"/>
              </a:solidFill>
              <a:latin typeface="Inter Regular"/>
              <a:ea typeface="Inter Regular"/>
              <a:cs typeface="Inter Regular"/>
              <a:sym typeface="Inter Regular"/>
            </a:endParaRPr>
          </a:p>
          <a:p>
            <a:pPr>
              <a:lnSpc>
                <a:spcPct val="140000"/>
              </a:lnSpc>
              <a:spcBef>
                <a:spcPts val="1400"/>
              </a:spcBef>
              <a:defRPr sz="1300">
                <a:solidFill>
                  <a:srgbClr val="FF4757"/>
                </a:solidFill>
                <a:latin typeface="Inter Bold"/>
                <a:ea typeface="Inter Bold"/>
                <a:cs typeface="Inter Bold"/>
                <a:sym typeface="Inter Bold"/>
              </a:defRPr>
            </a:pPr>
            <a:r>
              <a:t>Problem 3: </a:t>
            </a:r>
            <a:r>
              <a:rPr>
                <a:solidFill>
                  <a:srgbClr val="F2F2F2"/>
                </a:solidFill>
                <a:latin typeface="Inter Regular"/>
                <a:ea typeface="Inter Regular"/>
                <a:cs typeface="Inter Regular"/>
                <a:sym typeface="Inter Regular"/>
              </a:rPr>
              <a:t>Monolith files (</a:t>
            </a:r>
            <a:r>
              <a:rPr>
                <a:solidFill>
                  <a:srgbClr val="F2F2F2"/>
                </a:solidFill>
                <a:latin typeface="JetBrains Mono Regular"/>
                <a:ea typeface="JetBrains Mono Regular"/>
                <a:cs typeface="JetBrains Mono Regular"/>
                <a:sym typeface="JetBrains Mono Regular"/>
              </a:rPr>
              <a:t>api.ts</a:t>
            </a:r>
            <a:r>
              <a:rPr>
                <a:solidFill>
                  <a:srgbClr val="F2F2F2"/>
                </a:solidFill>
                <a:latin typeface="Inter Regular"/>
                <a:ea typeface="Inter Regular"/>
                <a:cs typeface="Inter Regular"/>
                <a:sym typeface="Inter Regular"/>
              </a:rPr>
              <a:t>) force AI to load thousands of irrelevant lines into context.</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bg>
      <p:bgPr>
        <a:solidFill>
          <a:srgbClr val="0A0A0A"/>
        </a:solidFill>
      </p:bgPr>
    </p:bg>
    <p:spTree>
      <p:nvGrpSpPr>
        <p:cNvPr id="1" name=""/>
        <p:cNvGrpSpPr/>
        <p:nvPr/>
      </p:nvGrpSpPr>
      <p:grpSpPr>
        <a:xfrm>
          <a:off x="0" y="0"/>
          <a:ext cx="0" cy="0"/>
          <a:chOff x="0" y="0"/>
          <a:chExt cx="0" cy="0"/>
        </a:xfrm>
      </p:grpSpPr>
      <p:sp>
        <p:nvSpPr>
          <p:cNvPr id="316"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What Goes Wrong</a:t>
            </a:r>
          </a:p>
        </p:txBody>
      </p:sp>
      <p:sp>
        <p:nvSpPr>
          <p:cNvPr id="317" name="TextBox 2"/>
          <p:cNvSpPr txBox="1"/>
          <p:nvPr/>
        </p:nvSpPr>
        <p:spPr>
          <a:xfrm>
            <a:off x="640079" y="1371600"/>
            <a:ext cx="10908794"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888888"/>
                </a:solidFill>
                <a:latin typeface="Inter Regular"/>
                <a:ea typeface="Inter Regular"/>
                <a:cs typeface="Inter Regular"/>
                <a:sym typeface="Inter Regular"/>
              </a:defRPr>
            </a:lvl1pPr>
          </a:lstStyle>
          <a:p>
            <a:pPr/>
            <a:r>
              <a:t>Now the AI follows imports...</a:t>
            </a:r>
          </a:p>
        </p:txBody>
      </p:sp>
      <p:sp>
        <p:nvSpPr>
          <p:cNvPr id="318" name="Rectangle 3"/>
          <p:cNvSpPr/>
          <p:nvPr/>
        </p:nvSpPr>
        <p:spPr>
          <a:xfrm>
            <a:off x="640080" y="1691638"/>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319" name="Rounded Rectangle 4"/>
          <p:cNvSpPr/>
          <p:nvPr/>
        </p:nvSpPr>
        <p:spPr>
          <a:xfrm>
            <a:off x="640080" y="2194560"/>
            <a:ext cx="10972801" cy="2651761"/>
          </a:xfrm>
          <a:prstGeom prst="roundRect">
            <a:avLst>
              <a:gd name="adj" fmla="val 4000"/>
            </a:avLst>
          </a:prstGeom>
          <a:solidFill>
            <a:srgbClr val="1A1A2E"/>
          </a:solidFill>
          <a:ln>
            <a:solidFill>
              <a:srgbClr val="333333"/>
            </a:solidFill>
          </a:ln>
        </p:spPr>
        <p:txBody>
          <a:bodyPr lIns="45719" rIns="45719" anchor="ctr"/>
          <a:lstStyle/>
          <a:p>
            <a:pPr algn="ctr">
              <a:defRPr>
                <a:solidFill>
                  <a:srgbClr val="FFFFFF"/>
                </a:solidFill>
              </a:defRPr>
            </a:pPr>
          </a:p>
        </p:txBody>
      </p:sp>
      <p:sp>
        <p:nvSpPr>
          <p:cNvPr id="320" name="TextBox 5"/>
          <p:cNvSpPr txBox="1"/>
          <p:nvPr/>
        </p:nvSpPr>
        <p:spPr>
          <a:xfrm>
            <a:off x="868680" y="2423160"/>
            <a:ext cx="10515601" cy="17005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55000"/>
              </a:lnSpc>
              <a:defRPr sz="1000">
                <a:solidFill>
                  <a:srgbClr val="00D4FF"/>
                </a:solidFill>
                <a:latin typeface="JetBrains Mono Bold"/>
                <a:ea typeface="JetBrains Mono Bold"/>
                <a:cs typeface="JetBrains Mono Bold"/>
                <a:sym typeface="JetBrains Mono Bold"/>
              </a:defRPr>
            </a:pPr>
            <a:r>
              <a:t>Card.tsx</a:t>
            </a:r>
          </a:p>
          <a:p>
            <a:pPr>
              <a:lnSpc>
                <a:spcPct val="155000"/>
              </a:lnSpc>
              <a:defRPr sz="1000">
                <a:solidFill>
                  <a:srgbClr val="888888"/>
                </a:solidFill>
                <a:latin typeface="JetBrains Mono Regular"/>
                <a:ea typeface="JetBrains Mono Regular"/>
                <a:cs typeface="JetBrains Mono Regular"/>
                <a:sym typeface="JetBrains Mono Regular"/>
              </a:defRPr>
            </a:pPr>
            <a:r>
              <a:t>  import</a:t>
            </a:r>
            <a:r>
              <a:rPr>
                <a:solidFill>
                  <a:srgbClr val="F2F2F2"/>
                </a:solidFill>
              </a:rPr>
              <a:t> { formatDate }      </a:t>
            </a:r>
            <a:r>
              <a:t>from</a:t>
            </a:r>
            <a:r>
              <a:rPr>
                <a:solidFill>
                  <a:srgbClr val="FF4757"/>
                </a:solidFill>
              </a:rPr>
              <a:t> "../../utils/helpers"        </a:t>
            </a:r>
            <a:r>
              <a:t>← loads 800-line file</a:t>
            </a:r>
          </a:p>
          <a:p>
            <a:pPr>
              <a:lnSpc>
                <a:spcPct val="155000"/>
              </a:lnSpc>
              <a:defRPr sz="1000">
                <a:solidFill>
                  <a:srgbClr val="888888"/>
                </a:solidFill>
                <a:latin typeface="JetBrains Mono Regular"/>
                <a:ea typeface="JetBrains Mono Regular"/>
                <a:cs typeface="JetBrains Mono Regular"/>
                <a:sym typeface="JetBrains Mono Regular"/>
              </a:defRPr>
            </a:pPr>
            <a:r>
              <a:t>  import</a:t>
            </a:r>
            <a:r>
              <a:rPr>
                <a:solidFill>
                  <a:srgbClr val="F2F2F2"/>
                </a:solidFill>
              </a:rPr>
              <a:t> { useData }          </a:t>
            </a:r>
            <a:r>
              <a:t>from</a:t>
            </a:r>
            <a:r>
              <a:rPr>
                <a:solidFill>
                  <a:srgbClr val="FF4757"/>
                </a:solidFill>
              </a:rPr>
              <a:t> "../../hooks/useData"         </a:t>
            </a:r>
            <a:r>
              <a:t>← fetches users AND products</a:t>
            </a:r>
          </a:p>
          <a:p>
            <a:pPr>
              <a:lnSpc>
                <a:spcPct val="155000"/>
              </a:lnSpc>
              <a:defRPr sz="1000">
                <a:solidFill>
                  <a:srgbClr val="888888"/>
                </a:solidFill>
                <a:latin typeface="JetBrains Mono Regular"/>
                <a:ea typeface="JetBrains Mono Regular"/>
                <a:cs typeface="JetBrains Mono Regular"/>
                <a:sym typeface="JetBrains Mono Regular"/>
              </a:defRPr>
            </a:pPr>
            <a:r>
              <a:t>  import</a:t>
            </a:r>
            <a:r>
              <a:rPr>
                <a:solidFill>
                  <a:srgbClr val="F2F2F2"/>
                </a:solidFill>
              </a:rPr>
              <a:t> { deleteUser }       </a:t>
            </a:r>
            <a:r>
              <a:t>from</a:t>
            </a:r>
            <a:r>
              <a:rPr>
                <a:solidFill>
                  <a:srgbClr val="FF4757"/>
                </a:solidFill>
              </a:rPr>
              <a:t> "../../services/api"          </a:t>
            </a:r>
            <a:r>
              <a:t>← loads 3000-line file</a:t>
            </a:r>
          </a:p>
          <a:p>
            <a:pPr>
              <a:lnSpc>
                <a:spcPct val="155000"/>
              </a:lnSpc>
              <a:defRPr sz="1000">
                <a:solidFill>
                  <a:srgbClr val="888888"/>
                </a:solidFill>
                <a:latin typeface="JetBrains Mono Regular"/>
                <a:ea typeface="JetBrains Mono Regular"/>
                <a:cs typeface="JetBrains Mono Regular"/>
                <a:sym typeface="JetBrains Mono Regular"/>
              </a:defRPr>
            </a:pPr>
            <a:r>
              <a:t>  import</a:t>
            </a:r>
            <a:r>
              <a:rPr>
                <a:solidFill>
                  <a:srgbClr val="F2F2F2"/>
                </a:solidFill>
              </a:rPr>
              <a:t> { Modal }            </a:t>
            </a:r>
            <a:r>
              <a:t>from</a:t>
            </a:r>
            <a:r>
              <a:rPr>
                <a:solidFill>
                  <a:srgbClr val="FF4757"/>
                </a:solidFill>
              </a:rPr>
              <a:t> "../Modal"                    </a:t>
            </a:r>
            <a:r>
              <a:t>← unrelated UI component</a:t>
            </a:r>
          </a:p>
          <a:p>
            <a:pPr>
              <a:lnSpc>
                <a:spcPct val="155000"/>
              </a:lnSpc>
              <a:defRPr sz="1000">
                <a:solidFill>
                  <a:srgbClr val="888888"/>
                </a:solidFill>
                <a:latin typeface="JetBrains Mono Regular"/>
                <a:ea typeface="JetBrains Mono Regular"/>
                <a:cs typeface="JetBrains Mono Regular"/>
                <a:sym typeface="JetBrains Mono Regular"/>
              </a:defRPr>
            </a:pPr>
            <a:r>
              <a:t>  import</a:t>
            </a:r>
            <a:r>
              <a:rPr>
                <a:solidFill>
                  <a:srgbClr val="F2F2F2"/>
                </a:solidFill>
              </a:rPr>
              <a:t> { useNavigate }      </a:t>
            </a:r>
            <a:r>
              <a:t>from</a:t>
            </a:r>
            <a:r>
              <a:rPr>
                <a:solidFill>
                  <a:srgbClr val="FF4757"/>
                </a:solidFill>
              </a:rPr>
              <a:t> "react-router-dom"           </a:t>
            </a:r>
            <a:r>
              <a:t>← routing in a card component?</a:t>
            </a:r>
          </a:p>
          <a:p>
            <a:pPr>
              <a:lnSpc>
                <a:spcPct val="155000"/>
              </a:lnSpc>
              <a:defRPr sz="1000">
                <a:solidFill>
                  <a:srgbClr val="888888"/>
                </a:solidFill>
                <a:latin typeface="JetBrains Mono Regular"/>
                <a:ea typeface="JetBrains Mono Regular"/>
                <a:cs typeface="JetBrains Mono Regular"/>
                <a:sym typeface="JetBrains Mono Regular"/>
              </a:defRPr>
            </a:pPr>
            <a:r>
              <a:t>  import</a:t>
            </a:r>
            <a:r>
              <a:rPr>
                <a:solidFill>
                  <a:srgbClr val="F2F2F2"/>
                </a:solidFill>
              </a:rPr>
              <a:t> { trackAnalytics }   </a:t>
            </a:r>
            <a:r>
              <a:t>from</a:t>
            </a:r>
            <a:r>
              <a:rPr>
                <a:solidFill>
                  <a:srgbClr val="FF4757"/>
                </a:solidFill>
              </a:rPr>
              <a:t> "../../utils/analytics"       </a:t>
            </a:r>
            <a:r>
              <a:t>← yet another util</a:t>
            </a:r>
          </a:p>
        </p:txBody>
      </p:sp>
      <p:sp>
        <p:nvSpPr>
          <p:cNvPr id="321" name="TextBox 6"/>
          <p:cNvSpPr txBox="1"/>
          <p:nvPr/>
        </p:nvSpPr>
        <p:spPr>
          <a:xfrm>
            <a:off x="640079" y="5029200"/>
            <a:ext cx="5303522" cy="4876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0000"/>
              </a:lnSpc>
              <a:defRPr sz="1300">
                <a:solidFill>
                  <a:srgbClr val="FF4757"/>
                </a:solidFill>
                <a:latin typeface="Inter Bold"/>
                <a:ea typeface="Inter Bold"/>
                <a:cs typeface="Inter Bold"/>
                <a:sym typeface="Inter Bold"/>
              </a:defRPr>
            </a:pPr>
            <a:r>
              <a:t>6 imports</a:t>
            </a:r>
            <a:r>
              <a:rPr>
                <a:solidFill>
                  <a:srgbClr val="F2F2F2"/>
                </a:solidFill>
                <a:latin typeface="Inter Regular"/>
                <a:ea typeface="Inter Regular"/>
                <a:cs typeface="Inter Regular"/>
                <a:sym typeface="Inter Regular"/>
              </a:rPr>
              <a:t> across </a:t>
            </a:r>
            <a:r>
              <a:t>6 different locations</a:t>
            </a:r>
            <a:r>
              <a:rPr>
                <a:solidFill>
                  <a:srgbClr val="F2F2F2"/>
                </a:solidFill>
                <a:latin typeface="Inter Regular"/>
                <a:ea typeface="Inter Regular"/>
                <a:cs typeface="Inter Regular"/>
                <a:sym typeface="Inter Regular"/>
              </a:rPr>
              <a:t>. AI must load each to understand what's available.</a:t>
            </a:r>
          </a:p>
        </p:txBody>
      </p:sp>
      <p:sp>
        <p:nvSpPr>
          <p:cNvPr id="322" name="TextBox 7"/>
          <p:cNvSpPr txBox="1"/>
          <p:nvPr/>
        </p:nvSpPr>
        <p:spPr>
          <a:xfrm>
            <a:off x="6263640" y="5029200"/>
            <a:ext cx="5303521" cy="4876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0000"/>
              </a:lnSpc>
              <a:defRPr sz="1300">
                <a:solidFill>
                  <a:srgbClr val="F2F2F2"/>
                </a:solidFill>
                <a:latin typeface="Inter Regular"/>
                <a:ea typeface="Inter Regular"/>
                <a:cs typeface="Inter Regular"/>
                <a:sym typeface="Inter Regular"/>
              </a:defRPr>
            </a:pPr>
            <a:r>
              <a:t>One component mixes </a:t>
            </a:r>
            <a:r>
              <a:rPr>
                <a:solidFill>
                  <a:srgbClr val="FF4757"/>
                </a:solidFill>
                <a:latin typeface="Inter Bold"/>
                <a:ea typeface="Inter Bold"/>
                <a:cs typeface="Inter Bold"/>
                <a:sym typeface="Inter Bold"/>
              </a:rPr>
              <a:t>UI + API + routing + analytics</a:t>
            </a:r>
            <a:r>
              <a:t>. The AI has no boundaries — everything bleeds into everything.</a:t>
            </a:r>
          </a:p>
        </p:txBody>
      </p:sp>
      <p:sp>
        <p:nvSpPr>
          <p:cNvPr id="323" name="Rounded Rectangle 8"/>
          <p:cNvSpPr/>
          <p:nvPr/>
        </p:nvSpPr>
        <p:spPr>
          <a:xfrm>
            <a:off x="640080" y="6035040"/>
            <a:ext cx="10972801" cy="594361"/>
          </a:xfrm>
          <a:prstGeom prst="roundRect">
            <a:avLst>
              <a:gd name="adj" fmla="val 6000"/>
            </a:avLst>
          </a:prstGeom>
          <a:solidFill>
            <a:srgbClr val="0E3A47"/>
          </a:solidFill>
          <a:ln w="12700">
            <a:miter lim="400000"/>
          </a:ln>
        </p:spPr>
        <p:txBody>
          <a:bodyPr lIns="45719" rIns="45719" anchor="ctr"/>
          <a:lstStyle/>
          <a:p>
            <a:pPr algn="ctr">
              <a:defRPr>
                <a:solidFill>
                  <a:srgbClr val="FFFFFF"/>
                </a:solidFill>
              </a:defRPr>
            </a:pPr>
          </a:p>
        </p:txBody>
      </p:sp>
      <p:sp>
        <p:nvSpPr>
          <p:cNvPr id="324" name="Rectangle 9"/>
          <p:cNvSpPr/>
          <p:nvPr/>
        </p:nvSpPr>
        <p:spPr>
          <a:xfrm>
            <a:off x="640080" y="6035040"/>
            <a:ext cx="54865" cy="594361"/>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325" name="TextBox 10"/>
          <p:cNvSpPr txBox="1"/>
          <p:nvPr/>
        </p:nvSpPr>
        <p:spPr>
          <a:xfrm>
            <a:off x="868679" y="6258050"/>
            <a:ext cx="10607042"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sz="1300">
                <a:solidFill>
                  <a:srgbClr val="F2F2F2"/>
                </a:solidFill>
                <a:latin typeface="Inter Regular"/>
                <a:ea typeface="Inter Regular"/>
                <a:cs typeface="Inter Regular"/>
                <a:sym typeface="Inter Regular"/>
              </a:defRPr>
            </a:pPr>
            <a:r>
              <a:t>Result: the AI burns through context tokens on irrelevant code, and </a:t>
            </a:r>
            <a:r>
              <a:rPr>
                <a:solidFill>
                  <a:srgbClr val="FF4757"/>
                </a:solidFill>
                <a:latin typeface="Inter Bold"/>
                <a:ea typeface="Inter Bold"/>
                <a:cs typeface="Inter Bold"/>
                <a:sym typeface="Inter Bold"/>
              </a:rPr>
              <a:t>still</a:t>
            </a:r>
            <a:r>
              <a:t> might not find what it needs.</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bg>
      <p:bgPr>
        <a:solidFill>
          <a:srgbClr val="0A0A0A"/>
        </a:solidFill>
      </p:bgPr>
    </p:bg>
    <p:spTree>
      <p:nvGrpSpPr>
        <p:cNvPr id="1" name=""/>
        <p:cNvGrpSpPr/>
        <p:nvPr/>
      </p:nvGrpSpPr>
      <p:grpSpPr>
        <a:xfrm>
          <a:off x="0" y="0"/>
          <a:ext cx="0" cy="0"/>
          <a:chOff x="0" y="0"/>
          <a:chExt cx="0" cy="0"/>
        </a:xfrm>
      </p:grpSpPr>
      <p:sp>
        <p:nvSpPr>
          <p:cNvPr id="327"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3600">
                <a:solidFill>
                  <a:srgbClr val="F2F2F2"/>
                </a:solidFill>
                <a:latin typeface="Inter Bold"/>
                <a:ea typeface="Inter Bold"/>
                <a:cs typeface="Inter Bold"/>
                <a:sym typeface="Inter Bold"/>
              </a:defRPr>
            </a:pPr>
            <a:r>
              <a:t>Architecture </a:t>
            </a:r>
            <a:r>
              <a:rPr>
                <a:solidFill>
                  <a:srgbClr val="00D4FF"/>
                </a:solidFill>
              </a:rPr>
              <a:t>=</a:t>
            </a:r>
            <a:r>
              <a:t> Context Engineering</a:t>
            </a:r>
          </a:p>
        </p:txBody>
      </p:sp>
      <p:sp>
        <p:nvSpPr>
          <p:cNvPr id="328" name="Rectangle 2"/>
          <p:cNvSpPr/>
          <p:nvPr/>
        </p:nvSpPr>
        <p:spPr>
          <a:xfrm>
            <a:off x="640080" y="1280160"/>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329" name="Rounded Rectangle 3"/>
          <p:cNvSpPr/>
          <p:nvPr/>
        </p:nvSpPr>
        <p:spPr>
          <a:xfrm>
            <a:off x="640080" y="2194560"/>
            <a:ext cx="10972801" cy="1097281"/>
          </a:xfrm>
          <a:prstGeom prst="roundRect">
            <a:avLst>
              <a:gd name="adj" fmla="val 6000"/>
            </a:avLst>
          </a:prstGeom>
          <a:solidFill>
            <a:srgbClr val="0E3A47"/>
          </a:solidFill>
          <a:ln w="12700">
            <a:miter lim="400000"/>
          </a:ln>
        </p:spPr>
        <p:txBody>
          <a:bodyPr lIns="45719" rIns="45719" anchor="ctr"/>
          <a:lstStyle/>
          <a:p>
            <a:pPr algn="ctr">
              <a:defRPr>
                <a:solidFill>
                  <a:srgbClr val="FFFFFF"/>
                </a:solidFill>
              </a:defRPr>
            </a:pPr>
          </a:p>
        </p:txBody>
      </p:sp>
      <p:sp>
        <p:nvSpPr>
          <p:cNvPr id="330" name="Rectangle 4"/>
          <p:cNvSpPr/>
          <p:nvPr/>
        </p:nvSpPr>
        <p:spPr>
          <a:xfrm>
            <a:off x="640080" y="2194560"/>
            <a:ext cx="54865" cy="1097281"/>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331" name="TextBox 5"/>
          <p:cNvSpPr txBox="1"/>
          <p:nvPr/>
        </p:nvSpPr>
        <p:spPr>
          <a:xfrm>
            <a:off x="868679" y="2618231"/>
            <a:ext cx="10607042"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sz="2000">
                <a:solidFill>
                  <a:srgbClr val="F2F2F2"/>
                </a:solidFill>
                <a:latin typeface="Inter Regular"/>
                <a:ea typeface="Inter Regular"/>
                <a:cs typeface="Inter Regular"/>
                <a:sym typeface="Inter Regular"/>
              </a:defRPr>
            </a:pPr>
            <a:r>
              <a:t>Good architecture </a:t>
            </a:r>
            <a:r>
              <a:rPr>
                <a:solidFill>
                  <a:srgbClr val="00D4FF"/>
                </a:solidFill>
                <a:latin typeface="Inter Bold"/>
                <a:ea typeface="Inter Bold"/>
                <a:cs typeface="Inter Bold"/>
                <a:sym typeface="Inter Bold"/>
              </a:rPr>
              <a:t>reduces</a:t>
            </a:r>
            <a:r>
              <a:t> the amount of context AI needs to do its job correctly.</a:t>
            </a:r>
          </a:p>
        </p:txBody>
      </p:sp>
      <p:sp>
        <p:nvSpPr>
          <p:cNvPr id="332" name="TextBox 6"/>
          <p:cNvSpPr txBox="1"/>
          <p:nvPr/>
        </p:nvSpPr>
        <p:spPr>
          <a:xfrm>
            <a:off x="640079" y="3657600"/>
            <a:ext cx="10908794" cy="139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50000"/>
              </a:lnSpc>
              <a:defRPr sz="2000">
                <a:solidFill>
                  <a:srgbClr val="F2F2F2"/>
                </a:solidFill>
                <a:latin typeface="Inter Regular"/>
                <a:ea typeface="Inter Regular"/>
                <a:cs typeface="Inter Regular"/>
                <a:sym typeface="Inter Regular"/>
              </a:defRPr>
            </a:pPr>
            <a:r>
              <a:t>Your folder structure, naming conventions, and import rules are the </a:t>
            </a:r>
            <a:r>
              <a:rPr>
                <a:solidFill>
                  <a:srgbClr val="00D4FF"/>
                </a:solidFill>
                <a:latin typeface="Inter Bold"/>
                <a:ea typeface="Inter Bold"/>
                <a:cs typeface="Inter Bold"/>
                <a:sym typeface="Inter Bold"/>
              </a:rPr>
              <a:t>“prompt”</a:t>
            </a:r>
            <a:r>
              <a:t> AI reads before every task.</a:t>
            </a:r>
          </a:p>
          <a:p>
            <a:pPr>
              <a:lnSpc>
                <a:spcPct val="150000"/>
              </a:lnSpc>
              <a:spcBef>
                <a:spcPts val="1400"/>
              </a:spcBef>
              <a:defRPr sz="2000">
                <a:solidFill>
                  <a:srgbClr val="F2F2F2"/>
                </a:solidFill>
                <a:latin typeface="Inter Regular"/>
                <a:ea typeface="Inter Regular"/>
                <a:cs typeface="Inter Regular"/>
                <a:sym typeface="Inter Regular"/>
              </a:defRPr>
            </a:pPr>
            <a:r>
              <a:t>What if there was a methodology designed for this?</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bg>
      <p:bgPr>
        <a:solidFill>
          <a:srgbClr val="0A0A0A"/>
        </a:solidFill>
      </p:bgPr>
    </p:bg>
    <p:spTree>
      <p:nvGrpSpPr>
        <p:cNvPr id="1" name=""/>
        <p:cNvGrpSpPr/>
        <p:nvPr/>
      </p:nvGrpSpPr>
      <p:grpSpPr>
        <a:xfrm>
          <a:off x="0" y="0"/>
          <a:ext cx="0" cy="0"/>
          <a:chOff x="0" y="0"/>
          <a:chExt cx="0" cy="0"/>
        </a:xfrm>
      </p:grpSpPr>
      <p:sp>
        <p:nvSpPr>
          <p:cNvPr id="334"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3600">
                <a:solidFill>
                  <a:srgbClr val="F2F2F2"/>
                </a:solidFill>
                <a:latin typeface="Inter Bold"/>
                <a:ea typeface="Inter Bold"/>
                <a:cs typeface="Inter Bold"/>
                <a:sym typeface="Inter Bold"/>
              </a:defRPr>
            </a:pPr>
            <a:r>
              <a:t>FSD </a:t>
            </a:r>
            <a:r>
              <a:rPr>
                <a:solidFill>
                  <a:srgbClr val="888888"/>
                </a:solidFill>
              </a:rPr>
              <a:t>×</a:t>
            </a:r>
            <a:r>
              <a:t> AI</a:t>
            </a:r>
          </a:p>
        </p:txBody>
      </p:sp>
      <p:sp>
        <p:nvSpPr>
          <p:cNvPr id="335" name="TextBox 2"/>
          <p:cNvSpPr txBox="1"/>
          <p:nvPr/>
        </p:nvSpPr>
        <p:spPr>
          <a:xfrm>
            <a:off x="640079" y="1371600"/>
            <a:ext cx="10908794"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888888"/>
                </a:solidFill>
                <a:latin typeface="Inter Regular"/>
                <a:ea typeface="Inter Regular"/>
                <a:cs typeface="Inter Regular"/>
                <a:sym typeface="Inter Regular"/>
              </a:defRPr>
            </a:lvl1pPr>
          </a:lstStyle>
          <a:p>
            <a:pPr/>
            <a:r>
              <a:t>Why Feature-Sliced Design is AI-friendly by nature</a:t>
            </a:r>
          </a:p>
        </p:txBody>
      </p:sp>
      <p:sp>
        <p:nvSpPr>
          <p:cNvPr id="336" name="Rectangle 3"/>
          <p:cNvSpPr/>
          <p:nvPr/>
        </p:nvSpPr>
        <p:spPr>
          <a:xfrm>
            <a:off x="640080" y="1691638"/>
            <a:ext cx="548641" cy="36577"/>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337" name="Rectangle 4"/>
          <p:cNvSpPr/>
          <p:nvPr/>
        </p:nvSpPr>
        <p:spPr>
          <a:xfrm>
            <a:off x="640080" y="2194560"/>
            <a:ext cx="10972801" cy="457201"/>
          </a:xfrm>
          <a:prstGeom prst="rect">
            <a:avLst/>
          </a:prstGeom>
          <a:solidFill>
            <a:srgbClr val="00D4FF"/>
          </a:solidFill>
          <a:ln w="12700">
            <a:miter lim="400000"/>
          </a:ln>
        </p:spPr>
        <p:txBody>
          <a:bodyPr lIns="45719" rIns="45719" anchor="ctr"/>
          <a:lstStyle/>
          <a:p>
            <a:pPr algn="ctr">
              <a:defRPr>
                <a:solidFill>
                  <a:srgbClr val="FFFFFF"/>
                </a:solidFill>
              </a:defRPr>
            </a:pPr>
          </a:p>
        </p:txBody>
      </p:sp>
      <p:sp>
        <p:nvSpPr>
          <p:cNvPr id="338" name="TextBox 5"/>
          <p:cNvSpPr txBox="1"/>
          <p:nvPr/>
        </p:nvSpPr>
        <p:spPr>
          <a:xfrm>
            <a:off x="822958" y="2240278"/>
            <a:ext cx="347472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0A0A0A"/>
                </a:solidFill>
                <a:latin typeface="Inter Bold"/>
                <a:ea typeface="Inter Bold"/>
                <a:cs typeface="Inter Bold"/>
                <a:sym typeface="Inter Bold"/>
              </a:defRPr>
            </a:lvl1pPr>
          </a:lstStyle>
          <a:p>
            <a:pPr/>
            <a:r>
              <a:t>FSD Concept</a:t>
            </a:r>
          </a:p>
        </p:txBody>
      </p:sp>
      <p:sp>
        <p:nvSpPr>
          <p:cNvPr id="339" name="TextBox 6"/>
          <p:cNvSpPr txBox="1"/>
          <p:nvPr/>
        </p:nvSpPr>
        <p:spPr>
          <a:xfrm>
            <a:off x="4480559" y="2240278"/>
            <a:ext cx="69494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0A0A0A"/>
                </a:solidFill>
                <a:latin typeface="Inter Bold"/>
                <a:ea typeface="Inter Bold"/>
                <a:cs typeface="Inter Bold"/>
                <a:sym typeface="Inter Bold"/>
              </a:defRPr>
            </a:lvl1pPr>
          </a:lstStyle>
          <a:p>
            <a:pPr/>
            <a:r>
              <a:t>AI Benefit</a:t>
            </a:r>
          </a:p>
        </p:txBody>
      </p:sp>
      <p:sp>
        <p:nvSpPr>
          <p:cNvPr id="340" name="Rectangle 7"/>
          <p:cNvSpPr/>
          <p:nvPr/>
        </p:nvSpPr>
        <p:spPr>
          <a:xfrm>
            <a:off x="640080" y="3418077"/>
            <a:ext cx="10972801" cy="12701"/>
          </a:xfrm>
          <a:prstGeom prst="rect">
            <a:avLst/>
          </a:prstGeom>
          <a:solidFill>
            <a:srgbClr val="333333"/>
          </a:solidFill>
          <a:ln w="12700">
            <a:miter lim="400000"/>
          </a:ln>
        </p:spPr>
        <p:txBody>
          <a:bodyPr lIns="45719" rIns="45719" anchor="ctr"/>
          <a:lstStyle/>
          <a:p>
            <a:pPr algn="ctr">
              <a:defRPr>
                <a:solidFill>
                  <a:srgbClr val="FFFFFF"/>
                </a:solidFill>
              </a:defRPr>
            </a:pPr>
          </a:p>
        </p:txBody>
      </p:sp>
      <p:sp>
        <p:nvSpPr>
          <p:cNvPr id="341" name="TextBox 8"/>
          <p:cNvSpPr txBox="1"/>
          <p:nvPr/>
        </p:nvSpPr>
        <p:spPr>
          <a:xfrm>
            <a:off x="822958" y="2743200"/>
            <a:ext cx="3383281" cy="419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F2F2F2"/>
                </a:solidFill>
                <a:latin typeface="Inter Bold"/>
                <a:ea typeface="Inter Bold"/>
                <a:cs typeface="Inter Bold"/>
                <a:sym typeface="Inter Bold"/>
              </a:defRPr>
            </a:pPr>
            <a:r>
              <a:t>Layers</a:t>
            </a:r>
          </a:p>
          <a:p>
            <a:pPr>
              <a:spcBef>
                <a:spcPts val="200"/>
              </a:spcBef>
              <a:defRPr sz="1100">
                <a:solidFill>
                  <a:srgbClr val="888888"/>
                </a:solidFill>
                <a:latin typeface="Inter Regular"/>
                <a:ea typeface="Inter Regular"/>
                <a:cs typeface="Inter Regular"/>
                <a:sym typeface="Inter Regular"/>
              </a:defRPr>
            </a:pPr>
            <a:r>
              <a:t>app → shared</a:t>
            </a:r>
          </a:p>
        </p:txBody>
      </p:sp>
      <p:sp>
        <p:nvSpPr>
          <p:cNvPr id="342" name="TextBox 9"/>
          <p:cNvSpPr txBox="1"/>
          <p:nvPr/>
        </p:nvSpPr>
        <p:spPr>
          <a:xfrm>
            <a:off x="4480559" y="2932429"/>
            <a:ext cx="69494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400">
                <a:solidFill>
                  <a:srgbClr val="F2F2F2"/>
                </a:solidFill>
                <a:latin typeface="Inter Regular"/>
                <a:ea typeface="Inter Regular"/>
                <a:cs typeface="Inter Regular"/>
                <a:sym typeface="Inter Regular"/>
              </a:defRPr>
            </a:pPr>
            <a:r>
              <a:t>AI reads the file tree and immediately gets a </a:t>
            </a:r>
            <a:r>
              <a:rPr>
                <a:solidFill>
                  <a:srgbClr val="00D4FF"/>
                </a:solidFill>
                <a:latin typeface="Inter Bold"/>
                <a:ea typeface="Inter Bold"/>
                <a:cs typeface="Inter Bold"/>
                <a:sym typeface="Inter Bold"/>
              </a:rPr>
              <a:t>responsibility map</a:t>
            </a:r>
            <a:r>
              <a:t>.</a:t>
            </a:r>
          </a:p>
        </p:txBody>
      </p:sp>
      <p:sp>
        <p:nvSpPr>
          <p:cNvPr id="343" name="Rectangle 10"/>
          <p:cNvSpPr/>
          <p:nvPr/>
        </p:nvSpPr>
        <p:spPr>
          <a:xfrm>
            <a:off x="640080" y="3429000"/>
            <a:ext cx="10972801" cy="777241"/>
          </a:xfrm>
          <a:prstGeom prst="rect">
            <a:avLst/>
          </a:prstGeom>
          <a:solidFill>
            <a:srgbClr val="1A1A2E"/>
          </a:solidFill>
          <a:ln w="12700">
            <a:miter lim="400000"/>
          </a:ln>
        </p:spPr>
        <p:txBody>
          <a:bodyPr lIns="45719" rIns="45719" anchor="ctr"/>
          <a:lstStyle/>
          <a:p>
            <a:pPr algn="ctr">
              <a:defRPr>
                <a:solidFill>
                  <a:srgbClr val="FFFFFF"/>
                </a:solidFill>
              </a:defRPr>
            </a:pPr>
          </a:p>
        </p:txBody>
      </p:sp>
      <p:sp>
        <p:nvSpPr>
          <p:cNvPr id="344" name="Rectangle 11"/>
          <p:cNvSpPr/>
          <p:nvPr/>
        </p:nvSpPr>
        <p:spPr>
          <a:xfrm>
            <a:off x="640080" y="4195317"/>
            <a:ext cx="10972801" cy="12701"/>
          </a:xfrm>
          <a:prstGeom prst="rect">
            <a:avLst/>
          </a:prstGeom>
          <a:solidFill>
            <a:srgbClr val="333333"/>
          </a:solidFill>
          <a:ln w="12700">
            <a:miter lim="400000"/>
          </a:ln>
        </p:spPr>
        <p:txBody>
          <a:bodyPr lIns="45719" rIns="45719" anchor="ctr"/>
          <a:lstStyle/>
          <a:p>
            <a:pPr algn="ctr">
              <a:defRPr>
                <a:solidFill>
                  <a:srgbClr val="FFFFFF"/>
                </a:solidFill>
              </a:defRPr>
            </a:pPr>
          </a:p>
        </p:txBody>
      </p:sp>
      <p:sp>
        <p:nvSpPr>
          <p:cNvPr id="345" name="TextBox 12"/>
          <p:cNvSpPr txBox="1"/>
          <p:nvPr/>
        </p:nvSpPr>
        <p:spPr>
          <a:xfrm>
            <a:off x="822958" y="3520440"/>
            <a:ext cx="3383281"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F2F2F2"/>
                </a:solidFill>
                <a:latin typeface="Inter Bold"/>
                <a:ea typeface="Inter Bold"/>
                <a:cs typeface="Inter Bold"/>
                <a:sym typeface="Inter Bold"/>
              </a:defRPr>
            </a:pPr>
            <a:r>
              <a:t>Import rule</a:t>
            </a:r>
          </a:p>
          <a:p>
            <a:pPr>
              <a:spcBef>
                <a:spcPts val="200"/>
              </a:spcBef>
              <a:defRPr sz="1100">
                <a:solidFill>
                  <a:srgbClr val="888888"/>
                </a:solidFill>
                <a:latin typeface="Inter Regular"/>
                <a:ea typeface="Inter Regular"/>
                <a:cs typeface="Inter Regular"/>
                <a:sym typeface="Inter Regular"/>
              </a:defRPr>
            </a:pPr>
            <a:r>
              <a:t>only import from below</a:t>
            </a:r>
          </a:p>
        </p:txBody>
      </p:sp>
      <p:sp>
        <p:nvSpPr>
          <p:cNvPr id="346" name="TextBox 13"/>
          <p:cNvSpPr txBox="1"/>
          <p:nvPr/>
        </p:nvSpPr>
        <p:spPr>
          <a:xfrm>
            <a:off x="4480559" y="3709669"/>
            <a:ext cx="69494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400">
                <a:solidFill>
                  <a:srgbClr val="00D4FF"/>
                </a:solidFill>
                <a:latin typeface="Inter Bold"/>
                <a:ea typeface="Inter Bold"/>
                <a:cs typeface="Inter Bold"/>
                <a:sym typeface="Inter Bold"/>
              </a:defRPr>
            </a:pPr>
            <a:r>
              <a:t>One-directional</a:t>
            </a:r>
            <a:r>
              <a:rPr>
                <a:solidFill>
                  <a:srgbClr val="F2F2F2"/>
                </a:solidFill>
                <a:latin typeface="Inter Regular"/>
                <a:ea typeface="Inter Regular"/>
                <a:cs typeface="Inter Regular"/>
                <a:sym typeface="Inter Regular"/>
              </a:rPr>
              <a:t> dependency flow = minimal context hops.</a:t>
            </a:r>
          </a:p>
        </p:txBody>
      </p:sp>
      <p:sp>
        <p:nvSpPr>
          <p:cNvPr id="347" name="Rectangle 14"/>
          <p:cNvSpPr/>
          <p:nvPr/>
        </p:nvSpPr>
        <p:spPr>
          <a:xfrm>
            <a:off x="640080" y="4972557"/>
            <a:ext cx="10972801" cy="12701"/>
          </a:xfrm>
          <a:prstGeom prst="rect">
            <a:avLst/>
          </a:prstGeom>
          <a:solidFill>
            <a:srgbClr val="333333"/>
          </a:solidFill>
          <a:ln w="12700">
            <a:miter lim="400000"/>
          </a:ln>
        </p:spPr>
        <p:txBody>
          <a:bodyPr lIns="45719" rIns="45719" anchor="ctr"/>
          <a:lstStyle/>
          <a:p>
            <a:pPr algn="ctr">
              <a:defRPr>
                <a:solidFill>
                  <a:srgbClr val="FFFFFF"/>
                </a:solidFill>
              </a:defRPr>
            </a:pPr>
          </a:p>
        </p:txBody>
      </p:sp>
      <p:sp>
        <p:nvSpPr>
          <p:cNvPr id="348" name="TextBox 15"/>
          <p:cNvSpPr txBox="1"/>
          <p:nvPr/>
        </p:nvSpPr>
        <p:spPr>
          <a:xfrm>
            <a:off x="822958" y="4297679"/>
            <a:ext cx="3383281"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F2F2F2"/>
                </a:solidFill>
                <a:latin typeface="Inter Bold"/>
                <a:ea typeface="Inter Bold"/>
                <a:cs typeface="Inter Bold"/>
                <a:sym typeface="Inter Bold"/>
              </a:defRPr>
            </a:pPr>
            <a:r>
              <a:t>Slices</a:t>
            </a:r>
          </a:p>
          <a:p>
            <a:pPr>
              <a:spcBef>
                <a:spcPts val="200"/>
              </a:spcBef>
              <a:defRPr sz="1100">
                <a:solidFill>
                  <a:srgbClr val="888888"/>
                </a:solidFill>
                <a:latin typeface="Inter Regular"/>
                <a:ea typeface="Inter Regular"/>
                <a:cs typeface="Inter Regular"/>
                <a:sym typeface="Inter Regular"/>
              </a:defRPr>
            </a:pPr>
            <a:r>
              <a:t>zero coupling</a:t>
            </a:r>
          </a:p>
        </p:txBody>
      </p:sp>
      <p:sp>
        <p:nvSpPr>
          <p:cNvPr id="349" name="TextBox 16"/>
          <p:cNvSpPr txBox="1"/>
          <p:nvPr/>
        </p:nvSpPr>
        <p:spPr>
          <a:xfrm>
            <a:off x="4480559" y="4486908"/>
            <a:ext cx="69494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400">
                <a:solidFill>
                  <a:srgbClr val="F2F2F2"/>
                </a:solidFill>
                <a:latin typeface="Inter Regular"/>
                <a:ea typeface="Inter Regular"/>
                <a:cs typeface="Inter Regular"/>
                <a:sym typeface="Inter Regular"/>
              </a:defRPr>
            </a:pPr>
            <a:r>
              <a:t>AI stays within feature boundaries — </a:t>
            </a:r>
            <a:r>
              <a:rPr>
                <a:solidFill>
                  <a:srgbClr val="00D4FF"/>
                </a:solidFill>
                <a:latin typeface="Inter Bold"/>
                <a:ea typeface="Inter Bold"/>
                <a:cs typeface="Inter Bold"/>
                <a:sym typeface="Inter Bold"/>
              </a:rPr>
              <a:t>no context pollution</a:t>
            </a:r>
            <a:r>
              <a:t>.</a:t>
            </a:r>
          </a:p>
        </p:txBody>
      </p:sp>
      <p:sp>
        <p:nvSpPr>
          <p:cNvPr id="350" name="Rectangle 17"/>
          <p:cNvSpPr/>
          <p:nvPr/>
        </p:nvSpPr>
        <p:spPr>
          <a:xfrm>
            <a:off x="640080" y="4983479"/>
            <a:ext cx="10972801" cy="777241"/>
          </a:xfrm>
          <a:prstGeom prst="rect">
            <a:avLst/>
          </a:prstGeom>
          <a:solidFill>
            <a:srgbClr val="1A1A2E"/>
          </a:solidFill>
          <a:ln w="12700">
            <a:miter lim="400000"/>
          </a:ln>
        </p:spPr>
        <p:txBody>
          <a:bodyPr lIns="45719" rIns="45719" anchor="ctr"/>
          <a:lstStyle/>
          <a:p>
            <a:pPr algn="ctr">
              <a:defRPr>
                <a:solidFill>
                  <a:srgbClr val="FFFFFF"/>
                </a:solidFill>
              </a:defRPr>
            </a:pPr>
          </a:p>
        </p:txBody>
      </p:sp>
      <p:sp>
        <p:nvSpPr>
          <p:cNvPr id="351" name="Rectangle 18"/>
          <p:cNvSpPr/>
          <p:nvPr/>
        </p:nvSpPr>
        <p:spPr>
          <a:xfrm>
            <a:off x="640080" y="5749796"/>
            <a:ext cx="10972801" cy="12701"/>
          </a:xfrm>
          <a:prstGeom prst="rect">
            <a:avLst/>
          </a:prstGeom>
          <a:solidFill>
            <a:srgbClr val="333333"/>
          </a:solidFill>
          <a:ln w="12700">
            <a:miter lim="400000"/>
          </a:ln>
        </p:spPr>
        <p:txBody>
          <a:bodyPr lIns="45719" rIns="45719" anchor="ctr"/>
          <a:lstStyle/>
          <a:p>
            <a:pPr algn="ctr">
              <a:defRPr>
                <a:solidFill>
                  <a:srgbClr val="FFFFFF"/>
                </a:solidFill>
              </a:defRPr>
            </a:pPr>
          </a:p>
        </p:txBody>
      </p:sp>
      <p:sp>
        <p:nvSpPr>
          <p:cNvPr id="352" name="TextBox 19"/>
          <p:cNvSpPr txBox="1"/>
          <p:nvPr/>
        </p:nvSpPr>
        <p:spPr>
          <a:xfrm>
            <a:off x="822958" y="5074918"/>
            <a:ext cx="3383281"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F2F2F2"/>
                </a:solidFill>
                <a:latin typeface="Inter Bold"/>
                <a:ea typeface="Inter Bold"/>
                <a:cs typeface="Inter Bold"/>
                <a:sym typeface="Inter Bold"/>
              </a:defRPr>
            </a:pPr>
            <a:r>
              <a:t>Public API</a:t>
            </a:r>
          </a:p>
          <a:p>
            <a:pPr>
              <a:spcBef>
                <a:spcPts val="200"/>
              </a:spcBef>
              <a:defRPr sz="1100">
                <a:solidFill>
                  <a:srgbClr val="888888"/>
                </a:solidFill>
                <a:latin typeface="Inter Regular"/>
                <a:ea typeface="Inter Regular"/>
                <a:cs typeface="Inter Regular"/>
                <a:sym typeface="Inter Regular"/>
              </a:defRPr>
            </a:pPr>
            <a:r>
              <a:t>index.ts contracts</a:t>
            </a:r>
          </a:p>
        </p:txBody>
      </p:sp>
      <p:sp>
        <p:nvSpPr>
          <p:cNvPr id="353" name="TextBox 20"/>
          <p:cNvSpPr txBox="1"/>
          <p:nvPr/>
        </p:nvSpPr>
        <p:spPr>
          <a:xfrm>
            <a:off x="4480559" y="5264148"/>
            <a:ext cx="69494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400">
                <a:solidFill>
                  <a:srgbClr val="F2F2F2"/>
                </a:solidFill>
                <a:latin typeface="Inter Regular"/>
                <a:ea typeface="Inter Regular"/>
                <a:cs typeface="Inter Regular"/>
                <a:sym typeface="Inter Regular"/>
              </a:defRPr>
            </a:pPr>
            <a:r>
              <a:t>AI reads the interface, </a:t>
            </a:r>
            <a:r>
              <a:rPr>
                <a:solidFill>
                  <a:srgbClr val="00D4FF"/>
                </a:solidFill>
                <a:latin typeface="Inter Bold"/>
                <a:ea typeface="Inter Bold"/>
                <a:cs typeface="Inter Bold"/>
                <a:sym typeface="Inter Bold"/>
              </a:rPr>
              <a:t>doesn't crawl internals</a:t>
            </a:r>
            <a:r>
              <a:t> — saves tokens.</a:t>
            </a:r>
          </a:p>
        </p:txBody>
      </p:sp>
      <p:sp>
        <p:nvSpPr>
          <p:cNvPr id="354" name="Rectangle 21"/>
          <p:cNvSpPr/>
          <p:nvPr/>
        </p:nvSpPr>
        <p:spPr>
          <a:xfrm>
            <a:off x="640080" y="6527036"/>
            <a:ext cx="10972801" cy="12701"/>
          </a:xfrm>
          <a:prstGeom prst="rect">
            <a:avLst/>
          </a:prstGeom>
          <a:solidFill>
            <a:srgbClr val="333333"/>
          </a:solidFill>
          <a:ln w="12700">
            <a:miter lim="400000"/>
          </a:ln>
        </p:spPr>
        <p:txBody>
          <a:bodyPr lIns="45719" rIns="45719" anchor="ctr"/>
          <a:lstStyle/>
          <a:p>
            <a:pPr algn="ctr">
              <a:defRPr>
                <a:solidFill>
                  <a:srgbClr val="FFFFFF"/>
                </a:solidFill>
              </a:defRPr>
            </a:pPr>
          </a:p>
        </p:txBody>
      </p:sp>
      <p:sp>
        <p:nvSpPr>
          <p:cNvPr id="355" name="TextBox 22"/>
          <p:cNvSpPr txBox="1"/>
          <p:nvPr/>
        </p:nvSpPr>
        <p:spPr>
          <a:xfrm>
            <a:off x="822958" y="5852159"/>
            <a:ext cx="3383281"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F2F2F2"/>
                </a:solidFill>
                <a:latin typeface="Inter Bold"/>
                <a:ea typeface="Inter Bold"/>
                <a:cs typeface="Inter Bold"/>
                <a:sym typeface="Inter Bold"/>
              </a:defRPr>
            </a:pPr>
            <a:r>
              <a:t>Segments</a:t>
            </a:r>
          </a:p>
          <a:p>
            <a:pPr>
              <a:spcBef>
                <a:spcPts val="200"/>
              </a:spcBef>
              <a:defRPr sz="1100">
                <a:solidFill>
                  <a:srgbClr val="888888"/>
                </a:solidFill>
                <a:latin typeface="Inter Regular"/>
                <a:ea typeface="Inter Regular"/>
                <a:cs typeface="Inter Regular"/>
                <a:sym typeface="Inter Regular"/>
              </a:defRPr>
            </a:pPr>
            <a:r>
              <a:t>ui / api / model / lib</a:t>
            </a:r>
          </a:p>
        </p:txBody>
      </p:sp>
      <p:sp>
        <p:nvSpPr>
          <p:cNvPr id="356" name="TextBox 23"/>
          <p:cNvSpPr txBox="1"/>
          <p:nvPr/>
        </p:nvSpPr>
        <p:spPr>
          <a:xfrm>
            <a:off x="4480559" y="6041388"/>
            <a:ext cx="69494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400">
                <a:solidFill>
                  <a:srgbClr val="F2F2F2"/>
                </a:solidFill>
                <a:latin typeface="Inter Regular"/>
                <a:ea typeface="Inter Regular"/>
                <a:cs typeface="Inter Regular"/>
                <a:sym typeface="Inter Regular"/>
              </a:defRPr>
            </a:pPr>
            <a:r>
              <a:t>Standardized grouping = AI </a:t>
            </a:r>
            <a:r>
              <a:rPr>
                <a:solidFill>
                  <a:srgbClr val="00D4FF"/>
                </a:solidFill>
                <a:latin typeface="Inter Bold"/>
                <a:ea typeface="Inter Bold"/>
                <a:cs typeface="Inter Bold"/>
                <a:sym typeface="Inter Bold"/>
              </a:rPr>
              <a:t>pattern-matches</a:t>
            </a:r>
            <a:r>
              <a:t> across all slices.</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A0A0A"/>
        </a:solidFill>
      </p:bgPr>
    </p:bg>
    <p:spTree>
      <p:nvGrpSpPr>
        <p:cNvPr id="1" name=""/>
        <p:cNvGrpSpPr/>
        <p:nvPr/>
      </p:nvGrpSpPr>
      <p:grpSpPr>
        <a:xfrm>
          <a:off x="0" y="0"/>
          <a:ext cx="0" cy="0"/>
          <a:chOff x="0" y="0"/>
          <a:chExt cx="0" cy="0"/>
        </a:xfrm>
      </p:grpSpPr>
      <p:sp>
        <p:nvSpPr>
          <p:cNvPr id="358" name="TextBox 1"/>
          <p:cNvSpPr txBox="1"/>
          <p:nvPr/>
        </p:nvSpPr>
        <p:spPr>
          <a:xfrm>
            <a:off x="635253" y="3086100"/>
            <a:ext cx="10908794"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20000"/>
              </a:lnSpc>
              <a:defRPr sz="4400">
                <a:solidFill>
                  <a:srgbClr val="F2F2F2"/>
                </a:solidFill>
                <a:latin typeface="Inter Bold"/>
                <a:ea typeface="Inter Bold"/>
                <a:cs typeface="Inter Bold"/>
                <a:sym typeface="Inter Bold"/>
              </a:defRPr>
            </a:lvl1pPr>
          </a:lstStyle>
          <a:p>
            <a:pPr/>
            <a:r>
              <a:t>Koje je onda rješenje?</a:t>
            </a:r>
          </a:p>
        </p:txBody>
      </p:sp>
      <p:sp>
        <p:nvSpPr>
          <p:cNvPr id="359" name="TextBox 2"/>
          <p:cNvSpPr txBox="1"/>
          <p:nvPr/>
        </p:nvSpPr>
        <p:spPr>
          <a:xfrm>
            <a:off x="635253" y="3915746"/>
            <a:ext cx="1090879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600">
                <a:solidFill>
                  <a:srgbClr val="888888"/>
                </a:solidFill>
                <a:latin typeface="Inter Regular"/>
                <a:ea typeface="Inter Regular"/>
                <a:cs typeface="Inter Regular"/>
                <a:sym typeface="Inter Regular"/>
              </a:defRPr>
            </a:lvl1pPr>
          </a:lstStyle>
          <a:p>
            <a:pPr/>
            <a:r>
              <a:t>Feature-Sliced Design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